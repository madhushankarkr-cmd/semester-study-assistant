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D3BF2-F45D-4565-9094-BFF4FC56583B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51579-D76A-4BB6-9E66-92444BE2C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419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85603-1451-4E2B-AE5F-B4AD8B7E3C3F}" type="datetime1">
              <a:rPr lang="en-US" smtClean="0"/>
              <a:t>8/23/2024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30AAD-CAB8-4C42-9BD7-8BACFD575B83}" type="datetime1">
              <a:rPr lang="en-US" smtClean="0"/>
              <a:t>8/23/2024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579E2-8D4B-4875-92B3-C9B101736AAB}" type="datetime1">
              <a:rPr lang="en-US" smtClean="0"/>
              <a:t>8/23/2024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DBEE7-FC0B-4AED-8083-1838E6AB8B3A}" type="datetime1">
              <a:rPr lang="en-US" smtClean="0"/>
              <a:t>8/23/2024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43878-C50B-4765-88DD-3C27E5B7F0FB}" type="datetime1">
              <a:rPr lang="en-US" smtClean="0"/>
              <a:t>8/23/2024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476" y="0"/>
                </a:moveTo>
                <a:lnTo>
                  <a:pt x="0" y="0"/>
                </a:lnTo>
                <a:lnTo>
                  <a:pt x="0" y="179831"/>
                </a:lnTo>
                <a:lnTo>
                  <a:pt x="9142476" y="179831"/>
                </a:lnTo>
                <a:lnTo>
                  <a:pt x="9142476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831"/>
                </a:moveTo>
                <a:lnTo>
                  <a:pt x="9142476" y="179831"/>
                </a:lnTo>
                <a:lnTo>
                  <a:pt x="9142476" y="0"/>
                </a:lnTo>
                <a:lnTo>
                  <a:pt x="0" y="0"/>
                </a:lnTo>
              </a:path>
            </a:pathLst>
          </a:custGeom>
          <a:ln w="12192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9145524" y="0"/>
                </a:moveTo>
                <a:lnTo>
                  <a:pt x="0" y="0"/>
                </a:lnTo>
                <a:lnTo>
                  <a:pt x="0" y="36575"/>
                </a:lnTo>
                <a:lnTo>
                  <a:pt x="9145524" y="36575"/>
                </a:lnTo>
                <a:lnTo>
                  <a:pt x="9145524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0" y="36575"/>
                </a:moveTo>
                <a:lnTo>
                  <a:pt x="9145524" y="36575"/>
                </a:lnTo>
                <a:lnTo>
                  <a:pt x="9145524" y="0"/>
                </a:lnTo>
                <a:lnTo>
                  <a:pt x="0" y="0"/>
                </a:lnTo>
                <a:lnTo>
                  <a:pt x="0" y="36575"/>
                </a:lnTo>
                <a:close/>
              </a:path>
            </a:pathLst>
          </a:custGeom>
          <a:ln w="6096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90559" y="19811"/>
            <a:ext cx="830579" cy="8061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99334" y="2337943"/>
            <a:ext cx="3545331" cy="467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069" y="995248"/>
            <a:ext cx="8531860" cy="3435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47591" y="4943984"/>
            <a:ext cx="1120775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B693C-9E63-423B-9BF7-3C0E08C6E85F}" type="datetime1">
              <a:rPr lang="en-US" smtClean="0"/>
              <a:t>8/23/2024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62314" y="4978230"/>
            <a:ext cx="228600" cy="19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3716" y="0"/>
            <a:ext cx="9157970" cy="1298575"/>
            <a:chOff x="-13716" y="0"/>
            <a:chExt cx="9157970" cy="1298575"/>
          </a:xfrm>
        </p:grpSpPr>
        <p:sp>
          <p:nvSpPr>
            <p:cNvPr id="3" name="object 3"/>
            <p:cNvSpPr/>
            <p:nvPr/>
          </p:nvSpPr>
          <p:spPr>
            <a:xfrm>
              <a:off x="761" y="0"/>
              <a:ext cx="9143365" cy="1037590"/>
            </a:xfrm>
            <a:custGeom>
              <a:avLst/>
              <a:gdLst/>
              <a:ahLst/>
              <a:cxnLst/>
              <a:rect l="l" t="t" r="r" b="b"/>
              <a:pathLst>
                <a:path w="9143365" h="1037590">
                  <a:moveTo>
                    <a:pt x="0" y="1037082"/>
                  </a:moveTo>
                  <a:lnTo>
                    <a:pt x="9143238" y="1037082"/>
                  </a:lnTo>
                  <a:lnTo>
                    <a:pt x="9143238" y="0"/>
                  </a:lnTo>
                  <a:lnTo>
                    <a:pt x="0" y="0"/>
                  </a:lnTo>
                  <a:lnTo>
                    <a:pt x="0" y="1037082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022603"/>
              <a:ext cx="9143365" cy="29209"/>
            </a:xfrm>
            <a:custGeom>
              <a:avLst/>
              <a:gdLst/>
              <a:ahLst/>
              <a:cxnLst/>
              <a:rect l="l" t="t" r="r" b="b"/>
              <a:pathLst>
                <a:path w="9143365" h="29209">
                  <a:moveTo>
                    <a:pt x="0" y="28955"/>
                  </a:moveTo>
                  <a:lnTo>
                    <a:pt x="9143238" y="28955"/>
                  </a:lnTo>
                  <a:lnTo>
                    <a:pt x="9143238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D3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0"/>
              <a:ext cx="0" cy="1037590"/>
            </a:xfrm>
            <a:custGeom>
              <a:avLst/>
              <a:gdLst/>
              <a:ahLst/>
              <a:cxnLst/>
              <a:rect l="l" t="t" r="r" b="b"/>
              <a:pathLst>
                <a:path h="1037590">
                  <a:moveTo>
                    <a:pt x="0" y="0"/>
                  </a:moveTo>
                  <a:lnTo>
                    <a:pt x="0" y="1037082"/>
                  </a:lnTo>
                </a:path>
              </a:pathLst>
            </a:custGeom>
            <a:ln w="28956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9352" y="0"/>
              <a:ext cx="1374648" cy="12984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4236" y="0"/>
              <a:ext cx="1159764" cy="10850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3400" y="109728"/>
              <a:ext cx="830579" cy="8061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5372" y="21335"/>
              <a:ext cx="3902964" cy="10530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7960" y="83819"/>
              <a:ext cx="3637788" cy="923543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011170" y="244601"/>
            <a:ext cx="307022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0" dirty="0">
                <a:solidFill>
                  <a:srgbClr val="336600"/>
                </a:solidFill>
                <a:latin typeface="Times New Roman"/>
                <a:cs typeface="Times New Roman"/>
              </a:rPr>
              <a:t>GLA</a:t>
            </a:r>
            <a:r>
              <a:rPr sz="2900" b="0" spc="-150" dirty="0">
                <a:solidFill>
                  <a:srgbClr val="336600"/>
                </a:solidFill>
                <a:latin typeface="Times New Roman"/>
                <a:cs typeface="Times New Roman"/>
              </a:rPr>
              <a:t> </a:t>
            </a:r>
            <a:r>
              <a:rPr sz="2900" b="0" dirty="0">
                <a:solidFill>
                  <a:srgbClr val="336600"/>
                </a:solidFill>
                <a:latin typeface="Times New Roman"/>
                <a:cs typeface="Times New Roman"/>
              </a:rPr>
              <a:t>UNI</a:t>
            </a:r>
            <a:r>
              <a:rPr sz="2900" b="0" spc="5" dirty="0">
                <a:solidFill>
                  <a:srgbClr val="336600"/>
                </a:solidFill>
                <a:latin typeface="Times New Roman"/>
                <a:cs typeface="Times New Roman"/>
              </a:rPr>
              <a:t>V</a:t>
            </a:r>
            <a:r>
              <a:rPr sz="2900" b="0" dirty="0">
                <a:solidFill>
                  <a:srgbClr val="336600"/>
                </a:solidFill>
                <a:latin typeface="Times New Roman"/>
                <a:cs typeface="Times New Roman"/>
              </a:rPr>
              <a:t>ERSITY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7482" y="1306829"/>
            <a:ext cx="4355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5" dirty="0">
                <a:latin typeface="Times New Roman"/>
                <a:cs typeface="Times New Roman"/>
              </a:rPr>
              <a:t>C</a:t>
            </a:r>
            <a:r>
              <a:rPr sz="2850" b="1" spc="15" dirty="0">
                <a:latin typeface="Times New Roman"/>
                <a:cs typeface="Times New Roman"/>
              </a:rPr>
              <a:t>OMPUTER</a:t>
            </a:r>
            <a:r>
              <a:rPr sz="2850" b="1" spc="130" dirty="0">
                <a:latin typeface="Times New Roman"/>
                <a:cs typeface="Times New Roman"/>
              </a:rPr>
              <a:t> </a:t>
            </a:r>
            <a:r>
              <a:rPr sz="3600" b="1" spc="15" dirty="0">
                <a:latin typeface="Times New Roman"/>
                <a:cs typeface="Times New Roman"/>
              </a:rPr>
              <a:t>N</a:t>
            </a:r>
            <a:r>
              <a:rPr sz="2850" b="1" spc="15" dirty="0">
                <a:latin typeface="Times New Roman"/>
                <a:cs typeface="Times New Roman"/>
              </a:rPr>
              <a:t>ETWORK</a:t>
            </a:r>
            <a:endParaRPr sz="2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095" y="4948427"/>
            <a:ext cx="9154795" cy="192405"/>
            <a:chOff x="-6095" y="4948427"/>
            <a:chExt cx="9154795" cy="192405"/>
          </a:xfrm>
        </p:grpSpPr>
        <p:sp>
          <p:nvSpPr>
            <p:cNvPr id="4" name="object 4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476" y="0"/>
                  </a:moveTo>
                  <a:lnTo>
                    <a:pt x="0" y="0"/>
                  </a:lnTo>
                  <a:lnTo>
                    <a:pt x="0" y="179831"/>
                  </a:lnTo>
                  <a:lnTo>
                    <a:pt x="9142476" y="179831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831"/>
                  </a:moveTo>
                  <a:lnTo>
                    <a:pt x="9142476" y="179831"/>
                  </a:lnTo>
                  <a:lnTo>
                    <a:pt x="914247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3047" y="19811"/>
            <a:ext cx="9151620" cy="867410"/>
            <a:chOff x="-3047" y="19811"/>
            <a:chExt cx="9151620" cy="8674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559" y="19811"/>
              <a:ext cx="830579" cy="8061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9145524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9145524" y="36575"/>
                  </a:lnTo>
                  <a:lnTo>
                    <a:pt x="9145524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0" y="36575"/>
                  </a:moveTo>
                  <a:lnTo>
                    <a:pt x="9145524" y="36575"/>
                  </a:lnTo>
                  <a:lnTo>
                    <a:pt x="9145524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6096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0"/>
              </a:spcBef>
            </a:pPr>
            <a:r>
              <a:rPr sz="2900" spc="5" dirty="0"/>
              <a:t>T</a:t>
            </a:r>
            <a:r>
              <a:rPr spc="5" dirty="0"/>
              <a:t>RANSMISSION</a:t>
            </a:r>
            <a:r>
              <a:rPr spc="114" dirty="0"/>
              <a:t> </a:t>
            </a:r>
            <a:r>
              <a:rPr sz="2900" spc="5" dirty="0"/>
              <a:t>M</a:t>
            </a:r>
            <a:r>
              <a:rPr spc="5" dirty="0"/>
              <a:t>EDIA</a:t>
            </a:r>
            <a:endParaRPr sz="2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10648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Media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97940"/>
            <a:ext cx="6456045" cy="14249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function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 media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8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carry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information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form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7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copper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electrical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signals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2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fiber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based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bits will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light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pulses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33413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10" dirty="0">
                <a:latin typeface="Times New Roman"/>
                <a:cs typeface="Times New Roman"/>
              </a:rPr>
              <a:t>Transmission</a:t>
            </a:r>
            <a:r>
              <a:rPr sz="3200" b="0" spc="-9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Media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97912"/>
            <a:ext cx="8529955" cy="290639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Physical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transmitter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receiver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25" dirty="0">
                <a:latin typeface="Times New Roman"/>
                <a:cs typeface="Times New Roman"/>
              </a:rPr>
              <a:t>Wired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Wireless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electromagnetic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waves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Characteristics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quality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transmission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determined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by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characteristics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medium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signal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625"/>
              </a:spcBef>
              <a:buFont typeface="Arial MT"/>
              <a:buChar char="•"/>
              <a:tabLst>
                <a:tab pos="354965" algn="l"/>
                <a:tab pos="355600" algn="l"/>
                <a:tab pos="835660" algn="l"/>
                <a:tab pos="1753235" algn="l"/>
                <a:tab pos="2799080" algn="l"/>
                <a:tab pos="4018279" algn="l"/>
                <a:tab pos="5981065" algn="l"/>
                <a:tab pos="6409690" algn="l"/>
                <a:tab pos="7258684" algn="l"/>
              </a:tabLst>
            </a:pPr>
            <a:r>
              <a:rPr sz="2400" dirty="0">
                <a:latin typeface="Times New Roman"/>
                <a:cs typeface="Times New Roman"/>
              </a:rPr>
              <a:t>In	wired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edi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,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dium	ch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rac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spc="-5" dirty="0">
                <a:latin typeface="Times New Roman"/>
                <a:cs typeface="Times New Roman"/>
              </a:rPr>
              <a:t>eri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i</a:t>
            </a:r>
            <a:r>
              <a:rPr sz="2400" spc="-5" dirty="0">
                <a:latin typeface="Times New Roman"/>
                <a:cs typeface="Times New Roman"/>
              </a:rPr>
              <a:t>cs</a:t>
            </a:r>
            <a:r>
              <a:rPr sz="2400" dirty="0">
                <a:latin typeface="Times New Roman"/>
                <a:cs typeface="Times New Roman"/>
              </a:rPr>
              <a:t>	i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ore	i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porta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t,  </a:t>
            </a:r>
            <a:r>
              <a:rPr sz="2400" spc="-5" dirty="0">
                <a:latin typeface="Times New Roman"/>
                <a:cs typeface="Times New Roman"/>
              </a:rPr>
              <a:t>whereas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wireless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media,</a:t>
            </a:r>
            <a:r>
              <a:rPr sz="2400" dirty="0">
                <a:latin typeface="Times New Roman"/>
                <a:cs typeface="Times New Roman"/>
              </a:rPr>
              <a:t> signal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characteristics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more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important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002791"/>
            <a:ext cx="7620000" cy="3777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43491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Electromagnetic</a:t>
            </a:r>
            <a:r>
              <a:rPr sz="3200" b="0" spc="-10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Spectrum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27730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Basic</a:t>
            </a:r>
            <a:r>
              <a:rPr sz="3200" b="0" spc="-7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limitations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97912"/>
            <a:ext cx="3514725" cy="346265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Attenuation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Delay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Distortion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Noise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Thermal/White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Noise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0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Intermodulation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Noise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0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Crosstalk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/>
                <a:cs typeface="Times New Roman"/>
              </a:rPr>
              <a:t>Echo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0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Times New Roman"/>
                <a:cs typeface="Times New Roman"/>
              </a:rPr>
              <a:t>Impulse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Noise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69924"/>
            <a:ext cx="8531225" cy="31356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marR="5080" indent="-342900" algn="just">
              <a:lnSpc>
                <a:spcPct val="99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Bandwidth: </a:t>
            </a:r>
            <a:r>
              <a:rPr sz="2400" dirty="0">
                <a:latin typeface="Times New Roman"/>
                <a:cs typeface="Times New Roman"/>
              </a:rPr>
              <a:t>All </a:t>
            </a:r>
            <a:r>
              <a:rPr sz="2400" spc="-5" dirty="0">
                <a:latin typeface="Times New Roman"/>
                <a:cs typeface="Times New Roman"/>
              </a:rPr>
              <a:t>other factors remaining constant,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greater the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band-width</a:t>
            </a:r>
            <a:r>
              <a:rPr sz="2400" dirty="0">
                <a:latin typeface="Times New Roman"/>
                <a:cs typeface="Times New Roman"/>
              </a:rPr>
              <a:t> 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signal,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higher</a:t>
            </a:r>
            <a:r>
              <a:rPr sz="2400" dirty="0">
                <a:latin typeface="Times New Roman"/>
                <a:cs typeface="Times New Roman"/>
              </a:rPr>
              <a:t> 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 rate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achieved.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Transmission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impairments: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Limit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distance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travel.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83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Interference: Competing signals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overlapping frequency </a:t>
            </a:r>
            <a:r>
              <a:rPr sz="2400" dirty="0">
                <a:latin typeface="Times New Roman"/>
                <a:cs typeface="Times New Roman"/>
              </a:rPr>
              <a:t>bands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distort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wipe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2820"/>
              </a:lnSpc>
              <a:spcBef>
                <a:spcPts val="61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Number</a:t>
            </a:r>
            <a:r>
              <a:rPr sz="2400" dirty="0">
                <a:latin typeface="Times New Roman"/>
                <a:cs typeface="Times New Roman"/>
              </a:rPr>
              <a:t> 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receivers: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Each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attachment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introduces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some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attenuation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distortion,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limiting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distance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and/or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64573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Design</a:t>
            </a:r>
            <a:r>
              <a:rPr sz="3200" b="0" spc="-3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Factors</a:t>
            </a:r>
            <a:r>
              <a:rPr sz="3200" b="0" spc="-2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for</a:t>
            </a:r>
            <a:r>
              <a:rPr sz="3200" b="0" spc="-85" dirty="0">
                <a:latin typeface="Times New Roman"/>
                <a:cs typeface="Times New Roman"/>
              </a:rPr>
              <a:t> </a:t>
            </a:r>
            <a:r>
              <a:rPr sz="3200" b="0" spc="-10" dirty="0">
                <a:latin typeface="Times New Roman"/>
                <a:cs typeface="Times New Roman"/>
              </a:rPr>
              <a:t>Transmission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Media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0668"/>
            <a:ext cx="8493760" cy="221742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Conducted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guided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media</a:t>
            </a:r>
            <a:endParaRPr sz="24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350"/>
              </a:lnSpc>
              <a:spcBef>
                <a:spcPts val="59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conductor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fiber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move</a:t>
            </a:r>
            <a:r>
              <a:rPr sz="2000" dirty="0">
                <a:latin typeface="Times New Roman"/>
                <a:cs typeface="Times New Roman"/>
              </a:rPr>
              <a:t> 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Times New Roman"/>
                <a:cs typeface="Times New Roman"/>
              </a:rPr>
              <a:t>Wireless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unguided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media</a:t>
            </a:r>
            <a:endParaRPr sz="2400">
              <a:latin typeface="Times New Roman"/>
              <a:cs typeface="Times New Roman"/>
            </a:endParaRPr>
          </a:p>
          <a:p>
            <a:pPr marL="756285" marR="437515" lvl="1" indent="-287020">
              <a:lnSpc>
                <a:spcPts val="2350"/>
              </a:lnSpc>
              <a:spcBef>
                <a:spcPts val="59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radio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waves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frequencies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conductor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50946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Classes</a:t>
            </a:r>
            <a:r>
              <a:rPr sz="3200" b="0" spc="-2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of</a:t>
            </a:r>
            <a:r>
              <a:rPr sz="3200" b="0" spc="-80" dirty="0">
                <a:latin typeface="Times New Roman"/>
                <a:cs typeface="Times New Roman"/>
              </a:rPr>
              <a:t> </a:t>
            </a:r>
            <a:r>
              <a:rPr sz="3200" b="0" spc="-10" dirty="0">
                <a:latin typeface="Times New Roman"/>
                <a:cs typeface="Times New Roman"/>
              </a:rPr>
              <a:t>Transmission</a:t>
            </a:r>
            <a:r>
              <a:rPr sz="3200" b="0" spc="-6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Media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1195" y="2977895"/>
            <a:ext cx="5137404" cy="20314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00125"/>
            <a:ext cx="300799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262380" algn="l"/>
                <a:tab pos="2295525" algn="l"/>
              </a:tabLst>
            </a:pPr>
            <a:r>
              <a:rPr sz="2300" spc="-100" dirty="0">
                <a:latin typeface="Times New Roman"/>
                <a:cs typeface="Times New Roman"/>
              </a:rPr>
              <a:t>W</a:t>
            </a:r>
            <a:r>
              <a:rPr sz="2300" dirty="0">
                <a:latin typeface="Times New Roman"/>
                <a:cs typeface="Times New Roman"/>
              </a:rPr>
              <a:t>ire	type</a:t>
            </a:r>
            <a:r>
              <a:rPr sz="2300" spc="-10" dirty="0">
                <a:latin typeface="Times New Roman"/>
                <a:cs typeface="Times New Roman"/>
              </a:rPr>
              <a:t>s</a:t>
            </a:r>
            <a:r>
              <a:rPr sz="2300" dirty="0">
                <a:latin typeface="Times New Roman"/>
                <a:cs typeface="Times New Roman"/>
              </a:rPr>
              <a:t>:	</a:t>
            </a:r>
            <a:r>
              <a:rPr sz="2300" i="1" dirty="0">
                <a:latin typeface="Times New Roman"/>
                <a:cs typeface="Times New Roman"/>
              </a:rPr>
              <a:t>single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4198" y="1000125"/>
            <a:ext cx="521271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05280" algn="l"/>
                <a:tab pos="2768600" algn="l"/>
                <a:tab pos="3664585" algn="l"/>
                <a:tab pos="4225290" algn="l"/>
              </a:tabLst>
            </a:pPr>
            <a:r>
              <a:rPr sz="2300" i="1" dirty="0">
                <a:latin typeface="Times New Roman"/>
                <a:cs typeface="Times New Roman"/>
              </a:rPr>
              <a:t>conduc</a:t>
            </a:r>
            <a:r>
              <a:rPr sz="2300" i="1" spc="-15" dirty="0">
                <a:latin typeface="Times New Roman"/>
                <a:cs typeface="Times New Roman"/>
              </a:rPr>
              <a:t>t</a:t>
            </a:r>
            <a:r>
              <a:rPr sz="2300" i="1" dirty="0">
                <a:latin typeface="Times New Roman"/>
                <a:cs typeface="Times New Roman"/>
              </a:rPr>
              <a:t>o</a:t>
            </a:r>
            <a:r>
              <a:rPr sz="2300" i="1" spc="5" dirty="0">
                <a:latin typeface="Times New Roman"/>
                <a:cs typeface="Times New Roman"/>
              </a:rPr>
              <a:t>r</a:t>
            </a:r>
            <a:r>
              <a:rPr sz="2300" dirty="0">
                <a:latin typeface="Times New Roman"/>
                <a:cs typeface="Times New Roman"/>
              </a:rPr>
              <a:t>,	</a:t>
            </a:r>
            <a:r>
              <a:rPr sz="2300" i="1" dirty="0">
                <a:latin typeface="Times New Roman"/>
                <a:cs typeface="Times New Roman"/>
              </a:rPr>
              <a:t>tw</a:t>
            </a:r>
            <a:r>
              <a:rPr sz="2300" i="1" spc="-10" dirty="0">
                <a:latin typeface="Times New Roman"/>
                <a:cs typeface="Times New Roman"/>
              </a:rPr>
              <a:t>i</a:t>
            </a:r>
            <a:r>
              <a:rPr sz="2300" i="1" dirty="0">
                <a:latin typeface="Times New Roman"/>
                <a:cs typeface="Times New Roman"/>
              </a:rPr>
              <a:t>sted	pai</a:t>
            </a:r>
            <a:r>
              <a:rPr sz="2300" i="1" spc="-5" dirty="0">
                <a:latin typeface="Times New Roman"/>
                <a:cs typeface="Times New Roman"/>
              </a:rPr>
              <a:t>r</a:t>
            </a:r>
            <a:r>
              <a:rPr sz="2300" dirty="0">
                <a:latin typeface="Times New Roman"/>
                <a:cs typeface="Times New Roman"/>
              </a:rPr>
              <a:t>,	&amp;	</a:t>
            </a:r>
            <a:r>
              <a:rPr sz="2300" i="1" dirty="0">
                <a:latin typeface="Times New Roman"/>
                <a:cs typeface="Times New Roman"/>
              </a:rPr>
              <a:t>shie</a:t>
            </a:r>
            <a:r>
              <a:rPr sz="2300" i="1" spc="-10" dirty="0">
                <a:latin typeface="Times New Roman"/>
                <a:cs typeface="Times New Roman"/>
              </a:rPr>
              <a:t>l</a:t>
            </a:r>
            <a:r>
              <a:rPr sz="2300" i="1" dirty="0">
                <a:latin typeface="Times New Roman"/>
                <a:cs typeface="Times New Roman"/>
              </a:rPr>
              <a:t>ded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279397"/>
            <a:ext cx="8529955" cy="3282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>
              <a:lnSpc>
                <a:spcPts val="2735"/>
              </a:lnSpc>
              <a:spcBef>
                <a:spcPts val="105"/>
              </a:spcBef>
            </a:pPr>
            <a:r>
              <a:rPr sz="2300" i="1" spc="-5" dirty="0">
                <a:latin typeface="Times New Roman"/>
                <a:cs typeface="Times New Roman"/>
              </a:rPr>
              <a:t>multiconductor</a:t>
            </a:r>
            <a:r>
              <a:rPr sz="2300" i="1" spc="-20" dirty="0">
                <a:latin typeface="Times New Roman"/>
                <a:cs typeface="Times New Roman"/>
              </a:rPr>
              <a:t> </a:t>
            </a:r>
            <a:r>
              <a:rPr sz="2300" i="1" dirty="0">
                <a:latin typeface="Times New Roman"/>
                <a:cs typeface="Times New Roman"/>
              </a:rPr>
              <a:t>bundles</a:t>
            </a:r>
            <a:endParaRPr sz="23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70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spc="-10" dirty="0">
                <a:latin typeface="Times New Roman"/>
                <a:cs typeface="Times New Roman"/>
              </a:rPr>
              <a:t>Large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installed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base</a:t>
            </a:r>
          </a:p>
          <a:p>
            <a:pPr marL="355600" indent="-342900">
              <a:lnSpc>
                <a:spcPts val="271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Reasonable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cost</a:t>
            </a:r>
          </a:p>
          <a:p>
            <a:pPr marL="355600" indent="-342900">
              <a:lnSpc>
                <a:spcPts val="246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spc="-5" dirty="0">
                <a:latin typeface="Times New Roman"/>
                <a:cs typeface="Times New Roman"/>
              </a:rPr>
              <a:t>Relatively</a:t>
            </a:r>
            <a:r>
              <a:rPr sz="2300" spc="34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low</a:t>
            </a:r>
            <a:r>
              <a:rPr sz="2300" spc="34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bandwidth,</a:t>
            </a:r>
            <a:r>
              <a:rPr sz="2300" spc="345" dirty="0">
                <a:latin typeface="Times New Roman"/>
                <a:cs typeface="Times New Roman"/>
              </a:rPr>
              <a:t> </a:t>
            </a:r>
            <a:r>
              <a:rPr sz="2300" spc="-15" dirty="0">
                <a:latin typeface="Times New Roman"/>
                <a:cs typeface="Times New Roman"/>
              </a:rPr>
              <a:t>however,</a:t>
            </a:r>
            <a:r>
              <a:rPr sz="2300" spc="33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recent</a:t>
            </a:r>
            <a:r>
              <a:rPr sz="2300" spc="3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LAN</a:t>
            </a:r>
            <a:r>
              <a:rPr sz="2300" spc="3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speeds</a:t>
            </a:r>
            <a:r>
              <a:rPr sz="2300" spc="3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33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the</a:t>
            </a:r>
            <a:r>
              <a:rPr sz="2300" spc="34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100</a:t>
            </a:r>
            <a:endParaRPr sz="2300" dirty="0">
              <a:latin typeface="Times New Roman"/>
              <a:cs typeface="Times New Roman"/>
            </a:endParaRPr>
          </a:p>
          <a:p>
            <a:pPr marL="355600">
              <a:lnSpc>
                <a:spcPts val="2455"/>
              </a:lnSpc>
            </a:pPr>
            <a:r>
              <a:rPr sz="2300" dirty="0">
                <a:latin typeface="Times New Roman"/>
                <a:cs typeface="Times New Roman"/>
              </a:rPr>
              <a:t>Mbps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range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have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been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achieved</a:t>
            </a:r>
            <a:endParaRPr sz="23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70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Susceptible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to </a:t>
            </a:r>
            <a:r>
              <a:rPr sz="2300" dirty="0">
                <a:latin typeface="Times New Roman"/>
                <a:cs typeface="Times New Roman"/>
              </a:rPr>
              <a:t>external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interference</a:t>
            </a:r>
            <a:endParaRPr sz="23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271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spc="-5" dirty="0">
                <a:latin typeface="Times New Roman"/>
                <a:cs typeface="Times New Roman"/>
              </a:rPr>
              <a:t>Shielding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can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reduce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external interference</a:t>
            </a:r>
            <a:endParaRPr sz="23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79800"/>
              </a:lnSpc>
              <a:spcBef>
                <a:spcPts val="540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transmit</a:t>
            </a:r>
            <a:r>
              <a:rPr sz="2300" dirty="0">
                <a:latin typeface="Times New Roman"/>
                <a:cs typeface="Times New Roman"/>
              </a:rPr>
              <a:t> both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analog</a:t>
            </a:r>
            <a:r>
              <a:rPr sz="2300" dirty="0">
                <a:latin typeface="Times New Roman"/>
                <a:cs typeface="Times New Roman"/>
              </a:rPr>
              <a:t> and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digital</a:t>
            </a:r>
            <a:r>
              <a:rPr sz="2300" dirty="0">
                <a:latin typeface="Times New Roman"/>
                <a:cs typeface="Times New Roman"/>
              </a:rPr>
              <a:t> signals.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Amplifier</a:t>
            </a:r>
            <a:r>
              <a:rPr sz="2300" spc="56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required </a:t>
            </a:r>
            <a:r>
              <a:rPr sz="2300" dirty="0">
                <a:latin typeface="Times New Roman"/>
                <a:cs typeface="Times New Roman"/>
              </a:rPr>
              <a:t> every 5 </a:t>
            </a:r>
            <a:r>
              <a:rPr sz="2300" spc="-5" dirty="0">
                <a:latin typeface="Times New Roman"/>
                <a:cs typeface="Times New Roman"/>
              </a:rPr>
              <a:t>to </a:t>
            </a:r>
            <a:r>
              <a:rPr sz="2300" dirty="0">
                <a:latin typeface="Times New Roman"/>
                <a:cs typeface="Times New Roman"/>
              </a:rPr>
              <a:t>6 km for </a:t>
            </a:r>
            <a:r>
              <a:rPr sz="2300" spc="-5" dirty="0">
                <a:latin typeface="Times New Roman"/>
                <a:cs typeface="Times New Roman"/>
              </a:rPr>
              <a:t>analog </a:t>
            </a:r>
            <a:r>
              <a:rPr sz="2300" dirty="0">
                <a:latin typeface="Times New Roman"/>
                <a:cs typeface="Times New Roman"/>
              </a:rPr>
              <a:t>signals. </a:t>
            </a:r>
            <a:r>
              <a:rPr sz="2300" spc="-5" dirty="0">
                <a:latin typeface="Times New Roman"/>
                <a:cs typeface="Times New Roman"/>
              </a:rPr>
              <a:t>For digital </a:t>
            </a:r>
            <a:r>
              <a:rPr sz="2300" dirty="0">
                <a:latin typeface="Times New Roman"/>
                <a:cs typeface="Times New Roman"/>
              </a:rPr>
              <a:t>signals, </a:t>
            </a:r>
            <a:r>
              <a:rPr sz="2300" spc="-5" dirty="0">
                <a:latin typeface="Times New Roman"/>
                <a:cs typeface="Times New Roman"/>
              </a:rPr>
              <a:t>repeaters </a:t>
            </a:r>
            <a:r>
              <a:rPr sz="2300" dirty="0">
                <a:latin typeface="Times New Roman"/>
                <a:cs typeface="Times New Roman"/>
              </a:rPr>
              <a:t> required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every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2 </a:t>
            </a:r>
            <a:r>
              <a:rPr sz="2300" spc="-5" dirty="0">
                <a:latin typeface="Times New Roman"/>
                <a:cs typeface="Times New Roman"/>
              </a:rPr>
              <a:t>to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3 km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28003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35" dirty="0">
                <a:latin typeface="Times New Roman"/>
                <a:cs typeface="Times New Roman"/>
              </a:rPr>
              <a:t>Wire</a:t>
            </a:r>
            <a:r>
              <a:rPr sz="3200" b="0" spc="-7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Conductors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0284"/>
            <a:ext cx="8531860" cy="327977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oldest,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expensive,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most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commonly</a:t>
            </a:r>
            <a:r>
              <a:rPr sz="2400" dirty="0">
                <a:latin typeface="Times New Roman"/>
                <a:cs typeface="Times New Roman"/>
              </a:rPr>
              <a:t> used </a:t>
            </a:r>
            <a:r>
              <a:rPr sz="2400" spc="-5" dirty="0">
                <a:latin typeface="Times New Roman"/>
                <a:cs typeface="Times New Roman"/>
              </a:rPr>
              <a:t>media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Pair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insulated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wires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twisted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together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reduce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susceptibility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interference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ex)</a:t>
            </a:r>
            <a:r>
              <a:rPr sz="2400" spc="-5" dirty="0">
                <a:latin typeface="Times New Roman"/>
                <a:cs typeface="Times New Roman"/>
              </a:rPr>
              <a:t> capacitive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coupling,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crosstalk</a:t>
            </a: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Skin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effect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frequency</a:t>
            </a:r>
            <a:endParaRPr sz="2400" dirty="0">
              <a:latin typeface="Times New Roman"/>
              <a:cs typeface="Times New Roman"/>
            </a:endParaRPr>
          </a:p>
          <a:p>
            <a:pPr marL="355600" marR="7620" indent="-342900">
              <a:lnSpc>
                <a:spcPts val="282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Up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250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kHz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analog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few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Mbps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digital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signaling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long-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distance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point-to-point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signaling)</a:t>
            </a:r>
          </a:p>
          <a:p>
            <a:pPr marL="355600" marR="5080" indent="-342900">
              <a:lnSpc>
                <a:spcPts val="2820"/>
              </a:lnSpc>
              <a:spcBef>
                <a:spcPts val="6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repeater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every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2-3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km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(digital),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amplifier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every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5-6</a:t>
            </a:r>
            <a:r>
              <a:rPr sz="2400" spc="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km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(analog)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33915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5" dirty="0">
                <a:latin typeface="Times New Roman"/>
                <a:cs typeface="Times New Roman"/>
              </a:rPr>
              <a:t>Wired</a:t>
            </a:r>
            <a:r>
              <a:rPr sz="3200" b="0" spc="-3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-</a:t>
            </a:r>
            <a:r>
              <a:rPr sz="3200" b="0" spc="-90" dirty="0">
                <a:latin typeface="Times New Roman"/>
                <a:cs typeface="Times New Roman"/>
              </a:rPr>
              <a:t> </a:t>
            </a:r>
            <a:r>
              <a:rPr sz="3200" b="0" spc="-35" dirty="0">
                <a:latin typeface="Times New Roman"/>
                <a:cs typeface="Times New Roman"/>
              </a:rPr>
              <a:t>Twisted</a:t>
            </a:r>
            <a:r>
              <a:rPr sz="3200" b="0" spc="-4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Pair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1216" y="3924265"/>
            <a:ext cx="85090" cy="33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69924"/>
            <a:ext cx="8531225" cy="35585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marR="5080" indent="-342900" algn="just">
              <a:lnSpc>
                <a:spcPct val="99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Consists of </a:t>
            </a:r>
            <a:r>
              <a:rPr sz="2400" dirty="0">
                <a:latin typeface="Times New Roman"/>
                <a:cs typeface="Times New Roman"/>
              </a:rPr>
              <a:t>two insulated copper </a:t>
            </a:r>
            <a:r>
              <a:rPr sz="2400" spc="-5" dirty="0">
                <a:latin typeface="Times New Roman"/>
                <a:cs typeface="Times New Roman"/>
              </a:rPr>
              <a:t>wires </a:t>
            </a:r>
            <a:r>
              <a:rPr sz="2400" dirty="0">
                <a:latin typeface="Times New Roman"/>
                <a:cs typeface="Times New Roman"/>
              </a:rPr>
              <a:t>arranged </a:t>
            </a:r>
            <a:r>
              <a:rPr sz="2400" spc="-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regular spiral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pattern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minimize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electromagnetic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interference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between </a:t>
            </a:r>
            <a:r>
              <a:rPr sz="2400" dirty="0">
                <a:latin typeface="Times New Roman"/>
                <a:cs typeface="Times New Roman"/>
              </a:rPr>
              <a:t> adjacent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pairs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Often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customer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facilities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over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distances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carry</a:t>
            </a:r>
            <a:endParaRPr sz="2400">
              <a:latin typeface="Times New Roman"/>
              <a:cs typeface="Times New Roman"/>
            </a:endParaRPr>
          </a:p>
          <a:p>
            <a:pPr marL="355600" algn="just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voice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transmission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medium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latin typeface="Times New Roman"/>
                <a:cs typeface="Times New Roman"/>
              </a:rPr>
              <a:t>Telephone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(subscriber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loop: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between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house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exchange)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High-speed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(10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100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Mbps)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LAN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25"/>
              </a:spcBef>
              <a:tabLst>
                <a:tab pos="756285" algn="l"/>
              </a:tabLst>
            </a:pPr>
            <a:r>
              <a:rPr sz="2000" dirty="0">
                <a:latin typeface="Arial MT"/>
                <a:cs typeface="Arial MT"/>
              </a:rPr>
              <a:t>–	</a:t>
            </a:r>
            <a:r>
              <a:rPr sz="2000" dirty="0">
                <a:latin typeface="Times New Roman"/>
                <a:cs typeface="Times New Roman"/>
              </a:rPr>
              <a:t>token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ring,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Ethernet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20624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35" dirty="0">
                <a:latin typeface="Times New Roman"/>
                <a:cs typeface="Times New Roman"/>
              </a:rPr>
              <a:t>Twisted</a:t>
            </a:r>
            <a:r>
              <a:rPr sz="3200" b="0" spc="-8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Pair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9284" y="3910584"/>
            <a:ext cx="405231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0668"/>
            <a:ext cx="8289290" cy="221742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STP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(shielded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twisted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pair)</a:t>
            </a:r>
            <a:endParaRPr sz="2400">
              <a:latin typeface="Times New Roman"/>
              <a:cs typeface="Times New Roman"/>
            </a:endParaRPr>
          </a:p>
          <a:p>
            <a:pPr marL="756285" marR="431165" lvl="1" indent="-287020">
              <a:lnSpc>
                <a:spcPts val="2350"/>
              </a:lnSpc>
              <a:spcBef>
                <a:spcPts val="59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wrapped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metallic </a:t>
            </a:r>
            <a:r>
              <a:rPr sz="2000" dirty="0">
                <a:latin typeface="Times New Roman"/>
                <a:cs typeface="Times New Roman"/>
              </a:rPr>
              <a:t>foil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braid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insulate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electromagnetic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interference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UTP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(unshielded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twisted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pair)</a:t>
            </a:r>
            <a:endParaRPr sz="24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350"/>
              </a:lnSpc>
              <a:spcBef>
                <a:spcPts val="59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insulated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plastic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wrap,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but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encased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 outer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covering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35604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45" dirty="0">
                <a:latin typeface="Times New Roman"/>
                <a:cs typeface="Times New Roman"/>
              </a:rPr>
              <a:t>Types</a:t>
            </a:r>
            <a:r>
              <a:rPr sz="3200" b="0" spc="-4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of</a:t>
            </a:r>
            <a:r>
              <a:rPr sz="3200" b="0" spc="-95" dirty="0">
                <a:latin typeface="Times New Roman"/>
                <a:cs typeface="Times New Roman"/>
              </a:rPr>
              <a:t> </a:t>
            </a:r>
            <a:r>
              <a:rPr sz="3200" b="0" spc="-35" dirty="0">
                <a:latin typeface="Times New Roman"/>
                <a:cs typeface="Times New Roman"/>
              </a:rPr>
              <a:t>Twisted </a:t>
            </a:r>
            <a:r>
              <a:rPr sz="3200" b="0" dirty="0">
                <a:latin typeface="Times New Roman"/>
                <a:cs typeface="Times New Roman"/>
              </a:rPr>
              <a:t>Pair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75740"/>
            <a:ext cx="1377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Times New Roman"/>
                <a:cs typeface="Times New Roman"/>
              </a:rPr>
              <a:t>Category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202817"/>
            <a:ext cx="80708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  <a:tab pos="1433195" algn="l"/>
                <a:tab pos="1853564" algn="l"/>
                <a:tab pos="7809230" algn="l"/>
              </a:tabLst>
            </a:pPr>
            <a:r>
              <a:rPr sz="1600" spc="-5" dirty="0">
                <a:latin typeface="Arial MT"/>
                <a:cs typeface="Arial MT"/>
              </a:rPr>
              <a:t>–	</a:t>
            </a:r>
            <a:r>
              <a:rPr sz="1600" spc="-5" dirty="0">
                <a:latin typeface="Times New Roman"/>
                <a:cs typeface="Times New Roman"/>
              </a:rPr>
              <a:t>UTP 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cables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associa</a:t>
            </a:r>
            <a:r>
              <a:rPr sz="1600" dirty="0">
                <a:latin typeface="Times New Roman"/>
                <a:cs typeface="Times New Roman"/>
              </a:rPr>
              <a:t>t</a:t>
            </a:r>
            <a:r>
              <a:rPr sz="1600" spc="-5" dirty="0">
                <a:latin typeface="Times New Roman"/>
                <a:cs typeface="Times New Roman"/>
              </a:rPr>
              <a:t>ed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connecting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hardw</a:t>
            </a:r>
            <a:r>
              <a:rPr sz="1600" spc="5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re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</a:t>
            </a:r>
            <a:r>
              <a:rPr sz="1600" spc="-5" dirty="0">
                <a:latin typeface="Times New Roman"/>
                <a:cs typeface="Times New Roman"/>
              </a:rPr>
              <a:t>hose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tran</a:t>
            </a:r>
            <a:r>
              <a:rPr sz="1600" spc="20" dirty="0">
                <a:latin typeface="Times New Roman"/>
                <a:cs typeface="Times New Roman"/>
              </a:rPr>
              <a:t>s</a:t>
            </a:r>
            <a:r>
              <a:rPr sz="1600" spc="-25" dirty="0">
                <a:latin typeface="Times New Roman"/>
                <a:cs typeface="Times New Roman"/>
              </a:rPr>
              <a:t>m</a:t>
            </a:r>
            <a:r>
              <a:rPr sz="1600" spc="5" dirty="0">
                <a:latin typeface="Times New Roman"/>
                <a:cs typeface="Times New Roman"/>
              </a:rPr>
              <a:t>i</a:t>
            </a:r>
            <a:r>
              <a:rPr sz="1600" spc="-5" dirty="0">
                <a:latin typeface="Times New Roman"/>
                <a:cs typeface="Times New Roman"/>
              </a:rPr>
              <a:t>ssion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cha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-5" dirty="0">
                <a:latin typeface="Times New Roman"/>
                <a:cs typeface="Times New Roman"/>
              </a:rPr>
              <a:t>ac</a:t>
            </a:r>
            <a:r>
              <a:rPr sz="1600" dirty="0">
                <a:latin typeface="Times New Roman"/>
                <a:cs typeface="Times New Roman"/>
              </a:rPr>
              <a:t>t</a:t>
            </a:r>
            <a:r>
              <a:rPr sz="1600" spc="-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-5" dirty="0">
                <a:latin typeface="Times New Roman"/>
                <a:cs typeface="Times New Roman"/>
              </a:rPr>
              <a:t>is</a:t>
            </a:r>
            <a:r>
              <a:rPr sz="1600" spc="5" dirty="0">
                <a:latin typeface="Times New Roman"/>
                <a:cs typeface="Times New Roman"/>
              </a:rPr>
              <a:t>t</a:t>
            </a:r>
            <a:r>
              <a:rPr sz="1600" spc="-5" dirty="0">
                <a:latin typeface="Times New Roman"/>
                <a:cs typeface="Times New Roman"/>
              </a:rPr>
              <a:t>ics</a:t>
            </a:r>
            <a:r>
              <a:rPr sz="1600" dirty="0">
                <a:latin typeface="Times New Roman"/>
                <a:cs typeface="Times New Roman"/>
              </a:rPr>
              <a:t>	a</a:t>
            </a:r>
            <a:r>
              <a:rPr sz="1600" spc="-5" dirty="0">
                <a:latin typeface="Times New Roman"/>
                <a:cs typeface="Times New Roman"/>
              </a:rPr>
              <a:t>re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348816"/>
            <a:ext cx="4758690" cy="755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6285">
              <a:lnSpc>
                <a:spcPts val="1725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specified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up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 16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MHZ.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ts val="1855"/>
              </a:lnSpc>
              <a:tabLst>
                <a:tab pos="756285" algn="l"/>
              </a:tabLst>
            </a:pPr>
            <a:r>
              <a:rPr sz="1900" spc="-5" dirty="0">
                <a:latin typeface="Arial MT"/>
                <a:cs typeface="Arial MT"/>
              </a:rPr>
              <a:t>–	</a:t>
            </a:r>
            <a:r>
              <a:rPr sz="1900" spc="-5" dirty="0">
                <a:latin typeface="Times New Roman"/>
                <a:cs typeface="Times New Roman"/>
              </a:rPr>
              <a:t>data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rates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 up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 </a:t>
            </a:r>
            <a:r>
              <a:rPr sz="1900" spc="-10" dirty="0">
                <a:latin typeface="Times New Roman"/>
                <a:cs typeface="Times New Roman"/>
              </a:rPr>
              <a:t>16mbps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are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achievable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17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Category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2026157"/>
            <a:ext cx="807339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  <a:tab pos="974090" algn="l"/>
                <a:tab pos="1803400" algn="l"/>
                <a:tab pos="2379980" algn="l"/>
                <a:tab pos="3594100" algn="l"/>
                <a:tab pos="4878070" algn="l"/>
                <a:tab pos="6002655" algn="l"/>
                <a:tab pos="6845934" algn="l"/>
              </a:tabLst>
            </a:pPr>
            <a:r>
              <a:rPr sz="1900" spc="-5" dirty="0">
                <a:latin typeface="Arial MT"/>
                <a:cs typeface="Arial MT"/>
              </a:rPr>
              <a:t>–	</a:t>
            </a:r>
            <a:r>
              <a:rPr sz="1900" spc="-5" dirty="0">
                <a:latin typeface="Times New Roman"/>
                <a:cs typeface="Times New Roman"/>
              </a:rPr>
              <a:t>UTP	cables	and	a</a:t>
            </a:r>
            <a:r>
              <a:rPr sz="1900" spc="-15" dirty="0">
                <a:latin typeface="Times New Roman"/>
                <a:cs typeface="Times New Roman"/>
              </a:rPr>
              <a:t>s</a:t>
            </a:r>
            <a:r>
              <a:rPr sz="1900" spc="-5" dirty="0">
                <a:latin typeface="Times New Roman"/>
                <a:cs typeface="Times New Roman"/>
              </a:rPr>
              <a:t>so</a:t>
            </a:r>
            <a:r>
              <a:rPr sz="1900" spc="-15" dirty="0">
                <a:latin typeface="Times New Roman"/>
                <a:cs typeface="Times New Roman"/>
              </a:rPr>
              <a:t>c</a:t>
            </a:r>
            <a:r>
              <a:rPr sz="1900" spc="-5" dirty="0">
                <a:latin typeface="Times New Roman"/>
                <a:cs typeface="Times New Roman"/>
              </a:rPr>
              <a:t>iat</a:t>
            </a:r>
            <a:r>
              <a:rPr sz="1900" spc="-20" dirty="0">
                <a:latin typeface="Times New Roman"/>
                <a:cs typeface="Times New Roman"/>
              </a:rPr>
              <a:t>e</a:t>
            </a:r>
            <a:r>
              <a:rPr sz="1900" spc="-5" dirty="0">
                <a:latin typeface="Times New Roman"/>
                <a:cs typeface="Times New Roman"/>
              </a:rPr>
              <a:t>d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" dirty="0">
                <a:latin typeface="Times New Roman"/>
                <a:cs typeface="Times New Roman"/>
              </a:rPr>
              <a:t>connecting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" dirty="0">
                <a:latin typeface="Times New Roman"/>
                <a:cs typeface="Times New Roman"/>
              </a:rPr>
              <a:t>hardware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" dirty="0">
                <a:latin typeface="Times New Roman"/>
                <a:cs typeface="Times New Roman"/>
              </a:rPr>
              <a:t>who</a:t>
            </a:r>
            <a:r>
              <a:rPr sz="1900" spc="-15" dirty="0">
                <a:latin typeface="Times New Roman"/>
                <a:cs typeface="Times New Roman"/>
              </a:rPr>
              <a:t>s</a:t>
            </a:r>
            <a:r>
              <a:rPr sz="1900" spc="-5" dirty="0">
                <a:latin typeface="Times New Roman"/>
                <a:cs typeface="Times New Roman"/>
              </a:rPr>
              <a:t>e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" dirty="0">
                <a:latin typeface="Times New Roman"/>
                <a:cs typeface="Times New Roman"/>
              </a:rPr>
              <a:t>tran</a:t>
            </a:r>
            <a:r>
              <a:rPr sz="1900" dirty="0">
                <a:latin typeface="Times New Roman"/>
                <a:cs typeface="Times New Roman"/>
              </a:rPr>
              <a:t>s</a:t>
            </a:r>
            <a:r>
              <a:rPr sz="1900" spc="-30" dirty="0">
                <a:latin typeface="Times New Roman"/>
                <a:cs typeface="Times New Roman"/>
              </a:rPr>
              <a:t>m</a:t>
            </a:r>
            <a:r>
              <a:rPr sz="1900" spc="-5" dirty="0">
                <a:latin typeface="Times New Roman"/>
                <a:cs typeface="Times New Roman"/>
              </a:rPr>
              <a:t>i</a:t>
            </a:r>
            <a:r>
              <a:rPr sz="1900" dirty="0">
                <a:latin typeface="Times New Roman"/>
                <a:cs typeface="Times New Roman"/>
              </a:rPr>
              <a:t>s</a:t>
            </a:r>
            <a:r>
              <a:rPr sz="1900" spc="-5" dirty="0">
                <a:latin typeface="Times New Roman"/>
                <a:cs typeface="Times New Roman"/>
              </a:rPr>
              <a:t>si</a:t>
            </a:r>
            <a:r>
              <a:rPr sz="1900" spc="-25" dirty="0">
                <a:latin typeface="Times New Roman"/>
                <a:cs typeface="Times New Roman"/>
              </a:rPr>
              <a:t>o</a:t>
            </a:r>
            <a:r>
              <a:rPr sz="1900" spc="-5" dirty="0">
                <a:latin typeface="Times New Roman"/>
                <a:cs typeface="Times New Roman"/>
              </a:rPr>
              <a:t>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2199893"/>
            <a:ext cx="4887595" cy="552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6285">
              <a:lnSpc>
                <a:spcPts val="2075"/>
              </a:lnSpc>
              <a:spcBef>
                <a:spcPts val="95"/>
              </a:spcBef>
            </a:pPr>
            <a:r>
              <a:rPr sz="1900" spc="-5" dirty="0">
                <a:latin typeface="Times New Roman"/>
                <a:cs typeface="Times New Roman"/>
              </a:rPr>
              <a:t>characteristics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are specified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up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20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MHz.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07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latin typeface="Times New Roman"/>
                <a:cs typeface="Times New Roman"/>
              </a:rPr>
              <a:t>Category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2674111"/>
            <a:ext cx="807339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9085" algn="l"/>
                <a:tab pos="974090" algn="l"/>
                <a:tab pos="1803400" algn="l"/>
                <a:tab pos="2379980" algn="l"/>
                <a:tab pos="3594100" algn="l"/>
                <a:tab pos="4878070" algn="l"/>
                <a:tab pos="6002655" algn="l"/>
                <a:tab pos="6845934" algn="l"/>
              </a:tabLst>
            </a:pPr>
            <a:r>
              <a:rPr sz="1900" spc="-5" dirty="0">
                <a:latin typeface="Arial MT"/>
                <a:cs typeface="Arial MT"/>
              </a:rPr>
              <a:t>–	</a:t>
            </a:r>
            <a:r>
              <a:rPr sz="1900" spc="-5" dirty="0">
                <a:latin typeface="Times New Roman"/>
                <a:cs typeface="Times New Roman"/>
              </a:rPr>
              <a:t>UTP	cables	and	a</a:t>
            </a:r>
            <a:r>
              <a:rPr sz="1900" spc="-15" dirty="0">
                <a:latin typeface="Times New Roman"/>
                <a:cs typeface="Times New Roman"/>
              </a:rPr>
              <a:t>s</a:t>
            </a:r>
            <a:r>
              <a:rPr sz="1900" spc="-5" dirty="0">
                <a:latin typeface="Times New Roman"/>
                <a:cs typeface="Times New Roman"/>
              </a:rPr>
              <a:t>so</a:t>
            </a:r>
            <a:r>
              <a:rPr sz="1900" spc="-15" dirty="0">
                <a:latin typeface="Times New Roman"/>
                <a:cs typeface="Times New Roman"/>
              </a:rPr>
              <a:t>c</a:t>
            </a:r>
            <a:r>
              <a:rPr sz="1900" spc="-5" dirty="0">
                <a:latin typeface="Times New Roman"/>
                <a:cs typeface="Times New Roman"/>
              </a:rPr>
              <a:t>iat</a:t>
            </a:r>
            <a:r>
              <a:rPr sz="1900" spc="-20" dirty="0">
                <a:latin typeface="Times New Roman"/>
                <a:cs typeface="Times New Roman"/>
              </a:rPr>
              <a:t>e</a:t>
            </a:r>
            <a:r>
              <a:rPr sz="1900" spc="-5" dirty="0">
                <a:latin typeface="Times New Roman"/>
                <a:cs typeface="Times New Roman"/>
              </a:rPr>
              <a:t>d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" dirty="0">
                <a:latin typeface="Times New Roman"/>
                <a:cs typeface="Times New Roman"/>
              </a:rPr>
              <a:t>connecting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" dirty="0">
                <a:latin typeface="Times New Roman"/>
                <a:cs typeface="Times New Roman"/>
              </a:rPr>
              <a:t>hardware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" dirty="0">
                <a:latin typeface="Times New Roman"/>
                <a:cs typeface="Times New Roman"/>
              </a:rPr>
              <a:t>who</a:t>
            </a:r>
            <a:r>
              <a:rPr sz="1900" spc="-15" dirty="0">
                <a:latin typeface="Times New Roman"/>
                <a:cs typeface="Times New Roman"/>
              </a:rPr>
              <a:t>s</a:t>
            </a:r>
            <a:r>
              <a:rPr sz="1900" spc="-5" dirty="0">
                <a:latin typeface="Times New Roman"/>
                <a:cs typeface="Times New Roman"/>
              </a:rPr>
              <a:t>e</a:t>
            </a:r>
            <a:r>
              <a:rPr sz="1900" dirty="0">
                <a:latin typeface="Times New Roman"/>
                <a:cs typeface="Times New Roman"/>
              </a:rPr>
              <a:t>	</a:t>
            </a:r>
            <a:r>
              <a:rPr sz="1900" spc="-5" dirty="0">
                <a:latin typeface="Times New Roman"/>
                <a:cs typeface="Times New Roman"/>
              </a:rPr>
              <a:t>tran</a:t>
            </a:r>
            <a:r>
              <a:rPr sz="1900" dirty="0">
                <a:latin typeface="Times New Roman"/>
                <a:cs typeface="Times New Roman"/>
              </a:rPr>
              <a:t>s</a:t>
            </a:r>
            <a:r>
              <a:rPr sz="1900" spc="-30" dirty="0">
                <a:latin typeface="Times New Roman"/>
                <a:cs typeface="Times New Roman"/>
              </a:rPr>
              <a:t>m</a:t>
            </a:r>
            <a:r>
              <a:rPr sz="1900" spc="-5" dirty="0">
                <a:latin typeface="Times New Roman"/>
                <a:cs typeface="Times New Roman"/>
              </a:rPr>
              <a:t>i</a:t>
            </a:r>
            <a:r>
              <a:rPr sz="1900" dirty="0">
                <a:latin typeface="Times New Roman"/>
                <a:cs typeface="Times New Roman"/>
              </a:rPr>
              <a:t>s</a:t>
            </a:r>
            <a:r>
              <a:rPr sz="1900" spc="-5" dirty="0">
                <a:latin typeface="Times New Roman"/>
                <a:cs typeface="Times New Roman"/>
              </a:rPr>
              <a:t>si</a:t>
            </a:r>
            <a:r>
              <a:rPr sz="1900" spc="-25" dirty="0">
                <a:latin typeface="Times New Roman"/>
                <a:cs typeface="Times New Roman"/>
              </a:rPr>
              <a:t>o</a:t>
            </a:r>
            <a:r>
              <a:rPr sz="1900" spc="-5" dirty="0">
                <a:latin typeface="Times New Roman"/>
                <a:cs typeface="Times New Roman"/>
              </a:rPr>
              <a:t>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340" y="2847847"/>
            <a:ext cx="5009515" cy="182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6285">
              <a:lnSpc>
                <a:spcPts val="2075"/>
              </a:lnSpc>
              <a:spcBef>
                <a:spcPts val="95"/>
              </a:spcBef>
            </a:pPr>
            <a:r>
              <a:rPr sz="1900" spc="-5" dirty="0">
                <a:latin typeface="Times New Roman"/>
                <a:cs typeface="Times New Roman"/>
              </a:rPr>
              <a:t>characteristics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are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specified up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100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MHz.</a:t>
            </a:r>
            <a:endParaRPr sz="1900">
              <a:latin typeface="Times New Roman"/>
              <a:cs typeface="Times New Roman"/>
            </a:endParaRPr>
          </a:p>
          <a:p>
            <a:pPr marL="756285" indent="-287020">
              <a:lnSpc>
                <a:spcPts val="162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700" spc="-5" dirty="0">
                <a:latin typeface="Times New Roman"/>
                <a:cs typeface="Times New Roman"/>
              </a:rPr>
              <a:t>data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rates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up</a:t>
            </a:r>
            <a:r>
              <a:rPr sz="1700" spc="-5" dirty="0">
                <a:latin typeface="Times New Roman"/>
                <a:cs typeface="Times New Roman"/>
              </a:rPr>
              <a:t> to </a:t>
            </a:r>
            <a:r>
              <a:rPr sz="1700" dirty="0">
                <a:latin typeface="Times New Roman"/>
                <a:cs typeface="Times New Roman"/>
              </a:rPr>
              <a:t>100mbps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achievable</a:t>
            </a:r>
            <a:endParaRPr sz="1700">
              <a:latin typeface="Times New Roman"/>
              <a:cs typeface="Times New Roman"/>
            </a:endParaRPr>
          </a:p>
          <a:p>
            <a:pPr marL="756285" indent="-287020">
              <a:lnSpc>
                <a:spcPts val="162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700" dirty="0">
                <a:latin typeface="Times New Roman"/>
                <a:cs typeface="Times New Roman"/>
              </a:rPr>
              <a:t>more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tightly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twisted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Category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cables</a:t>
            </a:r>
            <a:endParaRPr sz="1700">
              <a:latin typeface="Times New Roman"/>
              <a:cs typeface="Times New Roman"/>
            </a:endParaRPr>
          </a:p>
          <a:p>
            <a:pPr marL="756285" indent="-287020">
              <a:lnSpc>
                <a:spcPts val="163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expensive,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better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performance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ts val="1864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latin typeface="Times New Roman"/>
                <a:cs typeface="Times New Roman"/>
              </a:rPr>
              <a:t>Category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5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enhanced,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Cat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6,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cat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162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700" dirty="0">
                <a:latin typeface="Times New Roman"/>
                <a:cs typeface="Times New Roman"/>
              </a:rPr>
              <a:t>Fast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giga-ethernet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ts val="1864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latin typeface="Times New Roman"/>
                <a:cs typeface="Times New Roman"/>
              </a:rPr>
              <a:t>STP</a:t>
            </a:r>
            <a:endParaRPr sz="19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183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expensive,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harder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work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with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38373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Ratings</a:t>
            </a:r>
            <a:r>
              <a:rPr sz="3200" b="0" spc="-4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of</a:t>
            </a:r>
            <a:r>
              <a:rPr sz="3200" b="0" spc="-90" dirty="0">
                <a:latin typeface="Times New Roman"/>
                <a:cs typeface="Times New Roman"/>
              </a:rPr>
              <a:t> </a:t>
            </a:r>
            <a:r>
              <a:rPr sz="3200" b="0" spc="-35" dirty="0">
                <a:latin typeface="Times New Roman"/>
                <a:cs typeface="Times New Roman"/>
              </a:rPr>
              <a:t>Twisted</a:t>
            </a:r>
            <a:r>
              <a:rPr sz="3200" b="0" spc="-3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Pair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03703"/>
            <a:ext cx="5440680" cy="35750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Advantages</a:t>
            </a:r>
          </a:p>
          <a:p>
            <a:pPr marL="756285" lvl="1" indent="-287020">
              <a:lnSpc>
                <a:spcPct val="100000"/>
              </a:lnSpc>
              <a:spcBef>
                <a:spcPts val="15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Inexpensive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 readily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available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Flexible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light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weight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4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Easy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work with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 install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Disvantages</a:t>
            </a:r>
          </a:p>
          <a:p>
            <a:pPr marL="756285" lvl="1" indent="-287020">
              <a:lnSpc>
                <a:spcPct val="100000"/>
              </a:lnSpc>
              <a:spcBef>
                <a:spcPts val="15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Susceptibility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 interference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noise</a:t>
            </a:r>
            <a:endParaRPr sz="22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Attenuation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problem</a:t>
            </a:r>
            <a:endParaRPr sz="2200" dirty="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analog,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repeaters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5-6km</a:t>
            </a:r>
            <a:endParaRPr sz="2000" dirty="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digital,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repeaters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2-3km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2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Relatively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low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bandwidth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(MHz)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40620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35" dirty="0">
                <a:latin typeface="Times New Roman"/>
                <a:cs typeface="Times New Roman"/>
              </a:rPr>
              <a:t>T</a:t>
            </a:r>
            <a:r>
              <a:rPr sz="3200" b="0" dirty="0">
                <a:latin typeface="Times New Roman"/>
                <a:cs typeface="Times New Roman"/>
              </a:rPr>
              <a:t>wisted</a:t>
            </a:r>
            <a:r>
              <a:rPr sz="3200" b="0" spc="-1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Pair</a:t>
            </a:r>
            <a:r>
              <a:rPr sz="3200" b="0" spc="-204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Ad</a:t>
            </a:r>
            <a:r>
              <a:rPr sz="3200" b="0" spc="10" dirty="0">
                <a:latin typeface="Times New Roman"/>
                <a:cs typeface="Times New Roman"/>
              </a:rPr>
              <a:t>v</a:t>
            </a:r>
            <a:r>
              <a:rPr sz="3200" b="0" dirty="0">
                <a:latin typeface="Times New Roman"/>
                <a:cs typeface="Times New Roman"/>
              </a:rPr>
              <a:t>a</a:t>
            </a:r>
            <a:r>
              <a:rPr sz="3200" b="0" spc="5" dirty="0">
                <a:latin typeface="Times New Roman"/>
                <a:cs typeface="Times New Roman"/>
              </a:rPr>
              <a:t>n</a:t>
            </a:r>
            <a:r>
              <a:rPr sz="3200" b="0" dirty="0">
                <a:latin typeface="Times New Roman"/>
                <a:cs typeface="Times New Roman"/>
              </a:rPr>
              <a:t>tages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7576" y="1014983"/>
            <a:ext cx="8295640" cy="3764279"/>
            <a:chOff x="417576" y="1014983"/>
            <a:chExt cx="8295640" cy="37642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576" y="2250947"/>
              <a:ext cx="8295132" cy="24216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068" y="1014983"/>
              <a:ext cx="8004048" cy="6644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31464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0" dirty="0">
                <a:latin typeface="Times New Roman"/>
                <a:cs typeface="Times New Roman"/>
              </a:rPr>
              <a:t>Twisted-Pair</a:t>
            </a:r>
            <a:r>
              <a:rPr sz="3200" b="0" spc="-9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Cable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184" y="1030224"/>
            <a:ext cx="8458200" cy="30251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53517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10" dirty="0">
                <a:latin typeface="Times New Roman"/>
                <a:cs typeface="Times New Roman"/>
              </a:rPr>
              <a:t>Effect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of</a:t>
            </a:r>
            <a:r>
              <a:rPr sz="3200" b="0" spc="-1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Noise</a:t>
            </a:r>
            <a:r>
              <a:rPr sz="3200" b="0" spc="-2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on</a:t>
            </a:r>
            <a:r>
              <a:rPr sz="3200" b="0" spc="-2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Parallel</a:t>
            </a:r>
            <a:r>
              <a:rPr sz="3200" b="0" spc="-4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Lines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84" y="1001267"/>
            <a:ext cx="8764524" cy="33299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46501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Noise</a:t>
            </a:r>
            <a:r>
              <a:rPr sz="3200" b="0" spc="-2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on</a:t>
            </a:r>
            <a:r>
              <a:rPr sz="3200" b="0" spc="-80" dirty="0">
                <a:latin typeface="Times New Roman"/>
                <a:cs typeface="Times New Roman"/>
              </a:rPr>
              <a:t> </a:t>
            </a:r>
            <a:r>
              <a:rPr sz="3200" b="0" spc="-20" dirty="0">
                <a:latin typeface="Times New Roman"/>
                <a:cs typeface="Times New Roman"/>
              </a:rPr>
              <a:t>Twisted-Pair</a:t>
            </a:r>
            <a:r>
              <a:rPr sz="3200" b="0" spc="-6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Lines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663" y="1479804"/>
            <a:ext cx="7789164" cy="26014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50927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Unshielded</a:t>
            </a:r>
            <a:r>
              <a:rPr sz="3200" b="0" spc="-100" dirty="0">
                <a:latin typeface="Times New Roman"/>
                <a:cs typeface="Times New Roman"/>
              </a:rPr>
              <a:t> </a:t>
            </a:r>
            <a:r>
              <a:rPr sz="3200" b="0" spc="-20" dirty="0">
                <a:latin typeface="Times New Roman"/>
                <a:cs typeface="Times New Roman"/>
              </a:rPr>
              <a:t>Twisted-Pair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Cable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" y="1293876"/>
            <a:ext cx="8706612" cy="22219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46609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Shielded</a:t>
            </a:r>
            <a:r>
              <a:rPr sz="3200" b="0" spc="-114" dirty="0">
                <a:latin typeface="Times New Roman"/>
                <a:cs typeface="Times New Roman"/>
              </a:rPr>
              <a:t> </a:t>
            </a:r>
            <a:r>
              <a:rPr sz="3200" b="0" spc="-20" dirty="0">
                <a:latin typeface="Times New Roman"/>
                <a:cs typeface="Times New Roman"/>
              </a:rPr>
              <a:t>Twisted-Pair</a:t>
            </a:r>
            <a:r>
              <a:rPr sz="3200" b="0" spc="-6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Cable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5248"/>
            <a:ext cx="8500745" cy="3481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2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Coaxial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Cable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57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Most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versatile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medium</a:t>
            </a:r>
            <a:endParaRPr sz="2200">
              <a:latin typeface="Times New Roman"/>
              <a:cs typeface="Times New Roman"/>
            </a:endParaRPr>
          </a:p>
          <a:p>
            <a:pPr marL="1155700" lvl="2" indent="-229235">
              <a:lnSpc>
                <a:spcPts val="208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5" dirty="0">
                <a:latin typeface="Times New Roman"/>
                <a:cs typeface="Times New Roman"/>
              </a:rPr>
              <a:t>LANs,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Cable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80" dirty="0">
                <a:latin typeface="Times New Roman"/>
                <a:cs typeface="Times New Roman"/>
              </a:rPr>
              <a:t>TV,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Long-distance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telephones,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VCR-to-TV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connections</a:t>
            </a:r>
            <a:endParaRPr sz="18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50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Noise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immunity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good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57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65" dirty="0">
                <a:latin typeface="Times New Roman"/>
                <a:cs typeface="Times New Roman"/>
              </a:rPr>
              <a:t>Very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channel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capacity</a:t>
            </a:r>
            <a:endParaRPr sz="2200">
              <a:latin typeface="Times New Roman"/>
              <a:cs typeface="Times New Roman"/>
            </a:endParaRPr>
          </a:p>
          <a:p>
            <a:pPr marL="1155700" lvl="2" indent="-229235">
              <a:lnSpc>
                <a:spcPts val="209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5" dirty="0">
                <a:latin typeface="Times New Roman"/>
                <a:cs typeface="Times New Roman"/>
              </a:rPr>
              <a:t>few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100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MHz</a:t>
            </a:r>
            <a:r>
              <a:rPr sz="1800" dirty="0">
                <a:latin typeface="Times New Roman"/>
                <a:cs typeface="Times New Roman"/>
              </a:rPr>
              <a:t> /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few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Mbps</a:t>
            </a:r>
            <a:endParaRPr sz="18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79500"/>
              </a:lnSpc>
              <a:spcBef>
                <a:spcPts val="47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Need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repeater/amplifier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every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few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kilometer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 (about 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same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twisted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pair)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ts val="276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inner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conductor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surrounded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braided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mesh</a:t>
            </a:r>
            <a:endParaRPr sz="2400">
              <a:latin typeface="Times New Roman"/>
              <a:cs typeface="Times New Roman"/>
            </a:endParaRPr>
          </a:p>
          <a:p>
            <a:pPr marL="355600" marR="36195" indent="-342900">
              <a:lnSpc>
                <a:spcPct val="79600"/>
              </a:lnSpc>
              <a:spcBef>
                <a:spcPts val="5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conductors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share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common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axial,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“co-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axial”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44342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5" dirty="0">
                <a:latin typeface="Times New Roman"/>
                <a:cs typeface="Times New Roman"/>
              </a:rPr>
              <a:t>Wired</a:t>
            </a:r>
            <a:r>
              <a:rPr sz="3200" b="0" spc="-100" dirty="0">
                <a:latin typeface="Times New Roman"/>
                <a:cs typeface="Times New Roman"/>
              </a:rPr>
              <a:t> </a:t>
            </a:r>
            <a:r>
              <a:rPr sz="3200" b="0" spc="-10" dirty="0">
                <a:latin typeface="Times New Roman"/>
                <a:cs typeface="Times New Roman"/>
              </a:rPr>
              <a:t>Transmission</a:t>
            </a:r>
            <a:r>
              <a:rPr sz="3200" b="0" spc="-7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Media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7035"/>
            <a:ext cx="7851140" cy="14293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ground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wire</a:t>
            </a:r>
            <a:endParaRPr sz="2400">
              <a:latin typeface="Times New Roman"/>
              <a:cs typeface="Times New Roman"/>
            </a:endParaRPr>
          </a:p>
          <a:p>
            <a:pPr marL="756285" marR="22225" lvl="1" indent="-287020">
              <a:lnSpc>
                <a:spcPts val="2330"/>
              </a:lnSpc>
              <a:spcBef>
                <a:spcPts val="5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Solid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center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conductor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running coaxially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inside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solid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(usually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braided) outer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circular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conductor.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Center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conductor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shielded from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external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interference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signals.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971800"/>
            <a:ext cx="8162544" cy="14356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22498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Coaxial</a:t>
            </a:r>
            <a:r>
              <a:rPr sz="3200" b="0" spc="-9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cable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2504"/>
            <a:ext cx="6715759" cy="3606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2185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latin typeface="Times New Roman"/>
                <a:cs typeface="Times New Roman"/>
              </a:rPr>
              <a:t>Better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shielding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allows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for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longer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cables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and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higher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transfer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rates.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08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latin typeface="Times New Roman"/>
                <a:cs typeface="Times New Roman"/>
              </a:rPr>
              <a:t>100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m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cables</a:t>
            </a:r>
            <a:endParaRPr sz="19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18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Gbps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feasible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(modulation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used)</a:t>
            </a:r>
            <a:endParaRPr sz="17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184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700" dirty="0">
                <a:latin typeface="Times New Roman"/>
                <a:cs typeface="Times New Roman"/>
              </a:rPr>
              <a:t>10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Mbps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typical</a:t>
            </a:r>
            <a:endParaRPr sz="1700">
              <a:latin typeface="Times New Roman"/>
              <a:cs typeface="Times New Roman"/>
            </a:endParaRPr>
          </a:p>
          <a:p>
            <a:pPr marL="342265" marR="4605655" indent="-342265" algn="r">
              <a:lnSpc>
                <a:spcPts val="2080"/>
              </a:lnSpc>
              <a:buFont typeface="Arial MT"/>
              <a:buChar char="•"/>
              <a:tabLst>
                <a:tab pos="342265" algn="l"/>
                <a:tab pos="355600" algn="l"/>
              </a:tabLst>
            </a:pPr>
            <a:r>
              <a:rPr sz="1900" spc="-5" dirty="0">
                <a:latin typeface="Times New Roman"/>
                <a:cs typeface="Times New Roman"/>
              </a:rPr>
              <a:t>Higher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bandwidth</a:t>
            </a:r>
            <a:endParaRPr sz="1900">
              <a:latin typeface="Times New Roman"/>
              <a:cs typeface="Times New Roman"/>
            </a:endParaRPr>
          </a:p>
          <a:p>
            <a:pPr marR="4631055" algn="r">
              <a:lnSpc>
                <a:spcPts val="1830"/>
              </a:lnSpc>
              <a:tabLst>
                <a:tab pos="286385" algn="l"/>
              </a:tabLst>
            </a:pPr>
            <a:r>
              <a:rPr sz="1700" dirty="0">
                <a:latin typeface="Arial MT"/>
                <a:cs typeface="Arial MT"/>
              </a:rPr>
              <a:t>–	</a:t>
            </a:r>
            <a:r>
              <a:rPr sz="1700" dirty="0">
                <a:latin typeface="Times New Roman"/>
                <a:cs typeface="Times New Roman"/>
              </a:rPr>
              <a:t>400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600Mhz</a:t>
            </a:r>
            <a:endParaRPr sz="17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1839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700" dirty="0">
                <a:latin typeface="Times New Roman"/>
                <a:cs typeface="Times New Roman"/>
              </a:rPr>
              <a:t>up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10,800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voice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conversations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ts val="209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10" dirty="0">
                <a:latin typeface="Times New Roman"/>
                <a:cs typeface="Times New Roman"/>
              </a:rPr>
              <a:t>Can </a:t>
            </a:r>
            <a:r>
              <a:rPr sz="1900" spc="-5" dirty="0">
                <a:latin typeface="Times New Roman"/>
                <a:cs typeface="Times New Roman"/>
              </a:rPr>
              <a:t>be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tapped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easily: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stations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easily added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(pros and cons)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09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latin typeface="Times New Roman"/>
                <a:cs typeface="Times New Roman"/>
              </a:rPr>
              <a:t>Much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less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susceptible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 interference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than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twisted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pair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08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latin typeface="Times New Roman"/>
                <a:cs typeface="Times New Roman"/>
              </a:rPr>
              <a:t>Used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 </a:t>
            </a:r>
            <a:r>
              <a:rPr sz="1900" spc="-5" dirty="0">
                <a:latin typeface="Times New Roman"/>
                <a:cs typeface="Times New Roman"/>
              </a:rPr>
              <a:t>long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haul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routes by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Phone Co.</a:t>
            </a:r>
            <a:endParaRPr sz="19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184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700" spc="-5" dirty="0">
                <a:latin typeface="Times New Roman"/>
                <a:cs typeface="Times New Roman"/>
              </a:rPr>
              <a:t>Mostly </a:t>
            </a:r>
            <a:r>
              <a:rPr sz="1700" dirty="0">
                <a:latin typeface="Times New Roman"/>
                <a:cs typeface="Times New Roman"/>
              </a:rPr>
              <a:t>replaced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now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optical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fiber.</a:t>
            </a:r>
            <a:endParaRPr sz="1700">
              <a:latin typeface="Times New Roman"/>
              <a:cs typeface="Times New Roman"/>
            </a:endParaRPr>
          </a:p>
          <a:p>
            <a:pPr marL="355600" indent="-342900">
              <a:lnSpc>
                <a:spcPts val="209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latin typeface="Times New Roman"/>
                <a:cs typeface="Times New Roman"/>
              </a:rPr>
              <a:t>High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attenuation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rate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makes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it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expensive over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long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distance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1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spc="-5" dirty="0">
                <a:latin typeface="Times New Roman"/>
                <a:cs typeface="Times New Roman"/>
              </a:rPr>
              <a:t>Bulky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19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1900" i="1" spc="-5" dirty="0">
                <a:latin typeface="Times New Roman"/>
                <a:cs typeface="Times New Roman"/>
              </a:rPr>
              <a:t>Baseband </a:t>
            </a:r>
            <a:r>
              <a:rPr sz="1900" spc="-5" dirty="0">
                <a:latin typeface="Times New Roman"/>
                <a:cs typeface="Times New Roman"/>
              </a:rPr>
              <a:t>vs.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i="1" spc="-15" dirty="0">
                <a:latin typeface="Times New Roman"/>
                <a:cs typeface="Times New Roman"/>
              </a:rPr>
              <a:t>broadband</a:t>
            </a:r>
            <a:r>
              <a:rPr sz="1900" i="1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coax.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43465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Properties</a:t>
            </a:r>
            <a:r>
              <a:rPr sz="3200" b="0" spc="-5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of</a:t>
            </a:r>
            <a:r>
              <a:rPr sz="3200" b="0" spc="-3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coaxial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cable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5248"/>
            <a:ext cx="8371840" cy="348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3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Optical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Fiber</a:t>
            </a:r>
            <a:endParaRPr sz="24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79100"/>
              </a:lnSpc>
              <a:spcBef>
                <a:spcPts val="5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Flexible,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(few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few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hundred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Symbol"/>
                <a:cs typeface="Symbol"/>
              </a:rPr>
              <a:t></a:t>
            </a:r>
            <a:r>
              <a:rPr sz="2200" spc="-15" dirty="0">
                <a:latin typeface="Times New Roman"/>
                <a:cs typeface="Times New Roman"/>
              </a:rPr>
              <a:t>m),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very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pure glass/plastic fiber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capable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conducting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optical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rays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45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Extremely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high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bandwidth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capable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Symbol"/>
                <a:cs typeface="Symbol"/>
              </a:rPr>
              <a:t>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2 Gbps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51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65" dirty="0">
                <a:latin typeface="Times New Roman"/>
                <a:cs typeface="Times New Roman"/>
              </a:rPr>
              <a:t>Very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noise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immunity,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resistant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electromagnetic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interference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51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Does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radiate energy/cause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interference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51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65" dirty="0">
                <a:latin typeface="Times New Roman"/>
                <a:cs typeface="Times New Roman"/>
              </a:rPr>
              <a:t>Very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light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51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Need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repeaters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10</a:t>
            </a:r>
            <a:r>
              <a:rPr sz="2200" dirty="0">
                <a:latin typeface="Arial MT"/>
                <a:cs typeface="Arial MT"/>
              </a:rPr>
              <a:t>’</a:t>
            </a:r>
            <a:r>
              <a:rPr sz="2200" dirty="0">
                <a:latin typeface="Times New Roman"/>
                <a:cs typeface="Times New Roman"/>
              </a:rPr>
              <a:t>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 </a:t>
            </a:r>
            <a:r>
              <a:rPr sz="2200" dirty="0">
                <a:latin typeface="Times New Roman"/>
                <a:cs typeface="Times New Roman"/>
              </a:rPr>
              <a:t>100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km apart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52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65" dirty="0">
                <a:latin typeface="Times New Roman"/>
                <a:cs typeface="Times New Roman"/>
              </a:rPr>
              <a:t>Very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difficult</a:t>
            </a:r>
            <a:r>
              <a:rPr sz="2200" spc="-5" dirty="0">
                <a:latin typeface="Times New Roman"/>
                <a:cs typeface="Times New Roman"/>
              </a:rPr>
              <a:t> 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tap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: Better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security</a:t>
            </a:r>
            <a:r>
              <a:rPr sz="2200" dirty="0">
                <a:latin typeface="Times New Roman"/>
                <a:cs typeface="Times New Roman"/>
              </a:rPr>
              <a:t> but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multipoint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easy</a:t>
            </a:r>
            <a:endParaRPr sz="2200">
              <a:latin typeface="Times New Roman"/>
              <a:cs typeface="Times New Roman"/>
            </a:endParaRPr>
          </a:p>
          <a:p>
            <a:pPr marL="756285" marR="548640" lvl="1" indent="-287020">
              <a:lnSpc>
                <a:spcPct val="79500"/>
              </a:lnSpc>
              <a:spcBef>
                <a:spcPts val="484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Require 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light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source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injection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laser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diode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(ILD)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light-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emitting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diodes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(LED)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44342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5" dirty="0">
                <a:latin typeface="Times New Roman"/>
                <a:cs typeface="Times New Roman"/>
              </a:rPr>
              <a:t>Wired</a:t>
            </a:r>
            <a:r>
              <a:rPr sz="3200" b="0" spc="-100" dirty="0">
                <a:latin typeface="Times New Roman"/>
                <a:cs typeface="Times New Roman"/>
              </a:rPr>
              <a:t> </a:t>
            </a:r>
            <a:r>
              <a:rPr sz="3200" b="0" spc="-10" dirty="0">
                <a:latin typeface="Times New Roman"/>
                <a:cs typeface="Times New Roman"/>
              </a:rPr>
              <a:t>Transmission</a:t>
            </a:r>
            <a:r>
              <a:rPr sz="3200" b="0" spc="-7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Media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103" y="1827276"/>
            <a:ext cx="7171944" cy="308457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7340" y="1033348"/>
            <a:ext cx="852932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  <a:tab pos="1138555" algn="l"/>
                <a:tab pos="3317240" algn="l"/>
                <a:tab pos="4519930" algn="l"/>
                <a:tab pos="5385435" algn="l"/>
                <a:tab pos="6740525" algn="l"/>
                <a:tab pos="7403465" algn="l"/>
              </a:tabLst>
            </a:pPr>
            <a:r>
              <a:rPr sz="2400" dirty="0">
                <a:latin typeface="Times New Roman"/>
                <a:cs typeface="Times New Roman"/>
              </a:rPr>
              <a:t>Need	o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ic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-e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tr</a:t>
            </a:r>
            <a:r>
              <a:rPr sz="2400" spc="-1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	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erfa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	(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ore	ex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10" dirty="0">
                <a:latin typeface="Times New Roman"/>
                <a:cs typeface="Times New Roman"/>
              </a:rPr>
              <a:t>si</a:t>
            </a:r>
            <a:r>
              <a:rPr sz="2400" dirty="0">
                <a:latin typeface="Times New Roman"/>
                <a:cs typeface="Times New Roman"/>
              </a:rPr>
              <a:t>ve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an	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lec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ic</a:t>
            </a: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interface)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44342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5" dirty="0">
                <a:latin typeface="Times New Roman"/>
                <a:cs typeface="Times New Roman"/>
              </a:rPr>
              <a:t>Wired</a:t>
            </a:r>
            <a:r>
              <a:rPr sz="3200" b="0" spc="-100" dirty="0">
                <a:latin typeface="Times New Roman"/>
                <a:cs typeface="Times New Roman"/>
              </a:rPr>
              <a:t> </a:t>
            </a:r>
            <a:r>
              <a:rPr sz="3200" b="0" spc="-10" dirty="0">
                <a:latin typeface="Times New Roman"/>
                <a:cs typeface="Times New Roman"/>
              </a:rPr>
              <a:t>Transmission</a:t>
            </a:r>
            <a:r>
              <a:rPr sz="3200" b="0" spc="-7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Media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41272"/>
            <a:ext cx="8530590" cy="1799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255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Principle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optical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fiber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transmission: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Based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principle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total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internal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ts val="2255"/>
              </a:lnSpc>
            </a:pPr>
            <a:r>
              <a:rPr sz="2000" spc="-5" dirty="0">
                <a:latin typeface="Times New Roman"/>
                <a:cs typeface="Times New Roman"/>
              </a:rPr>
              <a:t>reflection</a:t>
            </a:r>
            <a:endParaRPr sz="200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Symbol"/>
                <a:cs typeface="Symbol"/>
              </a:rPr>
              <a:t></a:t>
            </a:r>
            <a:r>
              <a:rPr sz="2000" spc="-5" dirty="0">
                <a:latin typeface="Times New Roman"/>
                <a:cs typeface="Times New Roman"/>
              </a:rPr>
              <a:t>&gt;</a:t>
            </a:r>
            <a:r>
              <a:rPr sz="2000" spc="-5" dirty="0">
                <a:latin typeface="Symbol"/>
                <a:cs typeface="Symbol"/>
              </a:rPr>
              <a:t></a:t>
            </a:r>
            <a:r>
              <a:rPr sz="2000" spc="-5" dirty="0">
                <a:latin typeface="Times New Roman"/>
                <a:cs typeface="Times New Roman"/>
              </a:rPr>
              <a:t>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medium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 (water)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optical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density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medium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(air)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9000"/>
              </a:lnSpc>
              <a:spcBef>
                <a:spcPts val="46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case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index </a:t>
            </a:r>
            <a:r>
              <a:rPr sz="2000" spc="-5" dirty="0">
                <a:latin typeface="Times New Roman"/>
                <a:cs typeface="Times New Roman"/>
              </a:rPr>
              <a:t>of refraction&lt;1 (</a:t>
            </a:r>
            <a:r>
              <a:rPr sz="2000" spc="-5" dirty="0">
                <a:latin typeface="Symbol"/>
                <a:cs typeface="Symbol"/>
              </a:rPr>
              <a:t></a:t>
            </a:r>
            <a:r>
              <a:rPr sz="2000" spc="-5" dirty="0">
                <a:latin typeface="Times New Roman"/>
                <a:cs typeface="Times New Roman"/>
              </a:rPr>
              <a:t>&gt;</a:t>
            </a:r>
            <a:r>
              <a:rPr sz="2000" spc="-5" dirty="0">
                <a:latin typeface="Symbol"/>
                <a:cs typeface="Symbol"/>
              </a:rPr>
              <a:t></a:t>
            </a:r>
            <a:r>
              <a:rPr sz="2000" spc="-5" dirty="0">
                <a:latin typeface="Times New Roman"/>
                <a:cs typeface="Times New Roman"/>
              </a:rPr>
              <a:t>),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if </a:t>
            </a:r>
            <a:r>
              <a:rPr sz="2000" dirty="0">
                <a:latin typeface="Symbol"/>
                <a:cs typeface="Symbol"/>
              </a:rPr>
              <a:t>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less </a:t>
            </a:r>
            <a:r>
              <a:rPr sz="2000" spc="-5" dirty="0">
                <a:latin typeface="Times New Roman"/>
                <a:cs typeface="Times New Roman"/>
              </a:rPr>
              <a:t>than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certain critical angle,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there </a:t>
            </a:r>
            <a:r>
              <a:rPr sz="2000" spc="-10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no </a:t>
            </a:r>
            <a:r>
              <a:rPr sz="2000" spc="-5" dirty="0">
                <a:latin typeface="Times New Roman"/>
                <a:cs typeface="Times New Roman"/>
              </a:rPr>
              <a:t>refracted light i.e., all the light is reflected. </a:t>
            </a:r>
            <a:r>
              <a:rPr sz="2000" dirty="0">
                <a:latin typeface="Times New Roman"/>
                <a:cs typeface="Times New Roman"/>
              </a:rPr>
              <a:t>This </a:t>
            </a:r>
            <a:r>
              <a:rPr sz="2000" spc="-5" dirty="0">
                <a:latin typeface="Times New Roman"/>
                <a:cs typeface="Times New Roman"/>
              </a:rPr>
              <a:t>is </a:t>
            </a:r>
            <a:r>
              <a:rPr sz="2000" dirty="0">
                <a:latin typeface="Times New Roman"/>
                <a:cs typeface="Times New Roman"/>
              </a:rPr>
              <a:t>what </a:t>
            </a:r>
            <a:r>
              <a:rPr sz="2000" spc="-5" dirty="0">
                <a:latin typeface="Times New Roman"/>
                <a:cs typeface="Times New Roman"/>
              </a:rPr>
              <a:t>makes </a:t>
            </a:r>
            <a:r>
              <a:rPr sz="2000" spc="-10" dirty="0">
                <a:latin typeface="Times New Roman"/>
                <a:cs typeface="Times New Roman"/>
              </a:rPr>
              <a:t>fiber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optics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work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3258311"/>
            <a:ext cx="6858000" cy="12557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44342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25" dirty="0">
                <a:latin typeface="Times New Roman"/>
                <a:cs typeface="Times New Roman"/>
              </a:rPr>
              <a:t>Wired</a:t>
            </a:r>
            <a:r>
              <a:rPr sz="3200" b="0" spc="-100" dirty="0">
                <a:latin typeface="Times New Roman"/>
                <a:cs typeface="Times New Roman"/>
              </a:rPr>
              <a:t> </a:t>
            </a:r>
            <a:r>
              <a:rPr sz="3200" b="0" spc="-10" dirty="0">
                <a:latin typeface="Times New Roman"/>
                <a:cs typeface="Times New Roman"/>
              </a:rPr>
              <a:t>Transmission</a:t>
            </a:r>
            <a:r>
              <a:rPr sz="3200" b="0" spc="-7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Media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25728"/>
            <a:ext cx="16351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</a:t>
            </a:r>
            <a:r>
              <a:rPr sz="2400" spc="-15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rac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8984" y="1100404"/>
            <a:ext cx="14198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7" baseline="13888" dirty="0">
                <a:latin typeface="Times New Roman"/>
                <a:cs typeface="Times New Roman"/>
              </a:rPr>
              <a:t>index</a:t>
            </a:r>
            <a:r>
              <a:rPr sz="1600" spc="-5" dirty="0">
                <a:latin typeface="Times New Roman"/>
                <a:cs typeface="Times New Roman"/>
              </a:rPr>
              <a:t>material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9047" y="1025728"/>
            <a:ext cx="1974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144" y="1355597"/>
            <a:ext cx="6667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(Speed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light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vacuum)/(Speed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light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material)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77028" y="4364735"/>
            <a:ext cx="2143125" cy="410209"/>
            <a:chOff x="5177028" y="4364735"/>
            <a:chExt cx="2143125" cy="410209"/>
          </a:xfrm>
        </p:grpSpPr>
        <p:sp>
          <p:nvSpPr>
            <p:cNvPr id="7" name="object 7"/>
            <p:cNvSpPr/>
            <p:nvPr/>
          </p:nvSpPr>
          <p:spPr>
            <a:xfrm>
              <a:off x="5181600" y="4427219"/>
              <a:ext cx="1600200" cy="285115"/>
            </a:xfrm>
            <a:custGeom>
              <a:avLst/>
              <a:gdLst/>
              <a:ahLst/>
              <a:cxnLst/>
              <a:rect l="l" t="t" r="r" b="b"/>
              <a:pathLst>
                <a:path w="1600200" h="285114">
                  <a:moveTo>
                    <a:pt x="0" y="0"/>
                  </a:moveTo>
                  <a:lnTo>
                    <a:pt x="1600200" y="0"/>
                  </a:lnTo>
                </a:path>
                <a:path w="1600200" h="285114">
                  <a:moveTo>
                    <a:pt x="0" y="284987"/>
                  </a:moveTo>
                  <a:lnTo>
                    <a:pt x="1600200" y="284987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81600" y="4541519"/>
              <a:ext cx="1600200" cy="56515"/>
            </a:xfrm>
            <a:custGeom>
              <a:avLst/>
              <a:gdLst/>
              <a:ahLst/>
              <a:cxnLst/>
              <a:rect l="l" t="t" r="r" b="b"/>
              <a:pathLst>
                <a:path w="1600200" h="56514">
                  <a:moveTo>
                    <a:pt x="1600200" y="0"/>
                  </a:moveTo>
                  <a:lnTo>
                    <a:pt x="0" y="0"/>
                  </a:lnTo>
                  <a:lnTo>
                    <a:pt x="0" y="56387"/>
                  </a:lnTo>
                  <a:lnTo>
                    <a:pt x="1600200" y="56387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81600" y="4541519"/>
              <a:ext cx="1600200" cy="56515"/>
            </a:xfrm>
            <a:custGeom>
              <a:avLst/>
              <a:gdLst/>
              <a:ahLst/>
              <a:cxnLst/>
              <a:rect l="l" t="t" r="r" b="b"/>
              <a:pathLst>
                <a:path w="1600200" h="56514">
                  <a:moveTo>
                    <a:pt x="0" y="56387"/>
                  </a:moveTo>
                  <a:lnTo>
                    <a:pt x="1600200" y="56387"/>
                  </a:lnTo>
                  <a:lnTo>
                    <a:pt x="1600200" y="0"/>
                  </a:lnTo>
                  <a:lnTo>
                    <a:pt x="0" y="0"/>
                  </a:lnTo>
                  <a:lnTo>
                    <a:pt x="0" y="5638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29400" y="4369307"/>
              <a:ext cx="685800" cy="401320"/>
            </a:xfrm>
            <a:custGeom>
              <a:avLst/>
              <a:gdLst/>
              <a:ahLst/>
              <a:cxnLst/>
              <a:rect l="l" t="t" r="r" b="b"/>
              <a:pathLst>
                <a:path w="685800" h="401320">
                  <a:moveTo>
                    <a:pt x="685800" y="400811"/>
                  </a:moveTo>
                  <a:lnTo>
                    <a:pt x="152400" y="228599"/>
                  </a:lnTo>
                </a:path>
                <a:path w="685800" h="401320">
                  <a:moveTo>
                    <a:pt x="0" y="114299"/>
                  </a:moveTo>
                  <a:lnTo>
                    <a:pt x="685800" y="0"/>
                  </a:lnTo>
                </a:path>
              </a:pathLst>
            </a:custGeom>
            <a:ln w="9144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7340" y="1756410"/>
            <a:ext cx="8530590" cy="316738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55600" marR="5080" indent="-342900" algn="just">
              <a:lnSpc>
                <a:spcPct val="89300"/>
              </a:lnSpc>
              <a:spcBef>
                <a:spcPts val="40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Light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bent as it passes through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surface where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refractive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index changes. This bending </a:t>
            </a:r>
            <a:r>
              <a:rPr sz="2400" spc="-10" dirty="0">
                <a:latin typeface="Times New Roman"/>
                <a:cs typeface="Times New Roman"/>
              </a:rPr>
              <a:t>depends </a:t>
            </a:r>
            <a:r>
              <a:rPr sz="2400" spc="-5" dirty="0">
                <a:latin typeface="Times New Roman"/>
                <a:cs typeface="Times New Roman"/>
              </a:rPr>
              <a:t>on the </a:t>
            </a:r>
            <a:r>
              <a:rPr sz="2400" dirty="0">
                <a:latin typeface="Times New Roman"/>
                <a:cs typeface="Times New Roman"/>
              </a:rPr>
              <a:t>angle and </a:t>
            </a:r>
            <a:r>
              <a:rPr sz="2400" spc="-5" dirty="0">
                <a:latin typeface="Times New Roman"/>
                <a:cs typeface="Times New Roman"/>
              </a:rPr>
              <a:t>refractive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index. Frequency does not change, but because it slows </a:t>
            </a:r>
            <a:r>
              <a:rPr sz="2400" dirty="0">
                <a:latin typeface="Times New Roman"/>
                <a:cs typeface="Times New Roman"/>
              </a:rPr>
              <a:t>down,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 wave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length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gets</a:t>
            </a:r>
            <a:r>
              <a:rPr sz="2400" spc="-15" dirty="0">
                <a:latin typeface="Times New Roman"/>
                <a:cs typeface="Times New Roman"/>
              </a:rPr>
              <a:t> shorter,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bend.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55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case of fiber </a:t>
            </a:r>
            <a:r>
              <a:rPr sz="2400" spc="-5" dirty="0">
                <a:latin typeface="Times New Roman"/>
                <a:cs typeface="Times New Roman"/>
              </a:rPr>
              <a:t>optic media, refractive index </a:t>
            </a:r>
            <a:r>
              <a:rPr sz="2400" dirty="0">
                <a:latin typeface="Times New Roman"/>
                <a:cs typeface="Times New Roman"/>
              </a:rPr>
              <a:t>of core &gt; </a:t>
            </a:r>
            <a:r>
              <a:rPr sz="2400" spc="-5" dirty="0">
                <a:latin typeface="Times New Roman"/>
                <a:cs typeface="Times New Roman"/>
              </a:rPr>
              <a:t>refractive </a:t>
            </a:r>
            <a:r>
              <a:rPr sz="2400" dirty="0">
                <a:latin typeface="Times New Roman"/>
                <a:cs typeface="Times New Roman"/>
              </a:rPr>
              <a:t> index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cladding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thereby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reflection.</a:t>
            </a:r>
            <a:endParaRPr sz="2400">
              <a:latin typeface="Times New Roman"/>
              <a:cs typeface="Times New Roman"/>
            </a:endParaRPr>
          </a:p>
          <a:p>
            <a:pPr marL="6578600">
              <a:lnSpc>
                <a:spcPct val="100000"/>
              </a:lnSpc>
              <a:spcBef>
                <a:spcPts val="1935"/>
              </a:spcBef>
            </a:pPr>
            <a:r>
              <a:rPr sz="2400" dirty="0">
                <a:latin typeface="Calibri"/>
                <a:cs typeface="Calibri"/>
              </a:rPr>
              <a:t>cladding</a:t>
            </a:r>
            <a:endParaRPr sz="2400">
              <a:latin typeface="Calibri"/>
              <a:cs typeface="Calibri"/>
            </a:endParaRPr>
          </a:p>
          <a:p>
            <a:pPr marL="6952615">
              <a:lnSpc>
                <a:spcPct val="100000"/>
              </a:lnSpc>
              <a:spcBef>
                <a:spcPts val="720"/>
              </a:spcBef>
            </a:pPr>
            <a:r>
              <a:rPr sz="2400" spc="-20" dirty="0">
                <a:latin typeface="Calibri"/>
                <a:cs typeface="Calibri"/>
              </a:rPr>
              <a:t>core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44284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Fiber</a:t>
            </a:r>
            <a:r>
              <a:rPr sz="3200" b="0" spc="-3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optics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&amp;</a:t>
            </a:r>
            <a:r>
              <a:rPr sz="3200" b="0" spc="-1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Physics</a:t>
            </a:r>
            <a:r>
              <a:rPr sz="3200" b="0" spc="-3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101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62304"/>
            <a:ext cx="47466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consists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concentric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sections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95400" y="2800350"/>
            <a:ext cx="5943600" cy="1485265"/>
            <a:chOff x="1295400" y="2800350"/>
            <a:chExt cx="5943600" cy="1485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3200400"/>
              <a:ext cx="5943600" cy="10850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11324" y="2800350"/>
              <a:ext cx="151130" cy="401320"/>
            </a:xfrm>
            <a:custGeom>
              <a:avLst/>
              <a:gdLst/>
              <a:ahLst/>
              <a:cxnLst/>
              <a:rect l="l" t="t" r="r" b="b"/>
              <a:pathLst>
                <a:path w="151130" h="401319">
                  <a:moveTo>
                    <a:pt x="0" y="149351"/>
                  </a:moveTo>
                  <a:lnTo>
                    <a:pt x="75437" y="400812"/>
                  </a:lnTo>
                  <a:lnTo>
                    <a:pt x="120700" y="249936"/>
                  </a:lnTo>
                  <a:lnTo>
                    <a:pt x="50292" y="249936"/>
                  </a:lnTo>
                  <a:lnTo>
                    <a:pt x="50292" y="216408"/>
                  </a:lnTo>
                  <a:lnTo>
                    <a:pt x="0" y="149351"/>
                  </a:lnTo>
                  <a:close/>
                </a:path>
                <a:path w="151130" h="401319">
                  <a:moveTo>
                    <a:pt x="50292" y="216408"/>
                  </a:moveTo>
                  <a:lnTo>
                    <a:pt x="50292" y="249936"/>
                  </a:lnTo>
                  <a:lnTo>
                    <a:pt x="75437" y="249936"/>
                  </a:lnTo>
                  <a:lnTo>
                    <a:pt x="50292" y="216408"/>
                  </a:lnTo>
                  <a:close/>
                </a:path>
                <a:path w="151130" h="401319">
                  <a:moveTo>
                    <a:pt x="100583" y="0"/>
                  </a:moveTo>
                  <a:lnTo>
                    <a:pt x="50292" y="0"/>
                  </a:lnTo>
                  <a:lnTo>
                    <a:pt x="50292" y="216408"/>
                  </a:lnTo>
                  <a:lnTo>
                    <a:pt x="75437" y="249936"/>
                  </a:lnTo>
                  <a:lnTo>
                    <a:pt x="100583" y="216408"/>
                  </a:lnTo>
                  <a:lnTo>
                    <a:pt x="100583" y="0"/>
                  </a:lnTo>
                  <a:close/>
                </a:path>
                <a:path w="151130" h="401319">
                  <a:moveTo>
                    <a:pt x="100583" y="216408"/>
                  </a:moveTo>
                  <a:lnTo>
                    <a:pt x="75437" y="249936"/>
                  </a:lnTo>
                  <a:lnTo>
                    <a:pt x="100583" y="249936"/>
                  </a:lnTo>
                  <a:lnTo>
                    <a:pt x="100583" y="216408"/>
                  </a:lnTo>
                  <a:close/>
                </a:path>
                <a:path w="151130" h="401319">
                  <a:moveTo>
                    <a:pt x="150875" y="149351"/>
                  </a:moveTo>
                  <a:lnTo>
                    <a:pt x="100583" y="216408"/>
                  </a:lnTo>
                  <a:lnTo>
                    <a:pt x="100583" y="249936"/>
                  </a:lnTo>
                  <a:lnTo>
                    <a:pt x="120700" y="249936"/>
                  </a:lnTo>
                  <a:lnTo>
                    <a:pt x="150875" y="1493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44497" y="2472054"/>
            <a:ext cx="1938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9999"/>
                </a:solidFill>
                <a:latin typeface="Arial"/>
                <a:cs typeface="Arial"/>
              </a:rPr>
              <a:t>plastic</a:t>
            </a:r>
            <a:r>
              <a:rPr sz="2400" b="1" spc="-9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9999"/>
                </a:solidFill>
                <a:latin typeface="Arial"/>
                <a:cs typeface="Arial"/>
              </a:rPr>
              <a:t>jacket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21123" y="3086861"/>
            <a:ext cx="151130" cy="399415"/>
          </a:xfrm>
          <a:custGeom>
            <a:avLst/>
            <a:gdLst/>
            <a:ahLst/>
            <a:cxnLst/>
            <a:rect l="l" t="t" r="r" b="b"/>
            <a:pathLst>
              <a:path w="151129" h="399414">
                <a:moveTo>
                  <a:pt x="0" y="147827"/>
                </a:moveTo>
                <a:lnTo>
                  <a:pt x="75437" y="399288"/>
                </a:lnTo>
                <a:lnTo>
                  <a:pt x="120700" y="248412"/>
                </a:lnTo>
                <a:lnTo>
                  <a:pt x="50291" y="248412"/>
                </a:lnTo>
                <a:lnTo>
                  <a:pt x="50291" y="214883"/>
                </a:lnTo>
                <a:lnTo>
                  <a:pt x="0" y="147827"/>
                </a:lnTo>
                <a:close/>
              </a:path>
              <a:path w="151129" h="399414">
                <a:moveTo>
                  <a:pt x="50291" y="214883"/>
                </a:moveTo>
                <a:lnTo>
                  <a:pt x="50291" y="248412"/>
                </a:lnTo>
                <a:lnTo>
                  <a:pt x="75437" y="248412"/>
                </a:lnTo>
                <a:lnTo>
                  <a:pt x="50291" y="214883"/>
                </a:lnTo>
                <a:close/>
              </a:path>
              <a:path w="151129" h="399414">
                <a:moveTo>
                  <a:pt x="100584" y="0"/>
                </a:moveTo>
                <a:lnTo>
                  <a:pt x="50291" y="0"/>
                </a:lnTo>
                <a:lnTo>
                  <a:pt x="50291" y="214883"/>
                </a:lnTo>
                <a:lnTo>
                  <a:pt x="75437" y="248412"/>
                </a:lnTo>
                <a:lnTo>
                  <a:pt x="100584" y="214883"/>
                </a:lnTo>
                <a:lnTo>
                  <a:pt x="100584" y="0"/>
                </a:lnTo>
                <a:close/>
              </a:path>
              <a:path w="151129" h="399414">
                <a:moveTo>
                  <a:pt x="100584" y="214883"/>
                </a:moveTo>
                <a:lnTo>
                  <a:pt x="75437" y="248412"/>
                </a:lnTo>
                <a:lnTo>
                  <a:pt x="100584" y="248412"/>
                </a:lnTo>
                <a:lnTo>
                  <a:pt x="100584" y="214883"/>
                </a:lnTo>
                <a:close/>
              </a:path>
              <a:path w="151129" h="399414">
                <a:moveTo>
                  <a:pt x="150875" y="147827"/>
                </a:moveTo>
                <a:lnTo>
                  <a:pt x="100584" y="214883"/>
                </a:lnTo>
                <a:lnTo>
                  <a:pt x="100584" y="248412"/>
                </a:lnTo>
                <a:lnTo>
                  <a:pt x="120700" y="248412"/>
                </a:lnTo>
                <a:lnTo>
                  <a:pt x="150875" y="1478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96715" y="2472054"/>
            <a:ext cx="22428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030" marR="5080" indent="-48196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9999"/>
                </a:solidFill>
                <a:latin typeface="Arial"/>
                <a:cs typeface="Arial"/>
              </a:rPr>
              <a:t>glass</a:t>
            </a:r>
            <a:r>
              <a:rPr sz="2400" b="1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9999"/>
                </a:solidFill>
                <a:latin typeface="Arial"/>
                <a:cs typeface="Arial"/>
              </a:rPr>
              <a:t>or</a:t>
            </a:r>
            <a:r>
              <a:rPr sz="2400" b="1" spc="-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9999"/>
                </a:solidFill>
                <a:latin typeface="Arial"/>
                <a:cs typeface="Arial"/>
              </a:rPr>
              <a:t>plastic </a:t>
            </a:r>
            <a:r>
              <a:rPr sz="2400" b="1" spc="-65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9999"/>
                </a:solidFill>
                <a:latin typeface="Arial"/>
                <a:cs typeface="Arial"/>
              </a:rPr>
              <a:t>cladding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8523" y="3201161"/>
            <a:ext cx="151130" cy="399415"/>
          </a:xfrm>
          <a:custGeom>
            <a:avLst/>
            <a:gdLst/>
            <a:ahLst/>
            <a:cxnLst/>
            <a:rect l="l" t="t" r="r" b="b"/>
            <a:pathLst>
              <a:path w="151129" h="399414">
                <a:moveTo>
                  <a:pt x="0" y="147827"/>
                </a:moveTo>
                <a:lnTo>
                  <a:pt x="75437" y="399288"/>
                </a:lnTo>
                <a:lnTo>
                  <a:pt x="120700" y="248412"/>
                </a:lnTo>
                <a:lnTo>
                  <a:pt x="50292" y="248412"/>
                </a:lnTo>
                <a:lnTo>
                  <a:pt x="50292" y="214884"/>
                </a:lnTo>
                <a:lnTo>
                  <a:pt x="0" y="147827"/>
                </a:lnTo>
                <a:close/>
              </a:path>
              <a:path w="151129" h="399414">
                <a:moveTo>
                  <a:pt x="50292" y="214884"/>
                </a:moveTo>
                <a:lnTo>
                  <a:pt x="50292" y="248412"/>
                </a:lnTo>
                <a:lnTo>
                  <a:pt x="75437" y="248412"/>
                </a:lnTo>
                <a:lnTo>
                  <a:pt x="50292" y="214884"/>
                </a:lnTo>
                <a:close/>
              </a:path>
              <a:path w="151129" h="399414">
                <a:moveTo>
                  <a:pt x="100583" y="0"/>
                </a:moveTo>
                <a:lnTo>
                  <a:pt x="50292" y="0"/>
                </a:lnTo>
                <a:lnTo>
                  <a:pt x="50292" y="214884"/>
                </a:lnTo>
                <a:lnTo>
                  <a:pt x="75437" y="248412"/>
                </a:lnTo>
                <a:lnTo>
                  <a:pt x="100583" y="214884"/>
                </a:lnTo>
                <a:lnTo>
                  <a:pt x="100583" y="0"/>
                </a:lnTo>
                <a:close/>
              </a:path>
              <a:path w="151129" h="399414">
                <a:moveTo>
                  <a:pt x="100583" y="214884"/>
                </a:moveTo>
                <a:lnTo>
                  <a:pt x="75437" y="248412"/>
                </a:lnTo>
                <a:lnTo>
                  <a:pt x="100583" y="248412"/>
                </a:lnTo>
                <a:lnTo>
                  <a:pt x="100583" y="214884"/>
                </a:lnTo>
                <a:close/>
              </a:path>
              <a:path w="151129" h="399414">
                <a:moveTo>
                  <a:pt x="150875" y="147827"/>
                </a:moveTo>
                <a:lnTo>
                  <a:pt x="100583" y="214884"/>
                </a:lnTo>
                <a:lnTo>
                  <a:pt x="100583" y="248412"/>
                </a:lnTo>
                <a:lnTo>
                  <a:pt x="120700" y="248412"/>
                </a:lnTo>
                <a:lnTo>
                  <a:pt x="150875" y="1478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36894" y="2586608"/>
            <a:ext cx="1413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9999"/>
                </a:solidFill>
                <a:latin typeface="Arial"/>
                <a:cs typeface="Arial"/>
              </a:rPr>
              <a:t>fiber</a:t>
            </a:r>
            <a:r>
              <a:rPr sz="2400" b="1" spc="-8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9999"/>
                </a:solidFill>
                <a:latin typeface="Arial"/>
                <a:cs typeface="Arial"/>
              </a:rPr>
              <a:t>core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30962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Fiber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Optic</a:t>
            </a:r>
            <a:r>
              <a:rPr sz="3200" b="0" spc="-4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Layers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04697"/>
            <a:ext cx="8531860" cy="3464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ts val="237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Fiber</a:t>
            </a:r>
            <a:r>
              <a:rPr sz="2200" spc="4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consists</a:t>
            </a:r>
            <a:r>
              <a:rPr sz="2200" spc="4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4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two</a:t>
            </a:r>
            <a:r>
              <a:rPr sz="2200" spc="4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parts:</a:t>
            </a:r>
            <a:r>
              <a:rPr sz="2200" spc="4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40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glass</a:t>
            </a:r>
            <a:r>
              <a:rPr sz="2200" i="1" spc="380" dirty="0">
                <a:latin typeface="Times New Roman"/>
                <a:cs typeface="Times New Roman"/>
              </a:rPr>
              <a:t> </a:t>
            </a:r>
            <a:r>
              <a:rPr sz="2200" i="1" spc="-25" dirty="0">
                <a:latin typeface="Times New Roman"/>
                <a:cs typeface="Times New Roman"/>
              </a:rPr>
              <a:t>core</a:t>
            </a:r>
            <a:r>
              <a:rPr sz="2200" i="1" spc="4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409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glass</a:t>
            </a:r>
            <a:r>
              <a:rPr sz="2200" i="1" spc="39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cladding</a:t>
            </a:r>
            <a:r>
              <a:rPr sz="2200" i="1" spc="4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</a:t>
            </a:r>
            <a:r>
              <a:rPr sz="2200" spc="409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ts val="2365"/>
              </a:lnSpc>
            </a:pPr>
            <a:r>
              <a:rPr sz="2200" spc="-5" dirty="0">
                <a:latin typeface="Times New Roman"/>
                <a:cs typeface="Times New Roman"/>
              </a:rPr>
              <a:t>lower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refractive</a:t>
            </a:r>
            <a:r>
              <a:rPr sz="2200" dirty="0">
                <a:latin typeface="Times New Roman"/>
                <a:cs typeface="Times New Roman"/>
              </a:rPr>
              <a:t> index.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7950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" dirty="0">
                <a:latin typeface="Times New Roman"/>
                <a:cs typeface="Times New Roman"/>
              </a:rPr>
              <a:t>Light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propagates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ways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depending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type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width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core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material.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31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b="1" dirty="0">
                <a:latin typeface="Times New Roman"/>
                <a:cs typeface="Times New Roman"/>
              </a:rPr>
              <a:t>Multimode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stepped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index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fiber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ts val="213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latin typeface="Times New Roman"/>
                <a:cs typeface="Times New Roman"/>
              </a:rPr>
              <a:t>Both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cladding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different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uniform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refractive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index.</a:t>
            </a:r>
            <a:endParaRPr sz="1800">
              <a:latin typeface="Times New Roman"/>
              <a:cs typeface="Times New Roman"/>
            </a:endParaRPr>
          </a:p>
          <a:p>
            <a:pPr marL="1155700" lvl="2" indent="-229235">
              <a:lnSpc>
                <a:spcPts val="210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latin typeface="Times New Roman"/>
                <a:cs typeface="Times New Roman"/>
              </a:rPr>
              <a:t>Relies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total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internal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reflection;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Wide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pulse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width.</a:t>
            </a:r>
            <a:endParaRPr sz="18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34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b="1" dirty="0">
                <a:latin typeface="Times New Roman"/>
                <a:cs typeface="Times New Roman"/>
              </a:rPr>
              <a:t>Multimode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graded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index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fiber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ts val="213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latin typeface="Times New Roman"/>
                <a:cs typeface="Times New Roman"/>
              </a:rPr>
              <a:t>Core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refractive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index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(light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bends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" dirty="0">
                <a:latin typeface="Times New Roman"/>
                <a:cs typeface="Times New Roman"/>
              </a:rPr>
              <a:t> moves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away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core).</a:t>
            </a:r>
            <a:endParaRPr sz="1800">
              <a:latin typeface="Times New Roman"/>
              <a:cs typeface="Times New Roman"/>
            </a:endParaRPr>
          </a:p>
          <a:p>
            <a:pPr marL="1155700" lvl="2" indent="-229235">
              <a:lnSpc>
                <a:spcPts val="210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5" dirty="0">
                <a:latin typeface="Times New Roman"/>
                <a:cs typeface="Times New Roman"/>
              </a:rPr>
              <a:t>Narrow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pulse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width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resulting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higher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bit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rate.</a:t>
            </a:r>
            <a:endParaRPr sz="1800">
              <a:latin typeface="Times New Roman"/>
              <a:cs typeface="Times New Roman"/>
            </a:endParaRPr>
          </a:p>
          <a:p>
            <a:pPr marL="756285" lvl="1" indent="-287020">
              <a:lnSpc>
                <a:spcPts val="234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b="1" dirty="0">
                <a:latin typeface="Times New Roman"/>
                <a:cs typeface="Times New Roman"/>
              </a:rPr>
              <a:t>Singlemode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fiber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(&gt;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100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Mbs)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ts val="214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Times New Roman"/>
                <a:cs typeface="Times New Roman"/>
              </a:rPr>
              <a:t>Width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core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diameter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equal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single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wavelenth.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24428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Modes</a:t>
            </a:r>
            <a:r>
              <a:rPr sz="3200" b="0" spc="-5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of</a:t>
            </a:r>
            <a:r>
              <a:rPr sz="3200" b="0" spc="-3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fiber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71142" y="1119021"/>
            <a:ext cx="4370705" cy="3660140"/>
            <a:chOff x="2671142" y="1119021"/>
            <a:chExt cx="4370705" cy="3660140"/>
          </a:xfrm>
        </p:grpSpPr>
        <p:sp>
          <p:nvSpPr>
            <p:cNvPr id="3" name="object 3"/>
            <p:cNvSpPr/>
            <p:nvPr/>
          </p:nvSpPr>
          <p:spPr>
            <a:xfrm>
              <a:off x="3276599" y="1143000"/>
              <a:ext cx="2743200" cy="685800"/>
            </a:xfrm>
            <a:custGeom>
              <a:avLst/>
              <a:gdLst/>
              <a:ahLst/>
              <a:cxnLst/>
              <a:rect l="l" t="t" r="r" b="b"/>
              <a:pathLst>
                <a:path w="2743200" h="685800">
                  <a:moveTo>
                    <a:pt x="27432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2743200" y="68580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76599" y="1143000"/>
              <a:ext cx="2743200" cy="685800"/>
            </a:xfrm>
            <a:custGeom>
              <a:avLst/>
              <a:gdLst/>
              <a:ahLst/>
              <a:cxnLst/>
              <a:rect l="l" t="t" r="r" b="b"/>
              <a:pathLst>
                <a:path w="2743200" h="685800">
                  <a:moveTo>
                    <a:pt x="0" y="685800"/>
                  </a:moveTo>
                  <a:lnTo>
                    <a:pt x="2743200" y="685800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69485" y="1273809"/>
            <a:ext cx="758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dirty="0">
                <a:solidFill>
                  <a:srgbClr val="009999"/>
                </a:solidFill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38237" y="2395537"/>
            <a:ext cx="2752725" cy="695325"/>
            <a:chOff x="1138237" y="2395537"/>
            <a:chExt cx="2752725" cy="695325"/>
          </a:xfrm>
        </p:grpSpPr>
        <p:sp>
          <p:nvSpPr>
            <p:cNvPr id="7" name="object 7"/>
            <p:cNvSpPr/>
            <p:nvPr/>
          </p:nvSpPr>
          <p:spPr>
            <a:xfrm>
              <a:off x="1143000" y="2400300"/>
              <a:ext cx="2743200" cy="685800"/>
            </a:xfrm>
            <a:custGeom>
              <a:avLst/>
              <a:gdLst/>
              <a:ahLst/>
              <a:cxnLst/>
              <a:rect l="l" t="t" r="r" b="b"/>
              <a:pathLst>
                <a:path w="2743200" h="685800">
                  <a:moveTo>
                    <a:pt x="27432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2743200" y="68580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3000" y="2400300"/>
              <a:ext cx="2743200" cy="685800"/>
            </a:xfrm>
            <a:custGeom>
              <a:avLst/>
              <a:gdLst/>
              <a:ahLst/>
              <a:cxnLst/>
              <a:rect l="l" t="t" r="r" b="b"/>
              <a:pathLst>
                <a:path w="2743200" h="685800">
                  <a:moveTo>
                    <a:pt x="0" y="685800"/>
                  </a:moveTo>
                  <a:lnTo>
                    <a:pt x="2743200" y="685800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12417" y="2531745"/>
            <a:ext cx="1404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9999"/>
                </a:solidFill>
                <a:latin typeface="Calibri"/>
                <a:cs typeface="Calibri"/>
              </a:rPr>
              <a:t>Multimode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57837" y="2395537"/>
            <a:ext cx="2752725" cy="695325"/>
            <a:chOff x="5557837" y="2395537"/>
            <a:chExt cx="2752725" cy="695325"/>
          </a:xfrm>
        </p:grpSpPr>
        <p:sp>
          <p:nvSpPr>
            <p:cNvPr id="11" name="object 11"/>
            <p:cNvSpPr/>
            <p:nvPr/>
          </p:nvSpPr>
          <p:spPr>
            <a:xfrm>
              <a:off x="5562600" y="2400300"/>
              <a:ext cx="2743200" cy="685800"/>
            </a:xfrm>
            <a:custGeom>
              <a:avLst/>
              <a:gdLst/>
              <a:ahLst/>
              <a:cxnLst/>
              <a:rect l="l" t="t" r="r" b="b"/>
              <a:pathLst>
                <a:path w="2743200" h="685800">
                  <a:moveTo>
                    <a:pt x="27432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2743200" y="68580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62600" y="2400300"/>
              <a:ext cx="2743200" cy="685800"/>
            </a:xfrm>
            <a:custGeom>
              <a:avLst/>
              <a:gdLst/>
              <a:ahLst/>
              <a:cxnLst/>
              <a:rect l="l" t="t" r="r" b="b"/>
              <a:pathLst>
                <a:path w="2743200" h="685800">
                  <a:moveTo>
                    <a:pt x="0" y="685800"/>
                  </a:moveTo>
                  <a:lnTo>
                    <a:pt x="2743200" y="685800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62547" y="2531745"/>
            <a:ext cx="1541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9999"/>
                </a:solidFill>
                <a:latin typeface="Calibri"/>
                <a:cs typeface="Calibri"/>
              </a:rPr>
              <a:t>Single</a:t>
            </a:r>
            <a:r>
              <a:rPr sz="2400" spc="-105" dirty="0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9999"/>
                </a:solidFill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3837" y="3652837"/>
            <a:ext cx="1685925" cy="695325"/>
            <a:chOff x="223837" y="3652837"/>
            <a:chExt cx="1685925" cy="695325"/>
          </a:xfrm>
        </p:grpSpPr>
        <p:sp>
          <p:nvSpPr>
            <p:cNvPr id="15" name="object 15"/>
            <p:cNvSpPr/>
            <p:nvPr/>
          </p:nvSpPr>
          <p:spPr>
            <a:xfrm>
              <a:off x="228600" y="3657600"/>
              <a:ext cx="1676400" cy="685800"/>
            </a:xfrm>
            <a:custGeom>
              <a:avLst/>
              <a:gdLst/>
              <a:ahLst/>
              <a:cxnLst/>
              <a:rect l="l" t="t" r="r" b="b"/>
              <a:pathLst>
                <a:path w="1676400" h="685800">
                  <a:moveTo>
                    <a:pt x="16764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676400" y="6858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8600" y="3657600"/>
              <a:ext cx="1676400" cy="685800"/>
            </a:xfrm>
            <a:custGeom>
              <a:avLst/>
              <a:gdLst/>
              <a:ahLst/>
              <a:cxnLst/>
              <a:rect l="l" t="t" r="r" b="b"/>
              <a:pathLst>
                <a:path w="1676400" h="685800">
                  <a:moveTo>
                    <a:pt x="0" y="685800"/>
                  </a:moveTo>
                  <a:lnTo>
                    <a:pt x="1676400" y="685800"/>
                  </a:lnTo>
                  <a:lnTo>
                    <a:pt x="16764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8533" y="3789070"/>
            <a:ext cx="1315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9999"/>
                </a:solidFill>
                <a:latin typeface="Calibri"/>
                <a:cs typeface="Calibri"/>
              </a:rPr>
              <a:t>Step</a:t>
            </a:r>
            <a:r>
              <a:rPr sz="2400" spc="-70" dirty="0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9999"/>
                </a:solidFill>
                <a:latin typeface="Calibri"/>
                <a:cs typeface="Calibri"/>
              </a:rPr>
              <a:t>index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71837" y="3652837"/>
            <a:ext cx="1838325" cy="695325"/>
            <a:chOff x="3271837" y="3652837"/>
            <a:chExt cx="1838325" cy="695325"/>
          </a:xfrm>
        </p:grpSpPr>
        <p:sp>
          <p:nvSpPr>
            <p:cNvPr id="19" name="object 19"/>
            <p:cNvSpPr/>
            <p:nvPr/>
          </p:nvSpPr>
          <p:spPr>
            <a:xfrm>
              <a:off x="3276600" y="3657600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1828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828800" y="6858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76600" y="3657600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0" y="685800"/>
                  </a:moveTo>
                  <a:lnTo>
                    <a:pt x="1828800" y="6858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41370" y="3789070"/>
            <a:ext cx="1700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9999"/>
                </a:solidFill>
                <a:latin typeface="Calibri"/>
                <a:cs typeface="Calibri"/>
              </a:rPr>
              <a:t>Graded-index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90600" y="1828800"/>
            <a:ext cx="5867400" cy="1828800"/>
          </a:xfrm>
          <a:custGeom>
            <a:avLst/>
            <a:gdLst/>
            <a:ahLst/>
            <a:cxnLst/>
            <a:rect l="l" t="t" r="r" b="b"/>
            <a:pathLst>
              <a:path w="5867400" h="1828800">
                <a:moveTo>
                  <a:pt x="3657600" y="0"/>
                </a:moveTo>
                <a:lnTo>
                  <a:pt x="3657600" y="284988"/>
                </a:lnTo>
              </a:path>
              <a:path w="5867400" h="1828800">
                <a:moveTo>
                  <a:pt x="1524000" y="284988"/>
                </a:moveTo>
                <a:lnTo>
                  <a:pt x="5867400" y="284988"/>
                </a:lnTo>
              </a:path>
              <a:path w="5867400" h="1828800">
                <a:moveTo>
                  <a:pt x="1524000" y="284988"/>
                </a:moveTo>
                <a:lnTo>
                  <a:pt x="1524000" y="571500"/>
                </a:lnTo>
              </a:path>
              <a:path w="5867400" h="1828800">
                <a:moveTo>
                  <a:pt x="5867400" y="284988"/>
                </a:moveTo>
                <a:lnTo>
                  <a:pt x="5867400" y="571500"/>
                </a:lnTo>
              </a:path>
              <a:path w="5867400" h="1828800">
                <a:moveTo>
                  <a:pt x="1600200" y="1257300"/>
                </a:moveTo>
                <a:lnTo>
                  <a:pt x="1600200" y="1542288"/>
                </a:lnTo>
              </a:path>
              <a:path w="5867400" h="1828800">
                <a:moveTo>
                  <a:pt x="0" y="1542288"/>
                </a:moveTo>
                <a:lnTo>
                  <a:pt x="3200400" y="1542288"/>
                </a:lnTo>
              </a:path>
              <a:path w="5867400" h="1828800">
                <a:moveTo>
                  <a:pt x="0" y="1542288"/>
                </a:moveTo>
                <a:lnTo>
                  <a:pt x="0" y="1828800"/>
                </a:lnTo>
              </a:path>
              <a:path w="5867400" h="1828800">
                <a:moveTo>
                  <a:pt x="3200400" y="1542288"/>
                </a:moveTo>
                <a:lnTo>
                  <a:pt x="3200400" y="18288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56870" indent="-342900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6235" algn="l"/>
                <a:tab pos="356870" algn="l"/>
              </a:tabLst>
            </a:pPr>
            <a:r>
              <a:rPr spc="-5" dirty="0"/>
              <a:t>multimode</a:t>
            </a:r>
            <a:r>
              <a:rPr spc="-30" dirty="0"/>
              <a:t> </a:t>
            </a:r>
            <a:r>
              <a:rPr dirty="0"/>
              <a:t>step-index</a:t>
            </a:r>
            <a:r>
              <a:rPr spc="-60" dirty="0"/>
              <a:t> </a:t>
            </a:r>
            <a:r>
              <a:rPr spc="-5" dirty="0"/>
              <a:t>fiber</a:t>
            </a:r>
          </a:p>
          <a:p>
            <a:pPr marL="757555" lvl="1" indent="-287020">
              <a:lnSpc>
                <a:spcPct val="100000"/>
              </a:lnSpc>
              <a:spcBef>
                <a:spcPts val="185"/>
              </a:spcBef>
              <a:buFont typeface="Arial MT"/>
              <a:buChar char="–"/>
              <a:tabLst>
                <a:tab pos="757555" algn="l"/>
                <a:tab pos="75819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reflective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walls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fiber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move</a:t>
            </a:r>
            <a:r>
              <a:rPr sz="2000" dirty="0">
                <a:latin typeface="Times New Roman"/>
                <a:cs typeface="Times New Roman"/>
              </a:rPr>
              <a:t> 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light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pulses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endParaRPr sz="2000">
              <a:latin typeface="Times New Roman"/>
              <a:cs typeface="Times New Roman"/>
            </a:endParaRPr>
          </a:p>
          <a:p>
            <a:pPr marL="356870" indent="-34290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356235" algn="l"/>
                <a:tab pos="356870" algn="l"/>
              </a:tabLst>
            </a:pPr>
            <a:r>
              <a:rPr spc="-5" dirty="0"/>
              <a:t>multimode</a:t>
            </a:r>
            <a:r>
              <a:rPr spc="-35" dirty="0"/>
              <a:t> </a:t>
            </a:r>
            <a:r>
              <a:rPr dirty="0"/>
              <a:t>graded-index</a:t>
            </a:r>
            <a:r>
              <a:rPr spc="-70" dirty="0"/>
              <a:t> </a:t>
            </a:r>
            <a:r>
              <a:rPr dirty="0"/>
              <a:t>fiber</a:t>
            </a:r>
          </a:p>
          <a:p>
            <a:pPr marL="757555" marR="5080" lvl="1" indent="-287020">
              <a:lnSpc>
                <a:spcPts val="2110"/>
              </a:lnSpc>
              <a:spcBef>
                <a:spcPts val="545"/>
              </a:spcBef>
              <a:buFont typeface="Arial MT"/>
              <a:buChar char="–"/>
              <a:tabLst>
                <a:tab pos="757555" algn="l"/>
                <a:tab pos="758190" algn="l"/>
              </a:tabLst>
            </a:pPr>
            <a:r>
              <a:rPr sz="2000" spc="-5" dirty="0">
                <a:latin typeface="Times New Roman"/>
                <a:cs typeface="Times New Roman"/>
              </a:rPr>
              <a:t>acts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to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refract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light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toward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center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of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fiber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variations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density</a:t>
            </a:r>
            <a:endParaRPr sz="2000">
              <a:latin typeface="Times New Roman"/>
              <a:cs typeface="Times New Roman"/>
            </a:endParaRPr>
          </a:p>
          <a:p>
            <a:pPr marL="356870" indent="-3429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356235" algn="l"/>
                <a:tab pos="356870" algn="l"/>
              </a:tabLst>
            </a:pPr>
            <a:r>
              <a:rPr dirty="0"/>
              <a:t>single</a:t>
            </a:r>
            <a:r>
              <a:rPr spc="-60" dirty="0"/>
              <a:t> </a:t>
            </a:r>
            <a:r>
              <a:rPr spc="-5" dirty="0"/>
              <a:t>mode</a:t>
            </a:r>
            <a:r>
              <a:rPr spc="-15" dirty="0"/>
              <a:t> </a:t>
            </a:r>
            <a:r>
              <a:rPr dirty="0"/>
              <a:t>fiber</a:t>
            </a:r>
          </a:p>
          <a:p>
            <a:pPr marL="757555" lvl="1" indent="-287020">
              <a:lnSpc>
                <a:spcPct val="100000"/>
              </a:lnSpc>
              <a:spcBef>
                <a:spcPts val="185"/>
              </a:spcBef>
              <a:buFont typeface="Arial MT"/>
              <a:buChar char="–"/>
              <a:tabLst>
                <a:tab pos="757555" algn="l"/>
                <a:tab pos="75819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light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guided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down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extremely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narrow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29470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Fiber</a:t>
            </a:r>
            <a:r>
              <a:rPr sz="3200" b="0" spc="-5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Optic</a:t>
            </a:r>
            <a:r>
              <a:rPr sz="3200" b="0" spc="-110" dirty="0">
                <a:latin typeface="Times New Roman"/>
                <a:cs typeface="Times New Roman"/>
              </a:rPr>
              <a:t> </a:t>
            </a:r>
            <a:r>
              <a:rPr sz="3200" b="0" spc="-45" dirty="0">
                <a:latin typeface="Times New Roman"/>
                <a:cs typeface="Times New Roman"/>
              </a:rPr>
              <a:t>Types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7912"/>
            <a:ext cx="8105140" cy="320421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Modes,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bundles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light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rays enter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 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particular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angle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Single-mode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Also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known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mono-mode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Only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mode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propagates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through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fiber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Higher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bandwidth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multi-mode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Longer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cable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runs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multi-mode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Lasers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generate light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signals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Used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inter-building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connectivity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3332988"/>
            <a:ext cx="3934967" cy="77266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35071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45" dirty="0">
                <a:latin typeface="Times New Roman"/>
                <a:cs typeface="Times New Roman"/>
              </a:rPr>
              <a:t>Types</a:t>
            </a:r>
            <a:r>
              <a:rPr sz="3200" b="0" spc="-4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of</a:t>
            </a:r>
            <a:r>
              <a:rPr sz="3200" b="0" spc="-3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optical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fiber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7976"/>
            <a:ext cx="5836285" cy="253301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Multi-mode</a:t>
            </a:r>
            <a:endParaRPr sz="24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modes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fiber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Times New Roman"/>
                <a:cs typeface="Times New Roman"/>
              </a:rPr>
              <a:t>Different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angles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mean different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travel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0" dirty="0">
                <a:latin typeface="Times New Roman"/>
                <a:cs typeface="Times New Roman"/>
              </a:rPr>
              <a:t>Transmissions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arrive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different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times</a:t>
            </a:r>
            <a:endParaRPr sz="1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latin typeface="Times New Roman"/>
                <a:cs typeface="Times New Roman"/>
              </a:rPr>
              <a:t>Modal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dispersion</a:t>
            </a:r>
            <a:endParaRPr sz="1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9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LEDs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light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endParaRPr sz="20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intra-building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connectivity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843528"/>
            <a:ext cx="7772400" cy="9372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35071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45" dirty="0">
                <a:latin typeface="Times New Roman"/>
                <a:cs typeface="Times New Roman"/>
              </a:rPr>
              <a:t>Types</a:t>
            </a:r>
            <a:r>
              <a:rPr sz="3200" b="0" spc="-4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of</a:t>
            </a:r>
            <a:r>
              <a:rPr sz="3200" b="0" spc="-3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optical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fiber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" y="1119021"/>
            <a:ext cx="6432550" cy="3660140"/>
            <a:chOff x="609600" y="1119021"/>
            <a:chExt cx="6432550" cy="3660140"/>
          </a:xfrm>
        </p:grpSpPr>
        <p:sp>
          <p:nvSpPr>
            <p:cNvPr id="3" name="object 3"/>
            <p:cNvSpPr/>
            <p:nvPr/>
          </p:nvSpPr>
          <p:spPr>
            <a:xfrm>
              <a:off x="609600" y="1656587"/>
              <a:ext cx="4419600" cy="2573020"/>
            </a:xfrm>
            <a:custGeom>
              <a:avLst/>
              <a:gdLst/>
              <a:ahLst/>
              <a:cxnLst/>
              <a:rect l="l" t="t" r="r" b="b"/>
              <a:pathLst>
                <a:path w="4419600" h="2573020">
                  <a:moveTo>
                    <a:pt x="0" y="0"/>
                  </a:moveTo>
                  <a:lnTo>
                    <a:pt x="4419600" y="0"/>
                  </a:lnTo>
                </a:path>
                <a:path w="4419600" h="2573020">
                  <a:moveTo>
                    <a:pt x="0" y="400812"/>
                  </a:moveTo>
                  <a:lnTo>
                    <a:pt x="4419600" y="400812"/>
                  </a:lnTo>
                </a:path>
                <a:path w="4419600" h="2573020">
                  <a:moveTo>
                    <a:pt x="0" y="1086612"/>
                  </a:moveTo>
                  <a:lnTo>
                    <a:pt x="4419600" y="1086612"/>
                  </a:lnTo>
                </a:path>
                <a:path w="4419600" h="2573020">
                  <a:moveTo>
                    <a:pt x="0" y="1485900"/>
                  </a:moveTo>
                  <a:lnTo>
                    <a:pt x="4419600" y="1485900"/>
                  </a:lnTo>
                </a:path>
                <a:path w="4419600" h="2573020">
                  <a:moveTo>
                    <a:pt x="0" y="2171700"/>
                  </a:moveTo>
                  <a:lnTo>
                    <a:pt x="4419600" y="2171700"/>
                  </a:lnTo>
                </a:path>
                <a:path w="4419600" h="2573020">
                  <a:moveTo>
                    <a:pt x="0" y="2572512"/>
                  </a:moveTo>
                  <a:lnTo>
                    <a:pt x="4419600" y="257251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762" y="1657350"/>
              <a:ext cx="4114800" cy="401320"/>
            </a:xfrm>
            <a:custGeom>
              <a:avLst/>
              <a:gdLst/>
              <a:ahLst/>
              <a:cxnLst/>
              <a:rect l="l" t="t" r="r" b="b"/>
              <a:pathLst>
                <a:path w="4114800" h="401319">
                  <a:moveTo>
                    <a:pt x="0" y="400812"/>
                  </a:moveTo>
                  <a:lnTo>
                    <a:pt x="457200" y="0"/>
                  </a:lnTo>
                </a:path>
                <a:path w="4114800" h="401319">
                  <a:moveTo>
                    <a:pt x="838200" y="400812"/>
                  </a:moveTo>
                  <a:lnTo>
                    <a:pt x="381000" y="0"/>
                  </a:lnTo>
                </a:path>
                <a:path w="4114800" h="401319">
                  <a:moveTo>
                    <a:pt x="762000" y="400812"/>
                  </a:moveTo>
                  <a:lnTo>
                    <a:pt x="1219200" y="0"/>
                  </a:lnTo>
                </a:path>
                <a:path w="4114800" h="401319">
                  <a:moveTo>
                    <a:pt x="1600200" y="400812"/>
                  </a:moveTo>
                  <a:lnTo>
                    <a:pt x="1143000" y="0"/>
                  </a:lnTo>
                </a:path>
                <a:path w="4114800" h="401319">
                  <a:moveTo>
                    <a:pt x="1600200" y="400812"/>
                  </a:moveTo>
                  <a:lnTo>
                    <a:pt x="2057400" y="0"/>
                  </a:lnTo>
                </a:path>
                <a:path w="4114800" h="401319">
                  <a:moveTo>
                    <a:pt x="2438400" y="400812"/>
                  </a:moveTo>
                  <a:lnTo>
                    <a:pt x="1981200" y="0"/>
                  </a:lnTo>
                </a:path>
                <a:path w="4114800" h="401319">
                  <a:moveTo>
                    <a:pt x="2438400" y="400812"/>
                  </a:moveTo>
                  <a:lnTo>
                    <a:pt x="2895600" y="0"/>
                  </a:lnTo>
                </a:path>
                <a:path w="4114800" h="401319">
                  <a:moveTo>
                    <a:pt x="3276600" y="400812"/>
                  </a:moveTo>
                  <a:lnTo>
                    <a:pt x="2819400" y="0"/>
                  </a:lnTo>
                </a:path>
                <a:path w="4114800" h="401319">
                  <a:moveTo>
                    <a:pt x="3276600" y="400812"/>
                  </a:moveTo>
                  <a:lnTo>
                    <a:pt x="3733800" y="0"/>
                  </a:lnTo>
                </a:path>
                <a:path w="4114800" h="401319">
                  <a:moveTo>
                    <a:pt x="4114800" y="400812"/>
                  </a:moveTo>
                  <a:lnTo>
                    <a:pt x="3657600" y="0"/>
                  </a:lnTo>
                </a:path>
              </a:pathLst>
            </a:custGeom>
            <a:ln w="50292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6562" y="1829561"/>
              <a:ext cx="4495800" cy="2303780"/>
            </a:xfrm>
            <a:custGeom>
              <a:avLst/>
              <a:gdLst/>
              <a:ahLst/>
              <a:cxnLst/>
              <a:rect l="l" t="t" r="r" b="b"/>
              <a:pathLst>
                <a:path w="4495800" h="2303779">
                  <a:moveTo>
                    <a:pt x="4267200" y="2228088"/>
                  </a:moveTo>
                  <a:lnTo>
                    <a:pt x="4183380" y="2202942"/>
                  </a:lnTo>
                  <a:lnTo>
                    <a:pt x="4015740" y="2152650"/>
                  </a:lnTo>
                  <a:lnTo>
                    <a:pt x="4082796" y="2202942"/>
                  </a:lnTo>
                  <a:lnTo>
                    <a:pt x="0" y="2202942"/>
                  </a:lnTo>
                  <a:lnTo>
                    <a:pt x="0" y="2253234"/>
                  </a:lnTo>
                  <a:lnTo>
                    <a:pt x="4082796" y="2253234"/>
                  </a:lnTo>
                  <a:lnTo>
                    <a:pt x="4015740" y="2303526"/>
                  </a:lnTo>
                  <a:lnTo>
                    <a:pt x="4183380" y="2253234"/>
                  </a:lnTo>
                  <a:lnTo>
                    <a:pt x="4267200" y="2228088"/>
                  </a:lnTo>
                  <a:close/>
                </a:path>
                <a:path w="4495800" h="2303779">
                  <a:moveTo>
                    <a:pt x="4437761" y="1114552"/>
                  </a:moveTo>
                  <a:lnTo>
                    <a:pt x="4182364" y="1175258"/>
                  </a:lnTo>
                  <a:lnTo>
                    <a:pt x="4245445" y="1182776"/>
                  </a:lnTo>
                  <a:lnTo>
                    <a:pt x="4200385" y="1205306"/>
                  </a:lnTo>
                  <a:lnTo>
                    <a:pt x="4147439" y="1218565"/>
                  </a:lnTo>
                  <a:lnTo>
                    <a:pt x="4073258" y="1232535"/>
                  </a:lnTo>
                  <a:lnTo>
                    <a:pt x="3926598" y="1232535"/>
                  </a:lnTo>
                  <a:lnTo>
                    <a:pt x="3873525" y="1219174"/>
                  </a:lnTo>
                  <a:lnTo>
                    <a:pt x="3777361" y="1190371"/>
                  </a:lnTo>
                  <a:lnTo>
                    <a:pt x="3727793" y="1177925"/>
                  </a:lnTo>
                  <a:lnTo>
                    <a:pt x="3722751" y="1176667"/>
                  </a:lnTo>
                  <a:lnTo>
                    <a:pt x="3721481" y="1176020"/>
                  </a:lnTo>
                  <a:lnTo>
                    <a:pt x="3677539" y="1154049"/>
                  </a:lnTo>
                  <a:lnTo>
                    <a:pt x="3671951" y="1151267"/>
                  </a:lnTo>
                  <a:lnTo>
                    <a:pt x="3670046" y="1149350"/>
                  </a:lnTo>
                  <a:lnTo>
                    <a:pt x="3657117" y="1136396"/>
                  </a:lnTo>
                  <a:lnTo>
                    <a:pt x="3653066" y="1132332"/>
                  </a:lnTo>
                  <a:lnTo>
                    <a:pt x="3616820" y="1096010"/>
                  </a:lnTo>
                  <a:lnTo>
                    <a:pt x="3615944" y="1095121"/>
                  </a:lnTo>
                  <a:lnTo>
                    <a:pt x="3614166" y="1093724"/>
                  </a:lnTo>
                  <a:lnTo>
                    <a:pt x="3613708" y="1093470"/>
                  </a:lnTo>
                  <a:lnTo>
                    <a:pt x="3543363" y="1053846"/>
                  </a:lnTo>
                  <a:lnTo>
                    <a:pt x="3540442" y="1052195"/>
                  </a:lnTo>
                  <a:lnTo>
                    <a:pt x="3537508" y="1050544"/>
                  </a:lnTo>
                  <a:lnTo>
                    <a:pt x="3535934" y="1049655"/>
                  </a:lnTo>
                  <a:lnTo>
                    <a:pt x="3534029" y="1048639"/>
                  </a:lnTo>
                  <a:lnTo>
                    <a:pt x="3531870" y="1047750"/>
                  </a:lnTo>
                  <a:lnTo>
                    <a:pt x="3529711" y="1047242"/>
                  </a:lnTo>
                  <a:lnTo>
                    <a:pt x="3475355" y="1033780"/>
                  </a:lnTo>
                  <a:lnTo>
                    <a:pt x="3399155" y="1005205"/>
                  </a:lnTo>
                  <a:lnTo>
                    <a:pt x="3396234" y="1004062"/>
                  </a:lnTo>
                  <a:lnTo>
                    <a:pt x="3393313" y="1003554"/>
                  </a:lnTo>
                  <a:lnTo>
                    <a:pt x="3195447" y="1003554"/>
                  </a:lnTo>
                  <a:lnTo>
                    <a:pt x="3191256" y="1004697"/>
                  </a:lnTo>
                  <a:lnTo>
                    <a:pt x="3187446" y="1006729"/>
                  </a:lnTo>
                  <a:lnTo>
                    <a:pt x="3112389" y="1049147"/>
                  </a:lnTo>
                  <a:lnTo>
                    <a:pt x="3056128" y="1077341"/>
                  </a:lnTo>
                  <a:lnTo>
                    <a:pt x="2959989" y="1120648"/>
                  </a:lnTo>
                  <a:lnTo>
                    <a:pt x="2905239" y="1148143"/>
                  </a:lnTo>
                  <a:lnTo>
                    <a:pt x="2850896" y="1161669"/>
                  </a:lnTo>
                  <a:lnTo>
                    <a:pt x="2849118" y="1162177"/>
                  </a:lnTo>
                  <a:lnTo>
                    <a:pt x="2847340" y="1162812"/>
                  </a:lnTo>
                  <a:lnTo>
                    <a:pt x="2845689" y="1163574"/>
                  </a:lnTo>
                  <a:lnTo>
                    <a:pt x="2793847" y="1189609"/>
                  </a:lnTo>
                  <a:lnTo>
                    <a:pt x="2517152" y="1189609"/>
                  </a:lnTo>
                  <a:lnTo>
                    <a:pt x="2468702" y="1177417"/>
                  </a:lnTo>
                  <a:lnTo>
                    <a:pt x="2461133" y="1175512"/>
                  </a:lnTo>
                  <a:lnTo>
                    <a:pt x="2459101" y="1175258"/>
                  </a:lnTo>
                  <a:lnTo>
                    <a:pt x="2405392" y="1175258"/>
                  </a:lnTo>
                  <a:lnTo>
                    <a:pt x="2313432" y="1133983"/>
                  </a:lnTo>
                  <a:lnTo>
                    <a:pt x="2288260" y="1124585"/>
                  </a:lnTo>
                  <a:lnTo>
                    <a:pt x="2283168" y="1122680"/>
                  </a:lnTo>
                  <a:lnTo>
                    <a:pt x="2239645" y="1106424"/>
                  </a:lnTo>
                  <a:lnTo>
                    <a:pt x="2220468" y="1096772"/>
                  </a:lnTo>
                  <a:lnTo>
                    <a:pt x="2219706" y="1096391"/>
                  </a:lnTo>
                  <a:lnTo>
                    <a:pt x="2218944" y="1096010"/>
                  </a:lnTo>
                  <a:lnTo>
                    <a:pt x="2182622" y="1077722"/>
                  </a:lnTo>
                  <a:lnTo>
                    <a:pt x="2118868" y="1061212"/>
                  </a:lnTo>
                  <a:lnTo>
                    <a:pt x="2042668" y="1046861"/>
                  </a:lnTo>
                  <a:lnTo>
                    <a:pt x="2039493" y="1046480"/>
                  </a:lnTo>
                  <a:lnTo>
                    <a:pt x="1845437" y="1046480"/>
                  </a:lnTo>
                  <a:lnTo>
                    <a:pt x="1843405" y="1046734"/>
                  </a:lnTo>
                  <a:lnTo>
                    <a:pt x="1784223" y="1061593"/>
                  </a:lnTo>
                  <a:lnTo>
                    <a:pt x="1782445" y="1061974"/>
                  </a:lnTo>
                  <a:lnTo>
                    <a:pt x="1780794" y="1062609"/>
                  </a:lnTo>
                  <a:lnTo>
                    <a:pt x="1779143" y="1063498"/>
                  </a:lnTo>
                  <a:lnTo>
                    <a:pt x="1611007" y="1147686"/>
                  </a:lnTo>
                  <a:lnTo>
                    <a:pt x="1536700" y="1161669"/>
                  </a:lnTo>
                  <a:lnTo>
                    <a:pt x="1480947" y="1175639"/>
                  </a:lnTo>
                  <a:lnTo>
                    <a:pt x="1406766" y="1189609"/>
                  </a:lnTo>
                  <a:lnTo>
                    <a:pt x="1183906" y="1189609"/>
                  </a:lnTo>
                  <a:lnTo>
                    <a:pt x="1137488" y="1177925"/>
                  </a:lnTo>
                  <a:lnTo>
                    <a:pt x="1132459" y="1176667"/>
                  </a:lnTo>
                  <a:lnTo>
                    <a:pt x="1131176" y="1176020"/>
                  </a:lnTo>
                  <a:lnTo>
                    <a:pt x="1080008" y="1150493"/>
                  </a:lnTo>
                  <a:lnTo>
                    <a:pt x="967486" y="1080135"/>
                  </a:lnTo>
                  <a:lnTo>
                    <a:pt x="951090" y="1067816"/>
                  </a:lnTo>
                  <a:lnTo>
                    <a:pt x="944841" y="1063117"/>
                  </a:lnTo>
                  <a:lnTo>
                    <a:pt x="932510" y="1053846"/>
                  </a:lnTo>
                  <a:lnTo>
                    <a:pt x="932167" y="1053592"/>
                  </a:lnTo>
                  <a:lnTo>
                    <a:pt x="931494" y="1053084"/>
                  </a:lnTo>
                  <a:lnTo>
                    <a:pt x="926249" y="1049147"/>
                  </a:lnTo>
                  <a:lnTo>
                    <a:pt x="891286" y="1022858"/>
                  </a:lnTo>
                  <a:lnTo>
                    <a:pt x="883196" y="1018667"/>
                  </a:lnTo>
                  <a:lnTo>
                    <a:pt x="878141" y="1017905"/>
                  </a:lnTo>
                  <a:lnTo>
                    <a:pt x="784606" y="1003808"/>
                  </a:lnTo>
                  <a:lnTo>
                    <a:pt x="782193" y="1003554"/>
                  </a:lnTo>
                  <a:lnTo>
                    <a:pt x="721741" y="1003554"/>
                  </a:lnTo>
                  <a:lnTo>
                    <a:pt x="719709" y="1003808"/>
                  </a:lnTo>
                  <a:lnTo>
                    <a:pt x="663549" y="1017905"/>
                  </a:lnTo>
                  <a:lnTo>
                    <a:pt x="605536" y="1017905"/>
                  </a:lnTo>
                  <a:lnTo>
                    <a:pt x="601726" y="1018794"/>
                  </a:lnTo>
                  <a:lnTo>
                    <a:pt x="598297" y="1020572"/>
                  </a:lnTo>
                  <a:lnTo>
                    <a:pt x="543547" y="1047927"/>
                  </a:lnTo>
                  <a:lnTo>
                    <a:pt x="431977" y="1075817"/>
                  </a:lnTo>
                  <a:lnTo>
                    <a:pt x="429564" y="1076452"/>
                  </a:lnTo>
                  <a:lnTo>
                    <a:pt x="427253" y="1077468"/>
                  </a:lnTo>
                  <a:lnTo>
                    <a:pt x="331584" y="1134999"/>
                  </a:lnTo>
                  <a:lnTo>
                    <a:pt x="276885" y="1162354"/>
                  </a:lnTo>
                  <a:lnTo>
                    <a:pt x="165328" y="1190371"/>
                  </a:lnTo>
                  <a:lnTo>
                    <a:pt x="157810" y="1192149"/>
                  </a:lnTo>
                  <a:lnTo>
                    <a:pt x="151587" y="1197483"/>
                  </a:lnTo>
                  <a:lnTo>
                    <a:pt x="148386" y="1204595"/>
                  </a:lnTo>
                  <a:lnTo>
                    <a:pt x="135978" y="1232535"/>
                  </a:lnTo>
                  <a:lnTo>
                    <a:pt x="76200" y="1232535"/>
                  </a:lnTo>
                  <a:lnTo>
                    <a:pt x="66408" y="1234503"/>
                  </a:lnTo>
                  <a:lnTo>
                    <a:pt x="58407" y="1239875"/>
                  </a:lnTo>
                  <a:lnTo>
                    <a:pt x="53022" y="1247863"/>
                  </a:lnTo>
                  <a:lnTo>
                    <a:pt x="51054" y="1257681"/>
                  </a:lnTo>
                  <a:lnTo>
                    <a:pt x="53035" y="1267460"/>
                  </a:lnTo>
                  <a:lnTo>
                    <a:pt x="58407" y="1275448"/>
                  </a:lnTo>
                  <a:lnTo>
                    <a:pt x="66408" y="1280845"/>
                  </a:lnTo>
                  <a:lnTo>
                    <a:pt x="76200" y="1282827"/>
                  </a:lnTo>
                  <a:lnTo>
                    <a:pt x="152387" y="1282827"/>
                  </a:lnTo>
                  <a:lnTo>
                    <a:pt x="184442" y="1247394"/>
                  </a:lnTo>
                  <a:lnTo>
                    <a:pt x="188099" y="1239139"/>
                  </a:lnTo>
                  <a:lnTo>
                    <a:pt x="189420" y="1236167"/>
                  </a:lnTo>
                  <a:lnTo>
                    <a:pt x="234175" y="1224915"/>
                  </a:lnTo>
                  <a:lnTo>
                    <a:pt x="291820" y="1210437"/>
                  </a:lnTo>
                  <a:lnTo>
                    <a:pt x="293598" y="1210056"/>
                  </a:lnTo>
                  <a:lnTo>
                    <a:pt x="295325" y="1209421"/>
                  </a:lnTo>
                  <a:lnTo>
                    <a:pt x="296976" y="1208532"/>
                  </a:lnTo>
                  <a:lnTo>
                    <a:pt x="354114" y="1179957"/>
                  </a:lnTo>
                  <a:lnTo>
                    <a:pt x="381406" y="1163574"/>
                  </a:lnTo>
                  <a:lnTo>
                    <a:pt x="384581" y="1161669"/>
                  </a:lnTo>
                  <a:lnTo>
                    <a:pt x="446379" y="1124585"/>
                  </a:lnTo>
                  <a:lnTo>
                    <a:pt x="447929" y="1123657"/>
                  </a:lnTo>
                  <a:lnTo>
                    <a:pt x="455409" y="1121791"/>
                  </a:lnTo>
                  <a:lnTo>
                    <a:pt x="558469" y="1096010"/>
                  </a:lnTo>
                  <a:lnTo>
                    <a:pt x="560247" y="1095629"/>
                  </a:lnTo>
                  <a:lnTo>
                    <a:pt x="561975" y="1094867"/>
                  </a:lnTo>
                  <a:lnTo>
                    <a:pt x="563626" y="1094105"/>
                  </a:lnTo>
                  <a:lnTo>
                    <a:pt x="615442" y="1068197"/>
                  </a:lnTo>
                  <a:lnTo>
                    <a:pt x="668655" y="1068197"/>
                  </a:lnTo>
                  <a:lnTo>
                    <a:pt x="670687" y="1067943"/>
                  </a:lnTo>
                  <a:lnTo>
                    <a:pt x="680288" y="1065530"/>
                  </a:lnTo>
                  <a:lnTo>
                    <a:pt x="726833" y="1053846"/>
                  </a:lnTo>
                  <a:lnTo>
                    <a:pt x="778929" y="1053846"/>
                  </a:lnTo>
                  <a:lnTo>
                    <a:pt x="866051" y="1066876"/>
                  </a:lnTo>
                  <a:lnTo>
                    <a:pt x="937260" y="1120394"/>
                  </a:lnTo>
                  <a:lnTo>
                    <a:pt x="1053211" y="1193038"/>
                  </a:lnTo>
                  <a:lnTo>
                    <a:pt x="1112520" y="1222883"/>
                  </a:lnTo>
                  <a:lnTo>
                    <a:pt x="1115822" y="1224407"/>
                  </a:lnTo>
                  <a:lnTo>
                    <a:pt x="1117600" y="1224788"/>
                  </a:lnTo>
                  <a:lnTo>
                    <a:pt x="1176782" y="1239647"/>
                  </a:lnTo>
                  <a:lnTo>
                    <a:pt x="1178814" y="1239901"/>
                  </a:lnTo>
                  <a:lnTo>
                    <a:pt x="1410970" y="1239901"/>
                  </a:lnTo>
                  <a:lnTo>
                    <a:pt x="1414145" y="1239393"/>
                  </a:lnTo>
                  <a:lnTo>
                    <a:pt x="1490218" y="1225169"/>
                  </a:lnTo>
                  <a:lnTo>
                    <a:pt x="1548892" y="1210437"/>
                  </a:lnTo>
                  <a:lnTo>
                    <a:pt x="1623568" y="1196467"/>
                  </a:lnTo>
                  <a:lnTo>
                    <a:pt x="1625854" y="1196086"/>
                  </a:lnTo>
                  <a:lnTo>
                    <a:pt x="1628140" y="1195324"/>
                  </a:lnTo>
                  <a:lnTo>
                    <a:pt x="1637995" y="1190371"/>
                  </a:lnTo>
                  <a:lnTo>
                    <a:pt x="1638757" y="1189990"/>
                  </a:lnTo>
                  <a:lnTo>
                    <a:pt x="1639519" y="1189609"/>
                  </a:lnTo>
                  <a:lnTo>
                    <a:pt x="1665300" y="1176667"/>
                  </a:lnTo>
                  <a:lnTo>
                    <a:pt x="1719834" y="1149350"/>
                  </a:lnTo>
                  <a:lnTo>
                    <a:pt x="1724406" y="1147064"/>
                  </a:lnTo>
                  <a:lnTo>
                    <a:pt x="1797799" y="1110361"/>
                  </a:lnTo>
                  <a:lnTo>
                    <a:pt x="1799094" y="1109726"/>
                  </a:lnTo>
                  <a:lnTo>
                    <a:pt x="1804111" y="1108456"/>
                  </a:lnTo>
                  <a:lnTo>
                    <a:pt x="1850529" y="1096772"/>
                  </a:lnTo>
                  <a:lnTo>
                    <a:pt x="2035429" y="1096772"/>
                  </a:lnTo>
                  <a:lnTo>
                    <a:pt x="2109470" y="1110615"/>
                  </a:lnTo>
                  <a:lnTo>
                    <a:pt x="2162391" y="1123886"/>
                  </a:lnTo>
                  <a:lnTo>
                    <a:pt x="2217166" y="1151382"/>
                  </a:lnTo>
                  <a:lnTo>
                    <a:pt x="2295779" y="1180973"/>
                  </a:lnTo>
                  <a:lnTo>
                    <a:pt x="2389505" y="1223264"/>
                  </a:lnTo>
                  <a:lnTo>
                    <a:pt x="2392807" y="1224788"/>
                  </a:lnTo>
                  <a:lnTo>
                    <a:pt x="2396236" y="1225550"/>
                  </a:lnTo>
                  <a:lnTo>
                    <a:pt x="2453868" y="1225550"/>
                  </a:lnTo>
                  <a:lnTo>
                    <a:pt x="2510028" y="1239647"/>
                  </a:lnTo>
                  <a:lnTo>
                    <a:pt x="2512060" y="1239901"/>
                  </a:lnTo>
                  <a:lnTo>
                    <a:pt x="2803779" y="1239901"/>
                  </a:lnTo>
                  <a:lnTo>
                    <a:pt x="2807589" y="1238885"/>
                  </a:lnTo>
                  <a:lnTo>
                    <a:pt x="2811145" y="1237234"/>
                  </a:lnTo>
                  <a:lnTo>
                    <a:pt x="2834398" y="1225550"/>
                  </a:lnTo>
                  <a:lnTo>
                    <a:pt x="2835922" y="1224788"/>
                  </a:lnTo>
                  <a:lnTo>
                    <a:pt x="2864497" y="1210437"/>
                  </a:lnTo>
                  <a:lnTo>
                    <a:pt x="2865882" y="1209751"/>
                  </a:lnTo>
                  <a:lnTo>
                    <a:pt x="2870733" y="1208532"/>
                  </a:lnTo>
                  <a:lnTo>
                    <a:pt x="2920238" y="1196213"/>
                  </a:lnTo>
                  <a:lnTo>
                    <a:pt x="2922016" y="1195705"/>
                  </a:lnTo>
                  <a:lnTo>
                    <a:pt x="2923667" y="1195070"/>
                  </a:lnTo>
                  <a:lnTo>
                    <a:pt x="2925318" y="1194308"/>
                  </a:lnTo>
                  <a:lnTo>
                    <a:pt x="2929356" y="1192276"/>
                  </a:lnTo>
                  <a:lnTo>
                    <a:pt x="2934665" y="1189609"/>
                  </a:lnTo>
                  <a:lnTo>
                    <a:pt x="2982468" y="1165606"/>
                  </a:lnTo>
                  <a:lnTo>
                    <a:pt x="3018625" y="1149350"/>
                  </a:lnTo>
                  <a:lnTo>
                    <a:pt x="3022866" y="1147445"/>
                  </a:lnTo>
                  <a:lnTo>
                    <a:pt x="3076829" y="1123188"/>
                  </a:lnTo>
                  <a:lnTo>
                    <a:pt x="3134868" y="1094105"/>
                  </a:lnTo>
                  <a:lnTo>
                    <a:pt x="3206343" y="1053846"/>
                  </a:lnTo>
                  <a:lnTo>
                    <a:pt x="3385756" y="1053846"/>
                  </a:lnTo>
                  <a:lnTo>
                    <a:pt x="3457575" y="1080897"/>
                  </a:lnTo>
                  <a:lnTo>
                    <a:pt x="3514407" y="1095235"/>
                  </a:lnTo>
                  <a:lnTo>
                    <a:pt x="3584283" y="1134592"/>
                  </a:lnTo>
                  <a:lnTo>
                    <a:pt x="3641090" y="1191514"/>
                  </a:lnTo>
                  <a:lnTo>
                    <a:pt x="3702812" y="1222883"/>
                  </a:lnTo>
                  <a:lnTo>
                    <a:pt x="3707892" y="1224788"/>
                  </a:lnTo>
                  <a:lnTo>
                    <a:pt x="3765042" y="1239139"/>
                  </a:lnTo>
                  <a:lnTo>
                    <a:pt x="3859149" y="1267460"/>
                  </a:lnTo>
                  <a:lnTo>
                    <a:pt x="3919474" y="1282573"/>
                  </a:lnTo>
                  <a:lnTo>
                    <a:pt x="3921506" y="1282827"/>
                  </a:lnTo>
                  <a:lnTo>
                    <a:pt x="4077462" y="1282827"/>
                  </a:lnTo>
                  <a:lnTo>
                    <a:pt x="4080637" y="1282319"/>
                  </a:lnTo>
                  <a:lnTo>
                    <a:pt x="4156710" y="1268095"/>
                  </a:lnTo>
                  <a:lnTo>
                    <a:pt x="4215384" y="1253363"/>
                  </a:lnTo>
                  <a:lnTo>
                    <a:pt x="4217162" y="1252982"/>
                  </a:lnTo>
                  <a:lnTo>
                    <a:pt x="4218940" y="1252347"/>
                  </a:lnTo>
                  <a:lnTo>
                    <a:pt x="4220464" y="1251458"/>
                  </a:lnTo>
                  <a:lnTo>
                    <a:pt x="4256786" y="1233297"/>
                  </a:lnTo>
                  <a:lnTo>
                    <a:pt x="4257548" y="1232916"/>
                  </a:lnTo>
                  <a:lnTo>
                    <a:pt x="4258297" y="1232535"/>
                  </a:lnTo>
                  <a:lnTo>
                    <a:pt x="4273804" y="1224788"/>
                  </a:lnTo>
                  <a:lnTo>
                    <a:pt x="4275086" y="1224153"/>
                  </a:lnTo>
                  <a:lnTo>
                    <a:pt x="4280103" y="1222883"/>
                  </a:lnTo>
                  <a:lnTo>
                    <a:pt x="4294860" y="1219174"/>
                  </a:lnTo>
                  <a:lnTo>
                    <a:pt x="4258056" y="1305814"/>
                  </a:lnTo>
                  <a:lnTo>
                    <a:pt x="4390072" y="1165313"/>
                  </a:lnTo>
                  <a:lnTo>
                    <a:pt x="4437761" y="1114552"/>
                  </a:lnTo>
                  <a:close/>
                </a:path>
                <a:path w="4495800" h="2303779">
                  <a:moveTo>
                    <a:pt x="4495800" y="0"/>
                  </a:moveTo>
                  <a:lnTo>
                    <a:pt x="4239514" y="57023"/>
                  </a:lnTo>
                  <a:lnTo>
                    <a:pt x="4322724" y="68148"/>
                  </a:lnTo>
                  <a:lnTo>
                    <a:pt x="4178681" y="148717"/>
                  </a:lnTo>
                  <a:lnTo>
                    <a:pt x="4203319" y="192659"/>
                  </a:lnTo>
                  <a:lnTo>
                    <a:pt x="4347159" y="112039"/>
                  </a:lnTo>
                  <a:lnTo>
                    <a:pt x="4313301" y="188722"/>
                  </a:lnTo>
                  <a:lnTo>
                    <a:pt x="4445686" y="51816"/>
                  </a:lnTo>
                  <a:lnTo>
                    <a:pt x="44958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28920" y="1611629"/>
            <a:ext cx="2914650" cy="256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3204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fiber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optic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multimode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step-index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88900" marR="16700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fiber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optic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multimode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graded-index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fiber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optic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31864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Fiber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Optic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Signals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028700"/>
            <a:ext cx="7924800" cy="38831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54984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Optical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Fiber</a:t>
            </a:r>
            <a:r>
              <a:rPr sz="3200" b="0" spc="-90" dirty="0">
                <a:latin typeface="Times New Roman"/>
                <a:cs typeface="Times New Roman"/>
              </a:rPr>
              <a:t> </a:t>
            </a:r>
            <a:r>
              <a:rPr sz="3200" b="0" spc="-10" dirty="0">
                <a:latin typeface="Times New Roman"/>
                <a:cs typeface="Times New Roman"/>
              </a:rPr>
              <a:t>Transmission</a:t>
            </a:r>
            <a:r>
              <a:rPr sz="3200" b="0" spc="-5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Mode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5248"/>
            <a:ext cx="7862570" cy="3597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Advantages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ts val="280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greater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(bandwidth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Gbps)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ts val="28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smaller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size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lighter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weight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ts val="281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lower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attenuation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ts val="280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immunity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5" dirty="0">
                <a:latin typeface="Times New Roman"/>
                <a:cs typeface="Times New Roman"/>
              </a:rPr>
              <a:t> environmental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interference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810"/>
              </a:lnSpc>
              <a:spcBef>
                <a:spcPts val="1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highly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difficulty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lack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radiation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Disvantages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ts val="268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expensive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short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distance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ts val="28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requires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skilled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installers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ts val="284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adding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additional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difficult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188848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Fiber</a:t>
            </a:r>
            <a:r>
              <a:rPr sz="3200" b="0" spc="-9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Optic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20015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Fiber</a:t>
            </a:r>
            <a:r>
              <a:rPr sz="3200" b="0" spc="-8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cables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03703"/>
            <a:ext cx="8388985" cy="15525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Multimode: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diameter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~50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microns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55"/>
              </a:spcBef>
              <a:tabLst>
                <a:tab pos="756285" algn="l"/>
              </a:tabLst>
            </a:pPr>
            <a:r>
              <a:rPr sz="2200" spc="-5" dirty="0">
                <a:latin typeface="Arial MT"/>
                <a:cs typeface="Arial MT"/>
              </a:rPr>
              <a:t>–	</a:t>
            </a:r>
            <a:r>
              <a:rPr sz="2200" spc="-5" dirty="0">
                <a:latin typeface="Times New Roman"/>
                <a:cs typeface="Times New Roman"/>
              </a:rPr>
              <a:t>About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same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</a:t>
            </a:r>
            <a:r>
              <a:rPr sz="2200" spc="-10" dirty="0">
                <a:latin typeface="Times New Roman"/>
                <a:cs typeface="Times New Roman"/>
              </a:rPr>
              <a:t>human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hair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diameter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8-10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microns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connectors,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 splicing,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fusion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" y="2875788"/>
            <a:ext cx="7464552" cy="178612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07335"/>
            <a:ext cx="7043420" cy="348932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Fiber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(pros)</a:t>
            </a:r>
            <a:endParaRPr sz="23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5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00" dirty="0">
                <a:latin typeface="Times New Roman"/>
                <a:cs typeface="Times New Roman"/>
              </a:rPr>
              <a:t>Higher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bandwidth,</a:t>
            </a:r>
            <a:endParaRPr sz="21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5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00" spc="-5" dirty="0">
                <a:latin typeface="Times New Roman"/>
                <a:cs typeface="Times New Roman"/>
              </a:rPr>
              <a:t>Lower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attenuation,</a:t>
            </a:r>
            <a:endParaRPr sz="21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4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00" spc="-10" dirty="0">
                <a:latin typeface="Times New Roman"/>
                <a:cs typeface="Times New Roman"/>
              </a:rPr>
              <a:t>Immune</a:t>
            </a:r>
            <a:r>
              <a:rPr sz="2100" spc="5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electromagnetic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noise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corrosive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chemicals,</a:t>
            </a:r>
            <a:endParaRPr sz="21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4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00" dirty="0">
                <a:latin typeface="Times New Roman"/>
                <a:cs typeface="Times New Roman"/>
              </a:rPr>
              <a:t>Thin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and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lightweight,</a:t>
            </a:r>
            <a:endParaRPr sz="21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5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00" dirty="0">
                <a:latin typeface="Times New Roman"/>
                <a:cs typeface="Times New Roman"/>
              </a:rPr>
              <a:t>Security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(does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not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leak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light,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difficult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to</a:t>
            </a:r>
            <a:r>
              <a:rPr sz="2100" spc="-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tap).</a:t>
            </a:r>
            <a:endParaRPr sz="21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Fiber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(cons)</a:t>
            </a:r>
            <a:endParaRPr sz="23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6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00" spc="-5" dirty="0">
                <a:latin typeface="Times New Roman"/>
                <a:cs typeface="Times New Roman"/>
              </a:rPr>
              <a:t>Not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many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skilled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“fiber </a:t>
            </a:r>
            <a:r>
              <a:rPr sz="2100" dirty="0">
                <a:latin typeface="Times New Roman"/>
                <a:cs typeface="Times New Roman"/>
              </a:rPr>
              <a:t>engineers,”</a:t>
            </a:r>
            <a:endParaRPr sz="21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4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00" dirty="0">
                <a:latin typeface="Times New Roman"/>
                <a:cs typeface="Times New Roman"/>
              </a:rPr>
              <a:t>Inherently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unidirectional,</a:t>
            </a:r>
            <a:endParaRPr sz="21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14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100" spc="-5" dirty="0">
                <a:latin typeface="Times New Roman"/>
                <a:cs typeface="Times New Roman"/>
              </a:rPr>
              <a:t>Fiber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interfaces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are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expensive.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26568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imes New Roman"/>
                <a:cs typeface="Times New Roman"/>
              </a:rPr>
              <a:t>Fiber</a:t>
            </a:r>
            <a:r>
              <a:rPr sz="3200" b="0" spc="-5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vs.</a:t>
            </a:r>
            <a:r>
              <a:rPr sz="3200" b="0" spc="-45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copper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1399</Words>
  <Application>Microsoft Office PowerPoint</Application>
  <PresentationFormat>On-screen Show (16:9)</PresentationFormat>
  <Paragraphs>234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Arial MT</vt:lpstr>
      <vt:lpstr>Calibri</vt:lpstr>
      <vt:lpstr>Symbol</vt:lpstr>
      <vt:lpstr>Times New Roman</vt:lpstr>
      <vt:lpstr>Office Theme</vt:lpstr>
      <vt:lpstr>GLA UNIVERSITY</vt:lpstr>
      <vt:lpstr>TRANSMISSION MEDIA</vt:lpstr>
      <vt:lpstr>Media</vt:lpstr>
      <vt:lpstr>Transmission Media</vt:lpstr>
      <vt:lpstr>Electromagnetic Spectrum</vt:lpstr>
      <vt:lpstr>Basic limitations</vt:lpstr>
      <vt:lpstr>Design Factors for Transmission Media</vt:lpstr>
      <vt:lpstr>Classes of Transmission Media</vt:lpstr>
      <vt:lpstr>Wire Conductors</vt:lpstr>
      <vt:lpstr>Wired - Twisted Pair</vt:lpstr>
      <vt:lpstr>Twisted Pair</vt:lpstr>
      <vt:lpstr>Types of Twisted Pair</vt:lpstr>
      <vt:lpstr>Ratings of Twisted Pair</vt:lpstr>
      <vt:lpstr>Twisted Pair Advantages</vt:lpstr>
      <vt:lpstr>Twisted-Pair Cable</vt:lpstr>
      <vt:lpstr>Effect of Noise on Parallel Lines</vt:lpstr>
      <vt:lpstr>Noise on Twisted-Pair Lines</vt:lpstr>
      <vt:lpstr>Unshielded Twisted-Pair Cable</vt:lpstr>
      <vt:lpstr>Shielded Twisted-Pair Cable</vt:lpstr>
      <vt:lpstr>Wired Transmission Media</vt:lpstr>
      <vt:lpstr>Coaxial cable</vt:lpstr>
      <vt:lpstr>Properties of coaxial cable</vt:lpstr>
      <vt:lpstr>Wired Transmission Media</vt:lpstr>
      <vt:lpstr>Wired Transmission Media</vt:lpstr>
      <vt:lpstr>Wired Transmission Media</vt:lpstr>
      <vt:lpstr>Fiber optics &amp; Physics 101</vt:lpstr>
      <vt:lpstr>Fiber Optic Layers</vt:lpstr>
      <vt:lpstr>Modes of fiber</vt:lpstr>
      <vt:lpstr>Mode</vt:lpstr>
      <vt:lpstr>Fiber Optic Types</vt:lpstr>
      <vt:lpstr>Types of optical fiber</vt:lpstr>
      <vt:lpstr>Types of optical fiber</vt:lpstr>
      <vt:lpstr>Fiber Optic Signals</vt:lpstr>
      <vt:lpstr>Optical Fiber Transmission Mode</vt:lpstr>
      <vt:lpstr>Fiber Optic</vt:lpstr>
      <vt:lpstr>Fiber cables</vt:lpstr>
      <vt:lpstr>Fiber vs. copper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RadheyKrishna</dc:creator>
  <cp:lastModifiedBy>Admin</cp:lastModifiedBy>
  <cp:revision>2</cp:revision>
  <dcterms:created xsi:type="dcterms:W3CDTF">2024-08-06T04:55:45Z</dcterms:created>
  <dcterms:modified xsi:type="dcterms:W3CDTF">2024-08-23T04:20:28Z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2024-08-06T00:00:00Z</vt:filetime>
  </property>
</Properties>
</file>
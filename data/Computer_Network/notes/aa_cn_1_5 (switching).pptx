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</p:sldIdLst>
  <p:sldSz cx="9144000" cy="5143500" type="screen16x9"/>
  <p:notesSz cx="9144000" cy="51435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75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C34A46-BC86-42E0-8449-3FEE248A50A3}" type="datetimeFigureOut">
              <a:rPr lang="en-IN" smtClean="0"/>
              <a:t>06-08-2024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A9AA839-DEBB-43E4-8D35-C698BF4F073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242955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476" y="0"/>
                </a:moveTo>
                <a:lnTo>
                  <a:pt x="0" y="0"/>
                </a:lnTo>
                <a:lnTo>
                  <a:pt x="0" y="179831"/>
                </a:lnTo>
                <a:lnTo>
                  <a:pt x="9142476" y="179831"/>
                </a:lnTo>
                <a:lnTo>
                  <a:pt x="9142476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831"/>
                </a:moveTo>
                <a:lnTo>
                  <a:pt x="9142476" y="179831"/>
                </a:lnTo>
                <a:lnTo>
                  <a:pt x="9142476" y="0"/>
                </a:lnTo>
                <a:lnTo>
                  <a:pt x="0" y="0"/>
                </a:lnTo>
              </a:path>
            </a:pathLst>
          </a:custGeom>
          <a:ln w="12192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9145524" y="0"/>
                </a:moveTo>
                <a:lnTo>
                  <a:pt x="0" y="0"/>
                </a:lnTo>
                <a:lnTo>
                  <a:pt x="0" y="36575"/>
                </a:lnTo>
                <a:lnTo>
                  <a:pt x="9145524" y="36575"/>
                </a:lnTo>
                <a:lnTo>
                  <a:pt x="9145524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0" y="36575"/>
                </a:moveTo>
                <a:lnTo>
                  <a:pt x="9145524" y="36575"/>
                </a:lnTo>
                <a:lnTo>
                  <a:pt x="9145524" y="0"/>
                </a:lnTo>
                <a:lnTo>
                  <a:pt x="0" y="0"/>
                </a:lnTo>
                <a:lnTo>
                  <a:pt x="0" y="36575"/>
                </a:lnTo>
                <a:close/>
              </a:path>
            </a:pathLst>
          </a:custGeom>
          <a:ln w="6096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9" y="19811"/>
            <a:ext cx="830579" cy="8061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78180" y="1563623"/>
            <a:ext cx="7786116" cy="2795016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07340" y="152526"/>
            <a:ext cx="3311525" cy="51371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2880360"/>
            <a:ext cx="6400800" cy="12858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66385E-B2B8-463D-8421-CAFC4D363002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A4BF53-A42F-4A97-BB7D-183C7CECE5EB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183005"/>
            <a:ext cx="3977640" cy="33947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51C7DD-BB5B-4B3F-BC94-B317747D07E7}" type="datetime1">
              <a:rPr lang="en-US" smtClean="0"/>
              <a:t>8/6/2024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61B53-754B-4898-BAB6-11F4A171FF5C}" type="datetime1">
              <a:rPr lang="en-US" smtClean="0"/>
              <a:t>8/6/2024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476" y="0"/>
                </a:moveTo>
                <a:lnTo>
                  <a:pt x="0" y="0"/>
                </a:lnTo>
                <a:lnTo>
                  <a:pt x="0" y="179831"/>
                </a:lnTo>
                <a:lnTo>
                  <a:pt x="9142476" y="179831"/>
                </a:lnTo>
                <a:lnTo>
                  <a:pt x="9142476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831"/>
                </a:moveTo>
                <a:lnTo>
                  <a:pt x="9142476" y="179831"/>
                </a:lnTo>
                <a:lnTo>
                  <a:pt x="9142476" y="0"/>
                </a:lnTo>
                <a:lnTo>
                  <a:pt x="0" y="0"/>
                </a:lnTo>
              </a:path>
            </a:pathLst>
          </a:custGeom>
          <a:ln w="12192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9145524" y="0"/>
                </a:moveTo>
                <a:lnTo>
                  <a:pt x="0" y="0"/>
                </a:lnTo>
                <a:lnTo>
                  <a:pt x="0" y="36575"/>
                </a:lnTo>
                <a:lnTo>
                  <a:pt x="9145524" y="36575"/>
                </a:lnTo>
                <a:lnTo>
                  <a:pt x="9145524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0" y="36575"/>
                </a:moveTo>
                <a:lnTo>
                  <a:pt x="9145524" y="36575"/>
                </a:lnTo>
                <a:lnTo>
                  <a:pt x="9145524" y="0"/>
                </a:lnTo>
                <a:lnTo>
                  <a:pt x="0" y="0"/>
                </a:lnTo>
                <a:lnTo>
                  <a:pt x="0" y="36575"/>
                </a:lnTo>
                <a:close/>
              </a:path>
            </a:pathLst>
          </a:custGeom>
          <a:ln w="6096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90559" y="19811"/>
            <a:ext cx="830579" cy="8061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78991" y="1491995"/>
            <a:ext cx="7242048" cy="275539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9C743E-A75F-4D60-8B5E-EB35C0C32126}" type="datetime1">
              <a:rPr lang="en-US" smtClean="0"/>
              <a:t>8/6/2024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9142476" y="0"/>
                </a:moveTo>
                <a:lnTo>
                  <a:pt x="0" y="0"/>
                </a:lnTo>
                <a:lnTo>
                  <a:pt x="0" y="179831"/>
                </a:lnTo>
                <a:lnTo>
                  <a:pt x="9142476" y="179831"/>
                </a:lnTo>
                <a:lnTo>
                  <a:pt x="9142476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0" y="4954523"/>
            <a:ext cx="9142730" cy="180340"/>
          </a:xfrm>
          <a:custGeom>
            <a:avLst/>
            <a:gdLst/>
            <a:ahLst/>
            <a:cxnLst/>
            <a:rect l="l" t="t" r="r" b="b"/>
            <a:pathLst>
              <a:path w="9142730" h="180339">
                <a:moveTo>
                  <a:pt x="0" y="179831"/>
                </a:moveTo>
                <a:lnTo>
                  <a:pt x="9142476" y="179831"/>
                </a:lnTo>
                <a:lnTo>
                  <a:pt x="9142476" y="0"/>
                </a:lnTo>
                <a:lnTo>
                  <a:pt x="0" y="0"/>
                </a:lnTo>
              </a:path>
            </a:pathLst>
          </a:custGeom>
          <a:ln w="12192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9145524" y="0"/>
                </a:moveTo>
                <a:lnTo>
                  <a:pt x="0" y="0"/>
                </a:lnTo>
                <a:lnTo>
                  <a:pt x="0" y="36575"/>
                </a:lnTo>
                <a:lnTo>
                  <a:pt x="9145524" y="36575"/>
                </a:lnTo>
                <a:lnTo>
                  <a:pt x="9145524" y="0"/>
                </a:lnTo>
                <a:close/>
              </a:path>
            </a:pathLst>
          </a:custGeom>
          <a:solidFill>
            <a:srgbClr val="4E6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0" y="847344"/>
            <a:ext cx="9145905" cy="36830"/>
          </a:xfrm>
          <a:custGeom>
            <a:avLst/>
            <a:gdLst/>
            <a:ahLst/>
            <a:cxnLst/>
            <a:rect l="l" t="t" r="r" b="b"/>
            <a:pathLst>
              <a:path w="9145905" h="36830">
                <a:moveTo>
                  <a:pt x="0" y="36575"/>
                </a:moveTo>
                <a:lnTo>
                  <a:pt x="9145524" y="36575"/>
                </a:lnTo>
                <a:lnTo>
                  <a:pt x="9145524" y="0"/>
                </a:lnTo>
                <a:lnTo>
                  <a:pt x="0" y="0"/>
                </a:lnTo>
                <a:lnTo>
                  <a:pt x="0" y="36575"/>
                </a:lnTo>
                <a:close/>
              </a:path>
            </a:pathLst>
          </a:custGeom>
          <a:ln w="6096">
            <a:solidFill>
              <a:srgbClr val="D3AC3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8290559" y="19811"/>
            <a:ext cx="830579" cy="806196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07340" y="152526"/>
            <a:ext cx="8529319" cy="5600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07340" y="997912"/>
            <a:ext cx="8530590" cy="327723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847591" y="4943984"/>
            <a:ext cx="1120775" cy="180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4783455"/>
            <a:ext cx="2103120" cy="2571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FE901F7-B1BD-4287-9A3D-A2793F2E9620}" type="datetime1">
              <a:rPr lang="en-US" smtClean="0"/>
              <a:t>8/6/2024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62314" y="4978230"/>
            <a:ext cx="241300" cy="1943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38100">
              <a:lnSpc>
                <a:spcPts val="1410"/>
              </a:lnSpc>
            </a:pPr>
            <a:fld id="{81D60167-4931-47E6-BA6A-407CBD079E47}" type="slidenum">
              <a:rPr spc="-25" dirty="0"/>
              <a:t>‹#›</a:t>
            </a:fld>
            <a:endParaRPr spc="-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-13716" y="0"/>
            <a:ext cx="9157970" cy="1298575"/>
            <a:chOff x="-13716" y="0"/>
            <a:chExt cx="9157970" cy="1298575"/>
          </a:xfrm>
        </p:grpSpPr>
        <p:sp>
          <p:nvSpPr>
            <p:cNvPr id="3" name="object 3"/>
            <p:cNvSpPr/>
            <p:nvPr/>
          </p:nvSpPr>
          <p:spPr>
            <a:xfrm>
              <a:off x="761" y="0"/>
              <a:ext cx="9143365" cy="1037590"/>
            </a:xfrm>
            <a:custGeom>
              <a:avLst/>
              <a:gdLst/>
              <a:ahLst/>
              <a:cxnLst/>
              <a:rect l="l" t="t" r="r" b="b"/>
              <a:pathLst>
                <a:path w="9143365" h="1037590">
                  <a:moveTo>
                    <a:pt x="0" y="1037082"/>
                  </a:moveTo>
                  <a:lnTo>
                    <a:pt x="9143238" y="1037082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1037082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761" y="1022603"/>
              <a:ext cx="9143365" cy="29209"/>
            </a:xfrm>
            <a:custGeom>
              <a:avLst/>
              <a:gdLst/>
              <a:ahLst/>
              <a:cxnLst/>
              <a:rect l="l" t="t" r="r" b="b"/>
              <a:pathLst>
                <a:path w="9143365" h="29209">
                  <a:moveTo>
                    <a:pt x="0" y="28955"/>
                  </a:moveTo>
                  <a:lnTo>
                    <a:pt x="9143238" y="28955"/>
                  </a:lnTo>
                  <a:lnTo>
                    <a:pt x="9143238" y="0"/>
                  </a:lnTo>
                  <a:lnTo>
                    <a:pt x="0" y="0"/>
                  </a:lnTo>
                  <a:lnTo>
                    <a:pt x="0" y="28955"/>
                  </a:lnTo>
                  <a:close/>
                </a:path>
              </a:pathLst>
            </a:custGeom>
            <a:solidFill>
              <a:srgbClr val="D3AC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761" y="0"/>
              <a:ext cx="0" cy="1037590"/>
            </a:xfrm>
            <a:custGeom>
              <a:avLst/>
              <a:gdLst/>
              <a:ahLst/>
              <a:cxnLst/>
              <a:rect l="l" t="t" r="r" b="b"/>
              <a:pathLst>
                <a:path h="1037590">
                  <a:moveTo>
                    <a:pt x="0" y="0"/>
                  </a:moveTo>
                  <a:lnTo>
                    <a:pt x="0" y="1037082"/>
                  </a:lnTo>
                </a:path>
              </a:pathLst>
            </a:custGeom>
            <a:ln w="2895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7769352" y="0"/>
              <a:ext cx="1374648" cy="1298448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84236" y="0"/>
              <a:ext cx="1159764" cy="1085088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153400" y="109728"/>
              <a:ext cx="830579" cy="806196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595372" y="21335"/>
              <a:ext cx="3902964" cy="1053084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2727960" y="83819"/>
              <a:ext cx="3637788" cy="923543"/>
            </a:xfrm>
            <a:prstGeom prst="rect">
              <a:avLst/>
            </a:prstGeom>
          </p:spPr>
        </p:pic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5409" rIns="0" bIns="0" rtlCol="0">
            <a:spAutoFit/>
          </a:bodyPr>
          <a:lstStyle/>
          <a:p>
            <a:pPr marL="2716530">
              <a:lnSpc>
                <a:spcPct val="100000"/>
              </a:lnSpc>
              <a:spcBef>
                <a:spcPts val="105"/>
              </a:spcBef>
            </a:pPr>
            <a:r>
              <a:rPr sz="2900" spc="-20" dirty="0">
                <a:solidFill>
                  <a:srgbClr val="336600"/>
                </a:solidFill>
              </a:rPr>
              <a:t>GLA</a:t>
            </a:r>
            <a:r>
              <a:rPr sz="2900" spc="-150" dirty="0">
                <a:solidFill>
                  <a:srgbClr val="336600"/>
                </a:solidFill>
              </a:rPr>
              <a:t> </a:t>
            </a:r>
            <a:r>
              <a:rPr sz="2900" spc="-10" dirty="0">
                <a:solidFill>
                  <a:srgbClr val="336600"/>
                </a:solidFill>
              </a:rPr>
              <a:t>UNIVERSITY</a:t>
            </a:r>
            <a:endParaRPr sz="2900"/>
          </a:p>
        </p:txBody>
      </p:sp>
      <p:sp>
        <p:nvSpPr>
          <p:cNvPr id="12" name="object 12"/>
          <p:cNvSpPr txBox="1"/>
          <p:nvPr/>
        </p:nvSpPr>
        <p:spPr>
          <a:xfrm>
            <a:off x="2467482" y="1306829"/>
            <a:ext cx="435546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600" b="1" cap="small" dirty="0">
                <a:latin typeface="Times New Roman"/>
                <a:cs typeface="Times New Roman"/>
              </a:rPr>
              <a:t>Computer</a:t>
            </a:r>
            <a:r>
              <a:rPr sz="3600" b="1" cap="small" spc="-25" dirty="0">
                <a:latin typeface="Times New Roman"/>
                <a:cs typeface="Times New Roman"/>
              </a:rPr>
              <a:t> </a:t>
            </a:r>
            <a:r>
              <a:rPr sz="3600" b="1" cap="small" spc="-75" dirty="0">
                <a:latin typeface="Times New Roman"/>
                <a:cs typeface="Times New Roman"/>
              </a:rPr>
              <a:t>Network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305"/>
              </a:lnSpc>
            </a:pPr>
            <a:endParaRPr lang="en-IN" spc="-1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095" y="4948427"/>
            <a:ext cx="9154795" cy="192405"/>
            <a:chOff x="-6095" y="4948427"/>
            <a:chExt cx="9154795" cy="192405"/>
          </a:xfrm>
        </p:grpSpPr>
        <p:sp>
          <p:nvSpPr>
            <p:cNvPr id="4" name="object 4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476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9142476" y="179831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831"/>
                  </a:moveTo>
                  <a:lnTo>
                    <a:pt x="9142476" y="179831"/>
                  </a:lnTo>
                  <a:lnTo>
                    <a:pt x="914247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3047" y="19811"/>
            <a:ext cx="9151620" cy="867410"/>
            <a:chOff x="-3047" y="19811"/>
            <a:chExt cx="9151620" cy="8674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559" y="19811"/>
              <a:ext cx="830579" cy="806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9145524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5524" y="36575"/>
                  </a:lnTo>
                  <a:lnTo>
                    <a:pt x="9145524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0" y="36575"/>
                  </a:moveTo>
                  <a:lnTo>
                    <a:pt x="9145524" y="36575"/>
                  </a:lnTo>
                  <a:lnTo>
                    <a:pt x="9145524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609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667505" y="2337943"/>
            <a:ext cx="183197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cap="small" spc="-40" dirty="0">
                <a:latin typeface="Times New Roman"/>
                <a:cs typeface="Times New Roman"/>
              </a:rPr>
              <a:t>Switching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Switch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711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757555" algn="l"/>
                <a:tab pos="1753235" algn="l"/>
                <a:tab pos="2155190" algn="l"/>
                <a:tab pos="2491105" algn="l"/>
                <a:tab pos="3482975" algn="l"/>
                <a:tab pos="3919220" algn="l"/>
                <a:tab pos="4254500" algn="l"/>
                <a:tab pos="5603240" algn="l"/>
                <a:tab pos="6798309" algn="l"/>
                <a:tab pos="7453630" algn="l"/>
              </a:tabLst>
            </a:pP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switch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device</a:t>
            </a:r>
            <a:r>
              <a:rPr dirty="0"/>
              <a:t>	</a:t>
            </a:r>
            <a:r>
              <a:rPr spc="-25" dirty="0"/>
              <a:t>in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computer</a:t>
            </a:r>
            <a:r>
              <a:rPr dirty="0"/>
              <a:t>	</a:t>
            </a:r>
            <a:r>
              <a:rPr spc="-10" dirty="0"/>
              <a:t>network</a:t>
            </a:r>
            <a:r>
              <a:rPr dirty="0"/>
              <a:t>	</a:t>
            </a:r>
            <a:r>
              <a:rPr spc="-20" dirty="0"/>
              <a:t>that</a:t>
            </a:r>
            <a:r>
              <a:rPr dirty="0"/>
              <a:t>	</a:t>
            </a:r>
            <a:r>
              <a:rPr u="heavy" spc="-10" dirty="0">
                <a:uFill>
                  <a:solidFill>
                    <a:srgbClr val="C00000"/>
                  </a:solidFill>
                </a:uFill>
              </a:rPr>
              <a:t>connects</a:t>
            </a:r>
          </a:p>
          <a:p>
            <a:pPr marL="355600">
              <a:lnSpc>
                <a:spcPts val="2850"/>
              </a:lnSpc>
            </a:pPr>
            <a:r>
              <a:rPr dirty="0"/>
              <a:t>other</a:t>
            </a:r>
            <a:r>
              <a:rPr spc="-20" dirty="0"/>
              <a:t> </a:t>
            </a:r>
            <a:r>
              <a:rPr dirty="0"/>
              <a:t>devices</a:t>
            </a:r>
            <a:r>
              <a:rPr spc="-35" dirty="0"/>
              <a:t> </a:t>
            </a:r>
            <a:r>
              <a:rPr spc="-10" dirty="0"/>
              <a:t>together</a:t>
            </a:r>
          </a:p>
          <a:p>
            <a:pPr marL="355600" marR="6985" indent="-342900">
              <a:lnSpc>
                <a:spcPts val="2820"/>
              </a:lnSpc>
              <a:spcBef>
                <a:spcPts val="204"/>
              </a:spcBef>
              <a:buFont typeface="Arial MT"/>
              <a:buChar char="•"/>
              <a:tabLst>
                <a:tab pos="355600" algn="l"/>
                <a:tab pos="1632585" algn="l"/>
                <a:tab pos="2367280" algn="l"/>
                <a:tab pos="3356610" algn="l"/>
                <a:tab pos="3957320" algn="l"/>
                <a:tab pos="5165725" algn="l"/>
                <a:tab pos="5868670" algn="l"/>
                <a:tab pos="6233160" algn="l"/>
                <a:tab pos="7257415" algn="l"/>
                <a:tab pos="7722234" algn="l"/>
              </a:tabLst>
            </a:pPr>
            <a:r>
              <a:rPr spc="-10" dirty="0"/>
              <a:t>Multiple</a:t>
            </a:r>
            <a:r>
              <a:rPr dirty="0"/>
              <a:t>	</a:t>
            </a:r>
            <a:r>
              <a:rPr spc="-20" dirty="0"/>
              <a:t>data</a:t>
            </a:r>
            <a:r>
              <a:rPr dirty="0"/>
              <a:t>	</a:t>
            </a:r>
            <a:r>
              <a:rPr spc="-10" dirty="0"/>
              <a:t>cables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10" dirty="0"/>
              <a:t>plugged</a:t>
            </a:r>
            <a:r>
              <a:rPr dirty="0"/>
              <a:t>	</a:t>
            </a:r>
            <a:r>
              <a:rPr spc="-20" dirty="0"/>
              <a:t>into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switch</a:t>
            </a:r>
            <a:r>
              <a:rPr dirty="0"/>
              <a:t>	</a:t>
            </a:r>
            <a:r>
              <a:rPr spc="-25" dirty="0"/>
              <a:t>to</a:t>
            </a:r>
            <a:r>
              <a:rPr dirty="0"/>
              <a:t>	</a:t>
            </a:r>
            <a:r>
              <a:rPr spc="-10" dirty="0"/>
              <a:t>enable </a:t>
            </a:r>
            <a:r>
              <a:rPr dirty="0"/>
              <a:t>communication</a:t>
            </a:r>
            <a:r>
              <a:rPr spc="-45" dirty="0"/>
              <a:t> </a:t>
            </a:r>
            <a:r>
              <a:rPr dirty="0"/>
              <a:t>between</a:t>
            </a:r>
            <a:r>
              <a:rPr spc="-65" dirty="0"/>
              <a:t> </a:t>
            </a:r>
            <a:r>
              <a:rPr dirty="0"/>
              <a:t>different</a:t>
            </a:r>
            <a:r>
              <a:rPr spc="-25" dirty="0"/>
              <a:t> </a:t>
            </a:r>
            <a:r>
              <a:rPr dirty="0"/>
              <a:t>networked</a:t>
            </a:r>
            <a:r>
              <a:rPr spc="-60" dirty="0"/>
              <a:t> </a:t>
            </a:r>
            <a:r>
              <a:rPr spc="-10" dirty="0"/>
              <a:t>devices</a:t>
            </a:r>
          </a:p>
          <a:p>
            <a:pPr marL="354965" indent="-342265">
              <a:lnSpc>
                <a:spcPts val="2800"/>
              </a:lnSpc>
              <a:buFont typeface="Arial MT"/>
              <a:buChar char="•"/>
              <a:tabLst>
                <a:tab pos="354965" algn="l"/>
              </a:tabLst>
            </a:pPr>
            <a:r>
              <a:rPr dirty="0"/>
              <a:t>A</a:t>
            </a:r>
            <a:r>
              <a:rPr spc="-150" dirty="0"/>
              <a:t> </a:t>
            </a:r>
            <a:r>
              <a:rPr dirty="0"/>
              <a:t>switch</a:t>
            </a:r>
            <a:r>
              <a:rPr spc="-4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a</a:t>
            </a:r>
            <a:r>
              <a:rPr spc="-25" dirty="0"/>
              <a:t> </a:t>
            </a:r>
            <a:r>
              <a:rPr dirty="0"/>
              <a:t>device</a:t>
            </a:r>
            <a:r>
              <a:rPr spc="-30" dirty="0"/>
              <a:t> </a:t>
            </a:r>
            <a:r>
              <a:rPr dirty="0"/>
              <a:t>that</a:t>
            </a:r>
            <a:r>
              <a:rPr spc="-40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used</a:t>
            </a:r>
            <a:r>
              <a:rPr spc="-25" dirty="0"/>
              <a:t> </a:t>
            </a:r>
            <a:r>
              <a:rPr dirty="0"/>
              <a:t>at</a:t>
            </a:r>
            <a:r>
              <a:rPr spc="-25" dirty="0"/>
              <a:t> </a:t>
            </a:r>
            <a:r>
              <a:rPr dirty="0"/>
              <a:t>the</a:t>
            </a:r>
            <a:r>
              <a:rPr spc="-150" dirty="0"/>
              <a:t> </a:t>
            </a:r>
            <a:r>
              <a:rPr dirty="0"/>
              <a:t>Access</a:t>
            </a:r>
            <a:r>
              <a:rPr spc="-20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dirty="0"/>
              <a:t>OSI</a:t>
            </a:r>
            <a:r>
              <a:rPr spc="-15" dirty="0"/>
              <a:t> </a:t>
            </a:r>
            <a:r>
              <a:rPr dirty="0"/>
              <a:t>Layer</a:t>
            </a:r>
            <a:r>
              <a:rPr spc="-20" dirty="0"/>
              <a:t> </a:t>
            </a:r>
            <a:r>
              <a:rPr spc="-50" dirty="0"/>
              <a:t>2</a:t>
            </a:r>
          </a:p>
          <a:p>
            <a:pPr marL="354965" indent="-342265">
              <a:lnSpc>
                <a:spcPct val="100000"/>
              </a:lnSpc>
              <a:buFont typeface="Arial MT"/>
              <a:buChar char="•"/>
              <a:tabLst>
                <a:tab pos="354965" algn="l"/>
              </a:tabLst>
            </a:pPr>
            <a:r>
              <a:rPr spc="-60" dirty="0"/>
              <a:t>We</a:t>
            </a:r>
            <a:r>
              <a:rPr spc="-20" dirty="0"/>
              <a:t> </a:t>
            </a:r>
            <a:r>
              <a:rPr dirty="0"/>
              <a:t>use</a:t>
            </a:r>
            <a:r>
              <a:rPr spc="-25" dirty="0"/>
              <a:t> </a:t>
            </a:r>
            <a:r>
              <a:rPr dirty="0"/>
              <a:t>switches</a:t>
            </a:r>
            <a:r>
              <a:rPr spc="-30" dirty="0"/>
              <a:t> </a:t>
            </a:r>
            <a:r>
              <a:rPr dirty="0"/>
              <a:t>in</a:t>
            </a:r>
            <a:r>
              <a:rPr spc="-30" dirty="0"/>
              <a:t> </a:t>
            </a:r>
            <a:r>
              <a:rPr spc="-10" dirty="0"/>
              <a:t>c</a:t>
            </a:r>
            <a:r>
              <a:rPr u="heavy" spc="-10" dirty="0">
                <a:uFill>
                  <a:solidFill>
                    <a:srgbClr val="C00000"/>
                  </a:solidFill>
                </a:uFill>
              </a:rPr>
              <a:t>ircuit-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switched</a:t>
            </a:r>
            <a:r>
              <a:rPr spc="-50" dirty="0"/>
              <a:t> </a:t>
            </a:r>
            <a:r>
              <a:rPr dirty="0"/>
              <a:t>and</a:t>
            </a:r>
            <a:r>
              <a:rPr spc="-25" dirty="0"/>
              <a:t> </a:t>
            </a:r>
            <a:r>
              <a:rPr dirty="0"/>
              <a:t>p</a:t>
            </a:r>
            <a:r>
              <a:rPr u="heavy" dirty="0">
                <a:uFill>
                  <a:solidFill>
                    <a:srgbClr val="C00000"/>
                  </a:solidFill>
                </a:uFill>
              </a:rPr>
              <a:t>acket-switched</a:t>
            </a:r>
            <a:r>
              <a:rPr spc="-50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/>
          <p:nvPr/>
        </p:nvSpPr>
        <p:spPr>
          <a:xfrm>
            <a:off x="5462778" y="2942082"/>
            <a:ext cx="2615565" cy="0"/>
          </a:xfrm>
          <a:custGeom>
            <a:avLst/>
            <a:gdLst/>
            <a:ahLst/>
            <a:cxnLst/>
            <a:rect l="l" t="t" r="r" b="b"/>
            <a:pathLst>
              <a:path w="2615565">
                <a:moveTo>
                  <a:pt x="0" y="0"/>
                </a:moveTo>
                <a:lnTo>
                  <a:pt x="2615183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Switching</a:t>
            </a:r>
            <a:r>
              <a:rPr spc="-100" dirty="0"/>
              <a:t> </a:t>
            </a:r>
            <a:r>
              <a:rPr spc="-20" dirty="0"/>
              <a:t>Technique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7092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How</a:t>
            </a:r>
            <a:r>
              <a:rPr spc="-15" dirty="0"/>
              <a:t> </a:t>
            </a:r>
            <a:r>
              <a:rPr dirty="0"/>
              <a:t>2</a:t>
            </a:r>
            <a:r>
              <a:rPr spc="-25" dirty="0"/>
              <a:t> </a:t>
            </a:r>
            <a:r>
              <a:rPr dirty="0"/>
              <a:t>devices</a:t>
            </a:r>
            <a:r>
              <a:rPr spc="-50" dirty="0"/>
              <a:t> </a:t>
            </a:r>
            <a:r>
              <a:rPr dirty="0"/>
              <a:t>communicate</a:t>
            </a:r>
            <a:r>
              <a:rPr spc="-40" dirty="0"/>
              <a:t> </a:t>
            </a:r>
            <a:r>
              <a:rPr dirty="0"/>
              <a:t>when</a:t>
            </a:r>
            <a:r>
              <a:rPr spc="-15" dirty="0"/>
              <a:t> </a:t>
            </a:r>
            <a:r>
              <a:rPr dirty="0"/>
              <a:t>there</a:t>
            </a:r>
            <a:r>
              <a:rPr spc="-40" dirty="0"/>
              <a:t> </a:t>
            </a:r>
            <a:r>
              <a:rPr dirty="0"/>
              <a:t>are</a:t>
            </a:r>
            <a:r>
              <a:rPr spc="-40" dirty="0"/>
              <a:t> </a:t>
            </a:r>
            <a:r>
              <a:rPr dirty="0"/>
              <a:t>many</a:t>
            </a:r>
            <a:r>
              <a:rPr spc="-10" dirty="0"/>
              <a:t> devices?</a:t>
            </a:r>
          </a:p>
          <a:p>
            <a:pPr marL="756285" marR="5080" lvl="1" indent="-287020">
              <a:lnSpc>
                <a:spcPts val="2350"/>
              </a:lnSpc>
              <a:spcBef>
                <a:spcPts val="2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One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alternative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1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establish</a:t>
            </a:r>
            <a:r>
              <a:rPr sz="2000" u="heavy" spc="16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point</a:t>
            </a:r>
            <a:r>
              <a:rPr sz="2000" u="heavy" spc="16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to</a:t>
            </a:r>
            <a:r>
              <a:rPr sz="2000" u="heavy" spc="16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0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point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between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each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pair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using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mesh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topology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(which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highly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complex)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ts val="2355"/>
              </a:lnSpc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other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alternative</a:t>
            </a:r>
            <a:r>
              <a:rPr sz="2000" spc="39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3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switching</a:t>
            </a:r>
            <a:r>
              <a:rPr sz="2000" spc="3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techniques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leading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39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switched</a:t>
            </a:r>
            <a:endParaRPr sz="2000">
              <a:latin typeface="Times New Roman"/>
              <a:cs typeface="Times New Roman"/>
            </a:endParaRPr>
          </a:p>
          <a:p>
            <a:pPr marL="756285">
              <a:lnSpc>
                <a:spcPts val="2375"/>
              </a:lnSpc>
            </a:pPr>
            <a:r>
              <a:rPr sz="2000" dirty="0"/>
              <a:t>connection</a:t>
            </a:r>
            <a:r>
              <a:rPr sz="2000" spc="-65" dirty="0"/>
              <a:t> </a:t>
            </a:r>
            <a:r>
              <a:rPr sz="2000" spc="-10" dirty="0"/>
              <a:t>network</a:t>
            </a:r>
            <a:endParaRPr sz="2000"/>
          </a:p>
        </p:txBody>
      </p:sp>
      <p:sp>
        <p:nvSpPr>
          <p:cNvPr id="4" name="object 4"/>
          <p:cNvSpPr/>
          <p:nvPr/>
        </p:nvSpPr>
        <p:spPr>
          <a:xfrm>
            <a:off x="4014978" y="2420873"/>
            <a:ext cx="2615565" cy="0"/>
          </a:xfrm>
          <a:custGeom>
            <a:avLst/>
            <a:gdLst/>
            <a:ahLst/>
            <a:cxnLst/>
            <a:rect l="l" t="t" r="r" b="b"/>
            <a:pathLst>
              <a:path w="2615565">
                <a:moveTo>
                  <a:pt x="0" y="0"/>
                </a:moveTo>
                <a:lnTo>
                  <a:pt x="2615183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711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There</a:t>
            </a:r>
            <a:r>
              <a:rPr spc="290" dirty="0"/>
              <a:t> </a:t>
            </a:r>
            <a:r>
              <a:rPr dirty="0"/>
              <a:t>are</a:t>
            </a:r>
            <a:r>
              <a:rPr spc="280" dirty="0"/>
              <a:t> </a:t>
            </a:r>
            <a:r>
              <a:rPr dirty="0"/>
              <a:t>three</a:t>
            </a:r>
            <a:r>
              <a:rPr spc="285" dirty="0"/>
              <a:t> </a:t>
            </a:r>
            <a:r>
              <a:rPr dirty="0"/>
              <a:t>typical</a:t>
            </a:r>
            <a:r>
              <a:rPr spc="300" dirty="0"/>
              <a:t> </a:t>
            </a:r>
            <a:r>
              <a:rPr dirty="0"/>
              <a:t>switching</a:t>
            </a:r>
            <a:r>
              <a:rPr spc="290" dirty="0"/>
              <a:t> </a:t>
            </a:r>
            <a:r>
              <a:rPr dirty="0"/>
              <a:t>techniques</a:t>
            </a:r>
            <a:r>
              <a:rPr spc="305" dirty="0"/>
              <a:t> </a:t>
            </a:r>
            <a:r>
              <a:rPr dirty="0"/>
              <a:t>available</a:t>
            </a:r>
            <a:r>
              <a:rPr spc="300" dirty="0"/>
              <a:t> </a:t>
            </a:r>
            <a:r>
              <a:rPr dirty="0"/>
              <a:t>for</a:t>
            </a:r>
            <a:r>
              <a:rPr spc="300" dirty="0"/>
              <a:t> </a:t>
            </a:r>
            <a:r>
              <a:rPr spc="-10" dirty="0"/>
              <a:t>digital</a:t>
            </a:r>
          </a:p>
          <a:p>
            <a:pPr marL="355600">
              <a:lnSpc>
                <a:spcPts val="2850"/>
              </a:lnSpc>
            </a:pPr>
            <a:r>
              <a:rPr spc="-10" dirty="0"/>
              <a:t>traffic</a:t>
            </a: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Circuit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Switching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Message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Switching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Switching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Switching</a:t>
            </a:r>
            <a:r>
              <a:rPr spc="-100" dirty="0"/>
              <a:t> </a:t>
            </a:r>
            <a:r>
              <a:rPr spc="-20" dirty="0"/>
              <a:t>Technique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7532" y="1347215"/>
            <a:ext cx="7557516" cy="30998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Classification</a:t>
            </a:r>
            <a:r>
              <a:rPr spc="-9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69924"/>
            <a:ext cx="8531225" cy="31356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circuit-</a:t>
            </a:r>
            <a:r>
              <a:rPr sz="2400" dirty="0">
                <a:latin typeface="Times New Roman"/>
                <a:cs typeface="Times New Roman"/>
              </a:rPr>
              <a:t>switched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consists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set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switches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connected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by physical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links</a:t>
            </a:r>
            <a:endParaRPr sz="2400">
              <a:latin typeface="Times New Roman"/>
              <a:cs typeface="Times New Roman"/>
            </a:endParaRPr>
          </a:p>
          <a:p>
            <a:pPr marL="355600" marR="6985" indent="-342900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connection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stations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dedicated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path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made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one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10" dirty="0">
                <a:latin typeface="Times New Roman"/>
                <a:cs typeface="Times New Roman"/>
              </a:rPr>
              <a:t> links</a:t>
            </a:r>
            <a:endParaRPr sz="2400">
              <a:latin typeface="Times New Roman"/>
              <a:cs typeface="Times New Roman"/>
            </a:endParaRPr>
          </a:p>
          <a:p>
            <a:pPr marL="355600" marR="6985" indent="-342900">
              <a:lnSpc>
                <a:spcPts val="283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2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normally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divided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3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channels</a:t>
            </a:r>
            <a:r>
              <a:rPr sz="2400" spc="3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FDM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TDM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615"/>
              </a:spcBef>
              <a:buFont typeface="Arial MT"/>
              <a:buChar char="•"/>
              <a:tabLst>
                <a:tab pos="355600" algn="l"/>
                <a:tab pos="1560830" algn="l"/>
                <a:tab pos="2915920" algn="l"/>
                <a:tab pos="3731260" algn="l"/>
                <a:tab pos="4242435" algn="l"/>
                <a:tab pos="5123180" algn="l"/>
                <a:tab pos="6005830" algn="l"/>
                <a:tab pos="6602095" algn="l"/>
                <a:tab pos="7600315" algn="l"/>
                <a:tab pos="8027034" algn="l"/>
              </a:tabLst>
            </a:pPr>
            <a:r>
              <a:rPr sz="2400" spc="-10" dirty="0">
                <a:latin typeface="Times New Roman"/>
                <a:cs typeface="Times New Roman"/>
              </a:rPr>
              <a:t>Routing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decisions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must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made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when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circuit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first </a:t>
            </a:r>
            <a:r>
              <a:rPr sz="2400" dirty="0">
                <a:latin typeface="Times New Roman"/>
                <a:cs typeface="Times New Roman"/>
              </a:rPr>
              <a:t>established,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decisions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made after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Circuit-switched</a:t>
            </a:r>
            <a:r>
              <a:rPr spc="-45" dirty="0"/>
              <a:t> </a:t>
            </a:r>
            <a:r>
              <a:rPr spc="-10" dirty="0"/>
              <a:t>networks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Circuit</a:t>
            </a:r>
            <a:r>
              <a:rPr spc="-2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97976"/>
            <a:ext cx="8181975" cy="195326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three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phases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circuit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switching: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Establish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Establishment)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Transfer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(Data</a:t>
            </a:r>
            <a:r>
              <a:rPr sz="2000" spc="-10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Transfer)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Disconnect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Connection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Release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Tear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Down)</a:t>
            </a:r>
            <a:endParaRPr sz="20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7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message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arrives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order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originally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sent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Circuit</a:t>
            </a:r>
            <a:r>
              <a:rPr spc="-2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97912"/>
            <a:ext cx="7634605" cy="303276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400" spc="-10" dirty="0">
                <a:latin typeface="Times New Roman"/>
                <a:cs typeface="Times New Roman"/>
              </a:rPr>
              <a:t>Advantages: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channel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(once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established)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dedicated</a:t>
            </a:r>
            <a:endParaRPr sz="24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15"/>
              </a:spcBef>
              <a:buFont typeface="Arial MT"/>
              <a:buChar char="•"/>
            </a:pPr>
            <a:endParaRPr sz="24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Times New Roman"/>
                <a:cs typeface="Times New Roman"/>
              </a:rPr>
              <a:t>Disadvantages: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Possible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wait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connection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expensive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other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techniques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9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Inefficient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communication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channel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Delay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circuit-switched</a:t>
            </a:r>
            <a:r>
              <a:rPr spc="-5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7976"/>
            <a:ext cx="8529320" cy="160718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0" dirty="0">
                <a:latin typeface="Times New Roman"/>
                <a:cs typeface="Times New Roman"/>
              </a:rPr>
              <a:t>Total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circuit-switched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will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delay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for</a:t>
            </a:r>
            <a:endParaRPr sz="2400">
              <a:latin typeface="Times New Roman"/>
              <a:cs typeface="Times New Roman"/>
            </a:endParaRPr>
          </a:p>
          <a:p>
            <a:pPr marL="469900">
              <a:lnSpc>
                <a:spcPct val="100000"/>
              </a:lnSpc>
              <a:spcBef>
                <a:spcPts val="430"/>
              </a:spcBef>
              <a:tabLst>
                <a:tab pos="756285" algn="l"/>
              </a:tabLst>
            </a:pPr>
            <a:r>
              <a:rPr sz="2000" spc="-50" dirty="0">
                <a:latin typeface="Arial MT"/>
                <a:cs typeface="Arial MT"/>
              </a:rPr>
              <a:t>–</a:t>
            </a:r>
            <a:r>
              <a:rPr sz="2000" dirty="0">
                <a:latin typeface="Arial MT"/>
                <a:cs typeface="Arial MT"/>
              </a:rPr>
              <a:t>	</a:t>
            </a:r>
            <a:r>
              <a:rPr sz="2000" dirty="0">
                <a:latin typeface="Times New Roman"/>
                <a:cs typeface="Times New Roman"/>
              </a:rPr>
              <a:t>setup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tear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down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Propagation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+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Transmission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delay</a:t>
            </a:r>
            <a:endParaRPr sz="20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680"/>
              </a:spcBef>
              <a:buFont typeface="Arial MT"/>
              <a:buChar char="•"/>
              <a:tabLst>
                <a:tab pos="355600" algn="l"/>
                <a:tab pos="1102360" algn="l"/>
              </a:tabLst>
            </a:pPr>
            <a:r>
              <a:rPr sz="2400" spc="-10" dirty="0">
                <a:latin typeface="Times New Roman"/>
                <a:cs typeface="Times New Roman"/>
              </a:rPr>
              <a:t>Total</a:t>
            </a:r>
            <a:r>
              <a:rPr sz="2400" dirty="0">
                <a:latin typeface="Times New Roman"/>
                <a:cs typeface="Times New Roman"/>
              </a:rPr>
              <a:t>	Delay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=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Propagation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3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+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3</a:t>
            </a:r>
            <a:r>
              <a:rPr sz="2400" spc="3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*</a:t>
            </a:r>
            <a:r>
              <a:rPr sz="2400" spc="36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</a:t>
            </a:r>
            <a:r>
              <a:rPr sz="2400" spc="3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370" dirty="0">
                <a:latin typeface="Times New Roman"/>
                <a:cs typeface="Times New Roman"/>
              </a:rPr>
              <a:t> </a:t>
            </a:r>
            <a:r>
              <a:rPr sz="2400" spc="-50" dirty="0">
                <a:latin typeface="Times New Roman"/>
                <a:cs typeface="Times New Roman"/>
              </a:rPr>
              <a:t>+ </a:t>
            </a:r>
            <a:r>
              <a:rPr sz="2400" dirty="0">
                <a:latin typeface="Times New Roman"/>
                <a:cs typeface="Times New Roman"/>
              </a:rPr>
              <a:t>Data</a:t>
            </a:r>
            <a:r>
              <a:rPr sz="2400" spc="-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Transfer</a:t>
            </a:r>
            <a:r>
              <a:rPr sz="2400" spc="-6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636264" y="2548127"/>
            <a:ext cx="4917947" cy="22326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3940"/>
            <a:ext cx="8528050" cy="3138170"/>
          </a:xfrm>
          <a:prstGeom prst="rect">
            <a:avLst/>
          </a:prstGeom>
        </p:spPr>
        <p:txBody>
          <a:bodyPr vert="horz" wrap="square" lIns="0" tIns="8318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5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imes New Roman"/>
                <a:cs typeface="Times New Roman"/>
              </a:rPr>
              <a:t>In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packet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switching,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message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gets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broken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into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small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data</a:t>
            </a:r>
            <a:r>
              <a:rPr sz="2300" spc="-10" dirty="0">
                <a:latin typeface="Times New Roman"/>
                <a:cs typeface="Times New Roman"/>
              </a:rPr>
              <a:t> packets</a:t>
            </a:r>
            <a:endParaRPr sz="23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70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  <a:tab pos="1231900" algn="l"/>
                <a:tab pos="2287905" algn="l"/>
                <a:tab pos="3131185" algn="l"/>
                <a:tab pos="4121785" algn="l"/>
                <a:tab pos="4657090" algn="l"/>
                <a:tab pos="5792470" algn="l"/>
                <a:tab pos="6862445" algn="l"/>
                <a:tab pos="7414259" algn="l"/>
                <a:tab pos="7947659" algn="l"/>
              </a:tabLst>
            </a:pPr>
            <a:r>
              <a:rPr sz="2300" spc="-10" dirty="0">
                <a:latin typeface="Times New Roman"/>
                <a:cs typeface="Times New Roman"/>
              </a:rPr>
              <a:t>These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packets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travel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around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the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network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10" dirty="0">
                <a:latin typeface="Times New Roman"/>
                <a:cs typeface="Times New Roman"/>
              </a:rPr>
              <a:t>seeking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out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5" dirty="0">
                <a:latin typeface="Times New Roman"/>
                <a:cs typeface="Times New Roman"/>
              </a:rPr>
              <a:t>the</a:t>
            </a:r>
            <a:r>
              <a:rPr sz="2300" dirty="0">
                <a:latin typeface="Times New Roman"/>
                <a:cs typeface="Times New Roman"/>
              </a:rPr>
              <a:t>	</a:t>
            </a:r>
            <a:r>
              <a:rPr sz="2300" spc="-20" dirty="0">
                <a:latin typeface="Times New Roman"/>
                <a:cs typeface="Times New Roman"/>
              </a:rPr>
              <a:t>most </a:t>
            </a:r>
            <a:r>
              <a:rPr sz="2300" dirty="0">
                <a:latin typeface="Times New Roman"/>
                <a:cs typeface="Times New Roman"/>
              </a:rPr>
              <a:t>efficient</a:t>
            </a:r>
            <a:r>
              <a:rPr sz="2300" spc="-4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route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1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reach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to</a:t>
            </a:r>
            <a:r>
              <a:rPr sz="2300" spc="-10" dirty="0">
                <a:latin typeface="Times New Roman"/>
                <a:cs typeface="Times New Roman"/>
              </a:rPr>
              <a:t> destination</a:t>
            </a:r>
            <a:endParaRPr sz="2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2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imes New Roman"/>
                <a:cs typeface="Times New Roman"/>
              </a:rPr>
              <a:t>This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does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not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necessarily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mean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the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shortest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route</a:t>
            </a:r>
            <a:endParaRPr sz="2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imes New Roman"/>
                <a:cs typeface="Times New Roman"/>
              </a:rPr>
              <a:t>Each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packet</a:t>
            </a:r>
            <a:r>
              <a:rPr sz="2300" spc="-3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may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follow</a:t>
            </a:r>
            <a:r>
              <a:rPr sz="2300" spc="-5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different</a:t>
            </a:r>
            <a:r>
              <a:rPr sz="2300" spc="-60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route</a:t>
            </a:r>
            <a:endParaRPr sz="23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9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imes New Roman"/>
                <a:cs typeface="Times New Roman"/>
              </a:rPr>
              <a:t>There</a:t>
            </a:r>
            <a:r>
              <a:rPr sz="2300" spc="-2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are</a:t>
            </a:r>
            <a:r>
              <a:rPr sz="2300" spc="-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two</a:t>
            </a:r>
            <a:r>
              <a:rPr sz="2300" spc="-15" dirty="0">
                <a:latin typeface="Times New Roman"/>
                <a:cs typeface="Times New Roman"/>
              </a:rPr>
              <a:t> </a:t>
            </a:r>
            <a:r>
              <a:rPr sz="2300" spc="-10" dirty="0">
                <a:latin typeface="Times New Roman"/>
                <a:cs typeface="Times New Roman"/>
              </a:rPr>
              <a:t>methods:</a:t>
            </a:r>
            <a:endParaRPr sz="23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1900" spc="-10" dirty="0">
                <a:latin typeface="Times New Roman"/>
                <a:cs typeface="Times New Roman"/>
              </a:rPr>
              <a:t>Datagram</a:t>
            </a:r>
            <a:r>
              <a:rPr sz="1900" spc="-5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AND</a:t>
            </a:r>
            <a:endParaRPr sz="19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1900" dirty="0">
                <a:latin typeface="Times New Roman"/>
                <a:cs typeface="Times New Roman"/>
              </a:rPr>
              <a:t>virtual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circuit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packet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switching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34711" y="3073907"/>
            <a:ext cx="3980688" cy="1766316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Packet</a:t>
            </a:r>
            <a:r>
              <a:rPr spc="-4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976"/>
            <a:ext cx="7579359" cy="2239010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Advantages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delivery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is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less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5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Switching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devices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don’t</a:t>
            </a:r>
            <a:r>
              <a:rPr sz="2000" spc="-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massive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storage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delivery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can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continue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even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if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some parts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fails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5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allows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simultaneous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usage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same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channel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by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multiple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users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It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ensures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better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bandwidth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usage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Packet</a:t>
            </a:r>
            <a:r>
              <a:rPr spc="-40" dirty="0"/>
              <a:t> </a:t>
            </a:r>
            <a:r>
              <a:rPr spc="-10" dirty="0"/>
              <a:t>Switching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976"/>
            <a:ext cx="7858125" cy="1527175"/>
          </a:xfrm>
          <a:prstGeom prst="rect">
            <a:avLst/>
          </a:prstGeom>
        </p:spPr>
        <p:txBody>
          <a:bodyPr vert="horz" wrap="square" lIns="0" tIns="768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10" dirty="0">
                <a:latin typeface="Times New Roman"/>
                <a:cs typeface="Times New Roman"/>
              </a:rPr>
              <a:t>Disadvantages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installation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costs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require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complex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protocols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delivery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Network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problems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may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delay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delivery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loss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packets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Packet</a:t>
            </a:r>
            <a:r>
              <a:rPr spc="-40" dirty="0"/>
              <a:t> </a:t>
            </a:r>
            <a:r>
              <a:rPr spc="-10" dirty="0"/>
              <a:t>Switching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69924"/>
            <a:ext cx="8531860" cy="15455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datagram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approach,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message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divided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small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packets 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dirty="0">
                <a:latin typeface="Times New Roman"/>
                <a:cs typeface="Times New Roman"/>
              </a:rPr>
              <a:t>fixed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variable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size</a:t>
            </a:r>
            <a:endParaRPr sz="2400">
              <a:latin typeface="Times New Roman"/>
              <a:cs typeface="Times New Roman"/>
            </a:endParaRPr>
          </a:p>
          <a:p>
            <a:pPr marL="355600" marR="6985" indent="-342900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  <a:tab pos="988060" algn="l"/>
                <a:tab pos="1618615" algn="l"/>
                <a:tab pos="2030095" algn="l"/>
                <a:tab pos="2560955" algn="l"/>
                <a:tab pos="3512185" algn="l"/>
                <a:tab pos="3874770" algn="l"/>
                <a:tab pos="5400675" algn="l"/>
                <a:tab pos="5862320" algn="l"/>
                <a:tab pos="6393180" algn="l"/>
                <a:tab pos="7549515" algn="l"/>
                <a:tab pos="8147684" algn="l"/>
              </a:tabLst>
            </a:pP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size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of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packet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is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determined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and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 </a:t>
            </a:r>
            <a:r>
              <a:rPr sz="2400" dirty="0">
                <a:latin typeface="Times New Roman"/>
                <a:cs typeface="Times New Roman"/>
              </a:rPr>
              <a:t>governing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protocol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Packet</a:t>
            </a:r>
            <a:r>
              <a:rPr spc="-40" dirty="0"/>
              <a:t> </a:t>
            </a:r>
            <a:r>
              <a:rPr spc="-10" dirty="0"/>
              <a:t>Switching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28800" y="2731007"/>
            <a:ext cx="5777484" cy="2051304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711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751840" algn="l"/>
                <a:tab pos="1030605" algn="l"/>
                <a:tab pos="3149600" algn="l"/>
                <a:tab pos="4364355" algn="l"/>
                <a:tab pos="5114290" algn="l"/>
                <a:tab pos="5461635" algn="l"/>
                <a:tab pos="5908040" algn="l"/>
                <a:tab pos="7080250" algn="l"/>
              </a:tabLst>
            </a:pPr>
            <a:r>
              <a:rPr spc="-25" dirty="0"/>
              <a:t>In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packet-switched</a:t>
            </a:r>
            <a:r>
              <a:rPr dirty="0"/>
              <a:t>	</a:t>
            </a:r>
            <a:r>
              <a:rPr spc="-10" dirty="0"/>
              <a:t>network,</a:t>
            </a:r>
            <a:r>
              <a:rPr dirty="0"/>
              <a:t>	</a:t>
            </a:r>
            <a:r>
              <a:rPr spc="-10" dirty="0"/>
              <a:t>there</a:t>
            </a:r>
            <a:r>
              <a:rPr dirty="0"/>
              <a:t>	</a:t>
            </a:r>
            <a:r>
              <a:rPr spc="-25" dirty="0"/>
              <a:t>is</a:t>
            </a:r>
            <a:r>
              <a:rPr dirty="0"/>
              <a:t>	</a:t>
            </a:r>
            <a:r>
              <a:rPr spc="-25" dirty="0"/>
              <a:t>no</a:t>
            </a:r>
            <a:r>
              <a:rPr dirty="0"/>
              <a:t>	</a:t>
            </a:r>
            <a:r>
              <a:rPr spc="-10" dirty="0"/>
              <a:t>resource</a:t>
            </a:r>
            <a:r>
              <a:rPr dirty="0"/>
              <a:t>	</a:t>
            </a:r>
            <a:r>
              <a:rPr spc="-10" dirty="0"/>
              <a:t>reservation;</a:t>
            </a:r>
          </a:p>
          <a:p>
            <a:pPr marL="355600">
              <a:lnSpc>
                <a:spcPts val="2850"/>
              </a:lnSpc>
            </a:pPr>
            <a:r>
              <a:rPr dirty="0"/>
              <a:t>resources</a:t>
            </a:r>
            <a:r>
              <a:rPr spc="-40" dirty="0"/>
              <a:t> </a:t>
            </a:r>
            <a:r>
              <a:rPr dirty="0"/>
              <a:t>are</a:t>
            </a:r>
            <a:r>
              <a:rPr spc="-15" dirty="0"/>
              <a:t> </a:t>
            </a:r>
            <a:r>
              <a:rPr dirty="0"/>
              <a:t>allocated</a:t>
            </a:r>
            <a:r>
              <a:rPr spc="-50" dirty="0"/>
              <a:t> </a:t>
            </a:r>
            <a:r>
              <a:rPr dirty="0"/>
              <a:t>on</a:t>
            </a:r>
            <a:r>
              <a:rPr spc="-10" dirty="0"/>
              <a:t> demand</a:t>
            </a:r>
          </a:p>
          <a:p>
            <a:pPr marL="355600" marR="5080" indent="-342900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A</a:t>
            </a:r>
            <a:r>
              <a:rPr spc="30" dirty="0"/>
              <a:t> </a:t>
            </a:r>
            <a:r>
              <a:rPr dirty="0"/>
              <a:t>switch</a:t>
            </a:r>
            <a:r>
              <a:rPr spc="135" dirty="0"/>
              <a:t> </a:t>
            </a:r>
            <a:r>
              <a:rPr dirty="0"/>
              <a:t>in</a:t>
            </a:r>
            <a:r>
              <a:rPr spc="150" dirty="0"/>
              <a:t> </a:t>
            </a:r>
            <a:r>
              <a:rPr dirty="0"/>
              <a:t>a</a:t>
            </a:r>
            <a:r>
              <a:rPr spc="160" dirty="0"/>
              <a:t> </a:t>
            </a:r>
            <a:r>
              <a:rPr dirty="0"/>
              <a:t>datagram</a:t>
            </a:r>
            <a:r>
              <a:rPr spc="145" dirty="0"/>
              <a:t> </a:t>
            </a:r>
            <a:r>
              <a:rPr dirty="0"/>
              <a:t>network</a:t>
            </a:r>
            <a:r>
              <a:rPr spc="170" dirty="0"/>
              <a:t> </a:t>
            </a:r>
            <a:r>
              <a:rPr dirty="0"/>
              <a:t>uses</a:t>
            </a:r>
            <a:r>
              <a:rPr spc="160" dirty="0"/>
              <a:t> </a:t>
            </a:r>
            <a:r>
              <a:rPr dirty="0"/>
              <a:t>a</a:t>
            </a:r>
            <a:r>
              <a:rPr spc="155" dirty="0"/>
              <a:t> </a:t>
            </a:r>
            <a:r>
              <a:rPr dirty="0"/>
              <a:t>routing</a:t>
            </a:r>
            <a:r>
              <a:rPr spc="155" dirty="0"/>
              <a:t> </a:t>
            </a:r>
            <a:r>
              <a:rPr dirty="0"/>
              <a:t>table</a:t>
            </a:r>
            <a:r>
              <a:rPr spc="160" dirty="0"/>
              <a:t> </a:t>
            </a:r>
            <a:r>
              <a:rPr dirty="0"/>
              <a:t>that</a:t>
            </a:r>
            <a:r>
              <a:rPr spc="150" dirty="0"/>
              <a:t> </a:t>
            </a:r>
            <a:r>
              <a:rPr dirty="0"/>
              <a:t>is</a:t>
            </a:r>
            <a:r>
              <a:rPr spc="155" dirty="0"/>
              <a:t> </a:t>
            </a:r>
            <a:r>
              <a:rPr spc="-10" dirty="0"/>
              <a:t>based </a:t>
            </a:r>
            <a:r>
              <a:rPr dirty="0"/>
              <a:t>on</a:t>
            </a:r>
            <a:r>
              <a:rPr spc="-10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destination</a:t>
            </a:r>
            <a:r>
              <a:rPr spc="-40" dirty="0"/>
              <a:t> </a:t>
            </a:r>
            <a:r>
              <a:rPr spc="-10" dirty="0"/>
              <a:t>address</a:t>
            </a:r>
          </a:p>
          <a:p>
            <a:pPr marL="355600" marR="5080" indent="-342900">
              <a:lnSpc>
                <a:spcPts val="2830"/>
              </a:lnSpc>
              <a:spcBef>
                <a:spcPts val="60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The</a:t>
            </a:r>
            <a:r>
              <a:rPr spc="330" dirty="0"/>
              <a:t> </a:t>
            </a:r>
            <a:r>
              <a:rPr dirty="0"/>
              <a:t>destination</a:t>
            </a:r>
            <a:r>
              <a:rPr spc="330" dirty="0"/>
              <a:t> </a:t>
            </a:r>
            <a:r>
              <a:rPr dirty="0"/>
              <a:t>address</a:t>
            </a:r>
            <a:r>
              <a:rPr spc="330" dirty="0"/>
              <a:t> </a:t>
            </a:r>
            <a:r>
              <a:rPr dirty="0"/>
              <a:t>in</a:t>
            </a:r>
            <a:r>
              <a:rPr spc="325" dirty="0"/>
              <a:t> </a:t>
            </a:r>
            <a:r>
              <a:rPr dirty="0"/>
              <a:t>the</a:t>
            </a:r>
            <a:r>
              <a:rPr spc="345" dirty="0"/>
              <a:t> </a:t>
            </a:r>
            <a:r>
              <a:rPr dirty="0"/>
              <a:t>header</a:t>
            </a:r>
            <a:r>
              <a:rPr spc="350" dirty="0"/>
              <a:t> </a:t>
            </a:r>
            <a:r>
              <a:rPr dirty="0"/>
              <a:t>of</a:t>
            </a:r>
            <a:r>
              <a:rPr spc="330" dirty="0"/>
              <a:t> </a:t>
            </a:r>
            <a:r>
              <a:rPr dirty="0"/>
              <a:t>a</a:t>
            </a:r>
            <a:r>
              <a:rPr spc="340" dirty="0"/>
              <a:t> </a:t>
            </a:r>
            <a:r>
              <a:rPr dirty="0"/>
              <a:t>packet</a:t>
            </a:r>
            <a:r>
              <a:rPr spc="335" dirty="0"/>
              <a:t> </a:t>
            </a:r>
            <a:r>
              <a:rPr dirty="0"/>
              <a:t>in</a:t>
            </a:r>
            <a:r>
              <a:rPr spc="340" dirty="0"/>
              <a:t> </a:t>
            </a:r>
            <a:r>
              <a:rPr dirty="0"/>
              <a:t>a</a:t>
            </a:r>
            <a:r>
              <a:rPr spc="345" dirty="0"/>
              <a:t> </a:t>
            </a:r>
            <a:r>
              <a:rPr spc="-10" dirty="0"/>
              <a:t>datagram </a:t>
            </a:r>
            <a:r>
              <a:rPr dirty="0"/>
              <a:t>network</a:t>
            </a:r>
            <a:r>
              <a:rPr spc="-15" dirty="0"/>
              <a:t> </a:t>
            </a:r>
            <a:r>
              <a:rPr dirty="0"/>
              <a:t>remains</a:t>
            </a:r>
            <a:r>
              <a:rPr spc="-20" dirty="0"/>
              <a:t> </a:t>
            </a:r>
            <a:r>
              <a:rPr dirty="0"/>
              <a:t>the</a:t>
            </a:r>
            <a:r>
              <a:rPr spc="-10" dirty="0"/>
              <a:t> </a:t>
            </a:r>
            <a:r>
              <a:rPr dirty="0"/>
              <a:t>same during</a:t>
            </a:r>
            <a:r>
              <a:rPr spc="-25" dirty="0"/>
              <a:t> </a:t>
            </a:r>
            <a:r>
              <a:rPr dirty="0"/>
              <a:t>the</a:t>
            </a:r>
            <a:r>
              <a:rPr spc="-25" dirty="0"/>
              <a:t> </a:t>
            </a:r>
            <a:r>
              <a:rPr dirty="0"/>
              <a:t>entire</a:t>
            </a:r>
            <a:r>
              <a:rPr spc="-25" dirty="0"/>
              <a:t> </a:t>
            </a:r>
            <a:r>
              <a:rPr dirty="0"/>
              <a:t>journey</a:t>
            </a:r>
            <a:r>
              <a:rPr spc="-25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the</a:t>
            </a:r>
            <a:r>
              <a:rPr spc="-20" dirty="0"/>
              <a:t> </a:t>
            </a:r>
            <a:r>
              <a:rPr spc="-10" dirty="0"/>
              <a:t>packet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Packet</a:t>
            </a:r>
            <a:r>
              <a:rPr spc="-4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4" name="object 4"/>
          <p:cNvSpPr/>
          <p:nvPr/>
        </p:nvSpPr>
        <p:spPr>
          <a:xfrm>
            <a:off x="3694938" y="1492758"/>
            <a:ext cx="4979035" cy="791210"/>
          </a:xfrm>
          <a:custGeom>
            <a:avLst/>
            <a:gdLst/>
            <a:ahLst/>
            <a:cxnLst/>
            <a:rect l="l" t="t" r="r" b="b"/>
            <a:pathLst>
              <a:path w="4979034" h="791210">
                <a:moveTo>
                  <a:pt x="2101596" y="0"/>
                </a:moveTo>
                <a:lnTo>
                  <a:pt x="4978908" y="0"/>
                </a:lnTo>
              </a:path>
              <a:path w="4979034" h="791210">
                <a:moveTo>
                  <a:pt x="0" y="790955"/>
                </a:moveTo>
                <a:lnTo>
                  <a:pt x="3479291" y="790955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36619" y="1123188"/>
            <a:ext cx="2049779" cy="333451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Routing</a:t>
            </a:r>
            <a:r>
              <a:rPr spc="-25" dirty="0"/>
              <a:t> </a:t>
            </a:r>
            <a:r>
              <a:rPr spc="-10" dirty="0"/>
              <a:t>table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4483" y="1298448"/>
            <a:ext cx="7415783" cy="305559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Delay</a:t>
            </a:r>
            <a:r>
              <a:rPr spc="-45" dirty="0"/>
              <a:t> </a:t>
            </a:r>
            <a:r>
              <a:rPr dirty="0"/>
              <a:t>in</a:t>
            </a:r>
            <a:r>
              <a:rPr spc="-4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Datagram</a:t>
            </a:r>
            <a:r>
              <a:rPr spc="-10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062304"/>
            <a:ext cx="79184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2117344" y="1522729"/>
          <a:ext cx="4412615" cy="187578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6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5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30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8290">
                <a:tc>
                  <a:txBody>
                    <a:bodyPr/>
                    <a:lstStyle/>
                    <a:p>
                      <a:pPr marR="224154" algn="ctr">
                        <a:lnSpc>
                          <a:spcPts val="1964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Datagram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94615" algn="r">
                        <a:lnSpc>
                          <a:spcPts val="1964"/>
                        </a:lnSpc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Path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Length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02235">
                        <a:lnSpc>
                          <a:spcPts val="1964"/>
                        </a:lnSpc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Visited</a:t>
                      </a:r>
                      <a:r>
                        <a:rPr sz="1800" spc="-8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Switches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R="2127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1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37655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3200</a:t>
                      </a: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33425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1,3,5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R="2127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2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17970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11,700</a:t>
                      </a:r>
                      <a:r>
                        <a:rPr sz="1800" spc="-90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1,2,5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5120">
                <a:tc>
                  <a:txBody>
                    <a:bodyPr/>
                    <a:lstStyle/>
                    <a:p>
                      <a:pPr marR="212725" algn="ct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3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12,200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90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1,2,3,5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143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4485">
                <a:tc>
                  <a:txBody>
                    <a:bodyPr/>
                    <a:lstStyle/>
                    <a:p>
                      <a:pPr marR="212725" algn="ct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4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170815" algn="r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10,200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ct val="100000"/>
                        </a:lnSpc>
                        <a:spcBef>
                          <a:spcPts val="8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1,4,5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8290">
                <a:tc>
                  <a:txBody>
                    <a:bodyPr/>
                    <a:lstStyle/>
                    <a:p>
                      <a:pPr marR="212725" algn="ctr">
                        <a:lnSpc>
                          <a:spcPts val="2090"/>
                        </a:lnSpc>
                        <a:spcBef>
                          <a:spcPts val="85"/>
                        </a:spcBef>
                      </a:pPr>
                      <a:r>
                        <a:rPr sz="1800" spc="-50" dirty="0">
                          <a:latin typeface="Times New Roman"/>
                          <a:cs typeface="Times New Roman"/>
                        </a:rPr>
                        <a:t>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R="120650" algn="r">
                        <a:lnSpc>
                          <a:spcPts val="2090"/>
                        </a:lnSpc>
                        <a:spcBef>
                          <a:spcPts val="85"/>
                        </a:spcBef>
                      </a:pPr>
                      <a:r>
                        <a:rPr sz="1800" dirty="0">
                          <a:latin typeface="Times New Roman"/>
                          <a:cs typeface="Times New Roman"/>
                        </a:rPr>
                        <a:t>10,700</a:t>
                      </a:r>
                      <a:r>
                        <a:rPr sz="1800" spc="-15" dirty="0"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800" spc="-25" dirty="0">
                          <a:latin typeface="Times New Roman"/>
                          <a:cs typeface="Times New Roman"/>
                        </a:rPr>
                        <a:t>Km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tc>
                  <a:txBody>
                    <a:bodyPr/>
                    <a:lstStyle/>
                    <a:p>
                      <a:pPr marL="730250">
                        <a:lnSpc>
                          <a:spcPts val="2090"/>
                        </a:lnSpc>
                        <a:spcBef>
                          <a:spcPts val="85"/>
                        </a:spcBef>
                      </a:pPr>
                      <a:r>
                        <a:rPr sz="1800" spc="-10" dirty="0">
                          <a:latin typeface="Times New Roman"/>
                          <a:cs typeface="Times New Roman"/>
                        </a:rPr>
                        <a:t>1,4,3,5</a:t>
                      </a:r>
                      <a:endParaRPr sz="1800">
                        <a:latin typeface="Times New Roman"/>
                        <a:cs typeface="Times New Roman"/>
                      </a:endParaRPr>
                    </a:p>
                  </a:txBody>
                  <a:tcPr marL="0" marR="0" marT="1079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object 5"/>
          <p:cNvSpPr txBox="1"/>
          <p:nvPr/>
        </p:nvSpPr>
        <p:spPr>
          <a:xfrm>
            <a:off x="739140" y="3440379"/>
            <a:ext cx="8136255" cy="111887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324485" marR="43180" indent="-287020" algn="just">
              <a:lnSpc>
                <a:spcPct val="99500"/>
              </a:lnSpc>
              <a:spcBef>
                <a:spcPts val="110"/>
              </a:spcBef>
            </a:pPr>
            <a:r>
              <a:rPr sz="1800" dirty="0">
                <a:latin typeface="Arial MT"/>
                <a:cs typeface="Arial MT"/>
              </a:rPr>
              <a:t>–</a:t>
            </a:r>
            <a:r>
              <a:rPr sz="1800" spc="95" dirty="0">
                <a:latin typeface="Arial MT"/>
                <a:cs typeface="Arial MT"/>
              </a:rPr>
              <a:t>  </a:t>
            </a:r>
            <a:r>
              <a:rPr sz="1800" spc="-20" dirty="0">
                <a:latin typeface="Times New Roman"/>
                <a:cs typeface="Times New Roman"/>
              </a:rPr>
              <a:t>We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assume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delay</a:t>
            </a:r>
            <a:r>
              <a:rPr sz="1800" spc="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 switch (including</a:t>
            </a:r>
            <a:r>
              <a:rPr sz="1800" spc="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waiting and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processing) is</a:t>
            </a:r>
            <a:r>
              <a:rPr sz="1800" spc="-10" dirty="0">
                <a:latin typeface="Times New Roman"/>
                <a:cs typeface="Times New Roman"/>
              </a:rPr>
              <a:t> 3,10, </a:t>
            </a:r>
            <a:r>
              <a:rPr sz="1800" dirty="0">
                <a:latin typeface="Times New Roman"/>
                <a:cs typeface="Times New Roman"/>
              </a:rPr>
              <a:t>20,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7,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20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ms</a:t>
            </a:r>
            <a:r>
              <a:rPr sz="1800" spc="17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respectively.</a:t>
            </a:r>
            <a:r>
              <a:rPr sz="1800" spc="16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Assuming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that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8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propagation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speed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</a:t>
            </a:r>
            <a:r>
              <a:rPr sz="1800" spc="18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x</a:t>
            </a:r>
            <a:r>
              <a:rPr sz="1800" spc="17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10</a:t>
            </a:r>
            <a:r>
              <a:rPr sz="1800" baseline="25462" dirty="0">
                <a:latin typeface="Times New Roman"/>
                <a:cs typeface="Times New Roman"/>
              </a:rPr>
              <a:t>8</a:t>
            </a:r>
            <a:r>
              <a:rPr sz="1800" spc="472" baseline="25462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m, </a:t>
            </a:r>
            <a:r>
              <a:rPr sz="1800" dirty="0">
                <a:latin typeface="Times New Roman"/>
                <a:cs typeface="Times New Roman"/>
              </a:rPr>
              <a:t>find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order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of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arrival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at</a:t>
            </a:r>
            <a:r>
              <a:rPr sz="1800" spc="114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destination</a:t>
            </a:r>
            <a:r>
              <a:rPr sz="1800" spc="1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and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1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delay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for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each.</a:t>
            </a:r>
            <a:r>
              <a:rPr sz="1800" spc="1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Ignore</a:t>
            </a:r>
            <a:r>
              <a:rPr sz="1800" spc="1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any</a:t>
            </a:r>
            <a:r>
              <a:rPr sz="1800" spc="14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other </a:t>
            </a:r>
            <a:r>
              <a:rPr sz="1800" dirty="0">
                <a:latin typeface="Times New Roman"/>
                <a:cs typeface="Times New Roman"/>
              </a:rPr>
              <a:t>delays</a:t>
            </a:r>
            <a:r>
              <a:rPr sz="1800" spc="-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transmision.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Datagram</a:t>
            </a:r>
            <a:r>
              <a:rPr spc="-10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1067180"/>
            <a:ext cx="80073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Eg:</a:t>
            </a:r>
          </a:p>
          <a:p>
            <a:pPr marL="756285" marR="5080" lvl="1" indent="-287020">
              <a:lnSpc>
                <a:spcPts val="2350"/>
              </a:lnSpc>
              <a:spcBef>
                <a:spcPts val="5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Figure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shows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switch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datagram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network.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Find</a:t>
            </a:r>
            <a:r>
              <a:rPr sz="2000" spc="2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28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for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destination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address.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4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1:</a:t>
            </a:r>
            <a:r>
              <a:rPr sz="2000" spc="-20" dirty="0">
                <a:latin typeface="Times New Roman"/>
                <a:cs typeface="Times New Roman"/>
              </a:rPr>
              <a:t> 7176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2:</a:t>
            </a:r>
            <a:r>
              <a:rPr sz="2000" spc="-20" dirty="0">
                <a:latin typeface="Times New Roman"/>
                <a:cs typeface="Times New Roman"/>
              </a:rPr>
              <a:t> 1233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3:</a:t>
            </a:r>
            <a:r>
              <a:rPr sz="2000" spc="-20" dirty="0">
                <a:latin typeface="Times New Roman"/>
                <a:cs typeface="Times New Roman"/>
              </a:rPr>
              <a:t> 8766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4:</a:t>
            </a:r>
            <a:r>
              <a:rPr sz="2000" spc="-20" dirty="0">
                <a:latin typeface="Times New Roman"/>
                <a:cs typeface="Times New Roman"/>
              </a:rPr>
              <a:t> 9144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Datagram</a:t>
            </a:r>
            <a:r>
              <a:rPr spc="-100" dirty="0"/>
              <a:t> </a:t>
            </a:r>
            <a:r>
              <a:rPr spc="-10" dirty="0"/>
              <a:t>switching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2755392" y="2177795"/>
            <a:ext cx="6167755" cy="2603500"/>
            <a:chOff x="2755392" y="2177795"/>
            <a:chExt cx="6167755" cy="260350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64508" y="2177795"/>
              <a:ext cx="4858512" cy="234238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755392" y="3640835"/>
              <a:ext cx="1397508" cy="1139952"/>
            </a:xfrm>
            <a:prstGeom prst="rect">
              <a:avLst/>
            </a:prstGeom>
          </p:spPr>
        </p:pic>
      </p:grpSp>
      <p:sp>
        <p:nvSpPr>
          <p:cNvPr id="7" name="object 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711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A</a:t>
            </a:r>
            <a:r>
              <a:rPr spc="30" dirty="0"/>
              <a:t> </a:t>
            </a:r>
            <a:r>
              <a:rPr spc="-10" dirty="0"/>
              <a:t>virtual-</a:t>
            </a:r>
            <a:r>
              <a:rPr dirty="0"/>
              <a:t>circuit</a:t>
            </a:r>
            <a:r>
              <a:rPr spc="185" dirty="0"/>
              <a:t> </a:t>
            </a:r>
            <a:r>
              <a:rPr dirty="0"/>
              <a:t>network</a:t>
            </a:r>
            <a:r>
              <a:rPr spc="160" dirty="0"/>
              <a:t> </a:t>
            </a:r>
            <a:r>
              <a:rPr dirty="0"/>
              <a:t>is</a:t>
            </a:r>
            <a:r>
              <a:rPr spc="170" dirty="0"/>
              <a:t> </a:t>
            </a:r>
            <a:r>
              <a:rPr dirty="0"/>
              <a:t>a</a:t>
            </a:r>
            <a:r>
              <a:rPr spc="175" dirty="0"/>
              <a:t> </a:t>
            </a:r>
            <a:r>
              <a:rPr dirty="0"/>
              <a:t>mixture</a:t>
            </a:r>
            <a:r>
              <a:rPr spc="170" dirty="0"/>
              <a:t> </a:t>
            </a:r>
            <a:r>
              <a:rPr dirty="0"/>
              <a:t>of</a:t>
            </a:r>
            <a:r>
              <a:rPr spc="165" dirty="0"/>
              <a:t> </a:t>
            </a:r>
            <a:r>
              <a:rPr dirty="0"/>
              <a:t>circuit</a:t>
            </a:r>
            <a:r>
              <a:rPr spc="170" dirty="0"/>
              <a:t> </a:t>
            </a:r>
            <a:r>
              <a:rPr dirty="0"/>
              <a:t>switched</a:t>
            </a:r>
            <a:r>
              <a:rPr spc="175" dirty="0"/>
              <a:t> </a:t>
            </a:r>
            <a:r>
              <a:rPr spc="-10" dirty="0"/>
              <a:t>network</a:t>
            </a:r>
          </a:p>
          <a:p>
            <a:pPr marL="355600">
              <a:lnSpc>
                <a:spcPts val="2850"/>
              </a:lnSpc>
            </a:pPr>
            <a:r>
              <a:rPr dirty="0"/>
              <a:t>and</a:t>
            </a:r>
            <a:r>
              <a:rPr spc="-20" dirty="0"/>
              <a:t> </a:t>
            </a:r>
            <a:r>
              <a:rPr dirty="0"/>
              <a:t>a datagram</a:t>
            </a:r>
            <a:r>
              <a:rPr spc="-35" dirty="0"/>
              <a:t> </a:t>
            </a:r>
            <a:r>
              <a:rPr spc="-10" dirty="0"/>
              <a:t>network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pc="-25" dirty="0"/>
              <a:t>Virtual-</a:t>
            </a:r>
            <a:r>
              <a:rPr dirty="0"/>
              <a:t>Circuit</a:t>
            </a:r>
            <a:r>
              <a:rPr spc="-45" dirty="0"/>
              <a:t> </a:t>
            </a:r>
            <a:r>
              <a:rPr dirty="0"/>
              <a:t>network</a:t>
            </a:r>
            <a:r>
              <a:rPr spc="-10" dirty="0"/>
              <a:t> </a:t>
            </a:r>
            <a:r>
              <a:rPr dirty="0"/>
              <a:t>guarantees</a:t>
            </a:r>
            <a:r>
              <a:rPr spc="-30" dirty="0"/>
              <a:t> </a:t>
            </a:r>
            <a:r>
              <a:rPr spc="-20" dirty="0"/>
              <a:t>that</a:t>
            </a:r>
          </a:p>
          <a:p>
            <a:pPr marL="756285" lvl="1" indent="-286385">
              <a:lnSpc>
                <a:spcPct val="100000"/>
              </a:lnSpc>
              <a:spcBef>
                <a:spcPts val="42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sent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arrive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order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sent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duplicates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or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omissions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09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no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errors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(with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high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probability)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regardless</a:t>
            </a:r>
            <a:r>
              <a:rPr sz="2000" spc="-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how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they</a:t>
            </a:r>
            <a:r>
              <a:rPr sz="2000" spc="-5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are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implemented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internally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Virtual</a:t>
            </a:r>
            <a:r>
              <a:rPr spc="-75" dirty="0"/>
              <a:t> </a:t>
            </a:r>
            <a:r>
              <a:rPr dirty="0"/>
              <a:t>circuit</a:t>
            </a:r>
            <a:r>
              <a:rPr spc="-7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335" y="993647"/>
            <a:ext cx="3081528" cy="384505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Virtual</a:t>
            </a:r>
            <a:r>
              <a:rPr spc="-80" dirty="0"/>
              <a:t> </a:t>
            </a:r>
            <a:r>
              <a:rPr dirty="0"/>
              <a:t>circuit</a:t>
            </a:r>
            <a:r>
              <a:rPr spc="-8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612"/>
            <a:ext cx="8531860" cy="3517900"/>
          </a:xfrm>
          <a:prstGeom prst="rect">
            <a:avLst/>
          </a:prstGeom>
        </p:spPr>
        <p:txBody>
          <a:bodyPr vert="horz" wrap="square" lIns="0" tIns="4445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35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>
                <a:latin typeface="Times New Roman"/>
                <a:cs typeface="Times New Roman"/>
              </a:rPr>
              <a:t>How</a:t>
            </a:r>
            <a:r>
              <a:rPr sz="2300" spc="-4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it</a:t>
            </a:r>
            <a:r>
              <a:rPr sz="2300" spc="-30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is</a:t>
            </a:r>
            <a:r>
              <a:rPr sz="2300" spc="-25" dirty="0">
                <a:latin typeface="Times New Roman"/>
                <a:cs typeface="Times New Roman"/>
              </a:rPr>
              <a:t> </a:t>
            </a:r>
            <a:r>
              <a:rPr sz="2300" dirty="0">
                <a:latin typeface="Times New Roman"/>
                <a:cs typeface="Times New Roman"/>
              </a:rPr>
              <a:t>implemented</a:t>
            </a:r>
            <a:r>
              <a:rPr sz="2300" spc="5" dirty="0">
                <a:latin typeface="Times New Roman"/>
                <a:cs typeface="Times New Roman"/>
              </a:rPr>
              <a:t> </a:t>
            </a:r>
            <a:r>
              <a:rPr sz="2300" spc="-50" dirty="0">
                <a:latin typeface="Times New Roman"/>
                <a:cs typeface="Times New Roman"/>
              </a:rPr>
              <a:t>?</a:t>
            </a:r>
            <a:endParaRPr sz="23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200"/>
              </a:spcBef>
              <a:buFont typeface="Arial MT"/>
              <a:buChar char="–"/>
              <a:tabLst>
                <a:tab pos="756285" algn="l"/>
              </a:tabLst>
            </a:pPr>
            <a:r>
              <a:rPr sz="1900" spc="-10" dirty="0">
                <a:latin typeface="Times New Roman"/>
                <a:cs typeface="Times New Roman"/>
              </a:rPr>
              <a:t>Addressing:</a:t>
            </a:r>
            <a:endParaRPr sz="1900">
              <a:latin typeface="Times New Roman"/>
              <a:cs typeface="Times New Roman"/>
            </a:endParaRPr>
          </a:p>
          <a:p>
            <a:pPr marL="1155700" marR="5080" lvl="2" indent="-228600">
              <a:lnSpc>
                <a:spcPts val="1789"/>
              </a:lnSpc>
              <a:spcBef>
                <a:spcPts val="515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virtual-</a:t>
            </a:r>
            <a:r>
              <a:rPr sz="1700" dirty="0">
                <a:latin typeface="Times New Roman"/>
                <a:cs typeface="Times New Roman"/>
              </a:rPr>
              <a:t>circuit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network,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types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of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addressing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are</a:t>
            </a:r>
            <a:r>
              <a:rPr sz="1700" spc="1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involved:</a:t>
            </a:r>
            <a:r>
              <a:rPr sz="1700" spc="16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global</a:t>
            </a:r>
            <a:r>
              <a:rPr sz="1700" spc="1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and</a:t>
            </a:r>
            <a:r>
              <a:rPr sz="1700" spc="15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local (virtual-</a:t>
            </a:r>
            <a:r>
              <a:rPr sz="1700" dirty="0">
                <a:latin typeface="Times New Roman"/>
                <a:cs typeface="Times New Roman"/>
              </a:rPr>
              <a:t>circuit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identifier)</a:t>
            </a:r>
            <a:endParaRPr sz="17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40"/>
              </a:spcBef>
              <a:buFont typeface="Arial MT"/>
              <a:buChar char="–"/>
              <a:tabLst>
                <a:tab pos="756285" algn="l"/>
              </a:tabLst>
            </a:pPr>
            <a:r>
              <a:rPr sz="1900" spc="-10" dirty="0">
                <a:latin typeface="Times New Roman"/>
                <a:cs typeface="Times New Roman"/>
              </a:rPr>
              <a:t>Global</a:t>
            </a:r>
            <a:r>
              <a:rPr sz="1900" spc="-65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Addressing:</a:t>
            </a:r>
            <a:endParaRPr sz="19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15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source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or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destination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IP</a:t>
            </a:r>
            <a:r>
              <a:rPr sz="1700" spc="-7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address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considered</a:t>
            </a:r>
            <a:r>
              <a:rPr sz="1700" spc="-4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global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address</a:t>
            </a:r>
            <a:endParaRPr sz="17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160"/>
              </a:spcBef>
              <a:buFont typeface="Arial MT"/>
              <a:buChar char="–"/>
              <a:tabLst>
                <a:tab pos="756285" algn="l"/>
              </a:tabLst>
            </a:pPr>
            <a:r>
              <a:rPr sz="1900" spc="-25" dirty="0">
                <a:latin typeface="Times New Roman"/>
                <a:cs typeface="Times New Roman"/>
              </a:rPr>
              <a:t>Virtual-</a:t>
            </a:r>
            <a:r>
              <a:rPr sz="1900" dirty="0">
                <a:latin typeface="Times New Roman"/>
                <a:cs typeface="Times New Roman"/>
              </a:rPr>
              <a:t>Circuit</a:t>
            </a:r>
            <a:r>
              <a:rPr sz="1900" spc="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Identifier:</a:t>
            </a:r>
            <a:endParaRPr sz="1900">
              <a:latin typeface="Times New Roman"/>
              <a:cs typeface="Times New Roman"/>
            </a:endParaRPr>
          </a:p>
          <a:p>
            <a:pPr marL="1155700" lvl="2" indent="-228600">
              <a:lnSpc>
                <a:spcPts val="1920"/>
              </a:lnSpc>
              <a:spcBef>
                <a:spcPts val="245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identifier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4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actually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for</a:t>
            </a:r>
            <a:r>
              <a:rPr sz="1700" spc="40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data</a:t>
            </a:r>
            <a:r>
              <a:rPr sz="1700" spc="4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transfer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called</a:t>
            </a:r>
            <a:r>
              <a:rPr sz="1700" spc="4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409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virtual-circuit</a:t>
            </a:r>
            <a:endParaRPr sz="1700">
              <a:latin typeface="Times New Roman"/>
              <a:cs typeface="Times New Roman"/>
            </a:endParaRPr>
          </a:p>
          <a:p>
            <a:pPr marL="1155700">
              <a:lnSpc>
                <a:spcPts val="1920"/>
              </a:lnSpc>
            </a:pPr>
            <a:r>
              <a:rPr sz="1700" dirty="0">
                <a:latin typeface="Times New Roman"/>
                <a:cs typeface="Times New Roman"/>
              </a:rPr>
              <a:t>identifier</a:t>
            </a:r>
            <a:r>
              <a:rPr sz="1700" spc="-6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(VCI)</a:t>
            </a:r>
            <a:endParaRPr sz="17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VCI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small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number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that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only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switch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scope</a:t>
            </a:r>
            <a:endParaRPr sz="17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195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used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by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between</a:t>
            </a:r>
            <a:r>
              <a:rPr sz="1700" spc="-5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two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switches</a:t>
            </a:r>
            <a:endParaRPr sz="17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204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dirty="0">
                <a:latin typeface="Times New Roman"/>
                <a:cs typeface="Times New Roman"/>
              </a:rPr>
              <a:t>When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arrives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switch,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VCI;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when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leaves,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it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has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different</a:t>
            </a:r>
            <a:r>
              <a:rPr sz="1700" spc="-6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VCI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Virtual</a:t>
            </a:r>
            <a:r>
              <a:rPr spc="-80" dirty="0"/>
              <a:t> </a:t>
            </a:r>
            <a:r>
              <a:rPr dirty="0"/>
              <a:t>circuit</a:t>
            </a:r>
            <a:r>
              <a:rPr spc="-8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91639" y="987551"/>
            <a:ext cx="5551932" cy="3788664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Switch</a:t>
            </a:r>
            <a:r>
              <a:rPr spc="-30" dirty="0"/>
              <a:t> </a:t>
            </a:r>
            <a:r>
              <a:rPr dirty="0"/>
              <a:t>and</a:t>
            </a:r>
            <a:r>
              <a:rPr spc="-35" dirty="0"/>
              <a:t> </a:t>
            </a:r>
            <a:r>
              <a:rPr dirty="0"/>
              <a:t>tables</a:t>
            </a:r>
            <a:r>
              <a:rPr spc="-25" dirty="0"/>
              <a:t> </a:t>
            </a:r>
            <a:r>
              <a:rPr dirty="0"/>
              <a:t>in</a:t>
            </a:r>
            <a:r>
              <a:rPr spc="-10" dirty="0"/>
              <a:t> </a:t>
            </a:r>
            <a:r>
              <a:rPr dirty="0"/>
              <a:t>a</a:t>
            </a:r>
            <a:r>
              <a:rPr spc="-5" dirty="0"/>
              <a:t> </a:t>
            </a:r>
            <a:r>
              <a:rPr dirty="0"/>
              <a:t>virtual-circuit</a:t>
            </a:r>
            <a:r>
              <a:rPr spc="-6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58824" y="1130808"/>
            <a:ext cx="6818376" cy="367284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Data</a:t>
            </a:r>
            <a:r>
              <a:rPr spc="-30" dirty="0"/>
              <a:t> </a:t>
            </a:r>
            <a:r>
              <a:rPr dirty="0"/>
              <a:t>transfer</a:t>
            </a:r>
            <a:r>
              <a:rPr spc="-40" dirty="0"/>
              <a:t> </a:t>
            </a:r>
            <a:r>
              <a:rPr dirty="0"/>
              <a:t>in</a:t>
            </a:r>
            <a:r>
              <a:rPr spc="-15" dirty="0"/>
              <a:t> </a:t>
            </a:r>
            <a:r>
              <a:rPr dirty="0"/>
              <a:t>a</a:t>
            </a:r>
            <a:r>
              <a:rPr spc="-15" dirty="0"/>
              <a:t> </a:t>
            </a:r>
            <a:r>
              <a:rPr dirty="0"/>
              <a:t>virtual-circuit</a:t>
            </a:r>
            <a:r>
              <a:rPr spc="-45" dirty="0"/>
              <a:t> </a:t>
            </a:r>
            <a:r>
              <a:rPr spc="-10" dirty="0"/>
              <a:t>network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dirty="0"/>
              <a:t>How</a:t>
            </a:r>
            <a:r>
              <a:rPr spc="-65" dirty="0"/>
              <a:t> </a:t>
            </a:r>
            <a:r>
              <a:rPr spc="-10" dirty="0"/>
              <a:t>Virtual</a:t>
            </a:r>
            <a:r>
              <a:rPr spc="-60" dirty="0"/>
              <a:t> </a:t>
            </a:r>
            <a:r>
              <a:rPr dirty="0"/>
              <a:t>Circuit</a:t>
            </a:r>
            <a:r>
              <a:rPr spc="-65" dirty="0"/>
              <a:t> </a:t>
            </a:r>
            <a:r>
              <a:rPr dirty="0"/>
              <a:t>is</a:t>
            </a:r>
            <a:r>
              <a:rPr spc="-50" dirty="0"/>
              <a:t> </a:t>
            </a:r>
            <a:r>
              <a:rPr dirty="0"/>
              <a:t>Established</a:t>
            </a:r>
            <a:r>
              <a:rPr spc="-65" dirty="0"/>
              <a:t> </a:t>
            </a:r>
            <a:r>
              <a:rPr spc="-50" dirty="0"/>
              <a:t>?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A</a:t>
            </a:r>
            <a:r>
              <a:rPr spc="-130" dirty="0"/>
              <a:t> </a:t>
            </a:r>
            <a:r>
              <a:rPr dirty="0"/>
              <a:t>source</a:t>
            </a:r>
            <a:r>
              <a:rPr spc="-30" dirty="0"/>
              <a:t> </a:t>
            </a:r>
            <a:r>
              <a:rPr dirty="0"/>
              <a:t>and</a:t>
            </a:r>
            <a:r>
              <a:rPr spc="-15" dirty="0"/>
              <a:t> </a:t>
            </a:r>
            <a:r>
              <a:rPr dirty="0"/>
              <a:t>destination</a:t>
            </a:r>
            <a:r>
              <a:rPr spc="-35" dirty="0"/>
              <a:t> </a:t>
            </a:r>
            <a:r>
              <a:rPr dirty="0"/>
              <a:t>need</a:t>
            </a:r>
            <a:r>
              <a:rPr spc="-15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go</a:t>
            </a:r>
            <a:r>
              <a:rPr spc="-5" dirty="0"/>
              <a:t> </a:t>
            </a:r>
            <a:r>
              <a:rPr dirty="0"/>
              <a:t>through</a:t>
            </a:r>
            <a:r>
              <a:rPr spc="-30" dirty="0"/>
              <a:t> </a:t>
            </a:r>
            <a:r>
              <a:rPr dirty="0"/>
              <a:t>three</a:t>
            </a:r>
            <a:r>
              <a:rPr spc="-30" dirty="0"/>
              <a:t> </a:t>
            </a:r>
            <a:r>
              <a:rPr spc="-10" dirty="0"/>
              <a:t>phases:</a:t>
            </a:r>
          </a:p>
          <a:p>
            <a:pPr marL="756285" lvl="1" indent="-286385">
              <a:lnSpc>
                <a:spcPct val="100000"/>
              </a:lnSpc>
              <a:spcBef>
                <a:spcPts val="470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Setup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phase:</a:t>
            </a:r>
            <a:endParaRPr sz="2000">
              <a:latin typeface="Times New Roman"/>
              <a:cs typeface="Times New Roman"/>
            </a:endParaRPr>
          </a:p>
          <a:p>
            <a:pPr marL="1270000" lvl="2" indent="-342900">
              <a:lnSpc>
                <a:spcPts val="2375"/>
              </a:lnSpc>
              <a:spcBef>
                <a:spcPts val="400"/>
              </a:spcBef>
              <a:buFont typeface="Arial MT"/>
              <a:buChar char="•"/>
              <a:tabLst>
                <a:tab pos="1270000" algn="l"/>
              </a:tabLst>
            </a:pP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1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source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destination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use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their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global</a:t>
            </a:r>
            <a:r>
              <a:rPr sz="2000" spc="1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addresses</a:t>
            </a:r>
            <a:r>
              <a:rPr sz="2000" spc="1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to</a:t>
            </a:r>
            <a:r>
              <a:rPr sz="2000" spc="17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help</a:t>
            </a:r>
            <a:r>
              <a:rPr sz="2000" spc="18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switches</a:t>
            </a:r>
            <a:endParaRPr sz="2000">
              <a:latin typeface="Times New Roman"/>
              <a:cs typeface="Times New Roman"/>
            </a:endParaRPr>
          </a:p>
          <a:p>
            <a:pPr marL="1270000">
              <a:lnSpc>
                <a:spcPts val="2375"/>
              </a:lnSpc>
            </a:pPr>
            <a:r>
              <a:rPr sz="2000" dirty="0"/>
              <a:t>make</a:t>
            </a:r>
            <a:r>
              <a:rPr sz="2000" spc="-5" dirty="0"/>
              <a:t> </a:t>
            </a:r>
            <a:r>
              <a:rPr sz="2000" dirty="0"/>
              <a:t>table</a:t>
            </a:r>
            <a:r>
              <a:rPr sz="2000" spc="-25" dirty="0"/>
              <a:t> </a:t>
            </a:r>
            <a:r>
              <a:rPr sz="2000" dirty="0"/>
              <a:t>entries</a:t>
            </a:r>
            <a:r>
              <a:rPr sz="2000" spc="-55" dirty="0"/>
              <a:t> </a:t>
            </a:r>
            <a:r>
              <a:rPr sz="2000" dirty="0"/>
              <a:t>for</a:t>
            </a:r>
            <a:r>
              <a:rPr sz="2000" spc="-20" dirty="0"/>
              <a:t> </a:t>
            </a:r>
            <a:r>
              <a:rPr sz="2000" dirty="0"/>
              <a:t>the</a:t>
            </a:r>
            <a:r>
              <a:rPr sz="2000" spc="-30" dirty="0"/>
              <a:t> </a:t>
            </a:r>
            <a:r>
              <a:rPr sz="2000" spc="-10" dirty="0"/>
              <a:t>connection</a:t>
            </a:r>
            <a:endParaRPr sz="2000"/>
          </a:p>
          <a:p>
            <a:pPr marL="756285" lvl="1" indent="-286385">
              <a:lnSpc>
                <a:spcPct val="100000"/>
              </a:lnSpc>
              <a:spcBef>
                <a:spcPts val="40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Data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transfer</a:t>
            </a:r>
            <a:endParaRPr sz="20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4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spc="-10" dirty="0">
                <a:latin typeface="Times New Roman"/>
                <a:cs typeface="Times New Roman"/>
              </a:rPr>
              <a:t>Teardown</a:t>
            </a:r>
            <a:r>
              <a:rPr sz="2000" spc="-10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phase:</a:t>
            </a:r>
            <a:endParaRPr sz="2000">
              <a:latin typeface="Times New Roman"/>
              <a:cs typeface="Times New Roman"/>
            </a:endParaRPr>
          </a:p>
          <a:p>
            <a:pPr marL="1270000" marR="6350" lvl="2" indent="-342900">
              <a:lnSpc>
                <a:spcPts val="2350"/>
              </a:lnSpc>
              <a:spcBef>
                <a:spcPts val="520"/>
              </a:spcBef>
              <a:buFont typeface="Arial MT"/>
              <a:buChar char="•"/>
              <a:tabLst>
                <a:tab pos="1270000" algn="l"/>
                <a:tab pos="1781810" algn="l"/>
                <a:tab pos="2646680" algn="l"/>
                <a:tab pos="3213100" algn="l"/>
                <a:tab pos="4527550" algn="l"/>
                <a:tab pos="5415915" algn="l"/>
                <a:tab pos="5927725" algn="l"/>
                <a:tab pos="7002780" algn="l"/>
                <a:tab pos="7400290" algn="l"/>
                <a:tab pos="8206740" algn="l"/>
              </a:tabLst>
            </a:pP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source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and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destination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inform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switches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to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10" dirty="0">
                <a:latin typeface="Times New Roman"/>
                <a:cs typeface="Times New Roman"/>
              </a:rPr>
              <a:t>delete</a:t>
            </a:r>
            <a:r>
              <a:rPr sz="2000" dirty="0">
                <a:latin typeface="Times New Roman"/>
                <a:cs typeface="Times New Roman"/>
              </a:rPr>
              <a:t>	</a:t>
            </a:r>
            <a:r>
              <a:rPr sz="2000" spc="-25" dirty="0">
                <a:latin typeface="Times New Roman"/>
                <a:cs typeface="Times New Roman"/>
              </a:rPr>
              <a:t>the </a:t>
            </a:r>
            <a:r>
              <a:rPr sz="2000" dirty="0">
                <a:latin typeface="Times New Roman"/>
                <a:cs typeface="Times New Roman"/>
              </a:rPr>
              <a:t>corresponding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entry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Virtual</a:t>
            </a:r>
            <a:r>
              <a:rPr spc="-80" dirty="0"/>
              <a:t> </a:t>
            </a:r>
            <a:r>
              <a:rPr dirty="0"/>
              <a:t>circuit</a:t>
            </a:r>
            <a:r>
              <a:rPr spc="-8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Virtual</a:t>
            </a:r>
            <a:r>
              <a:rPr spc="-80" dirty="0"/>
              <a:t> </a:t>
            </a:r>
            <a:r>
              <a:rPr dirty="0"/>
              <a:t>circuit</a:t>
            </a:r>
            <a:r>
              <a:rPr spc="-8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dirty="0"/>
              <a:t>Setup</a:t>
            </a:r>
            <a:r>
              <a:rPr sz="2300" spc="-25" dirty="0"/>
              <a:t> </a:t>
            </a:r>
            <a:r>
              <a:rPr sz="2300" spc="-10" dirty="0"/>
              <a:t>Phase:</a:t>
            </a:r>
            <a:endParaRPr sz="2300"/>
          </a:p>
          <a:p>
            <a:pPr marL="756285" lvl="1" indent="-286385">
              <a:lnSpc>
                <a:spcPct val="100000"/>
              </a:lnSpc>
              <a:spcBef>
                <a:spcPts val="465"/>
              </a:spcBef>
              <a:buFont typeface="Arial MT"/>
              <a:buChar char="–"/>
              <a:tabLst>
                <a:tab pos="756285" algn="l"/>
              </a:tabLst>
            </a:pPr>
            <a:r>
              <a:rPr sz="1900" dirty="0">
                <a:latin typeface="Times New Roman"/>
                <a:cs typeface="Times New Roman"/>
              </a:rPr>
              <a:t>Suppose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source</a:t>
            </a:r>
            <a:r>
              <a:rPr sz="1900" spc="-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needs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create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virtual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circuit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25" dirty="0">
                <a:latin typeface="Times New Roman"/>
                <a:cs typeface="Times New Roman"/>
              </a:rPr>
              <a:t>B.</a:t>
            </a:r>
            <a:endParaRPr sz="19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360"/>
              </a:spcBef>
              <a:buFont typeface="Arial MT"/>
              <a:buChar char="–"/>
              <a:tabLst>
                <a:tab pos="756285" algn="l"/>
              </a:tabLst>
            </a:pPr>
            <a:r>
              <a:rPr sz="1900" spc="-25" dirty="0">
                <a:latin typeface="Times New Roman"/>
                <a:cs typeface="Times New Roman"/>
              </a:rPr>
              <a:t>Two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steps</a:t>
            </a:r>
            <a:r>
              <a:rPr sz="1900" spc="-4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-6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required:</a:t>
            </a:r>
            <a:endParaRPr sz="19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450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setup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request</a:t>
            </a:r>
            <a:endParaRPr sz="1700">
              <a:latin typeface="Times New Roman"/>
              <a:cs typeface="Times New Roman"/>
            </a:endParaRPr>
          </a:p>
          <a:p>
            <a:pPr marL="1612900" lvl="3" indent="-228600">
              <a:lnSpc>
                <a:spcPct val="100000"/>
              </a:lnSpc>
              <a:spcBef>
                <a:spcPts val="365"/>
              </a:spcBef>
              <a:buFont typeface="Arial MT"/>
              <a:buChar char="•"/>
              <a:tabLst>
                <a:tab pos="161290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1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setup</a:t>
            </a:r>
            <a:r>
              <a:rPr sz="1700" spc="-3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request</a:t>
            </a:r>
            <a:r>
              <a:rPr sz="1700" spc="-3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is</a:t>
            </a:r>
            <a:r>
              <a:rPr sz="1700" spc="-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sent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from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source</a:t>
            </a:r>
            <a:r>
              <a:rPr sz="1700" spc="-4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to</a:t>
            </a:r>
            <a:r>
              <a:rPr sz="1700" spc="-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0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destination</a:t>
            </a:r>
            <a:endParaRPr sz="1700">
              <a:latin typeface="Times New Roman"/>
              <a:cs typeface="Times New Roman"/>
            </a:endParaRPr>
          </a:p>
          <a:p>
            <a:pPr marL="1155700" lvl="2" indent="-228600">
              <a:lnSpc>
                <a:spcPct val="100000"/>
              </a:lnSpc>
              <a:spcBef>
                <a:spcPts val="440"/>
              </a:spcBef>
              <a:buFont typeface="Arial MT"/>
              <a:buChar char="•"/>
              <a:tabLst>
                <a:tab pos="1155700" algn="l"/>
              </a:tabLst>
            </a:pP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-25" dirty="0">
                <a:latin typeface="Times New Roman"/>
                <a:cs typeface="Times New Roman"/>
              </a:rPr>
              <a:t> </a:t>
            </a:r>
            <a:r>
              <a:rPr sz="1700" spc="-10" dirty="0">
                <a:latin typeface="Times New Roman"/>
                <a:cs typeface="Times New Roman"/>
              </a:rPr>
              <a:t>acknowledgment</a:t>
            </a:r>
            <a:endParaRPr sz="1700">
              <a:latin typeface="Times New Roman"/>
              <a:cs typeface="Times New Roman"/>
            </a:endParaRPr>
          </a:p>
          <a:p>
            <a:pPr marL="1612900" lvl="3" indent="-228600">
              <a:lnSpc>
                <a:spcPts val="2020"/>
              </a:lnSpc>
              <a:spcBef>
                <a:spcPts val="400"/>
              </a:spcBef>
              <a:buFont typeface="Arial MT"/>
              <a:buChar char="•"/>
              <a:tabLst>
                <a:tab pos="1612900" algn="l"/>
              </a:tabLst>
            </a:pPr>
            <a:r>
              <a:rPr sz="1700" dirty="0">
                <a:latin typeface="Times New Roman"/>
                <a:cs typeface="Times New Roman"/>
              </a:rPr>
              <a:t>A</a:t>
            </a:r>
            <a:r>
              <a:rPr sz="1700" spc="-7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special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frame,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called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acknowledgment</a:t>
            </a:r>
            <a:r>
              <a:rPr sz="1700" spc="2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frame,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completes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the</a:t>
            </a:r>
            <a:r>
              <a:rPr sz="1700" spc="10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entries</a:t>
            </a:r>
            <a:r>
              <a:rPr sz="1700" spc="15" dirty="0">
                <a:latin typeface="Times New Roman"/>
                <a:cs typeface="Times New Roman"/>
              </a:rPr>
              <a:t> </a:t>
            </a:r>
            <a:r>
              <a:rPr sz="1700" dirty="0">
                <a:latin typeface="Times New Roman"/>
                <a:cs typeface="Times New Roman"/>
              </a:rPr>
              <a:t>in</a:t>
            </a:r>
            <a:r>
              <a:rPr sz="1700" spc="25" dirty="0">
                <a:latin typeface="Times New Roman"/>
                <a:cs typeface="Times New Roman"/>
              </a:rPr>
              <a:t> </a:t>
            </a:r>
            <a:r>
              <a:rPr sz="1700" spc="-25" dirty="0">
                <a:latin typeface="Times New Roman"/>
                <a:cs typeface="Times New Roman"/>
              </a:rPr>
              <a:t>the</a:t>
            </a:r>
            <a:endParaRPr sz="1700">
              <a:latin typeface="Times New Roman"/>
              <a:cs typeface="Times New Roman"/>
            </a:endParaRPr>
          </a:p>
          <a:p>
            <a:pPr marL="1612900">
              <a:lnSpc>
                <a:spcPts val="2020"/>
              </a:lnSpc>
            </a:pPr>
            <a:r>
              <a:rPr sz="1700" dirty="0"/>
              <a:t>switching</a:t>
            </a:r>
            <a:r>
              <a:rPr sz="1700" spc="-40" dirty="0"/>
              <a:t> </a:t>
            </a:r>
            <a:r>
              <a:rPr sz="1700" spc="-10" dirty="0"/>
              <a:t>tables</a:t>
            </a:r>
            <a:endParaRPr sz="170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47800" y="1353311"/>
            <a:ext cx="6348984" cy="322783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Virtual</a:t>
            </a:r>
            <a:r>
              <a:rPr spc="-80" dirty="0"/>
              <a:t> </a:t>
            </a:r>
            <a:r>
              <a:rPr dirty="0"/>
              <a:t>circuit</a:t>
            </a:r>
            <a:r>
              <a:rPr spc="-8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359408"/>
            <a:ext cx="6627876" cy="3249167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Virtual</a:t>
            </a:r>
            <a:r>
              <a:rPr spc="-80" dirty="0"/>
              <a:t> </a:t>
            </a:r>
            <a:r>
              <a:rPr dirty="0"/>
              <a:t>circuit</a:t>
            </a:r>
            <a:r>
              <a:rPr spc="-8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9200" y="1200912"/>
            <a:ext cx="6547104" cy="323697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Delay</a:t>
            </a:r>
            <a:r>
              <a:rPr spc="-35" dirty="0"/>
              <a:t> </a:t>
            </a:r>
            <a:r>
              <a:rPr dirty="0"/>
              <a:t>in</a:t>
            </a:r>
            <a:r>
              <a:rPr spc="-3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virtual-circuit</a:t>
            </a:r>
            <a:r>
              <a:rPr spc="-50" dirty="0"/>
              <a:t> </a:t>
            </a:r>
            <a:r>
              <a:rPr spc="-10" dirty="0"/>
              <a:t>network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882877"/>
            <a:ext cx="8517890" cy="2880995"/>
          </a:xfrm>
          <a:prstGeom prst="rect">
            <a:avLst/>
          </a:prstGeom>
        </p:spPr>
        <p:txBody>
          <a:bodyPr vert="horz" wrap="square" lIns="0" tIns="19240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1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spc="-25" dirty="0">
                <a:latin typeface="Times New Roman"/>
                <a:cs typeface="Times New Roman"/>
              </a:rPr>
              <a:t>Eg:</a:t>
            </a:r>
            <a:endParaRPr sz="2400">
              <a:latin typeface="Times New Roman"/>
              <a:cs typeface="Times New Roman"/>
            </a:endParaRPr>
          </a:p>
          <a:p>
            <a:pPr marL="876935" marR="5080" lvl="1" indent="-325120">
              <a:lnSpc>
                <a:spcPts val="2350"/>
              </a:lnSpc>
              <a:spcBef>
                <a:spcPts val="1300"/>
              </a:spcBef>
              <a:buSzPct val="75000"/>
              <a:buFont typeface="Symbol"/>
              <a:buChar char=""/>
              <a:tabLst>
                <a:tab pos="876935" algn="l"/>
              </a:tabLst>
            </a:pPr>
            <a:r>
              <a:rPr sz="2000" dirty="0">
                <a:latin typeface="Times New Roman"/>
                <a:cs typeface="Times New Roman"/>
              </a:rPr>
              <a:t>Find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port</a:t>
            </a:r>
            <a:r>
              <a:rPr sz="2000" spc="-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output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VCI for</a:t>
            </a:r>
            <a:r>
              <a:rPr sz="2000" spc="-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packet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the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following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input </a:t>
            </a:r>
            <a:r>
              <a:rPr sz="2000" dirty="0">
                <a:latin typeface="Times New Roman"/>
                <a:cs typeface="Times New Roman"/>
              </a:rPr>
              <a:t>port</a:t>
            </a:r>
            <a:r>
              <a:rPr sz="2000" spc="-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and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input</a:t>
            </a:r>
            <a:r>
              <a:rPr sz="2000" spc="-7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VCI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addresses:</a:t>
            </a:r>
            <a:endParaRPr sz="2000">
              <a:latin typeface="Times New Roman"/>
              <a:cs typeface="Times New Roman"/>
            </a:endParaRPr>
          </a:p>
          <a:p>
            <a:pPr marL="1308100" lvl="2" indent="-288290">
              <a:lnSpc>
                <a:spcPct val="100000"/>
              </a:lnSpc>
              <a:spcBef>
                <a:spcPts val="840"/>
              </a:spcBef>
              <a:buSzPct val="44444"/>
              <a:buFont typeface="Wingdings"/>
              <a:buChar char=""/>
              <a:tabLst>
                <a:tab pos="1308100" algn="l"/>
              </a:tabLst>
            </a:pPr>
            <a:r>
              <a:rPr sz="1800" dirty="0">
                <a:latin typeface="Times New Roman"/>
                <a:cs typeface="Times New Roman"/>
              </a:rPr>
              <a:t>Packet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1: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78</a:t>
            </a:r>
            <a:endParaRPr sz="1800">
              <a:latin typeface="Times New Roman"/>
              <a:cs typeface="Times New Roman"/>
            </a:endParaRPr>
          </a:p>
          <a:p>
            <a:pPr marL="1308100" lvl="2" indent="-288290">
              <a:lnSpc>
                <a:spcPct val="100000"/>
              </a:lnSpc>
              <a:spcBef>
                <a:spcPts val="905"/>
              </a:spcBef>
              <a:buSzPct val="44444"/>
              <a:buFont typeface="Wingdings"/>
              <a:buChar char=""/>
              <a:tabLst>
                <a:tab pos="1308100" algn="l"/>
              </a:tabLst>
            </a:pPr>
            <a:r>
              <a:rPr sz="1800" dirty="0">
                <a:latin typeface="Times New Roman"/>
                <a:cs typeface="Times New Roman"/>
              </a:rPr>
              <a:t>Packet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2: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92</a:t>
            </a:r>
            <a:endParaRPr sz="1800">
              <a:latin typeface="Times New Roman"/>
              <a:cs typeface="Times New Roman"/>
            </a:endParaRPr>
          </a:p>
          <a:p>
            <a:pPr marL="1308100" lvl="2" indent="-288290">
              <a:lnSpc>
                <a:spcPct val="100000"/>
              </a:lnSpc>
              <a:spcBef>
                <a:spcPts val="900"/>
              </a:spcBef>
              <a:buSzPct val="44444"/>
              <a:buFont typeface="Wingdings"/>
              <a:buChar char=""/>
              <a:tabLst>
                <a:tab pos="1308100" algn="l"/>
              </a:tabLst>
            </a:pPr>
            <a:r>
              <a:rPr sz="1800" dirty="0">
                <a:latin typeface="Times New Roman"/>
                <a:cs typeface="Times New Roman"/>
              </a:rPr>
              <a:t>Packet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3: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56</a:t>
            </a:r>
            <a:endParaRPr sz="1800">
              <a:latin typeface="Times New Roman"/>
              <a:cs typeface="Times New Roman"/>
            </a:endParaRPr>
          </a:p>
          <a:p>
            <a:pPr marL="1308100" lvl="2" indent="-288290">
              <a:lnSpc>
                <a:spcPct val="100000"/>
              </a:lnSpc>
              <a:spcBef>
                <a:spcPts val="900"/>
              </a:spcBef>
              <a:buSzPct val="44444"/>
              <a:buFont typeface="Wingdings"/>
              <a:buChar char=""/>
              <a:tabLst>
                <a:tab pos="1308100" algn="l"/>
              </a:tabLst>
            </a:pPr>
            <a:r>
              <a:rPr sz="1800" dirty="0">
                <a:latin typeface="Times New Roman"/>
                <a:cs typeface="Times New Roman"/>
              </a:rPr>
              <a:t>Packet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4: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2,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spc="-25" dirty="0">
                <a:latin typeface="Times New Roman"/>
                <a:cs typeface="Times New Roman"/>
              </a:rPr>
              <a:t>71</a:t>
            </a:r>
            <a:endParaRPr sz="1800">
              <a:latin typeface="Times New Roman"/>
              <a:cs typeface="Times New Roman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10000" y="2191511"/>
            <a:ext cx="3235452" cy="2740152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286752" y="3072453"/>
            <a:ext cx="1243583" cy="94216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Virtual</a:t>
            </a:r>
            <a:r>
              <a:rPr spc="-80" dirty="0"/>
              <a:t> </a:t>
            </a:r>
            <a:r>
              <a:rPr dirty="0"/>
              <a:t>circuit</a:t>
            </a:r>
            <a:r>
              <a:rPr spc="-80" dirty="0"/>
              <a:t> </a:t>
            </a:r>
            <a:r>
              <a:rPr dirty="0"/>
              <a:t>switched</a:t>
            </a:r>
            <a:r>
              <a:rPr spc="-75" dirty="0"/>
              <a:t> </a:t>
            </a:r>
            <a:r>
              <a:rPr spc="-10" dirty="0"/>
              <a:t>networks</a:t>
            </a:r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Advantages</a:t>
            </a:r>
            <a:r>
              <a:rPr spc="-100" dirty="0"/>
              <a:t> </a:t>
            </a:r>
            <a:r>
              <a:rPr dirty="0"/>
              <a:t>of</a:t>
            </a:r>
            <a:r>
              <a:rPr spc="-65" dirty="0"/>
              <a:t> </a:t>
            </a:r>
            <a:r>
              <a:rPr dirty="0"/>
              <a:t>packet</a:t>
            </a:r>
            <a:r>
              <a:rPr spc="-8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7912"/>
            <a:ext cx="8529955" cy="2906395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switching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ost</a:t>
            </a:r>
            <a:r>
              <a:rPr sz="2400" u="heavy" spc="-1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effective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switching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offers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improved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delay</a:t>
            </a:r>
            <a:endParaRPr sz="2400">
              <a:latin typeface="Times New Roman"/>
              <a:cs typeface="Times New Roman"/>
            </a:endParaRPr>
          </a:p>
          <a:p>
            <a:pPr marL="355600" marR="5715" indent="-342900">
              <a:lnSpc>
                <a:spcPts val="2830"/>
              </a:lnSpc>
              <a:spcBef>
                <a:spcPts val="69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3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rerouted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any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problem,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such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3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busy</a:t>
            </a:r>
            <a:r>
              <a:rPr sz="2400" spc="3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or </a:t>
            </a:r>
            <a:r>
              <a:rPr sz="2400" dirty="0">
                <a:latin typeface="Times New Roman"/>
                <a:cs typeface="Times New Roman"/>
              </a:rPr>
              <a:t>disabled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links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409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Many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network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users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hare</a:t>
            </a:r>
            <a:r>
              <a:rPr sz="2400" u="heavy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400" u="heavy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same</a:t>
            </a:r>
            <a:r>
              <a:rPr sz="2400" u="heavy" spc="-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channel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time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705"/>
              </a:spcBef>
              <a:buFont typeface="Arial MT"/>
              <a:buChar char="•"/>
              <a:tabLst>
                <a:tab pos="355600" algn="l"/>
                <a:tab pos="6597015" algn="l"/>
              </a:tabLst>
            </a:pP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switching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maximize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efficiency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by</a:t>
            </a:r>
            <a:r>
              <a:rPr sz="2400" dirty="0">
                <a:latin typeface="Times New Roman"/>
                <a:cs typeface="Times New Roman"/>
              </a:rPr>
              <a:t>	making </a:t>
            </a:r>
            <a:r>
              <a:rPr sz="2400" spc="-10" dirty="0">
                <a:latin typeface="Times New Roman"/>
                <a:cs typeface="Times New Roman"/>
              </a:rPr>
              <a:t>optimal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link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bandwidth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606801" y="1913382"/>
            <a:ext cx="3665220" cy="1651000"/>
          </a:xfrm>
          <a:custGeom>
            <a:avLst/>
            <a:gdLst/>
            <a:ahLst/>
            <a:cxnLst/>
            <a:rect l="l" t="t" r="r" b="b"/>
            <a:pathLst>
              <a:path w="3665220" h="1651000">
                <a:moveTo>
                  <a:pt x="970788" y="0"/>
                </a:moveTo>
                <a:lnTo>
                  <a:pt x="2935224" y="0"/>
                </a:lnTo>
              </a:path>
              <a:path w="3665220" h="1651000">
                <a:moveTo>
                  <a:pt x="0" y="431292"/>
                </a:moveTo>
                <a:lnTo>
                  <a:pt x="917448" y="431292"/>
                </a:lnTo>
              </a:path>
              <a:path w="3665220" h="1651000">
                <a:moveTo>
                  <a:pt x="789432" y="1650492"/>
                </a:moveTo>
                <a:lnTo>
                  <a:pt x="3665220" y="1650492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912"/>
            <a:ext cx="7489190" cy="88646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P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rotocol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typically</a:t>
            </a:r>
            <a:r>
              <a:rPr sz="2400" spc="-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more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complex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If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packet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lost,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sender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needs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etransmit</a:t>
            </a:r>
            <a:r>
              <a:rPr sz="2400" u="heavy" spc="-2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the</a:t>
            </a:r>
            <a:r>
              <a:rPr sz="2400" u="heavy" spc="-2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packe</a:t>
            </a:r>
            <a:r>
              <a:rPr sz="2400" spc="-10" dirty="0">
                <a:latin typeface="Times New Roman"/>
                <a:cs typeface="Times New Roman"/>
              </a:rPr>
              <a:t>t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Disadvantages</a:t>
            </a:r>
            <a:r>
              <a:rPr spc="-7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dirty="0"/>
              <a:t>packet</a:t>
            </a:r>
            <a:r>
              <a:rPr spc="-70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4" name="object 4"/>
          <p:cNvSpPr/>
          <p:nvPr/>
        </p:nvSpPr>
        <p:spPr>
          <a:xfrm>
            <a:off x="6229350" y="1492758"/>
            <a:ext cx="1623060" cy="0"/>
          </a:xfrm>
          <a:custGeom>
            <a:avLst/>
            <a:gdLst/>
            <a:ahLst/>
            <a:cxnLst/>
            <a:rect l="l" t="t" r="r" b="b"/>
            <a:pathLst>
              <a:path w="1623059">
                <a:moveTo>
                  <a:pt x="0" y="0"/>
                </a:moveTo>
                <a:lnTo>
                  <a:pt x="1623059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Message</a:t>
            </a:r>
            <a:r>
              <a:rPr spc="-125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033348"/>
            <a:ext cx="8531225" cy="36023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3060" indent="-340360" algn="just">
              <a:lnSpc>
                <a:spcPts val="2705"/>
              </a:lnSpc>
              <a:spcBef>
                <a:spcPts val="10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With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message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switching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there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need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establish</a:t>
            </a:r>
            <a:r>
              <a:rPr sz="2400" spc="1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dedicated</a:t>
            </a:r>
            <a:endParaRPr sz="2400">
              <a:latin typeface="Times New Roman"/>
              <a:cs typeface="Times New Roman"/>
            </a:endParaRPr>
          </a:p>
          <a:p>
            <a:pPr marL="355600" algn="just">
              <a:lnSpc>
                <a:spcPts val="2705"/>
              </a:lnSpc>
            </a:pPr>
            <a:r>
              <a:rPr sz="2400" dirty="0">
                <a:latin typeface="Times New Roman"/>
                <a:cs typeface="Times New Roman"/>
              </a:rPr>
              <a:t>path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between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source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destination</a:t>
            </a:r>
            <a:endParaRPr sz="2400">
              <a:latin typeface="Times New Roman"/>
              <a:cs typeface="Times New Roman"/>
            </a:endParaRPr>
          </a:p>
          <a:p>
            <a:pPr marL="353060" marR="5080" indent="-340360" algn="just">
              <a:lnSpc>
                <a:spcPts val="2530"/>
              </a:lnSpc>
              <a:spcBef>
                <a:spcPts val="65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When</a:t>
            </a:r>
            <a:r>
              <a:rPr sz="2400" spc="1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station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sends</a:t>
            </a:r>
            <a:r>
              <a:rPr sz="2400" spc="14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message,</a:t>
            </a:r>
            <a:r>
              <a:rPr sz="2400" spc="15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estination</a:t>
            </a:r>
            <a:r>
              <a:rPr sz="2400" u="heavy" spc="15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addres</a:t>
            </a:r>
            <a:r>
              <a:rPr sz="2400" dirty="0">
                <a:latin typeface="Times New Roman"/>
                <a:cs typeface="Times New Roman"/>
              </a:rPr>
              <a:t>s</a:t>
            </a:r>
            <a:r>
              <a:rPr sz="2400" spc="150" dirty="0">
                <a:latin typeface="Times New Roman"/>
                <a:cs typeface="Times New Roman"/>
              </a:rPr>
              <a:t>  </a:t>
            </a:r>
            <a:r>
              <a:rPr sz="2400" spc="-25" dirty="0">
                <a:latin typeface="Times New Roman"/>
                <a:cs typeface="Times New Roman"/>
              </a:rPr>
              <a:t>is 	</a:t>
            </a:r>
            <a:r>
              <a:rPr sz="2400" dirty="0">
                <a:latin typeface="Times New Roman"/>
                <a:cs typeface="Times New Roman"/>
              </a:rPr>
              <a:t>appended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message</a:t>
            </a:r>
            <a:endParaRPr sz="2400">
              <a:latin typeface="Times New Roman"/>
              <a:cs typeface="Times New Roman"/>
            </a:endParaRPr>
          </a:p>
          <a:p>
            <a:pPr marL="353060" marR="5715" indent="-340360" algn="just">
              <a:lnSpc>
                <a:spcPts val="2540"/>
              </a:lnSpc>
              <a:spcBef>
                <a:spcPts val="61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Each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receives</a:t>
            </a:r>
            <a:r>
              <a:rPr sz="2400" spc="1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entire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message,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stores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1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1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disk,</a:t>
            </a:r>
            <a:r>
              <a:rPr sz="2400" spc="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5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then 	</a:t>
            </a:r>
            <a:r>
              <a:rPr sz="2400" dirty="0">
                <a:latin typeface="Times New Roman"/>
                <a:cs typeface="Times New Roman"/>
              </a:rPr>
              <a:t>transmits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message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node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ct val="100000"/>
              </a:lnSpc>
              <a:spcBef>
                <a:spcPts val="180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 network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called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store-</a:t>
            </a:r>
            <a:r>
              <a:rPr sz="2400" u="heavy" spc="-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and-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forward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network</a:t>
            </a:r>
            <a:endParaRPr sz="2400">
              <a:latin typeface="Times New Roman"/>
              <a:cs typeface="Times New Roman"/>
            </a:endParaRPr>
          </a:p>
          <a:p>
            <a:pPr marL="353060" marR="5715" indent="-340360" algn="just">
              <a:lnSpc>
                <a:spcPct val="89000"/>
              </a:lnSpc>
              <a:spcBef>
                <a:spcPts val="595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me</a:t>
            </a:r>
            <a:r>
              <a:rPr sz="2400" u="heavy" spc="114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delay</a:t>
            </a:r>
            <a:r>
              <a:rPr sz="2400" u="heavy" spc="10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is</a:t>
            </a:r>
            <a:r>
              <a:rPr sz="2400" u="heavy" spc="10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introduce</a:t>
            </a:r>
            <a:r>
              <a:rPr sz="2400" dirty="0">
                <a:latin typeface="Times New Roman"/>
                <a:cs typeface="Times New Roman"/>
              </a:rPr>
              <a:t>d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using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this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type</a:t>
            </a:r>
            <a:r>
              <a:rPr sz="2400" spc="11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scheme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due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store- 	and-</a:t>
            </a:r>
            <a:r>
              <a:rPr sz="2400" dirty="0">
                <a:latin typeface="Times New Roman"/>
                <a:cs typeface="Times New Roman"/>
              </a:rPr>
              <a:t>forward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time,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plus</a:t>
            </a:r>
            <a:r>
              <a:rPr sz="2400" spc="204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time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required</a:t>
            </a:r>
            <a:r>
              <a:rPr sz="2400" spc="2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find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next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node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in 	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transmission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path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052821" y="1440941"/>
            <a:ext cx="3481070" cy="1437640"/>
          </a:xfrm>
          <a:custGeom>
            <a:avLst/>
            <a:gdLst/>
            <a:ahLst/>
            <a:cxnLst/>
            <a:rect l="l" t="t" r="r" b="b"/>
            <a:pathLst>
              <a:path w="3481070" h="1437639">
                <a:moveTo>
                  <a:pt x="0" y="0"/>
                </a:moveTo>
                <a:lnTo>
                  <a:pt x="3480816" y="0"/>
                </a:lnTo>
              </a:path>
              <a:path w="3481070" h="1437639">
                <a:moveTo>
                  <a:pt x="608076" y="1437132"/>
                </a:moveTo>
                <a:lnTo>
                  <a:pt x="2574035" y="1437132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22603" y="1348740"/>
            <a:ext cx="7403592" cy="3176016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Message</a:t>
            </a:r>
            <a:r>
              <a:rPr spc="-125" dirty="0"/>
              <a:t> </a:t>
            </a:r>
            <a:r>
              <a:rPr spc="-10" dirty="0"/>
              <a:t>Switching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71142" y="1119021"/>
            <a:ext cx="4370425" cy="3660051"/>
          </a:xfrm>
          <a:prstGeom prst="rect">
            <a:avLst/>
          </a:prstGeom>
        </p:spPr>
      </p:pic>
      <p:grpSp>
        <p:nvGrpSpPr>
          <p:cNvPr id="3" name="object 3"/>
          <p:cNvGrpSpPr/>
          <p:nvPr/>
        </p:nvGrpSpPr>
        <p:grpSpPr>
          <a:xfrm>
            <a:off x="-6095" y="4948427"/>
            <a:ext cx="9154795" cy="192405"/>
            <a:chOff x="-6095" y="4948427"/>
            <a:chExt cx="9154795" cy="192405"/>
          </a:xfrm>
        </p:grpSpPr>
        <p:sp>
          <p:nvSpPr>
            <p:cNvPr id="4" name="object 4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9142476" y="0"/>
                  </a:moveTo>
                  <a:lnTo>
                    <a:pt x="0" y="0"/>
                  </a:lnTo>
                  <a:lnTo>
                    <a:pt x="0" y="179831"/>
                  </a:lnTo>
                  <a:lnTo>
                    <a:pt x="9142476" y="179831"/>
                  </a:lnTo>
                  <a:lnTo>
                    <a:pt x="9142476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4954523"/>
              <a:ext cx="9142730" cy="180340"/>
            </a:xfrm>
            <a:custGeom>
              <a:avLst/>
              <a:gdLst/>
              <a:ahLst/>
              <a:cxnLst/>
              <a:rect l="l" t="t" r="r" b="b"/>
              <a:pathLst>
                <a:path w="9142730" h="180339">
                  <a:moveTo>
                    <a:pt x="0" y="179831"/>
                  </a:moveTo>
                  <a:lnTo>
                    <a:pt x="9142476" y="179831"/>
                  </a:lnTo>
                  <a:lnTo>
                    <a:pt x="9142476" y="0"/>
                  </a:lnTo>
                  <a:lnTo>
                    <a:pt x="0" y="0"/>
                  </a:lnTo>
                </a:path>
              </a:pathLst>
            </a:custGeom>
            <a:ln w="12192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" name="object 6"/>
          <p:cNvGrpSpPr/>
          <p:nvPr/>
        </p:nvGrpSpPr>
        <p:grpSpPr>
          <a:xfrm>
            <a:off x="-3047" y="19811"/>
            <a:ext cx="9151620" cy="867410"/>
            <a:chOff x="-3047" y="19811"/>
            <a:chExt cx="9151620" cy="867410"/>
          </a:xfrm>
        </p:grpSpPr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290559" y="19811"/>
              <a:ext cx="830579" cy="806196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9145524" y="0"/>
                  </a:moveTo>
                  <a:lnTo>
                    <a:pt x="0" y="0"/>
                  </a:lnTo>
                  <a:lnTo>
                    <a:pt x="0" y="36575"/>
                  </a:lnTo>
                  <a:lnTo>
                    <a:pt x="9145524" y="36575"/>
                  </a:lnTo>
                  <a:lnTo>
                    <a:pt x="9145524" y="0"/>
                  </a:lnTo>
                  <a:close/>
                </a:path>
              </a:pathLst>
            </a:custGeom>
            <a:solidFill>
              <a:srgbClr val="4E6B3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0" y="847344"/>
              <a:ext cx="9145905" cy="36830"/>
            </a:xfrm>
            <a:custGeom>
              <a:avLst/>
              <a:gdLst/>
              <a:ahLst/>
              <a:cxnLst/>
              <a:rect l="l" t="t" r="r" b="b"/>
              <a:pathLst>
                <a:path w="9145905" h="36830">
                  <a:moveTo>
                    <a:pt x="0" y="36575"/>
                  </a:moveTo>
                  <a:lnTo>
                    <a:pt x="9145524" y="36575"/>
                  </a:lnTo>
                  <a:lnTo>
                    <a:pt x="9145524" y="0"/>
                  </a:lnTo>
                  <a:lnTo>
                    <a:pt x="0" y="0"/>
                  </a:lnTo>
                  <a:lnTo>
                    <a:pt x="0" y="36575"/>
                  </a:lnTo>
                  <a:close/>
                </a:path>
              </a:pathLst>
            </a:custGeom>
            <a:ln w="6096">
              <a:solidFill>
                <a:srgbClr val="D3AC35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3377946" y="2337943"/>
            <a:ext cx="2409825" cy="4679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900" b="1" cap="small" spc="-50" dirty="0">
                <a:latin typeface="Times New Roman"/>
                <a:cs typeface="Times New Roman"/>
              </a:rPr>
              <a:t>Multiplexing</a:t>
            </a:r>
            <a:endParaRPr sz="29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Multiplexing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521" rIns="0" bIns="0" rtlCol="0">
            <a:spAutoFit/>
          </a:bodyPr>
          <a:lstStyle/>
          <a:p>
            <a:pPr marL="353060" marR="5080" indent="-340360" algn="just">
              <a:lnSpc>
                <a:spcPct val="99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Whenever</a:t>
            </a:r>
            <a:r>
              <a:rPr spc="295" dirty="0"/>
              <a:t> </a:t>
            </a:r>
            <a:r>
              <a:rPr dirty="0"/>
              <a:t>the</a:t>
            </a:r>
            <a:r>
              <a:rPr spc="305" dirty="0"/>
              <a:t> </a:t>
            </a:r>
            <a:r>
              <a:rPr dirty="0"/>
              <a:t>bandwidth/time</a:t>
            </a:r>
            <a:r>
              <a:rPr spc="310" dirty="0"/>
              <a:t> </a:t>
            </a:r>
            <a:r>
              <a:rPr dirty="0"/>
              <a:t>slot/rate</a:t>
            </a:r>
            <a:r>
              <a:rPr spc="300" dirty="0"/>
              <a:t> </a:t>
            </a:r>
            <a:r>
              <a:rPr dirty="0"/>
              <a:t>of</a:t>
            </a:r>
            <a:r>
              <a:rPr spc="300" dirty="0"/>
              <a:t> </a:t>
            </a:r>
            <a:r>
              <a:rPr dirty="0"/>
              <a:t>a</a:t>
            </a:r>
            <a:r>
              <a:rPr spc="305" dirty="0"/>
              <a:t> </a:t>
            </a:r>
            <a:r>
              <a:rPr dirty="0"/>
              <a:t>medium</a:t>
            </a:r>
            <a:r>
              <a:rPr spc="285" dirty="0"/>
              <a:t> </a:t>
            </a:r>
            <a:r>
              <a:rPr dirty="0"/>
              <a:t>linking</a:t>
            </a:r>
            <a:r>
              <a:rPr spc="305" dirty="0"/>
              <a:t> </a:t>
            </a:r>
            <a:r>
              <a:rPr spc="-25" dirty="0"/>
              <a:t>two 	</a:t>
            </a:r>
            <a:r>
              <a:rPr dirty="0"/>
              <a:t>devices</a:t>
            </a:r>
            <a:r>
              <a:rPr spc="335" dirty="0"/>
              <a:t> </a:t>
            </a:r>
            <a:r>
              <a:rPr dirty="0"/>
              <a:t>is</a:t>
            </a:r>
            <a:r>
              <a:rPr spc="335" dirty="0"/>
              <a:t> </a:t>
            </a:r>
            <a:r>
              <a:rPr dirty="0"/>
              <a:t>greater</a:t>
            </a:r>
            <a:r>
              <a:rPr spc="330" dirty="0"/>
              <a:t> </a:t>
            </a:r>
            <a:r>
              <a:rPr dirty="0"/>
              <a:t>than</a:t>
            </a:r>
            <a:r>
              <a:rPr spc="335" dirty="0"/>
              <a:t> </a:t>
            </a:r>
            <a:r>
              <a:rPr dirty="0"/>
              <a:t>the</a:t>
            </a:r>
            <a:r>
              <a:rPr spc="335" dirty="0"/>
              <a:t> </a:t>
            </a:r>
            <a:r>
              <a:rPr dirty="0"/>
              <a:t>needs</a:t>
            </a:r>
            <a:r>
              <a:rPr spc="340" dirty="0"/>
              <a:t> </a:t>
            </a:r>
            <a:r>
              <a:rPr dirty="0"/>
              <a:t>of</a:t>
            </a:r>
            <a:r>
              <a:rPr spc="325" dirty="0"/>
              <a:t> </a:t>
            </a:r>
            <a:r>
              <a:rPr dirty="0"/>
              <a:t>the</a:t>
            </a:r>
            <a:r>
              <a:rPr spc="340" dirty="0"/>
              <a:t> </a:t>
            </a:r>
            <a:r>
              <a:rPr dirty="0"/>
              <a:t>devices,</a:t>
            </a:r>
            <a:r>
              <a:rPr spc="335" dirty="0"/>
              <a:t> </a:t>
            </a:r>
            <a:r>
              <a:rPr dirty="0"/>
              <a:t>the</a:t>
            </a:r>
            <a:r>
              <a:rPr spc="325" dirty="0"/>
              <a:t> </a:t>
            </a:r>
            <a:r>
              <a:rPr dirty="0"/>
              <a:t>link</a:t>
            </a:r>
            <a:r>
              <a:rPr spc="330" dirty="0"/>
              <a:t> </a:t>
            </a:r>
            <a:r>
              <a:rPr dirty="0"/>
              <a:t>can</a:t>
            </a:r>
            <a:r>
              <a:rPr spc="335" dirty="0"/>
              <a:t> </a:t>
            </a:r>
            <a:r>
              <a:rPr spc="-25" dirty="0"/>
              <a:t>be 	</a:t>
            </a:r>
            <a:r>
              <a:rPr u="heavy" spc="-10" dirty="0">
                <a:uFill>
                  <a:solidFill>
                    <a:srgbClr val="C00000"/>
                  </a:solidFill>
                </a:uFill>
              </a:rPr>
              <a:t>shared</a:t>
            </a:r>
          </a:p>
          <a:p>
            <a:pPr marL="353060" indent="-340360" algn="just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3060" algn="l"/>
              </a:tabLst>
            </a:pPr>
            <a:r>
              <a:rPr dirty="0"/>
              <a:t>Multiplexing</a:t>
            </a:r>
            <a:r>
              <a:rPr spc="145" dirty="0"/>
              <a:t> </a:t>
            </a:r>
            <a:r>
              <a:rPr dirty="0"/>
              <a:t>is</a:t>
            </a:r>
            <a:r>
              <a:rPr spc="145" dirty="0"/>
              <a:t> </a:t>
            </a:r>
            <a:r>
              <a:rPr dirty="0"/>
              <a:t>the</a:t>
            </a:r>
            <a:r>
              <a:rPr spc="150" dirty="0"/>
              <a:t> </a:t>
            </a:r>
            <a:r>
              <a:rPr dirty="0"/>
              <a:t>set</a:t>
            </a:r>
            <a:r>
              <a:rPr spc="145" dirty="0"/>
              <a:t> </a:t>
            </a:r>
            <a:r>
              <a:rPr dirty="0"/>
              <a:t>of</a:t>
            </a:r>
            <a:r>
              <a:rPr spc="140" dirty="0"/>
              <a:t> </a:t>
            </a:r>
            <a:r>
              <a:rPr dirty="0"/>
              <a:t>techniques</a:t>
            </a:r>
            <a:r>
              <a:rPr spc="150" dirty="0"/>
              <a:t> </a:t>
            </a:r>
            <a:r>
              <a:rPr dirty="0"/>
              <a:t>that</a:t>
            </a:r>
            <a:r>
              <a:rPr spc="150" dirty="0"/>
              <a:t> </a:t>
            </a:r>
            <a:r>
              <a:rPr dirty="0"/>
              <a:t>allows</a:t>
            </a:r>
            <a:r>
              <a:rPr spc="150" dirty="0"/>
              <a:t> </a:t>
            </a:r>
            <a:r>
              <a:rPr dirty="0"/>
              <a:t>the</a:t>
            </a:r>
            <a:r>
              <a:rPr spc="150" dirty="0"/>
              <a:t> </a:t>
            </a:r>
            <a:r>
              <a:rPr spc="-10" dirty="0"/>
              <a:t>simultaneous</a:t>
            </a:r>
          </a:p>
          <a:p>
            <a:pPr marL="355600" algn="just">
              <a:lnSpc>
                <a:spcPts val="2850"/>
              </a:lnSpc>
            </a:pPr>
            <a:r>
              <a:rPr dirty="0"/>
              <a:t>transmission</a:t>
            </a:r>
            <a:r>
              <a:rPr spc="-40" dirty="0"/>
              <a:t> </a:t>
            </a:r>
            <a:r>
              <a:rPr dirty="0"/>
              <a:t>of</a:t>
            </a:r>
            <a:r>
              <a:rPr spc="-15" dirty="0"/>
              <a:t> </a:t>
            </a:r>
            <a:r>
              <a:rPr dirty="0"/>
              <a:t>multiple</a:t>
            </a:r>
            <a:r>
              <a:rPr spc="-40" dirty="0"/>
              <a:t> </a:t>
            </a:r>
            <a:r>
              <a:rPr dirty="0"/>
              <a:t>signals</a:t>
            </a:r>
            <a:r>
              <a:rPr spc="-35" dirty="0"/>
              <a:t> </a:t>
            </a:r>
            <a:r>
              <a:rPr dirty="0"/>
              <a:t>across</a:t>
            </a:r>
            <a:r>
              <a:rPr spc="-15" dirty="0"/>
              <a:t> </a:t>
            </a:r>
            <a:r>
              <a:rPr dirty="0"/>
              <a:t>a</a:t>
            </a:r>
            <a:r>
              <a:rPr spc="-20" dirty="0"/>
              <a:t> </a:t>
            </a:r>
            <a:r>
              <a:rPr dirty="0"/>
              <a:t>single</a:t>
            </a:r>
            <a:r>
              <a:rPr spc="-40" dirty="0"/>
              <a:t> </a:t>
            </a:r>
            <a:r>
              <a:rPr dirty="0"/>
              <a:t>data</a:t>
            </a:r>
            <a:r>
              <a:rPr spc="-25" dirty="0"/>
              <a:t> </a:t>
            </a:r>
            <a:r>
              <a:rPr spc="-20" dirty="0"/>
              <a:t>link</a:t>
            </a:r>
          </a:p>
        </p:txBody>
      </p:sp>
      <p:sp>
        <p:nvSpPr>
          <p:cNvPr id="4" name="object 4"/>
          <p:cNvSpPr/>
          <p:nvPr/>
        </p:nvSpPr>
        <p:spPr>
          <a:xfrm>
            <a:off x="686562" y="1864614"/>
            <a:ext cx="757555" cy="0"/>
          </a:xfrm>
          <a:custGeom>
            <a:avLst/>
            <a:gdLst/>
            <a:ahLst/>
            <a:cxnLst/>
            <a:rect l="l" t="t" r="r" b="b"/>
            <a:pathLst>
              <a:path w="757555">
                <a:moveTo>
                  <a:pt x="0" y="0"/>
                </a:moveTo>
                <a:lnTo>
                  <a:pt x="757428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12914" y="2649473"/>
            <a:ext cx="1477010" cy="0"/>
          </a:xfrm>
          <a:custGeom>
            <a:avLst/>
            <a:gdLst/>
            <a:ahLst/>
            <a:cxnLst/>
            <a:rect l="l" t="t" r="r" b="b"/>
            <a:pathLst>
              <a:path w="1477009">
                <a:moveTo>
                  <a:pt x="0" y="0"/>
                </a:moveTo>
                <a:lnTo>
                  <a:pt x="1476755" y="0"/>
                </a:lnTo>
              </a:path>
            </a:pathLst>
          </a:custGeom>
          <a:ln w="28956">
            <a:solidFill>
              <a:srgbClr val="C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01145" rIns="0" bIns="0" rtlCol="0">
            <a:spAutoFit/>
          </a:bodyPr>
          <a:lstStyle/>
          <a:p>
            <a:pPr marL="355600" marR="5080" indent="-342900">
              <a:lnSpc>
                <a:spcPts val="2360"/>
              </a:lnSpc>
              <a:spcBef>
                <a:spcPts val="215"/>
              </a:spcBef>
              <a:buFont typeface="Arial MT"/>
              <a:buChar char="•"/>
              <a:tabLst>
                <a:tab pos="355600" algn="l"/>
              </a:tabLst>
            </a:pPr>
            <a:r>
              <a:rPr sz="2000" dirty="0"/>
              <a:t>A</a:t>
            </a:r>
            <a:r>
              <a:rPr sz="2000" spc="175" dirty="0"/>
              <a:t> </a:t>
            </a:r>
            <a:r>
              <a:rPr sz="2000" dirty="0"/>
              <a:t>Multiplexer</a:t>
            </a:r>
            <a:r>
              <a:rPr sz="2000" spc="265" dirty="0"/>
              <a:t> </a:t>
            </a:r>
            <a:r>
              <a:rPr sz="2000" dirty="0"/>
              <a:t>(MUX)</a:t>
            </a:r>
            <a:r>
              <a:rPr sz="2000" spc="270" dirty="0"/>
              <a:t> </a:t>
            </a:r>
            <a:r>
              <a:rPr sz="2000" dirty="0"/>
              <a:t>is</a:t>
            </a:r>
            <a:r>
              <a:rPr sz="2000" spc="270" dirty="0"/>
              <a:t> </a:t>
            </a:r>
            <a:r>
              <a:rPr sz="2000" dirty="0"/>
              <a:t>a</a:t>
            </a:r>
            <a:r>
              <a:rPr sz="2000" spc="250" dirty="0"/>
              <a:t> </a:t>
            </a:r>
            <a:r>
              <a:rPr sz="2000" dirty="0"/>
              <a:t>device</a:t>
            </a:r>
            <a:r>
              <a:rPr sz="2000" spc="270" dirty="0"/>
              <a:t> </a:t>
            </a:r>
            <a:r>
              <a:rPr sz="2000" dirty="0"/>
              <a:t>that</a:t>
            </a:r>
            <a:r>
              <a:rPr sz="2000" spc="270" dirty="0"/>
              <a:t> </a:t>
            </a:r>
            <a:r>
              <a:rPr sz="2000" dirty="0"/>
              <a:t>combines</a:t>
            </a:r>
            <a:r>
              <a:rPr sz="2000" spc="270" dirty="0"/>
              <a:t> </a:t>
            </a:r>
            <a:r>
              <a:rPr sz="2000" dirty="0"/>
              <a:t>several</a:t>
            </a:r>
            <a:r>
              <a:rPr sz="2000" spc="270" dirty="0"/>
              <a:t> </a:t>
            </a:r>
            <a:r>
              <a:rPr sz="2000" dirty="0"/>
              <a:t>signals</a:t>
            </a:r>
            <a:r>
              <a:rPr sz="2000" spc="265" dirty="0"/>
              <a:t> </a:t>
            </a:r>
            <a:r>
              <a:rPr sz="2000" dirty="0"/>
              <a:t>into</a:t>
            </a:r>
            <a:r>
              <a:rPr sz="2000" spc="275" dirty="0"/>
              <a:t> </a:t>
            </a:r>
            <a:r>
              <a:rPr sz="2000" dirty="0"/>
              <a:t>a</a:t>
            </a:r>
            <a:r>
              <a:rPr sz="2000" spc="265" dirty="0"/>
              <a:t> </a:t>
            </a:r>
            <a:r>
              <a:rPr sz="2000" spc="-10" dirty="0"/>
              <a:t>single signal</a:t>
            </a:r>
            <a:endParaRPr sz="2000"/>
          </a:p>
          <a:p>
            <a:pPr marL="354965" indent="-342265">
              <a:lnSpc>
                <a:spcPct val="100000"/>
              </a:lnSpc>
              <a:spcBef>
                <a:spcPts val="1325"/>
              </a:spcBef>
              <a:buFont typeface="Arial MT"/>
              <a:buChar char="•"/>
              <a:tabLst>
                <a:tab pos="354965" algn="l"/>
              </a:tabLst>
            </a:pPr>
            <a:r>
              <a:rPr sz="2000" dirty="0"/>
              <a:t>A</a:t>
            </a:r>
            <a:r>
              <a:rPr sz="2000" spc="-120" dirty="0"/>
              <a:t> </a:t>
            </a:r>
            <a:r>
              <a:rPr sz="2000" dirty="0"/>
              <a:t>Demultiplexer</a:t>
            </a:r>
            <a:r>
              <a:rPr sz="2000" spc="-45" dirty="0"/>
              <a:t> </a:t>
            </a:r>
            <a:r>
              <a:rPr sz="2000" dirty="0"/>
              <a:t>(DEMUX)</a:t>
            </a:r>
            <a:r>
              <a:rPr sz="2000" spc="-35" dirty="0"/>
              <a:t> </a:t>
            </a:r>
            <a:r>
              <a:rPr sz="2000" dirty="0"/>
              <a:t>is</a:t>
            </a:r>
            <a:r>
              <a:rPr sz="2000" spc="-25" dirty="0"/>
              <a:t> </a:t>
            </a:r>
            <a:r>
              <a:rPr sz="2000" dirty="0"/>
              <a:t>a</a:t>
            </a:r>
            <a:r>
              <a:rPr sz="2000" spc="-15" dirty="0"/>
              <a:t> </a:t>
            </a:r>
            <a:r>
              <a:rPr sz="2000" dirty="0"/>
              <a:t>device</a:t>
            </a:r>
            <a:r>
              <a:rPr sz="2000" spc="465" dirty="0"/>
              <a:t> </a:t>
            </a:r>
            <a:r>
              <a:rPr sz="2000" dirty="0"/>
              <a:t>that</a:t>
            </a:r>
            <a:r>
              <a:rPr sz="2000" spc="-30" dirty="0"/>
              <a:t> </a:t>
            </a:r>
            <a:r>
              <a:rPr sz="2000" dirty="0"/>
              <a:t>performs</a:t>
            </a:r>
            <a:r>
              <a:rPr sz="2000" spc="-45" dirty="0"/>
              <a:t> </a:t>
            </a:r>
            <a:r>
              <a:rPr sz="2000" dirty="0"/>
              <a:t>the</a:t>
            </a:r>
            <a:r>
              <a:rPr sz="2000" spc="-15" dirty="0"/>
              <a:t> </a:t>
            </a:r>
            <a:r>
              <a:rPr sz="2000" dirty="0"/>
              <a:t>inverse</a:t>
            </a:r>
            <a:r>
              <a:rPr sz="2000" spc="-50" dirty="0"/>
              <a:t> </a:t>
            </a:r>
            <a:r>
              <a:rPr sz="2000" spc="-10" dirty="0"/>
              <a:t>operation</a:t>
            </a:r>
            <a:endParaRPr sz="200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Multiplexing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31519" y="3095244"/>
            <a:ext cx="7680959" cy="1383792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997912"/>
            <a:ext cx="7075805" cy="88646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M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ore</a:t>
            </a:r>
            <a:r>
              <a:rPr sz="2400" u="heavy" spc="-5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than</a:t>
            </a:r>
            <a:r>
              <a:rPr sz="2400" u="heavy" spc="-3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one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sent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over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 single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medium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bandwidth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medium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</a:t>
            </a:r>
            <a:r>
              <a:rPr sz="2400" u="heavy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tilized</a:t>
            </a:r>
            <a:r>
              <a:rPr sz="2400" u="heavy" spc="-4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 </a:t>
            </a:r>
            <a:r>
              <a:rPr sz="2400" u="heavy" spc="-10" dirty="0">
                <a:uFill>
                  <a:solidFill>
                    <a:srgbClr val="C00000"/>
                  </a:solidFill>
                </a:uFill>
                <a:latin typeface="Times New Roman"/>
                <a:cs typeface="Times New Roman"/>
              </a:rPr>
              <a:t>effectivel</a:t>
            </a:r>
            <a:r>
              <a:rPr sz="2400" spc="-10" dirty="0">
                <a:latin typeface="Times New Roman"/>
                <a:cs typeface="Times New Roman"/>
              </a:rPr>
              <a:t>y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Advantages</a:t>
            </a:r>
            <a:r>
              <a:rPr spc="-85" dirty="0"/>
              <a:t> </a:t>
            </a:r>
            <a:r>
              <a:rPr dirty="0"/>
              <a:t>of</a:t>
            </a:r>
            <a:r>
              <a:rPr spc="-60" dirty="0"/>
              <a:t> </a:t>
            </a:r>
            <a:r>
              <a:rPr spc="-10" dirty="0"/>
              <a:t>Multiplexing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28244" y="1491995"/>
            <a:ext cx="8304276" cy="2404872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Categories</a:t>
            </a:r>
            <a:r>
              <a:rPr spc="-85" dirty="0"/>
              <a:t> </a:t>
            </a:r>
            <a:r>
              <a:rPr dirty="0"/>
              <a:t>of</a:t>
            </a:r>
            <a:r>
              <a:rPr spc="-40" dirty="0"/>
              <a:t> </a:t>
            </a:r>
            <a:r>
              <a:rPr spc="-10" dirty="0"/>
              <a:t>multiplexing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711" rIns="0" bIns="0" rtlCol="0">
            <a:spAutoFit/>
          </a:bodyPr>
          <a:lstStyle/>
          <a:p>
            <a:pPr marL="353060" marR="5080" indent="-34036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FDM</a:t>
            </a:r>
            <a:r>
              <a:rPr spc="150" dirty="0"/>
              <a:t>  </a:t>
            </a:r>
            <a:r>
              <a:rPr dirty="0"/>
              <a:t>is</a:t>
            </a:r>
            <a:r>
              <a:rPr spc="145" dirty="0"/>
              <a:t>  </a:t>
            </a:r>
            <a:r>
              <a:rPr dirty="0"/>
              <a:t>an</a:t>
            </a:r>
            <a:r>
              <a:rPr spc="135" dirty="0"/>
              <a:t>  </a:t>
            </a:r>
            <a:r>
              <a:rPr dirty="0"/>
              <a:t>analog</a:t>
            </a:r>
            <a:r>
              <a:rPr spc="150" dirty="0"/>
              <a:t>  </a:t>
            </a:r>
            <a:r>
              <a:rPr dirty="0"/>
              <a:t>technique</a:t>
            </a:r>
            <a:r>
              <a:rPr spc="145" dirty="0"/>
              <a:t>  </a:t>
            </a:r>
            <a:r>
              <a:rPr dirty="0"/>
              <a:t>that</a:t>
            </a:r>
            <a:r>
              <a:rPr spc="145" dirty="0"/>
              <a:t>  </a:t>
            </a:r>
            <a:r>
              <a:rPr dirty="0"/>
              <a:t>can</a:t>
            </a:r>
            <a:r>
              <a:rPr spc="145" dirty="0"/>
              <a:t>  </a:t>
            </a:r>
            <a:r>
              <a:rPr dirty="0"/>
              <a:t>be</a:t>
            </a:r>
            <a:r>
              <a:rPr spc="145" dirty="0"/>
              <a:t>  </a:t>
            </a:r>
            <a:r>
              <a:rPr dirty="0"/>
              <a:t>applied</a:t>
            </a:r>
            <a:r>
              <a:rPr spc="140" dirty="0"/>
              <a:t>  </a:t>
            </a:r>
            <a:r>
              <a:rPr dirty="0"/>
              <a:t>when</a:t>
            </a:r>
            <a:r>
              <a:rPr spc="145" dirty="0"/>
              <a:t>  </a:t>
            </a:r>
            <a:r>
              <a:rPr spc="-25" dirty="0"/>
              <a:t>the 	</a:t>
            </a:r>
            <a:r>
              <a:rPr dirty="0"/>
              <a:t>bandwidth</a:t>
            </a:r>
            <a:r>
              <a:rPr spc="-20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dirty="0"/>
              <a:t>a</a:t>
            </a:r>
            <a:r>
              <a:rPr spc="-10" dirty="0"/>
              <a:t> </a:t>
            </a:r>
            <a:r>
              <a:rPr dirty="0"/>
              <a:t>link</a:t>
            </a:r>
            <a:r>
              <a:rPr spc="-25" dirty="0"/>
              <a:t> </a:t>
            </a:r>
            <a:r>
              <a:rPr dirty="0"/>
              <a:t>is</a:t>
            </a:r>
            <a:r>
              <a:rPr spc="-10" dirty="0"/>
              <a:t> </a:t>
            </a:r>
            <a:r>
              <a:rPr dirty="0"/>
              <a:t>greater</a:t>
            </a:r>
            <a:r>
              <a:rPr spc="-10" dirty="0"/>
              <a:t> </a:t>
            </a:r>
            <a:r>
              <a:rPr dirty="0"/>
              <a:t>than</a:t>
            </a:r>
            <a:r>
              <a:rPr spc="-20" dirty="0"/>
              <a:t> </a:t>
            </a:r>
            <a:r>
              <a:rPr dirty="0"/>
              <a:t>the</a:t>
            </a:r>
            <a:r>
              <a:rPr spc="-15" dirty="0"/>
              <a:t> </a:t>
            </a:r>
            <a:r>
              <a:rPr dirty="0"/>
              <a:t>combined</a:t>
            </a:r>
            <a:r>
              <a:rPr spc="-15" dirty="0"/>
              <a:t> </a:t>
            </a:r>
            <a:r>
              <a:rPr dirty="0"/>
              <a:t>bandwidths</a:t>
            </a:r>
            <a:r>
              <a:rPr spc="-15" dirty="0"/>
              <a:t> </a:t>
            </a:r>
            <a:r>
              <a:rPr dirty="0"/>
              <a:t>of</a:t>
            </a:r>
            <a:r>
              <a:rPr spc="-20" dirty="0"/>
              <a:t> </a:t>
            </a:r>
            <a:r>
              <a:rPr spc="-25" dirty="0"/>
              <a:t>the 	</a:t>
            </a:r>
            <a:r>
              <a:rPr dirty="0"/>
              <a:t>signals</a:t>
            </a:r>
            <a:r>
              <a:rPr spc="-15" dirty="0"/>
              <a:t> </a:t>
            </a:r>
            <a:r>
              <a:rPr dirty="0"/>
              <a:t>to</a:t>
            </a:r>
            <a:r>
              <a:rPr spc="-25" dirty="0"/>
              <a:t> </a:t>
            </a:r>
            <a:r>
              <a:rPr dirty="0"/>
              <a:t>be</a:t>
            </a:r>
            <a:r>
              <a:rPr spc="5" dirty="0"/>
              <a:t> </a:t>
            </a:r>
            <a:r>
              <a:rPr spc="-10" dirty="0"/>
              <a:t>transmitted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Frequency</a:t>
            </a:r>
            <a:r>
              <a:rPr spc="-60" dirty="0"/>
              <a:t> </a:t>
            </a:r>
            <a:r>
              <a:rPr dirty="0"/>
              <a:t>division</a:t>
            </a:r>
            <a:r>
              <a:rPr spc="-60" dirty="0"/>
              <a:t> </a:t>
            </a:r>
            <a:r>
              <a:rPr dirty="0"/>
              <a:t>multiplexing</a:t>
            </a:r>
            <a:r>
              <a:rPr spc="-65" dirty="0"/>
              <a:t> </a:t>
            </a:r>
            <a:r>
              <a:rPr spc="-20" dirty="0"/>
              <a:t>(FDM)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02307" y="2388081"/>
            <a:ext cx="5713399" cy="2358807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FDM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711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774700" algn="l"/>
                <a:tab pos="1675130" algn="l"/>
                <a:tab pos="2687320" algn="l"/>
                <a:tab pos="4034790" algn="l"/>
                <a:tab pos="4502785" algn="l"/>
                <a:tab pos="5223510" algn="l"/>
                <a:tab pos="6182995" algn="l"/>
                <a:tab pos="7478395" algn="l"/>
              </a:tabLst>
            </a:pPr>
            <a:r>
              <a:rPr spc="-25" dirty="0"/>
              <a:t>In</a:t>
            </a:r>
            <a:r>
              <a:rPr dirty="0"/>
              <a:t>	</a:t>
            </a:r>
            <a:r>
              <a:rPr spc="-20" dirty="0"/>
              <a:t>FDM,</a:t>
            </a:r>
            <a:r>
              <a:rPr dirty="0"/>
              <a:t>	</a:t>
            </a:r>
            <a:r>
              <a:rPr spc="-10" dirty="0"/>
              <a:t>signals</a:t>
            </a:r>
            <a:r>
              <a:rPr dirty="0"/>
              <a:t>	</a:t>
            </a:r>
            <a:r>
              <a:rPr spc="-10" dirty="0"/>
              <a:t>generated</a:t>
            </a:r>
            <a:r>
              <a:rPr dirty="0"/>
              <a:t>	</a:t>
            </a:r>
            <a:r>
              <a:rPr spc="-25" dirty="0"/>
              <a:t>by</a:t>
            </a:r>
            <a:r>
              <a:rPr dirty="0"/>
              <a:t>	</a:t>
            </a:r>
            <a:r>
              <a:rPr spc="-20" dirty="0"/>
              <a:t>each</a:t>
            </a:r>
            <a:r>
              <a:rPr dirty="0"/>
              <a:t>	</a:t>
            </a:r>
            <a:r>
              <a:rPr spc="-10" dirty="0"/>
              <a:t>device</a:t>
            </a:r>
            <a:r>
              <a:rPr dirty="0"/>
              <a:t>	</a:t>
            </a:r>
            <a:r>
              <a:rPr spc="-10" dirty="0"/>
              <a:t>modulate</a:t>
            </a:r>
            <a:r>
              <a:rPr dirty="0"/>
              <a:t>	</a:t>
            </a:r>
            <a:r>
              <a:rPr spc="-10" dirty="0"/>
              <a:t>different</a:t>
            </a:r>
          </a:p>
          <a:p>
            <a:pPr marL="355600">
              <a:lnSpc>
                <a:spcPts val="2850"/>
              </a:lnSpc>
            </a:pPr>
            <a:r>
              <a:rPr dirty="0"/>
              <a:t>carrier</a:t>
            </a:r>
            <a:r>
              <a:rPr spc="-25" dirty="0"/>
              <a:t> </a:t>
            </a:r>
            <a:r>
              <a:rPr spc="-10" dirty="0"/>
              <a:t>frequencies</a:t>
            </a:r>
          </a:p>
          <a:p>
            <a:pPr marL="355600" marR="5080" indent="-342900">
              <a:lnSpc>
                <a:spcPts val="2820"/>
              </a:lnSpc>
              <a:spcBef>
                <a:spcPts val="710"/>
              </a:spcBef>
              <a:buFont typeface="Arial MT"/>
              <a:buChar char="•"/>
              <a:tabLst>
                <a:tab pos="355600" algn="l"/>
                <a:tab pos="1227455" algn="l"/>
                <a:tab pos="2654300" algn="l"/>
                <a:tab pos="3642995" algn="l"/>
                <a:tab pos="4157979" algn="l"/>
                <a:tab pos="5501005" algn="l"/>
                <a:tab pos="6118860" algn="l"/>
                <a:tab pos="6396355" algn="l"/>
                <a:tab pos="7267575" algn="l"/>
              </a:tabLst>
            </a:pPr>
            <a:r>
              <a:rPr spc="-10" dirty="0"/>
              <a:t>These</a:t>
            </a:r>
            <a:r>
              <a:rPr dirty="0"/>
              <a:t>	</a:t>
            </a:r>
            <a:r>
              <a:rPr spc="-10" dirty="0"/>
              <a:t>modulated</a:t>
            </a:r>
            <a:r>
              <a:rPr dirty="0"/>
              <a:t>	</a:t>
            </a:r>
            <a:r>
              <a:rPr spc="-10" dirty="0"/>
              <a:t>signals</a:t>
            </a:r>
            <a:r>
              <a:rPr dirty="0"/>
              <a:t>	</a:t>
            </a:r>
            <a:r>
              <a:rPr spc="-25" dirty="0"/>
              <a:t>are</a:t>
            </a:r>
            <a:r>
              <a:rPr dirty="0"/>
              <a:t>	</a:t>
            </a:r>
            <a:r>
              <a:rPr spc="-10" dirty="0"/>
              <a:t>combined</a:t>
            </a:r>
            <a:r>
              <a:rPr dirty="0"/>
              <a:t>	</a:t>
            </a:r>
            <a:r>
              <a:rPr spc="-20" dirty="0"/>
              <a:t>into</a:t>
            </a:r>
            <a:r>
              <a:rPr dirty="0"/>
              <a:t>	</a:t>
            </a:r>
            <a:r>
              <a:rPr spc="-50" dirty="0"/>
              <a:t>a</a:t>
            </a:r>
            <a:r>
              <a:rPr dirty="0"/>
              <a:t>	</a:t>
            </a:r>
            <a:r>
              <a:rPr spc="-10" dirty="0"/>
              <a:t>single</a:t>
            </a:r>
            <a:r>
              <a:rPr dirty="0"/>
              <a:t>	</a:t>
            </a:r>
            <a:r>
              <a:rPr spc="-10" dirty="0"/>
              <a:t>composite </a:t>
            </a:r>
            <a:r>
              <a:rPr dirty="0"/>
              <a:t>signal</a:t>
            </a:r>
            <a:r>
              <a:rPr spc="-30" dirty="0"/>
              <a:t> </a:t>
            </a:r>
            <a:r>
              <a:rPr dirty="0"/>
              <a:t>that</a:t>
            </a:r>
            <a:r>
              <a:rPr spc="-20" dirty="0"/>
              <a:t> </a:t>
            </a:r>
            <a:r>
              <a:rPr dirty="0"/>
              <a:t>can</a:t>
            </a:r>
            <a:r>
              <a:rPr spc="-15" dirty="0"/>
              <a:t> </a:t>
            </a:r>
            <a:r>
              <a:rPr dirty="0"/>
              <a:t>be</a:t>
            </a:r>
            <a:r>
              <a:rPr spc="-15" dirty="0"/>
              <a:t> </a:t>
            </a:r>
            <a:r>
              <a:rPr dirty="0"/>
              <a:t>transported</a:t>
            </a:r>
            <a:r>
              <a:rPr spc="-35" dirty="0"/>
              <a:t> </a:t>
            </a:r>
            <a:r>
              <a:rPr dirty="0"/>
              <a:t>by</a:t>
            </a:r>
            <a:r>
              <a:rPr spc="-5" dirty="0"/>
              <a:t> </a:t>
            </a:r>
            <a:r>
              <a:rPr dirty="0"/>
              <a:t>the</a:t>
            </a:r>
            <a:r>
              <a:rPr spc="-20" dirty="0"/>
              <a:t> link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735579" y="2642616"/>
            <a:ext cx="3723132" cy="2159508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Applications</a:t>
            </a:r>
            <a:r>
              <a:rPr spc="-45" dirty="0"/>
              <a:t> </a:t>
            </a:r>
            <a:r>
              <a:rPr dirty="0"/>
              <a:t>of</a:t>
            </a:r>
            <a:r>
              <a:rPr spc="-25" dirty="0"/>
              <a:t> FDM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97912"/>
            <a:ext cx="7955915" cy="886460"/>
          </a:xfrm>
          <a:prstGeom prst="rect">
            <a:avLst/>
          </a:prstGeom>
        </p:spPr>
        <p:txBody>
          <a:bodyPr vert="horz" wrap="square" lIns="0" tIns="7747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1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very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 application</a:t>
            </a:r>
            <a:r>
              <a:rPr sz="2400" spc="-6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FDM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radio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broadcasting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Another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common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FDM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television</a:t>
            </a:r>
            <a:r>
              <a:rPr sz="2400" spc="-5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broadcasting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FDM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991878"/>
            <a:ext cx="8530590" cy="1376680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70"/>
              </a:spcBef>
              <a:buFont typeface="Arial MT"/>
              <a:buChar char="•"/>
              <a:tabLst>
                <a:tab pos="354965" algn="l"/>
              </a:tabLst>
            </a:pPr>
            <a:r>
              <a:rPr sz="2300" spc="-25" dirty="0">
                <a:latin typeface="Times New Roman"/>
                <a:cs typeface="Times New Roman"/>
              </a:rPr>
              <a:t>Eg:</a:t>
            </a:r>
            <a:endParaRPr sz="2300">
              <a:latin typeface="Times New Roman"/>
              <a:cs typeface="Times New Roman"/>
            </a:endParaRPr>
          </a:p>
          <a:p>
            <a:pPr marL="756285" marR="5080" indent="-287020" algn="just">
              <a:lnSpc>
                <a:spcPct val="100000"/>
              </a:lnSpc>
              <a:spcBef>
                <a:spcPts val="465"/>
              </a:spcBef>
            </a:pPr>
            <a:r>
              <a:rPr sz="1900" dirty="0">
                <a:latin typeface="Arial MT"/>
                <a:cs typeface="Arial MT"/>
              </a:rPr>
              <a:t>–</a:t>
            </a:r>
            <a:r>
              <a:rPr sz="1900" spc="50" dirty="0">
                <a:latin typeface="Arial MT"/>
                <a:cs typeface="Arial MT"/>
              </a:rPr>
              <a:t>  </a:t>
            </a:r>
            <a:r>
              <a:rPr sz="1900" dirty="0">
                <a:latin typeface="Times New Roman"/>
                <a:cs typeface="Times New Roman"/>
              </a:rPr>
              <a:t>Five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channels,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each</a:t>
            </a:r>
            <a:r>
              <a:rPr sz="1900" spc="1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with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100-</a:t>
            </a:r>
            <a:r>
              <a:rPr sz="1900" dirty="0">
                <a:latin typeface="Times New Roman"/>
                <a:cs typeface="Times New Roman"/>
              </a:rPr>
              <a:t>kHz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bandwidth,</a:t>
            </a:r>
            <a:r>
              <a:rPr sz="1900" spc="1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are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multiplexed</a:t>
            </a:r>
            <a:r>
              <a:rPr sz="1900" spc="114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together. </a:t>
            </a:r>
            <a:r>
              <a:rPr sz="1900" dirty="0">
                <a:latin typeface="Times New Roman"/>
                <a:cs typeface="Times New Roman"/>
              </a:rPr>
              <a:t>What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8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minimum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bandwidth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link</a:t>
            </a:r>
            <a:r>
              <a:rPr sz="1900" spc="9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if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there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9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need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</a:t>
            </a:r>
            <a:r>
              <a:rPr sz="1900" spc="10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guard</a:t>
            </a:r>
            <a:r>
              <a:rPr sz="1900" spc="105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band </a:t>
            </a:r>
            <a:r>
              <a:rPr sz="1900" dirty="0">
                <a:latin typeface="Times New Roman"/>
                <a:cs typeface="Times New Roman"/>
              </a:rPr>
              <a:t>of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10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kHz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between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channels</a:t>
            </a:r>
            <a:r>
              <a:rPr sz="1900" spc="-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to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prevent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interference?</a:t>
            </a:r>
            <a:endParaRPr sz="19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307340" y="3364784"/>
            <a:ext cx="8530590" cy="13309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1900" spc="-10" dirty="0">
                <a:solidFill>
                  <a:srgbClr val="FF0000"/>
                </a:solidFill>
                <a:latin typeface="Times New Roman"/>
                <a:cs typeface="Times New Roman"/>
              </a:rPr>
              <a:t>Solution</a:t>
            </a:r>
            <a:endParaRPr sz="1900">
              <a:latin typeface="Times New Roman"/>
              <a:cs typeface="Times New Roman"/>
            </a:endParaRPr>
          </a:p>
          <a:p>
            <a:pPr marL="12700" marR="5080">
              <a:lnSpc>
                <a:spcPct val="100000"/>
              </a:lnSpc>
              <a:spcBef>
                <a:spcPts val="400"/>
              </a:spcBef>
            </a:pPr>
            <a:r>
              <a:rPr sz="1900" dirty="0">
                <a:latin typeface="Times New Roman"/>
                <a:cs typeface="Times New Roman"/>
              </a:rPr>
              <a:t>For</a:t>
            </a:r>
            <a:r>
              <a:rPr sz="1900" spc="3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five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channels,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we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need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least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four</a:t>
            </a:r>
            <a:r>
              <a:rPr sz="1900" spc="35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guard</a:t>
            </a:r>
            <a:r>
              <a:rPr sz="1900" spc="3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bands.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This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means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that</a:t>
            </a:r>
            <a:r>
              <a:rPr sz="1900" spc="3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the</a:t>
            </a:r>
            <a:r>
              <a:rPr sz="1900" spc="330" dirty="0">
                <a:latin typeface="Times New Roman"/>
                <a:cs typeface="Times New Roman"/>
              </a:rPr>
              <a:t> </a:t>
            </a:r>
            <a:r>
              <a:rPr sz="1900" spc="-10" dirty="0">
                <a:latin typeface="Times New Roman"/>
                <a:cs typeface="Times New Roman"/>
              </a:rPr>
              <a:t>required </a:t>
            </a:r>
            <a:r>
              <a:rPr sz="1900" dirty="0">
                <a:latin typeface="Times New Roman"/>
                <a:cs typeface="Times New Roman"/>
              </a:rPr>
              <a:t>bandwidth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is</a:t>
            </a:r>
            <a:r>
              <a:rPr sz="1900" spc="-3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at</a:t>
            </a:r>
            <a:r>
              <a:rPr sz="1900" spc="-40" dirty="0">
                <a:latin typeface="Times New Roman"/>
                <a:cs typeface="Times New Roman"/>
              </a:rPr>
              <a:t> </a:t>
            </a:r>
            <a:r>
              <a:rPr sz="1900" spc="-20" dirty="0">
                <a:latin typeface="Times New Roman"/>
                <a:cs typeface="Times New Roman"/>
              </a:rPr>
              <a:t>least</a:t>
            </a:r>
            <a:endParaRPr sz="1900">
              <a:latin typeface="Times New Roman"/>
              <a:cs typeface="Times New Roman"/>
            </a:endParaRPr>
          </a:p>
          <a:p>
            <a:pPr marL="2917825">
              <a:lnSpc>
                <a:spcPct val="100000"/>
              </a:lnSpc>
              <a:spcBef>
                <a:spcPts val="360"/>
              </a:spcBef>
            </a:pPr>
            <a:r>
              <a:rPr sz="1900" dirty="0">
                <a:latin typeface="Times New Roman"/>
                <a:cs typeface="Times New Roman"/>
              </a:rPr>
              <a:t>5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×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100</a:t>
            </a:r>
            <a:r>
              <a:rPr sz="1900" spc="-2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+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4</a:t>
            </a:r>
            <a:r>
              <a:rPr sz="1900" spc="-1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×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10</a:t>
            </a:r>
            <a:r>
              <a:rPr sz="1900" spc="-20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=</a:t>
            </a:r>
            <a:r>
              <a:rPr sz="1900" spc="-15" dirty="0">
                <a:latin typeface="Times New Roman"/>
                <a:cs typeface="Times New Roman"/>
              </a:rPr>
              <a:t> </a:t>
            </a:r>
            <a:r>
              <a:rPr sz="1900" dirty="0">
                <a:latin typeface="Times New Roman"/>
                <a:cs typeface="Times New Roman"/>
              </a:rPr>
              <a:t>540</a:t>
            </a:r>
            <a:r>
              <a:rPr sz="1900" spc="-25" dirty="0">
                <a:latin typeface="Times New Roman"/>
                <a:cs typeface="Times New Roman"/>
              </a:rPr>
              <a:t> kHz</a:t>
            </a:r>
            <a:endParaRPr sz="1900">
              <a:latin typeface="Times New Roman"/>
              <a:cs typeface="Times New Roman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19400" y="2420111"/>
            <a:ext cx="4335780" cy="1316736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8521" rIns="0" bIns="0" rtlCol="0">
            <a:spAutoFit/>
          </a:bodyPr>
          <a:lstStyle/>
          <a:p>
            <a:pPr marL="353060" marR="5080" indent="-340360" algn="just">
              <a:lnSpc>
                <a:spcPct val="99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TDM</a:t>
            </a:r>
            <a:r>
              <a:rPr spc="300" dirty="0"/>
              <a:t> </a:t>
            </a:r>
            <a:r>
              <a:rPr dirty="0"/>
              <a:t>is</a:t>
            </a:r>
            <a:r>
              <a:rPr spc="305" dirty="0"/>
              <a:t> </a:t>
            </a:r>
            <a:r>
              <a:rPr dirty="0"/>
              <a:t>a</a:t>
            </a:r>
            <a:r>
              <a:rPr spc="305" dirty="0"/>
              <a:t> </a:t>
            </a:r>
            <a:r>
              <a:rPr dirty="0"/>
              <a:t>digital</a:t>
            </a:r>
            <a:r>
              <a:rPr spc="300" dirty="0"/>
              <a:t> </a:t>
            </a:r>
            <a:r>
              <a:rPr dirty="0"/>
              <a:t>process</a:t>
            </a:r>
            <a:r>
              <a:rPr spc="300" dirty="0"/>
              <a:t> </a:t>
            </a:r>
            <a:r>
              <a:rPr dirty="0"/>
              <a:t>that</a:t>
            </a:r>
            <a:r>
              <a:rPr spc="310" dirty="0"/>
              <a:t> </a:t>
            </a:r>
            <a:r>
              <a:rPr dirty="0"/>
              <a:t>can</a:t>
            </a:r>
            <a:r>
              <a:rPr spc="300" dirty="0"/>
              <a:t> </a:t>
            </a:r>
            <a:r>
              <a:rPr dirty="0"/>
              <a:t>be</a:t>
            </a:r>
            <a:r>
              <a:rPr spc="300" dirty="0"/>
              <a:t> </a:t>
            </a:r>
            <a:r>
              <a:rPr dirty="0"/>
              <a:t>applied</a:t>
            </a:r>
            <a:r>
              <a:rPr spc="305" dirty="0"/>
              <a:t> </a:t>
            </a:r>
            <a:r>
              <a:rPr dirty="0"/>
              <a:t>when</a:t>
            </a:r>
            <a:r>
              <a:rPr spc="290" dirty="0"/>
              <a:t> </a:t>
            </a:r>
            <a:r>
              <a:rPr dirty="0"/>
              <a:t>the</a:t>
            </a:r>
            <a:r>
              <a:rPr spc="295" dirty="0"/>
              <a:t> </a:t>
            </a:r>
            <a:r>
              <a:rPr dirty="0"/>
              <a:t>data</a:t>
            </a:r>
            <a:r>
              <a:rPr spc="290" dirty="0"/>
              <a:t> </a:t>
            </a:r>
            <a:r>
              <a:rPr spc="-20" dirty="0"/>
              <a:t>rate 	</a:t>
            </a:r>
            <a:r>
              <a:rPr dirty="0"/>
              <a:t>capacity</a:t>
            </a:r>
            <a:r>
              <a:rPr spc="225" dirty="0"/>
              <a:t> </a:t>
            </a:r>
            <a:r>
              <a:rPr dirty="0"/>
              <a:t>of</a:t>
            </a:r>
            <a:r>
              <a:rPr spc="229" dirty="0"/>
              <a:t> </a:t>
            </a:r>
            <a:r>
              <a:rPr dirty="0"/>
              <a:t>the</a:t>
            </a:r>
            <a:r>
              <a:rPr spc="245" dirty="0"/>
              <a:t> </a:t>
            </a:r>
            <a:r>
              <a:rPr dirty="0"/>
              <a:t>transmission</a:t>
            </a:r>
            <a:r>
              <a:rPr spc="229" dirty="0"/>
              <a:t> </a:t>
            </a:r>
            <a:r>
              <a:rPr dirty="0"/>
              <a:t>medium</a:t>
            </a:r>
            <a:r>
              <a:rPr spc="220" dirty="0"/>
              <a:t> </a:t>
            </a:r>
            <a:r>
              <a:rPr dirty="0"/>
              <a:t>is</a:t>
            </a:r>
            <a:r>
              <a:rPr spc="240" dirty="0"/>
              <a:t> </a:t>
            </a:r>
            <a:r>
              <a:rPr dirty="0"/>
              <a:t>greater</a:t>
            </a:r>
            <a:r>
              <a:rPr spc="229" dirty="0"/>
              <a:t> </a:t>
            </a:r>
            <a:r>
              <a:rPr dirty="0"/>
              <a:t>than</a:t>
            </a:r>
            <a:r>
              <a:rPr spc="235" dirty="0"/>
              <a:t> </a:t>
            </a:r>
            <a:r>
              <a:rPr dirty="0"/>
              <a:t>the</a:t>
            </a:r>
            <a:r>
              <a:rPr spc="245" dirty="0"/>
              <a:t> </a:t>
            </a:r>
            <a:r>
              <a:rPr dirty="0"/>
              <a:t>data</a:t>
            </a:r>
            <a:r>
              <a:rPr spc="240" dirty="0"/>
              <a:t> </a:t>
            </a:r>
            <a:r>
              <a:rPr spc="-20" dirty="0"/>
              <a:t>rate 	</a:t>
            </a:r>
            <a:r>
              <a:rPr dirty="0"/>
              <a:t>required</a:t>
            </a:r>
            <a:r>
              <a:rPr spc="-30" dirty="0"/>
              <a:t> </a:t>
            </a:r>
            <a:r>
              <a:rPr dirty="0"/>
              <a:t>by the</a:t>
            </a:r>
            <a:r>
              <a:rPr spc="-20" dirty="0"/>
              <a:t> </a:t>
            </a:r>
            <a:r>
              <a:rPr dirty="0"/>
              <a:t>sending</a:t>
            </a:r>
            <a:r>
              <a:rPr spc="-30" dirty="0"/>
              <a:t> </a:t>
            </a:r>
            <a:r>
              <a:rPr dirty="0"/>
              <a:t>and</a:t>
            </a:r>
            <a:r>
              <a:rPr spc="-10" dirty="0"/>
              <a:t> </a:t>
            </a:r>
            <a:r>
              <a:rPr dirty="0"/>
              <a:t>receiving</a:t>
            </a:r>
            <a:r>
              <a:rPr spc="-35" dirty="0"/>
              <a:t> </a:t>
            </a:r>
            <a:r>
              <a:rPr spc="-10" dirty="0"/>
              <a:t>devices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Time</a:t>
            </a:r>
            <a:r>
              <a:rPr spc="-70" dirty="0"/>
              <a:t> </a:t>
            </a:r>
            <a:r>
              <a:rPr dirty="0"/>
              <a:t>division</a:t>
            </a:r>
            <a:r>
              <a:rPr spc="-65" dirty="0"/>
              <a:t> </a:t>
            </a:r>
            <a:r>
              <a:rPr dirty="0"/>
              <a:t>multiplexing</a:t>
            </a:r>
            <a:r>
              <a:rPr spc="-75" dirty="0"/>
              <a:t> </a:t>
            </a:r>
            <a:r>
              <a:rPr spc="-10" dirty="0"/>
              <a:t>(TDM)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28827" y="2420111"/>
            <a:ext cx="8386572" cy="177546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52526"/>
            <a:ext cx="929640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spc="-25" dirty="0">
                <a:latin typeface="Times New Roman"/>
                <a:cs typeface="Times New Roman"/>
              </a:rPr>
              <a:t>TDM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TDM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/>
          <p:nvPr/>
        </p:nvSpPr>
        <p:spPr>
          <a:xfrm>
            <a:off x="307340" y="990668"/>
            <a:ext cx="8529955" cy="3081020"/>
          </a:xfrm>
          <a:prstGeom prst="rect">
            <a:avLst/>
          </a:prstGeom>
        </p:spPr>
        <p:txBody>
          <a:bodyPr vert="horz" wrap="square" lIns="0" tIns="8445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66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TDM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implemented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two</a:t>
            </a:r>
            <a:r>
              <a:rPr sz="2400" spc="-20" dirty="0">
                <a:latin typeface="Times New Roman"/>
                <a:cs typeface="Times New Roman"/>
              </a:rPr>
              <a:t> ways</a:t>
            </a:r>
            <a:endParaRPr sz="24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75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Synchronous</a:t>
            </a:r>
            <a:r>
              <a:rPr sz="2000" spc="-90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TDM</a:t>
            </a:r>
            <a:endParaRPr sz="2000">
              <a:latin typeface="Times New Roman"/>
              <a:cs typeface="Times New Roman"/>
            </a:endParaRPr>
          </a:p>
          <a:p>
            <a:pPr marL="1213485" marR="5080" lvl="2" indent="-287020">
              <a:lnSpc>
                <a:spcPts val="2110"/>
              </a:lnSpc>
              <a:spcBef>
                <a:spcPts val="530"/>
              </a:spcBef>
              <a:buFont typeface="Arial MT"/>
              <a:buChar char="–"/>
              <a:tabLst>
                <a:tab pos="1213485" algn="l"/>
              </a:tabLst>
            </a:pPr>
            <a:r>
              <a:rPr sz="1800" dirty="0">
                <a:latin typeface="Times New Roman"/>
                <a:cs typeface="Times New Roman"/>
              </a:rPr>
              <a:t>In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synchronous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TDM,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every</a:t>
            </a:r>
            <a:r>
              <a:rPr sz="1800" spc="2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device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has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given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the</a:t>
            </a:r>
            <a:r>
              <a:rPr sz="1800" spc="229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same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2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slot</a:t>
            </a:r>
            <a:r>
              <a:rPr sz="1800" spc="2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21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transmit </a:t>
            </a:r>
            <a:r>
              <a:rPr sz="1800" spc="-20" dirty="0">
                <a:latin typeface="Times New Roman"/>
                <a:cs typeface="Times New Roman"/>
              </a:rPr>
              <a:t>data</a:t>
            </a:r>
            <a:endParaRPr sz="1800">
              <a:latin typeface="Times New Roman"/>
              <a:cs typeface="Times New Roman"/>
            </a:endParaRPr>
          </a:p>
          <a:p>
            <a:pPr marL="1213485" lvl="2" indent="-286385">
              <a:lnSpc>
                <a:spcPct val="100000"/>
              </a:lnSpc>
              <a:spcBef>
                <a:spcPts val="335"/>
              </a:spcBef>
              <a:buFont typeface="Arial MT"/>
              <a:buChar char="–"/>
              <a:tabLst>
                <a:tab pos="1213485" algn="l"/>
              </a:tabLst>
            </a:pPr>
            <a:r>
              <a:rPr sz="1800" spc="-10" dirty="0">
                <a:latin typeface="Times New Roman"/>
                <a:cs typeface="Times New Roman"/>
              </a:rPr>
              <a:t>Time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slots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grouped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into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frames</a:t>
            </a:r>
            <a:endParaRPr sz="1800">
              <a:latin typeface="Times New Roman"/>
              <a:cs typeface="Times New Roman"/>
            </a:endParaRPr>
          </a:p>
          <a:p>
            <a:pPr marL="756285" lvl="1" indent="-286385">
              <a:lnSpc>
                <a:spcPct val="100000"/>
              </a:lnSpc>
              <a:spcBef>
                <a:spcPts val="434"/>
              </a:spcBef>
              <a:buFont typeface="Arial MT"/>
              <a:buChar char="–"/>
              <a:tabLst>
                <a:tab pos="756285" algn="l"/>
              </a:tabLst>
            </a:pPr>
            <a:r>
              <a:rPr sz="2000" dirty="0">
                <a:latin typeface="Times New Roman"/>
                <a:cs typeface="Times New Roman"/>
              </a:rPr>
              <a:t>Asynchronous</a:t>
            </a:r>
            <a:r>
              <a:rPr sz="2000" spc="-85" dirty="0">
                <a:latin typeface="Times New Roman"/>
                <a:cs typeface="Times New Roman"/>
              </a:rPr>
              <a:t> </a:t>
            </a:r>
            <a:r>
              <a:rPr sz="2000" spc="-25" dirty="0">
                <a:latin typeface="Times New Roman"/>
                <a:cs typeface="Times New Roman"/>
              </a:rPr>
              <a:t>TDM</a:t>
            </a:r>
            <a:endParaRPr sz="2000">
              <a:latin typeface="Times New Roman"/>
              <a:cs typeface="Times New Roman"/>
            </a:endParaRPr>
          </a:p>
          <a:p>
            <a:pPr marL="1213485" lvl="2" indent="-286385">
              <a:lnSpc>
                <a:spcPct val="100000"/>
              </a:lnSpc>
              <a:spcBef>
                <a:spcPts val="420"/>
              </a:spcBef>
              <a:buFont typeface="Arial MT"/>
              <a:buChar char="–"/>
              <a:tabLst>
                <a:tab pos="1213485" algn="l"/>
              </a:tabLst>
            </a:pPr>
            <a:r>
              <a:rPr sz="1800" dirty="0">
                <a:latin typeface="Times New Roman"/>
                <a:cs typeface="Times New Roman"/>
              </a:rPr>
              <a:t>asynchronous</a:t>
            </a:r>
            <a:r>
              <a:rPr sz="1800" spc="-9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TDM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also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known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as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statistical</a:t>
            </a:r>
            <a:r>
              <a:rPr sz="1800" spc="-4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division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spc="-10" dirty="0">
                <a:latin typeface="Times New Roman"/>
                <a:cs typeface="Times New Roman"/>
              </a:rPr>
              <a:t>multiplexing</a:t>
            </a:r>
            <a:endParaRPr sz="1800">
              <a:latin typeface="Times New Roman"/>
              <a:cs typeface="Times New Roman"/>
            </a:endParaRPr>
          </a:p>
          <a:p>
            <a:pPr marL="1213485" lvl="2" indent="-286385">
              <a:lnSpc>
                <a:spcPct val="100000"/>
              </a:lnSpc>
              <a:spcBef>
                <a:spcPts val="395"/>
              </a:spcBef>
              <a:buFont typeface="Arial MT"/>
              <a:buChar char="–"/>
              <a:tabLst>
                <a:tab pos="1213485" algn="l"/>
              </a:tabLst>
            </a:pPr>
            <a:r>
              <a:rPr sz="1800" spc="-10" dirty="0">
                <a:latin typeface="Times New Roman"/>
                <a:cs typeface="Times New Roman"/>
              </a:rPr>
              <a:t>time-</a:t>
            </a:r>
            <a:r>
              <a:rPr sz="1800" dirty="0">
                <a:latin typeface="Times New Roman"/>
                <a:cs typeface="Times New Roman"/>
              </a:rPr>
              <a:t>slots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 not fixed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i.e.</a:t>
            </a:r>
            <a:r>
              <a:rPr sz="1800" spc="-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slots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are </a:t>
            </a:r>
            <a:r>
              <a:rPr sz="1800" spc="-10" dirty="0">
                <a:latin typeface="Times New Roman"/>
                <a:cs typeface="Times New Roman"/>
              </a:rPr>
              <a:t>flexible</a:t>
            </a:r>
            <a:endParaRPr sz="1800">
              <a:latin typeface="Times New Roman"/>
              <a:cs typeface="Times New Roman"/>
            </a:endParaRPr>
          </a:p>
          <a:p>
            <a:pPr marL="1213485" lvl="2" indent="-286385">
              <a:lnSpc>
                <a:spcPct val="100000"/>
              </a:lnSpc>
              <a:spcBef>
                <a:spcPts val="360"/>
              </a:spcBef>
              <a:buFont typeface="Arial MT"/>
              <a:buChar char="–"/>
              <a:tabLst>
                <a:tab pos="1213485" algn="l"/>
              </a:tabLst>
            </a:pP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device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wants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to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send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data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is</a:t>
            </a:r>
            <a:r>
              <a:rPr sz="1800" spc="-3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allotted</a:t>
            </a:r>
            <a:r>
              <a:rPr sz="1800" spc="-4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with</a:t>
            </a:r>
            <a:r>
              <a:rPr sz="1800" spc="-3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a</a:t>
            </a:r>
            <a:r>
              <a:rPr sz="1800" spc="-2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Times New Roman"/>
                <a:cs typeface="Times New Roman"/>
              </a:rPr>
              <a:t>time</a:t>
            </a:r>
            <a:r>
              <a:rPr sz="1800" spc="-15" dirty="0">
                <a:latin typeface="Times New Roman"/>
                <a:cs typeface="Times New Roman"/>
              </a:rPr>
              <a:t> </a:t>
            </a:r>
            <a:r>
              <a:rPr sz="1800" spc="-20" dirty="0">
                <a:latin typeface="Times New Roman"/>
                <a:cs typeface="Times New Roman"/>
              </a:rPr>
              <a:t>slot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Application</a:t>
            </a:r>
            <a:r>
              <a:rPr spc="-50" dirty="0"/>
              <a:t> </a:t>
            </a:r>
            <a:r>
              <a:rPr dirty="0"/>
              <a:t>of</a:t>
            </a:r>
            <a:r>
              <a:rPr spc="-50" dirty="0"/>
              <a:t> </a:t>
            </a:r>
            <a:r>
              <a:rPr spc="-25" dirty="0"/>
              <a:t>TDM</a:t>
            </a: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4711" rIns="0" bIns="0" rtlCol="0">
            <a:spAutoFit/>
          </a:bodyPr>
          <a:lstStyle/>
          <a:p>
            <a:pPr marL="354965" indent="-342265">
              <a:lnSpc>
                <a:spcPts val="285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It</a:t>
            </a:r>
            <a:r>
              <a:rPr spc="260" dirty="0"/>
              <a:t> </a:t>
            </a:r>
            <a:r>
              <a:rPr dirty="0"/>
              <a:t>used</a:t>
            </a:r>
            <a:r>
              <a:rPr spc="250" dirty="0"/>
              <a:t> </a:t>
            </a:r>
            <a:r>
              <a:rPr dirty="0"/>
              <a:t>in</a:t>
            </a:r>
            <a:r>
              <a:rPr spc="270" dirty="0"/>
              <a:t> </a:t>
            </a:r>
            <a:r>
              <a:rPr dirty="0"/>
              <a:t>ISDN</a:t>
            </a:r>
            <a:r>
              <a:rPr spc="270" dirty="0"/>
              <a:t> </a:t>
            </a:r>
            <a:r>
              <a:rPr dirty="0"/>
              <a:t>(Integrated</a:t>
            </a:r>
            <a:r>
              <a:rPr spc="270" dirty="0"/>
              <a:t> </a:t>
            </a:r>
            <a:r>
              <a:rPr dirty="0"/>
              <a:t>Services</a:t>
            </a:r>
            <a:r>
              <a:rPr spc="275" dirty="0"/>
              <a:t> </a:t>
            </a:r>
            <a:r>
              <a:rPr dirty="0"/>
              <a:t>Digital</a:t>
            </a:r>
            <a:r>
              <a:rPr spc="275" dirty="0"/>
              <a:t> </a:t>
            </a:r>
            <a:r>
              <a:rPr dirty="0"/>
              <a:t>Network)</a:t>
            </a:r>
            <a:r>
              <a:rPr spc="265" dirty="0"/>
              <a:t> </a:t>
            </a:r>
            <a:r>
              <a:rPr spc="-10" dirty="0"/>
              <a:t>telephone</a:t>
            </a:r>
          </a:p>
          <a:p>
            <a:pPr marL="355600">
              <a:lnSpc>
                <a:spcPts val="2850"/>
              </a:lnSpc>
            </a:pPr>
            <a:r>
              <a:rPr spc="-10" dirty="0"/>
              <a:t>lines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It</a:t>
            </a:r>
            <a:r>
              <a:rPr spc="-35" dirty="0"/>
              <a:t> </a:t>
            </a:r>
            <a:r>
              <a:rPr dirty="0"/>
              <a:t>is</a:t>
            </a:r>
            <a:r>
              <a:rPr spc="-40" dirty="0"/>
              <a:t> </a:t>
            </a:r>
            <a:r>
              <a:rPr dirty="0"/>
              <a:t>used</a:t>
            </a:r>
            <a:r>
              <a:rPr spc="-40" dirty="0"/>
              <a:t> </a:t>
            </a:r>
            <a:r>
              <a:rPr dirty="0"/>
              <a:t>in</a:t>
            </a:r>
            <a:r>
              <a:rPr spc="-45" dirty="0"/>
              <a:t> </a:t>
            </a:r>
            <a:r>
              <a:rPr dirty="0"/>
              <a:t>PSTN</a:t>
            </a:r>
            <a:r>
              <a:rPr spc="-25" dirty="0"/>
              <a:t> </a:t>
            </a:r>
            <a:r>
              <a:rPr dirty="0"/>
              <a:t>(Public</a:t>
            </a:r>
            <a:r>
              <a:rPr spc="-45" dirty="0"/>
              <a:t> </a:t>
            </a:r>
            <a:r>
              <a:rPr dirty="0"/>
              <a:t>Switched</a:t>
            </a:r>
            <a:r>
              <a:rPr spc="-90" dirty="0"/>
              <a:t> </a:t>
            </a:r>
            <a:r>
              <a:rPr spc="-10" dirty="0"/>
              <a:t>Telephone</a:t>
            </a:r>
            <a:r>
              <a:rPr spc="-60" dirty="0"/>
              <a:t> </a:t>
            </a:r>
            <a:r>
              <a:rPr spc="-10" dirty="0"/>
              <a:t>Network)</a:t>
            </a: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dirty="0"/>
              <a:t>It</a:t>
            </a:r>
            <a:r>
              <a:rPr spc="-15" dirty="0"/>
              <a:t> </a:t>
            </a:r>
            <a:r>
              <a:rPr dirty="0"/>
              <a:t>is</a:t>
            </a:r>
            <a:r>
              <a:rPr spc="-20" dirty="0"/>
              <a:t> </a:t>
            </a:r>
            <a:r>
              <a:rPr dirty="0"/>
              <a:t>used</a:t>
            </a:r>
            <a:r>
              <a:rPr spc="-20" dirty="0"/>
              <a:t> </a:t>
            </a:r>
            <a:r>
              <a:rPr dirty="0"/>
              <a:t>for</a:t>
            </a:r>
            <a:r>
              <a:rPr spc="-10" dirty="0"/>
              <a:t> </a:t>
            </a:r>
            <a:r>
              <a:rPr dirty="0"/>
              <a:t>some telephone</a:t>
            </a:r>
            <a:r>
              <a:rPr spc="-35" dirty="0"/>
              <a:t> </a:t>
            </a:r>
            <a:r>
              <a:rPr spc="-10" dirty="0"/>
              <a:t>system</a:t>
            </a:r>
          </a:p>
          <a:p>
            <a:pPr marL="355600" marR="6985" indent="-342900">
              <a:lnSpc>
                <a:spcPts val="282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</a:tabLst>
            </a:pPr>
            <a:r>
              <a:rPr dirty="0"/>
              <a:t>Note:</a:t>
            </a:r>
            <a:r>
              <a:rPr spc="260" dirty="0"/>
              <a:t> </a:t>
            </a:r>
            <a:r>
              <a:rPr dirty="0"/>
              <a:t>It</a:t>
            </a:r>
            <a:r>
              <a:rPr spc="250" dirty="0"/>
              <a:t> </a:t>
            </a:r>
            <a:r>
              <a:rPr dirty="0"/>
              <a:t>can</a:t>
            </a:r>
            <a:r>
              <a:rPr spc="245" dirty="0"/>
              <a:t> </a:t>
            </a:r>
            <a:r>
              <a:rPr dirty="0"/>
              <a:t>be</a:t>
            </a:r>
            <a:r>
              <a:rPr spc="260" dirty="0"/>
              <a:t> </a:t>
            </a:r>
            <a:r>
              <a:rPr dirty="0"/>
              <a:t>used</a:t>
            </a:r>
            <a:r>
              <a:rPr spc="235" dirty="0"/>
              <a:t> </a:t>
            </a:r>
            <a:r>
              <a:rPr dirty="0"/>
              <a:t>to</a:t>
            </a:r>
            <a:r>
              <a:rPr spc="245" dirty="0"/>
              <a:t> </a:t>
            </a:r>
            <a:r>
              <a:rPr dirty="0"/>
              <a:t>multiplex</a:t>
            </a:r>
            <a:r>
              <a:rPr spc="260" dirty="0"/>
              <a:t> </a:t>
            </a:r>
            <a:r>
              <a:rPr dirty="0"/>
              <a:t>both</a:t>
            </a:r>
            <a:r>
              <a:rPr spc="260" dirty="0"/>
              <a:t> </a:t>
            </a:r>
            <a:r>
              <a:rPr dirty="0"/>
              <a:t>digital</a:t>
            </a:r>
            <a:r>
              <a:rPr spc="270" dirty="0"/>
              <a:t> </a:t>
            </a:r>
            <a:r>
              <a:rPr dirty="0"/>
              <a:t>and</a:t>
            </a:r>
            <a:r>
              <a:rPr spc="254" dirty="0"/>
              <a:t> </a:t>
            </a:r>
            <a:r>
              <a:rPr dirty="0"/>
              <a:t>analog</a:t>
            </a:r>
            <a:r>
              <a:rPr spc="254" dirty="0"/>
              <a:t> </a:t>
            </a:r>
            <a:r>
              <a:rPr spc="-10" dirty="0"/>
              <a:t>signals </a:t>
            </a:r>
            <a:r>
              <a:rPr dirty="0"/>
              <a:t>but</a:t>
            </a:r>
            <a:r>
              <a:rPr spc="-20" dirty="0"/>
              <a:t> </a:t>
            </a:r>
            <a:r>
              <a:rPr dirty="0"/>
              <a:t>mainly</a:t>
            </a:r>
            <a:r>
              <a:rPr spc="-35" dirty="0"/>
              <a:t> </a:t>
            </a:r>
            <a:r>
              <a:rPr dirty="0"/>
              <a:t>used</a:t>
            </a:r>
            <a:r>
              <a:rPr spc="-1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multiplex</a:t>
            </a:r>
            <a:r>
              <a:rPr spc="-50" dirty="0"/>
              <a:t> </a:t>
            </a:r>
            <a:r>
              <a:rPr dirty="0"/>
              <a:t>digital</a:t>
            </a:r>
            <a:r>
              <a:rPr spc="-40" dirty="0"/>
              <a:t> </a:t>
            </a:r>
            <a:r>
              <a:rPr spc="-10" dirty="0"/>
              <a:t>signals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69924"/>
            <a:ext cx="8531860" cy="313563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3060" marR="6985" indent="-340360" algn="just">
              <a:lnSpc>
                <a:spcPct val="99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spc="-10" dirty="0">
                <a:latin typeface="Times New Roman"/>
                <a:cs typeface="Times New Roman"/>
              </a:rPr>
              <a:t>Wavelength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Division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Multiplexing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same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as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FDM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except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that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optical signals (electromagnetic</a:t>
            </a:r>
            <a:r>
              <a:rPr sz="2400" spc="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signal)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are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transmitted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 	</a:t>
            </a:r>
            <a:r>
              <a:rPr sz="2400" dirty="0">
                <a:latin typeface="Times New Roman"/>
                <a:cs typeface="Times New Roman"/>
              </a:rPr>
              <a:t>fiber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optic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Times New Roman"/>
                <a:cs typeface="Times New Roman"/>
              </a:rPr>
              <a:t>cable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WDM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used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on</a:t>
            </a:r>
            <a:r>
              <a:rPr sz="2400" spc="229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fiber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optics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2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increase</a:t>
            </a:r>
            <a:r>
              <a:rPr sz="2400" spc="2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capacity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2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2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single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spc="-10" dirty="0">
                <a:latin typeface="Times New Roman"/>
                <a:cs typeface="Times New Roman"/>
              </a:rPr>
              <a:t>fiber</a:t>
            </a:r>
            <a:endParaRPr sz="2400">
              <a:latin typeface="Times New Roman"/>
              <a:cs typeface="Times New Roman"/>
            </a:endParaRPr>
          </a:p>
          <a:p>
            <a:pPr marL="354965" indent="-342265">
              <a:lnSpc>
                <a:spcPct val="100000"/>
              </a:lnSpc>
              <a:spcBef>
                <a:spcPts val="505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latin typeface="Times New Roman"/>
                <a:cs typeface="Times New Roman"/>
              </a:rPr>
              <a:t>It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analog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multiplexing</a:t>
            </a:r>
            <a:r>
              <a:rPr sz="2400" spc="-4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technique</a:t>
            </a:r>
            <a:endParaRPr sz="2400">
              <a:latin typeface="Times New Roman"/>
              <a:cs typeface="Times New Roman"/>
            </a:endParaRPr>
          </a:p>
          <a:p>
            <a:pPr marL="355600" marR="5080" indent="-342900">
              <a:lnSpc>
                <a:spcPts val="2820"/>
              </a:lnSpc>
              <a:spcBef>
                <a:spcPts val="695"/>
              </a:spcBef>
              <a:buFont typeface="Arial MT"/>
              <a:buChar char="•"/>
              <a:tabLst>
                <a:tab pos="355600" algn="l"/>
                <a:tab pos="844550" algn="l"/>
                <a:tab pos="1402715" algn="l"/>
                <a:tab pos="2717800" algn="l"/>
                <a:tab pos="3417570" algn="l"/>
                <a:tab pos="5394325" algn="l"/>
                <a:tab pos="6693534" algn="l"/>
                <a:tab pos="7249795" algn="l"/>
                <a:tab pos="8279765" algn="l"/>
              </a:tabLst>
            </a:pPr>
            <a:r>
              <a:rPr sz="2400" spc="-25" dirty="0">
                <a:latin typeface="Times New Roman"/>
                <a:cs typeface="Times New Roman"/>
              </a:rPr>
              <a:t>At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receiving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0" dirty="0">
                <a:latin typeface="Times New Roman"/>
                <a:cs typeface="Times New Roman"/>
              </a:rPr>
              <a:t>end,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de-multiplexer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separates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10" dirty="0">
                <a:latin typeface="Times New Roman"/>
                <a:cs typeface="Times New Roman"/>
              </a:rPr>
              <a:t>signals</a:t>
            </a:r>
            <a:r>
              <a:rPr sz="2400" dirty="0">
                <a:latin typeface="Times New Roman"/>
                <a:cs typeface="Times New Roman"/>
              </a:rPr>
              <a:t>	</a:t>
            </a:r>
            <a:r>
              <a:rPr sz="2400" spc="-25" dirty="0">
                <a:latin typeface="Times New Roman"/>
                <a:cs typeface="Times New Roman"/>
              </a:rPr>
              <a:t>to </a:t>
            </a:r>
            <a:r>
              <a:rPr sz="2400" dirty="0">
                <a:latin typeface="Times New Roman"/>
                <a:cs typeface="Times New Roman"/>
              </a:rPr>
              <a:t>transmit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them</a:t>
            </a:r>
            <a:r>
              <a:rPr sz="2400" spc="-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their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respective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destinations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30" dirty="0"/>
              <a:t>Wavelength</a:t>
            </a:r>
            <a:r>
              <a:rPr spc="-70" dirty="0"/>
              <a:t> </a:t>
            </a:r>
            <a:r>
              <a:rPr dirty="0"/>
              <a:t>Division</a:t>
            </a:r>
            <a:r>
              <a:rPr spc="-45" dirty="0"/>
              <a:t> </a:t>
            </a:r>
            <a:r>
              <a:rPr dirty="0"/>
              <a:t>Multiplexing</a:t>
            </a:r>
            <a:r>
              <a:rPr spc="-60" dirty="0"/>
              <a:t> </a:t>
            </a:r>
            <a:r>
              <a:rPr spc="-10" dirty="0"/>
              <a:t>(WDM)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07340" y="1069924"/>
            <a:ext cx="8531225" cy="1911985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353060" marR="5080" indent="-340360" algn="just">
              <a:lnSpc>
                <a:spcPct val="99000"/>
              </a:lnSpc>
              <a:spcBef>
                <a:spcPts val="130"/>
              </a:spcBef>
              <a:buFont typeface="Arial MT"/>
              <a:buChar char="•"/>
              <a:tabLst>
                <a:tab pos="355600" algn="l"/>
              </a:tabLst>
            </a:pPr>
            <a:r>
              <a:rPr sz="2400" dirty="0">
                <a:latin typeface="Times New Roman"/>
                <a:cs typeface="Times New Roman"/>
              </a:rPr>
              <a:t>Prism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can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role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of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multiplexer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by</a:t>
            </a:r>
            <a:r>
              <a:rPr sz="2400" spc="10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combining</a:t>
            </a:r>
            <a:r>
              <a:rPr sz="2400" spc="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various 	</a:t>
            </a:r>
            <a:r>
              <a:rPr sz="2400" dirty="0">
                <a:latin typeface="Times New Roman"/>
                <a:cs typeface="Times New Roman"/>
              </a:rPr>
              <a:t>optical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signals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to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form</a:t>
            </a:r>
            <a:r>
              <a:rPr sz="2400" spc="59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composite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signal,</a:t>
            </a:r>
            <a:r>
              <a:rPr sz="2400" spc="15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and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dirty="0">
                <a:latin typeface="Times New Roman"/>
                <a:cs typeface="Times New Roman"/>
              </a:rPr>
              <a:t>the</a:t>
            </a:r>
            <a:r>
              <a:rPr sz="2400" spc="10" dirty="0">
                <a:latin typeface="Times New Roman"/>
                <a:cs typeface="Times New Roman"/>
              </a:rPr>
              <a:t>  </a:t>
            </a:r>
            <a:r>
              <a:rPr sz="2400" spc="-10" dirty="0">
                <a:latin typeface="Times New Roman"/>
                <a:cs typeface="Times New Roman"/>
              </a:rPr>
              <a:t>composite 	</a:t>
            </a:r>
            <a:r>
              <a:rPr sz="2400" dirty="0">
                <a:latin typeface="Times New Roman"/>
                <a:cs typeface="Times New Roman"/>
              </a:rPr>
              <a:t>signal</a:t>
            </a:r>
            <a:r>
              <a:rPr sz="2400" spc="-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is transmitted</a:t>
            </a:r>
            <a:r>
              <a:rPr sz="2400" spc="-3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through</a:t>
            </a:r>
            <a:r>
              <a:rPr sz="2400" spc="-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fibre</a:t>
            </a:r>
            <a:r>
              <a:rPr sz="2400" spc="-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optical</a:t>
            </a:r>
            <a:r>
              <a:rPr sz="2400" spc="-3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Times New Roman"/>
                <a:cs typeface="Times New Roman"/>
              </a:rPr>
              <a:t>cable</a:t>
            </a:r>
            <a:endParaRPr sz="2400">
              <a:latin typeface="Times New Roman"/>
              <a:cs typeface="Times New Roman"/>
            </a:endParaRPr>
          </a:p>
          <a:p>
            <a:pPr marL="353060" indent="-340360" algn="just">
              <a:lnSpc>
                <a:spcPts val="2850"/>
              </a:lnSpc>
              <a:spcBef>
                <a:spcPts val="565"/>
              </a:spcBef>
              <a:buFont typeface="Arial MT"/>
              <a:buChar char="•"/>
              <a:tabLst>
                <a:tab pos="353060" algn="l"/>
              </a:tabLst>
            </a:pPr>
            <a:r>
              <a:rPr sz="2400" dirty="0">
                <a:latin typeface="Times New Roman"/>
                <a:cs typeface="Times New Roman"/>
              </a:rPr>
              <a:t>Prism</a:t>
            </a:r>
            <a:r>
              <a:rPr sz="2400" spc="30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also</a:t>
            </a:r>
            <a:r>
              <a:rPr sz="2400" spc="3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performs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a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reverse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operation,</a:t>
            </a:r>
            <a:r>
              <a:rPr sz="2400" spc="3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i.e.,</a:t>
            </a:r>
            <a:r>
              <a:rPr sz="2400" spc="33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Times New Roman"/>
                <a:cs typeface="Times New Roman"/>
              </a:rPr>
              <a:t>demultiplexing</a:t>
            </a:r>
            <a:r>
              <a:rPr sz="2400" spc="32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Times New Roman"/>
                <a:cs typeface="Times New Roman"/>
              </a:rPr>
              <a:t>the</a:t>
            </a:r>
            <a:endParaRPr sz="2400">
              <a:latin typeface="Times New Roman"/>
              <a:cs typeface="Times New Roman"/>
            </a:endParaRPr>
          </a:p>
          <a:p>
            <a:pPr marL="355600">
              <a:lnSpc>
                <a:spcPts val="2850"/>
              </a:lnSpc>
            </a:pPr>
            <a:r>
              <a:rPr sz="2400" spc="-10" dirty="0">
                <a:latin typeface="Times New Roman"/>
                <a:cs typeface="Times New Roman"/>
              </a:rPr>
              <a:t>signal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25" dirty="0"/>
              <a:t>WDM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3563" y="3204972"/>
            <a:ext cx="6976872" cy="1289303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305"/>
              </a:lnSpc>
            </a:pPr>
            <a:endParaRPr spc="-1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1248</Words>
  <Application>Microsoft Office PowerPoint</Application>
  <PresentationFormat>On-screen Show (16:9)</PresentationFormat>
  <Paragraphs>229</Paragraphs>
  <Slides>50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50</vt:i4>
      </vt:variant>
    </vt:vector>
  </HeadingPairs>
  <TitlesOfParts>
    <vt:vector size="56" baseType="lpstr">
      <vt:lpstr>Arial MT</vt:lpstr>
      <vt:lpstr>Calibri</vt:lpstr>
      <vt:lpstr>Symbol</vt:lpstr>
      <vt:lpstr>Times New Roman</vt:lpstr>
      <vt:lpstr>Wingdings</vt:lpstr>
      <vt:lpstr>Office Theme</vt:lpstr>
      <vt:lpstr>GLA UNIVERSITY</vt:lpstr>
      <vt:lpstr>Switching</vt:lpstr>
      <vt:lpstr>Switch</vt:lpstr>
      <vt:lpstr>Switching Technique</vt:lpstr>
      <vt:lpstr>Switching Technique</vt:lpstr>
      <vt:lpstr>Classification of switched networks</vt:lpstr>
      <vt:lpstr>Circuit-switched networks</vt:lpstr>
      <vt:lpstr>Circuit Switching</vt:lpstr>
      <vt:lpstr>Circuit Switching</vt:lpstr>
      <vt:lpstr>Delay in a circuit-switched network</vt:lpstr>
      <vt:lpstr>Packet Switching</vt:lpstr>
      <vt:lpstr>Packet Switching</vt:lpstr>
      <vt:lpstr>Packet Switching</vt:lpstr>
      <vt:lpstr>Packet Switching</vt:lpstr>
      <vt:lpstr>Packet Switching</vt:lpstr>
      <vt:lpstr>Routing table</vt:lpstr>
      <vt:lpstr>Delay in network</vt:lpstr>
      <vt:lpstr>Datagram switching</vt:lpstr>
      <vt:lpstr>Datagram switching</vt:lpstr>
      <vt:lpstr>Datagram switching</vt:lpstr>
      <vt:lpstr>Virtual circuit switched networks</vt:lpstr>
      <vt:lpstr>Virtual circuit switched networks</vt:lpstr>
      <vt:lpstr>Virtual circuit switched networks</vt:lpstr>
      <vt:lpstr>Switch and tables in a virtual-circuit network</vt:lpstr>
      <vt:lpstr>Data transfer in a virtual-circuit network</vt:lpstr>
      <vt:lpstr>Virtual circuit switched networks</vt:lpstr>
      <vt:lpstr>Virtual circuit switched networks</vt:lpstr>
      <vt:lpstr>Virtual circuit switched networks</vt:lpstr>
      <vt:lpstr>Virtual circuit switched networks</vt:lpstr>
      <vt:lpstr>Delay in a virtual-circuit network</vt:lpstr>
      <vt:lpstr>Virtual circuit switched networks</vt:lpstr>
      <vt:lpstr>Advantages of packet switching</vt:lpstr>
      <vt:lpstr>Disadvantages of packet switching</vt:lpstr>
      <vt:lpstr>Message Switching</vt:lpstr>
      <vt:lpstr>Message Switching</vt:lpstr>
      <vt:lpstr>Multiplexing</vt:lpstr>
      <vt:lpstr>Multiplexing</vt:lpstr>
      <vt:lpstr>Multiplexing</vt:lpstr>
      <vt:lpstr>Advantages of Multiplexing</vt:lpstr>
      <vt:lpstr>Categories of multiplexing</vt:lpstr>
      <vt:lpstr>Frequency division multiplexing (FDM)</vt:lpstr>
      <vt:lpstr>FDM</vt:lpstr>
      <vt:lpstr>Applications of FDM</vt:lpstr>
      <vt:lpstr>FDM</vt:lpstr>
      <vt:lpstr>Time division multiplexing (TDM)</vt:lpstr>
      <vt:lpstr>PowerPoint Presentation</vt:lpstr>
      <vt:lpstr>TDM</vt:lpstr>
      <vt:lpstr>Application of TDM</vt:lpstr>
      <vt:lpstr>Wavelength Division Multiplexing (WDM)</vt:lpstr>
      <vt:lpstr>WDM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RadheyKrishna</dc:creator>
  <cp:lastModifiedBy>Admin</cp:lastModifiedBy>
  <cp:revision>1</cp:revision>
  <dcterms:created xsi:type="dcterms:W3CDTF">2024-08-06T04:56:30Z</dcterms:created>
  <dcterms:modified xsi:type="dcterms:W3CDTF">2024-08-06T05:02:02Z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2022-10-03T00:00:00Z</vt:filetime>
  </property>
  <property fmtid="{D5CDD505-2E9C-101B-9397-08002B2CF9AE}" pid="3" name="Creator">
    <vt:lpwstr>Microsoft® PowerPoint® 2013</vt:lpwstr>
  </property>
  <property fmtid="{D5CDD505-2E9C-101B-9397-08002B2CF9AE}" pid="4" name="LastSaved">
    <vt:filetime>2024-08-06T00:00:00Z</vt:filetime>
  </property>
  <property fmtid="{D5CDD505-2E9C-101B-9397-08002B2CF9AE}" pid="5" name="Producer">
    <vt:lpwstr>Microsoft® PowerPoint® 2013</vt:lpwstr>
  </property>
</Properties>
</file>
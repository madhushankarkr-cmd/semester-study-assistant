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9F9FD-E9A6-4C47-9635-47DAD1D3482D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22647-13FB-4B1A-AB96-5CDB0591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2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3A075-77D6-4B85-B85A-E4D8CC12734F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8B49F-02FD-472F-9FD8-890DBC56FCAD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123BD-C49E-4C3C-9151-46C3B4CB3988}" type="datetime1">
              <a:rPr lang="en-US" smtClean="0"/>
              <a:t>9/24/2024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9145778" y="0"/>
                </a:moveTo>
                <a:lnTo>
                  <a:pt x="0" y="0"/>
                </a:lnTo>
                <a:lnTo>
                  <a:pt x="0" y="35999"/>
                </a:lnTo>
                <a:lnTo>
                  <a:pt x="9145778" y="35999"/>
                </a:lnTo>
                <a:lnTo>
                  <a:pt x="914577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0" y="35999"/>
                </a:moveTo>
                <a:lnTo>
                  <a:pt x="9145778" y="35999"/>
                </a:lnTo>
                <a:lnTo>
                  <a:pt x="9145778" y="0"/>
                </a:lnTo>
                <a:lnTo>
                  <a:pt x="0" y="0"/>
                </a:lnTo>
                <a:lnTo>
                  <a:pt x="0" y="35999"/>
                </a:lnTo>
                <a:close/>
              </a:path>
            </a:pathLst>
          </a:custGeom>
          <a:ln w="635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178" y="19037"/>
            <a:ext cx="831278" cy="8063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7F8C-E9C6-40BF-AC54-4CFDE5C3DA31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2DB51-50EB-443B-ADA5-7BAE9D51EB97}" type="datetime1">
              <a:rPr lang="en-US" smtClean="0"/>
              <a:t>9/24/2024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0178" y="19037"/>
            <a:ext cx="831278" cy="80633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9145778" y="0"/>
                </a:moveTo>
                <a:lnTo>
                  <a:pt x="0" y="0"/>
                </a:lnTo>
                <a:lnTo>
                  <a:pt x="0" y="35999"/>
                </a:lnTo>
                <a:lnTo>
                  <a:pt x="9145778" y="35999"/>
                </a:lnTo>
                <a:lnTo>
                  <a:pt x="914577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0" y="35999"/>
                </a:moveTo>
                <a:lnTo>
                  <a:pt x="9145778" y="35999"/>
                </a:lnTo>
                <a:lnTo>
                  <a:pt x="9145778" y="0"/>
                </a:lnTo>
                <a:lnTo>
                  <a:pt x="0" y="0"/>
                </a:lnTo>
                <a:lnTo>
                  <a:pt x="0" y="35999"/>
                </a:lnTo>
                <a:close/>
              </a:path>
            </a:pathLst>
          </a:custGeom>
          <a:ln w="635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95198"/>
            <a:ext cx="711835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013199"/>
            <a:ext cx="8530590" cy="351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7591" y="4943984"/>
            <a:ext cx="112077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1858F-7487-4AEA-9873-B42B38607880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22690" y="4961421"/>
            <a:ext cx="281304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4948234"/>
            <a:ext cx="9155430" cy="193040"/>
            <a:chOff x="-6350" y="4948234"/>
            <a:chExt cx="9155430" cy="193040"/>
          </a:xfrm>
        </p:grpSpPr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3742" y="19037"/>
            <a:ext cx="9152255" cy="868044"/>
            <a:chOff x="-3742" y="19037"/>
            <a:chExt cx="9152255" cy="86804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635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83458" y="2337638"/>
            <a:ext cx="259969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cap="small" dirty="0">
                <a:latin typeface="Times New Roman"/>
                <a:cs typeface="Times New Roman"/>
              </a:rPr>
              <a:t>Flow</a:t>
            </a:r>
            <a:r>
              <a:rPr sz="2900" b="1" cap="small" spc="114" dirty="0">
                <a:latin typeface="Times New Roman"/>
                <a:cs typeface="Times New Roman"/>
              </a:rPr>
              <a:t> </a:t>
            </a:r>
            <a:r>
              <a:rPr sz="2900" b="1" cap="small" spc="-55" dirty="0">
                <a:latin typeface="Times New Roman"/>
                <a:cs typeface="Times New Roman"/>
              </a:rPr>
              <a:t>Control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2268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/>
              <a:t>The</a:t>
            </a:r>
            <a:r>
              <a:rPr sz="2000" spc="215" dirty="0"/>
              <a:t> </a:t>
            </a:r>
            <a:r>
              <a:rPr sz="2000" dirty="0"/>
              <a:t>most</a:t>
            </a:r>
            <a:r>
              <a:rPr sz="2000" spc="210" dirty="0"/>
              <a:t> </a:t>
            </a:r>
            <a:r>
              <a:rPr sz="2000" dirty="0"/>
              <a:t>important</a:t>
            </a:r>
            <a:r>
              <a:rPr sz="2000" spc="204" dirty="0"/>
              <a:t> </a:t>
            </a:r>
            <a:r>
              <a:rPr sz="2000" dirty="0"/>
              <a:t>responsibilities</a:t>
            </a:r>
            <a:r>
              <a:rPr sz="2000" spc="204" dirty="0"/>
              <a:t> </a:t>
            </a:r>
            <a:r>
              <a:rPr sz="2000" dirty="0"/>
              <a:t>of</a:t>
            </a:r>
            <a:r>
              <a:rPr sz="2000" spc="215" dirty="0"/>
              <a:t> </a:t>
            </a:r>
            <a:r>
              <a:rPr sz="2000" dirty="0"/>
              <a:t>the</a:t>
            </a:r>
            <a:r>
              <a:rPr sz="2000" spc="204" dirty="0"/>
              <a:t> </a:t>
            </a:r>
            <a:r>
              <a:rPr sz="2000" dirty="0"/>
              <a:t>data</a:t>
            </a:r>
            <a:r>
              <a:rPr sz="2000" spc="210" dirty="0"/>
              <a:t> </a:t>
            </a:r>
            <a:r>
              <a:rPr sz="2000" dirty="0"/>
              <a:t>link</a:t>
            </a:r>
            <a:r>
              <a:rPr sz="2000" spc="229" dirty="0"/>
              <a:t> </a:t>
            </a:r>
            <a:r>
              <a:rPr sz="2000" dirty="0"/>
              <a:t>layer</a:t>
            </a:r>
            <a:r>
              <a:rPr sz="2000" spc="204" dirty="0"/>
              <a:t> </a:t>
            </a:r>
            <a:r>
              <a:rPr sz="2000" dirty="0"/>
              <a:t>are</a:t>
            </a:r>
            <a:r>
              <a:rPr sz="2000" spc="210" dirty="0"/>
              <a:t> </a:t>
            </a:r>
            <a:r>
              <a:rPr sz="2000" dirty="0"/>
              <a:t>flow</a:t>
            </a:r>
            <a:r>
              <a:rPr sz="2000" spc="215" dirty="0"/>
              <a:t> </a:t>
            </a:r>
            <a:r>
              <a:rPr sz="2000" dirty="0"/>
              <a:t>control</a:t>
            </a:r>
            <a:r>
              <a:rPr sz="2000" spc="204" dirty="0"/>
              <a:t> </a:t>
            </a:r>
            <a:r>
              <a:rPr sz="2000" spc="-25" dirty="0"/>
              <a:t>and </a:t>
            </a:r>
            <a:r>
              <a:rPr sz="2000" dirty="0"/>
              <a:t>error</a:t>
            </a:r>
            <a:r>
              <a:rPr sz="2000" spc="-15" dirty="0"/>
              <a:t> </a:t>
            </a:r>
            <a:r>
              <a:rPr sz="2000" spc="-10" dirty="0"/>
              <a:t>control</a:t>
            </a:r>
            <a:endParaRPr sz="2000"/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10" dirty="0"/>
              <a:t>Collectively,</a:t>
            </a:r>
            <a:r>
              <a:rPr sz="2000" spc="-25" dirty="0"/>
              <a:t> </a:t>
            </a:r>
            <a:r>
              <a:rPr sz="2000" dirty="0"/>
              <a:t>these</a:t>
            </a:r>
            <a:r>
              <a:rPr sz="2000" spc="-25" dirty="0"/>
              <a:t> </a:t>
            </a:r>
            <a:r>
              <a:rPr sz="2000" dirty="0"/>
              <a:t>functions</a:t>
            </a:r>
            <a:r>
              <a:rPr sz="2000" spc="-40" dirty="0"/>
              <a:t> </a:t>
            </a:r>
            <a:r>
              <a:rPr sz="2000" dirty="0"/>
              <a:t>are</a:t>
            </a:r>
            <a:r>
              <a:rPr sz="2000" spc="-10" dirty="0"/>
              <a:t> </a:t>
            </a:r>
            <a:r>
              <a:rPr sz="2000" dirty="0"/>
              <a:t>known</a:t>
            </a:r>
            <a:r>
              <a:rPr sz="2000" spc="-40" dirty="0"/>
              <a:t> </a:t>
            </a:r>
            <a:r>
              <a:rPr sz="2000" dirty="0"/>
              <a:t>as</a:t>
            </a:r>
            <a:r>
              <a:rPr sz="2000" spc="-5" dirty="0"/>
              <a:t> </a:t>
            </a:r>
            <a:r>
              <a:rPr sz="2000" dirty="0"/>
              <a:t>data</a:t>
            </a:r>
            <a:r>
              <a:rPr sz="2000" spc="-25" dirty="0"/>
              <a:t> </a:t>
            </a:r>
            <a:r>
              <a:rPr sz="2000" dirty="0"/>
              <a:t>link</a:t>
            </a:r>
            <a:r>
              <a:rPr sz="2000" spc="-10" dirty="0"/>
              <a:t> control</a:t>
            </a:r>
            <a:endParaRPr sz="2000"/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/>
              <a:t>It</a:t>
            </a:r>
            <a:r>
              <a:rPr sz="2000" spc="-20" dirty="0"/>
              <a:t> </a:t>
            </a:r>
            <a:r>
              <a:rPr sz="2000" dirty="0"/>
              <a:t>is</a:t>
            </a:r>
            <a:r>
              <a:rPr sz="2000" spc="-15" dirty="0"/>
              <a:t> </a:t>
            </a:r>
            <a:r>
              <a:rPr sz="2000" dirty="0"/>
              <a:t>one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most important</a:t>
            </a:r>
            <a:r>
              <a:rPr sz="2000" spc="-45" dirty="0"/>
              <a:t> </a:t>
            </a:r>
            <a:r>
              <a:rPr sz="2000" dirty="0"/>
              <a:t>functions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20" dirty="0"/>
              <a:t> </a:t>
            </a:r>
            <a:r>
              <a:rPr sz="2000" dirty="0"/>
              <a:t>data</a:t>
            </a:r>
            <a:r>
              <a:rPr sz="2000" spc="-20" dirty="0"/>
              <a:t> </a:t>
            </a:r>
            <a:r>
              <a:rPr sz="2000" dirty="0"/>
              <a:t>link</a:t>
            </a:r>
            <a:r>
              <a:rPr sz="2000" spc="-15" dirty="0"/>
              <a:t> </a:t>
            </a:r>
            <a:r>
              <a:rPr sz="2000" spc="-10" dirty="0"/>
              <a:t>layer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Flow</a:t>
            </a:r>
            <a:r>
              <a:rPr sz="2600" spc="-10" dirty="0"/>
              <a:t> Control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853186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  <a:tab pos="6173470" algn="l"/>
              </a:tabLst>
            </a:pPr>
            <a:r>
              <a:rPr sz="2000" dirty="0">
                <a:latin typeface="Times New Roman"/>
                <a:cs typeface="Times New Roman"/>
              </a:rPr>
              <a:t>Flow control refers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procedures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restrict</a:t>
            </a:r>
            <a:r>
              <a:rPr sz="2000" dirty="0">
                <a:latin typeface="Times New Roman"/>
                <a:cs typeface="Times New Roman"/>
              </a:rPr>
              <a:t>	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data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acknowledgment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coordinates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receiving</a:t>
            </a:r>
            <a:endParaRPr sz="20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acknowledgement</a:t>
            </a:r>
            <a:endParaRPr sz="2000">
              <a:latin typeface="Times New Roman"/>
              <a:cs typeface="Times New Roman"/>
            </a:endParaRPr>
          </a:p>
          <a:p>
            <a:pPr marL="291465" marR="6350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procedures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tells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 wait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acknowledgement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Flow</a:t>
            </a:r>
            <a:r>
              <a:rPr sz="2600" spc="-10" dirty="0"/>
              <a:t> Control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8531225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 marR="6350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incoming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limited 	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incoming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28892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reached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endParaRPr sz="2000">
              <a:latin typeface="Times New Roman"/>
              <a:cs typeface="Times New Roman"/>
            </a:endParaRPr>
          </a:p>
          <a:p>
            <a:pPr marL="29146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fewer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temporarily</a:t>
            </a:r>
            <a:endParaRPr sz="2000">
              <a:latin typeface="Times New Roman"/>
              <a:cs typeface="Times New Roman"/>
            </a:endParaRPr>
          </a:p>
          <a:p>
            <a:pPr marL="288290" marR="571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slower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transmission, 	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(buffer)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storing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incoming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	</a:t>
            </a:r>
            <a:r>
              <a:rPr sz="2000" spc="-10" dirty="0">
                <a:latin typeface="Times New Roman"/>
                <a:cs typeface="Times New Roman"/>
              </a:rPr>
              <a:t>processed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Flow</a:t>
            </a:r>
            <a:r>
              <a:rPr sz="2600" spc="-10" dirty="0"/>
              <a:t> Control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0119"/>
            <a:ext cx="3819525" cy="9810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70" dirty="0">
                <a:latin typeface="Times New Roman"/>
                <a:cs typeface="Times New Roman"/>
              </a:rPr>
              <a:t>Two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Approaches:</a:t>
            </a:r>
            <a:endParaRPr sz="20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Feedback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based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flow </a:t>
            </a:r>
            <a:r>
              <a:rPr sz="1700" spc="-10" dirty="0">
                <a:latin typeface="Times New Roman"/>
                <a:cs typeface="Times New Roman"/>
              </a:rPr>
              <a:t>control</a:t>
            </a:r>
            <a:endParaRPr sz="1700">
              <a:latin typeface="Times New Roman"/>
              <a:cs typeface="Times New Roman"/>
            </a:endParaRPr>
          </a:p>
          <a:p>
            <a:pPr marL="939165" lvl="2" indent="-18288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93916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receiver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sends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back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information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41419" y="1736598"/>
            <a:ext cx="45961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giving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permission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more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920703"/>
            <a:ext cx="8530590" cy="245173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941069">
              <a:lnSpc>
                <a:spcPct val="100000"/>
              </a:lnSpc>
              <a:spcBef>
                <a:spcPts val="450"/>
              </a:spcBef>
            </a:pPr>
            <a:r>
              <a:rPr sz="1500" dirty="0">
                <a:latin typeface="Times New Roman"/>
                <a:cs typeface="Times New Roman"/>
              </a:rPr>
              <a:t>least</a:t>
            </a:r>
            <a:r>
              <a:rPr sz="1500" spc="3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telling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how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receiver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doing</a:t>
            </a:r>
            <a:endParaRPr sz="1500">
              <a:latin typeface="Times New Roman"/>
              <a:cs typeface="Times New Roman"/>
            </a:endParaRPr>
          </a:p>
          <a:p>
            <a:pPr marL="615950" indent="-23177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Rate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based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flow </a:t>
            </a:r>
            <a:r>
              <a:rPr sz="1700" spc="-10" dirty="0">
                <a:latin typeface="Times New Roman"/>
                <a:cs typeface="Times New Roman"/>
              </a:rPr>
              <a:t>control</a:t>
            </a:r>
            <a:endParaRPr sz="1700">
              <a:latin typeface="Times New Roman"/>
              <a:cs typeface="Times New Roman"/>
            </a:endParaRPr>
          </a:p>
          <a:p>
            <a:pPr marL="939165" marR="5080" lvl="1" indent="-18288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941069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protocol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has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built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mechanism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limits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rate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which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senders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transmit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data, 	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feedback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receiver</a:t>
            </a:r>
            <a:endParaRPr sz="1500">
              <a:latin typeface="Times New Roman"/>
              <a:cs typeface="Times New Roman"/>
            </a:endParaRPr>
          </a:p>
          <a:p>
            <a:pPr marL="291465" marR="5080" indent="-27940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91465" algn="l"/>
                <a:tab pos="1204595" algn="l"/>
                <a:tab pos="1807845" algn="l"/>
                <a:tab pos="2664460" algn="l"/>
                <a:tab pos="3660140" algn="l"/>
                <a:tab pos="4236085" algn="l"/>
                <a:tab pos="4487545" algn="l"/>
                <a:tab pos="5511800" algn="l"/>
                <a:tab pos="6496685" algn="l"/>
                <a:tab pos="7013575" algn="l"/>
                <a:tab pos="7996555" algn="l"/>
              </a:tabLst>
            </a:pPr>
            <a:r>
              <a:rPr sz="2000" spc="-10" dirty="0">
                <a:latin typeface="Times New Roman"/>
                <a:cs typeface="Times New Roman"/>
              </a:rPr>
              <a:t>Various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flow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schemes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uses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common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protocol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contains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well-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10" dirty="0">
                <a:latin typeface="Times New Roman"/>
                <a:cs typeface="Times New Roman"/>
              </a:rPr>
              <a:t> frame</a:t>
            </a:r>
            <a:endParaRPr sz="2000">
              <a:latin typeface="Times New Roman"/>
              <a:cs typeface="Times New Roman"/>
            </a:endParaRPr>
          </a:p>
          <a:p>
            <a:pPr marL="291465" marR="5080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  <a:tab pos="5050155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prohibit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being</a:t>
            </a:r>
            <a:r>
              <a:rPr sz="2000" dirty="0">
                <a:latin typeface="Times New Roman"/>
                <a:cs typeface="Times New Roman"/>
              </a:rPr>
              <a:t>	sent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granted </a:t>
            </a:r>
            <a:r>
              <a:rPr sz="2000" dirty="0">
                <a:latin typeface="Times New Roman"/>
                <a:cs typeface="Times New Roman"/>
              </a:rPr>
              <a:t>permission,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implicitly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explicitly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Flow</a:t>
            </a:r>
            <a:r>
              <a:rPr sz="2600" spc="-10" dirty="0"/>
              <a:t> Control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150" y="1316863"/>
            <a:ext cx="8528050" cy="28550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Flow</a:t>
            </a:r>
            <a:r>
              <a:rPr sz="2600" spc="-10" dirty="0"/>
              <a:t> Control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8529955" cy="1624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Let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assume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ideal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lost, </a:t>
            </a:r>
            <a:r>
              <a:rPr sz="2000" dirty="0">
                <a:latin typeface="Times New Roman"/>
                <a:cs typeface="Times New Roman"/>
              </a:rPr>
              <a:t>duplicated,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corrupted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35" dirty="0">
                <a:latin typeface="Times New Roman"/>
                <a:cs typeface="Times New Roman"/>
              </a:rPr>
              <a:t>Two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Simplest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Protocol</a:t>
            </a:r>
            <a:endParaRPr sz="17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spc="-10" dirty="0">
                <a:latin typeface="Times New Roman"/>
                <a:cs typeface="Times New Roman"/>
              </a:rPr>
              <a:t>Stop-and-</a:t>
            </a:r>
            <a:r>
              <a:rPr sz="1700" spc="-25" dirty="0">
                <a:latin typeface="Times New Roman"/>
                <a:cs typeface="Times New Roman"/>
              </a:rPr>
              <a:t>Wait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Protocol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Noiseless</a:t>
            </a:r>
            <a:r>
              <a:rPr sz="2600" spc="-60" dirty="0"/>
              <a:t> </a:t>
            </a:r>
            <a:r>
              <a:rPr sz="2600" spc="-10" dirty="0"/>
              <a:t>channel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657" y="1563649"/>
            <a:ext cx="5146675" cy="23467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Simplest</a:t>
            </a:r>
            <a:r>
              <a:rPr sz="2600" spc="-55" dirty="0"/>
              <a:t> </a:t>
            </a:r>
            <a:r>
              <a:rPr sz="2600" spc="-10" dirty="0"/>
              <a:t>Protocol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676" y="1419669"/>
            <a:ext cx="5237099" cy="29443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84807"/>
            <a:ext cx="7118350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 smtClean="0"/>
              <a:t>S</a:t>
            </a:r>
            <a:r>
              <a:rPr lang="en-US" sz="2600" dirty="0" smtClean="0"/>
              <a:t>top and Wait Protocol</a:t>
            </a:r>
            <a:endParaRPr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0119"/>
            <a:ext cx="8528050" cy="36175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protocols</a:t>
            </a:r>
            <a:endParaRPr sz="20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spc="-10" dirty="0">
                <a:latin typeface="Times New Roman"/>
                <a:cs typeface="Times New Roman"/>
              </a:rPr>
              <a:t>Stop-and-</a:t>
            </a:r>
            <a:r>
              <a:rPr sz="1700" spc="-45" dirty="0">
                <a:latin typeface="Times New Roman"/>
                <a:cs typeface="Times New Roman"/>
              </a:rPr>
              <a:t>Wait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Automatic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Repeat</a:t>
            </a:r>
            <a:r>
              <a:rPr sz="1700" spc="-10" dirty="0">
                <a:latin typeface="Times New Roman"/>
                <a:cs typeface="Times New Roman"/>
              </a:rPr>
              <a:t> Request</a:t>
            </a:r>
            <a:endParaRPr sz="17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spc="-10" dirty="0">
                <a:latin typeface="Times New Roman"/>
                <a:cs typeface="Times New Roman"/>
              </a:rPr>
              <a:t>Go-Back-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Automatic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Repeat</a:t>
            </a:r>
            <a:r>
              <a:rPr sz="1700" spc="-10" dirty="0">
                <a:latin typeface="Times New Roman"/>
                <a:cs typeface="Times New Roman"/>
              </a:rPr>
              <a:t> Request</a:t>
            </a:r>
            <a:endParaRPr sz="17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Selective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Repeat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Automatic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Repeat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Request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60"/>
              </a:spcBef>
              <a:buFont typeface="Arial MT"/>
              <a:buChar char="–"/>
            </a:pPr>
            <a:endParaRPr sz="17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buFont typeface="Arial MT"/>
              <a:buChar char="•"/>
              <a:tabLst>
                <a:tab pos="291465" algn="l"/>
              </a:tabLst>
            </a:pPr>
            <a:r>
              <a:rPr sz="2000" spc="-10" dirty="0">
                <a:latin typeface="Times New Roman"/>
                <a:cs typeface="Times New Roman"/>
              </a:rPr>
              <a:t>NOTE: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Round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Trip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(RTT)</a:t>
            </a:r>
            <a:endParaRPr sz="2000">
              <a:latin typeface="Times New Roman"/>
              <a:cs typeface="Times New Roman"/>
            </a:endParaRPr>
          </a:p>
          <a:p>
            <a:pPr marL="615950" marR="5080" lvl="1" indent="-232410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Time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taken</a:t>
            </a:r>
            <a:r>
              <a:rPr sz="1700" spc="25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2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travel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sender</a:t>
            </a:r>
            <a:r>
              <a:rPr sz="1700" spc="25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receiver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+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taken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corresponding frame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 travel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receiver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-10" dirty="0">
                <a:latin typeface="Times New Roman"/>
                <a:cs typeface="Times New Roman"/>
              </a:rPr>
              <a:t>sender</a:t>
            </a:r>
            <a:endParaRPr sz="17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10" dirty="0">
                <a:latin typeface="Times New Roman"/>
                <a:cs typeface="Times New Roman"/>
              </a:rPr>
              <a:t>Thus,</a:t>
            </a:r>
            <a:endParaRPr sz="20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spc="-30" dirty="0">
                <a:latin typeface="Times New Roman"/>
                <a:cs typeface="Times New Roman"/>
              </a:rPr>
              <a:t>RTT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2*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Tp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(Twice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Propagation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Time)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Noisy</a:t>
            </a:r>
            <a:r>
              <a:rPr sz="2600" spc="-35" dirty="0"/>
              <a:t> </a:t>
            </a:r>
            <a:r>
              <a:rPr sz="2600" spc="-10" dirty="0"/>
              <a:t>channel</a:t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26413"/>
            <a:ext cx="4692650" cy="34886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91465" marR="8890" indent="-279400">
              <a:lnSpc>
                <a:spcPts val="1540"/>
              </a:lnSpc>
              <a:spcBef>
                <a:spcPts val="459"/>
              </a:spcBef>
              <a:buFont typeface="Arial MT"/>
              <a:buChar char="•"/>
              <a:tabLst>
                <a:tab pos="291465" algn="l"/>
              </a:tabLst>
            </a:pPr>
            <a:r>
              <a:rPr sz="1600" dirty="0">
                <a:latin typeface="Times New Roman"/>
                <a:cs typeface="Times New Roman"/>
              </a:rPr>
              <a:t>Sender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keeps 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copy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the last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until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receives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acknowledgement</a:t>
            </a:r>
            <a:endParaRPr sz="1600">
              <a:latin typeface="Times New Roman"/>
              <a:cs typeface="Times New Roman"/>
            </a:endParaRPr>
          </a:p>
          <a:p>
            <a:pPr marL="291465" marR="11430" indent="-279400">
              <a:lnSpc>
                <a:spcPts val="1540"/>
              </a:lnSpc>
              <a:spcBef>
                <a:spcPts val="380"/>
              </a:spcBef>
              <a:buFont typeface="Arial MT"/>
              <a:buChar char="•"/>
              <a:tabLst>
                <a:tab pos="291465" algn="l"/>
              </a:tabLst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identification,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acknowledgement </a:t>
            </a:r>
            <a:r>
              <a:rPr sz="1600" dirty="0">
                <a:latin typeface="Times New Roman"/>
                <a:cs typeface="Times New Roman"/>
              </a:rPr>
              <a:t>(ACK)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numbered alternatively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291465" marR="7620" indent="-279400">
              <a:lnSpc>
                <a:spcPts val="1540"/>
              </a:lnSpc>
              <a:spcBef>
                <a:spcPts val="375"/>
              </a:spcBef>
              <a:buFont typeface="Arial MT"/>
              <a:buChar char="•"/>
              <a:tabLst>
                <a:tab pos="291465" algn="l"/>
              </a:tabLst>
            </a:pPr>
            <a:r>
              <a:rPr sz="1600" dirty="0">
                <a:latin typeface="Times New Roman"/>
                <a:cs typeface="Times New Roman"/>
              </a:rPr>
              <a:t>Sender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variable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“S”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holds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number 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recently sent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frame.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(0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1)</a:t>
            </a:r>
            <a:endParaRPr sz="1600">
              <a:latin typeface="Times New Roman"/>
              <a:cs typeface="Times New Roman"/>
            </a:endParaRPr>
          </a:p>
          <a:p>
            <a:pPr marL="291465" marR="8890" indent="-279400">
              <a:lnSpc>
                <a:spcPts val="1540"/>
              </a:lnSpc>
              <a:spcBef>
                <a:spcPts val="375"/>
              </a:spcBef>
              <a:buFont typeface="Arial MT"/>
              <a:buChar char="•"/>
              <a:tabLst>
                <a:tab pos="291465" algn="l"/>
              </a:tabLst>
            </a:pPr>
            <a:r>
              <a:rPr sz="1600" dirty="0">
                <a:latin typeface="Times New Roman"/>
                <a:cs typeface="Times New Roman"/>
              </a:rPr>
              <a:t>Receiver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“R”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holds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number 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next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(0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1)</a:t>
            </a:r>
            <a:endParaRPr sz="1600">
              <a:latin typeface="Times New Roman"/>
              <a:cs typeface="Times New Roman"/>
            </a:endParaRPr>
          </a:p>
          <a:p>
            <a:pPr marL="291465" marR="5080" indent="-279400" algn="just">
              <a:lnSpc>
                <a:spcPct val="80000"/>
              </a:lnSpc>
              <a:spcBef>
                <a:spcPts val="395"/>
              </a:spcBef>
              <a:buFont typeface="Arial MT"/>
              <a:buChar char="•"/>
              <a:tabLst>
                <a:tab pos="291465" algn="l"/>
                <a:tab pos="292735" algn="l"/>
              </a:tabLst>
            </a:pPr>
            <a:r>
              <a:rPr sz="1600" dirty="0">
                <a:latin typeface="Times New Roman"/>
                <a:cs typeface="Times New Roman"/>
              </a:rPr>
              <a:t>	Sender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starts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timer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sends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frame.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 </a:t>
            </a:r>
            <a:r>
              <a:rPr sz="1600" dirty="0">
                <a:latin typeface="Times New Roman"/>
                <a:cs typeface="Times New Roman"/>
              </a:rPr>
              <a:t>ACK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received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within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allocated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period,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sender</a:t>
            </a:r>
            <a:r>
              <a:rPr sz="1600" spc="13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assumes</a:t>
            </a:r>
            <a:r>
              <a:rPr sz="1600" spc="135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4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14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135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lost</a:t>
            </a:r>
            <a:r>
              <a:rPr sz="1600" spc="135" dirty="0">
                <a:latin typeface="Times New Roman"/>
                <a:cs typeface="Times New Roman"/>
              </a:rPr>
              <a:t>  </a:t>
            </a:r>
            <a:r>
              <a:rPr sz="1600" spc="-25" dirty="0">
                <a:latin typeface="Times New Roman"/>
                <a:cs typeface="Times New Roman"/>
              </a:rPr>
              <a:t>or </a:t>
            </a:r>
            <a:r>
              <a:rPr sz="1600" dirty="0">
                <a:latin typeface="Times New Roman"/>
                <a:cs typeface="Times New Roman"/>
              </a:rPr>
              <a:t>damaged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resends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it</a:t>
            </a:r>
            <a:endParaRPr sz="1600">
              <a:latin typeface="Times New Roman"/>
              <a:cs typeface="Times New Roman"/>
            </a:endParaRPr>
          </a:p>
          <a:p>
            <a:pPr marL="291465" marR="9525" indent="-279400" algn="just">
              <a:lnSpc>
                <a:spcPts val="1540"/>
              </a:lnSpc>
              <a:spcBef>
                <a:spcPts val="365"/>
              </a:spcBef>
              <a:buFont typeface="Arial MT"/>
              <a:buChar char="•"/>
              <a:tabLst>
                <a:tab pos="291465" algn="l"/>
                <a:tab pos="292735" algn="l"/>
              </a:tabLst>
            </a:pPr>
            <a:r>
              <a:rPr sz="1600" dirty="0">
                <a:latin typeface="Times New Roman"/>
                <a:cs typeface="Times New Roman"/>
              </a:rPr>
              <a:t>	Receiver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send</a:t>
            </a:r>
            <a:r>
              <a:rPr sz="1600" spc="4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positive</a:t>
            </a:r>
            <a:r>
              <a:rPr sz="1600" spc="4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4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10" dirty="0">
                <a:latin typeface="Times New Roman"/>
                <a:cs typeface="Times New Roman"/>
              </a:rPr>
              <a:t>received</a:t>
            </a:r>
            <a:endParaRPr sz="1600">
              <a:latin typeface="Times New Roman"/>
              <a:cs typeface="Times New Roman"/>
            </a:endParaRPr>
          </a:p>
          <a:p>
            <a:pPr marL="293370" indent="-280670" algn="just">
              <a:lnSpc>
                <a:spcPts val="1730"/>
              </a:lnSpc>
              <a:spcBef>
                <a:spcPts val="10"/>
              </a:spcBef>
              <a:buFont typeface="Arial MT"/>
              <a:buChar char="•"/>
              <a:tabLst>
                <a:tab pos="293370" algn="l"/>
              </a:tabLst>
            </a:pPr>
            <a:r>
              <a:rPr sz="1600" dirty="0">
                <a:latin typeface="Times New Roman"/>
                <a:cs typeface="Times New Roman"/>
              </a:rPr>
              <a:t>ACK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always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next</a:t>
            </a:r>
            <a:endParaRPr sz="1600">
              <a:latin typeface="Times New Roman"/>
              <a:cs typeface="Times New Roman"/>
            </a:endParaRPr>
          </a:p>
          <a:p>
            <a:pPr marL="291465" algn="just">
              <a:lnSpc>
                <a:spcPts val="1730"/>
              </a:lnSpc>
            </a:pPr>
            <a:r>
              <a:rPr sz="1600" dirty="0">
                <a:latin typeface="Times New Roman"/>
                <a:cs typeface="Times New Roman"/>
              </a:rPr>
              <a:t>expected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frame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</a:t>
            </a:r>
            <a:r>
              <a:rPr sz="2600" spc="-5" dirty="0"/>
              <a:t> </a:t>
            </a:r>
            <a:r>
              <a:rPr sz="2600" dirty="0"/>
              <a:t>and</a:t>
            </a:r>
            <a:r>
              <a:rPr sz="2600" spc="-60" dirty="0"/>
              <a:t> Wait</a:t>
            </a:r>
            <a:r>
              <a:rPr sz="2600" spc="-150" dirty="0"/>
              <a:t> </a:t>
            </a:r>
            <a:r>
              <a:rPr sz="2600" dirty="0"/>
              <a:t>ARQ</a:t>
            </a:r>
            <a:r>
              <a:rPr sz="2600" spc="-20" dirty="0"/>
              <a:t> </a:t>
            </a:r>
            <a:r>
              <a:rPr sz="2600" dirty="0"/>
              <a:t>(General</a:t>
            </a:r>
            <a:r>
              <a:rPr sz="2600" spc="-35" dirty="0"/>
              <a:t> </a:t>
            </a:r>
            <a:r>
              <a:rPr sz="2600" spc="-10" dirty="0"/>
              <a:t>Scenario)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0080" y="1203591"/>
            <a:ext cx="365760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3818254" cy="1916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 marR="5080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spc="-50" dirty="0">
                <a:latin typeface="Times New Roman"/>
                <a:cs typeface="Times New Roman"/>
              </a:rPr>
              <a:t>a 	</a:t>
            </a:r>
            <a:r>
              <a:rPr sz="2000" dirty="0">
                <a:latin typeface="Times New Roman"/>
                <a:cs typeface="Times New Roman"/>
              </a:rPr>
              <a:t>damaged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frame,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discards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	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288290" marR="571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2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sender 	</a:t>
            </a:r>
            <a:r>
              <a:rPr sz="2000" dirty="0">
                <a:latin typeface="Times New Roman"/>
                <a:cs typeface="Times New Roman"/>
              </a:rPr>
              <a:t>expires,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 	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sent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</a:t>
            </a:r>
            <a:r>
              <a:rPr sz="2600" spc="-5" dirty="0"/>
              <a:t> </a:t>
            </a:r>
            <a:r>
              <a:rPr sz="2600" dirty="0"/>
              <a:t>and</a:t>
            </a:r>
            <a:r>
              <a:rPr sz="2600" spc="-60" dirty="0"/>
              <a:t> Wait</a:t>
            </a:r>
            <a:r>
              <a:rPr sz="2600" spc="-150" dirty="0"/>
              <a:t> </a:t>
            </a:r>
            <a:r>
              <a:rPr sz="2600" dirty="0"/>
              <a:t>ARQ</a:t>
            </a:r>
            <a:r>
              <a:rPr sz="2600" spc="-20" dirty="0"/>
              <a:t> </a:t>
            </a:r>
            <a:r>
              <a:rPr sz="2600" dirty="0"/>
              <a:t>(Damaged</a:t>
            </a:r>
            <a:r>
              <a:rPr sz="2600" spc="-25" dirty="0"/>
              <a:t> </a:t>
            </a:r>
            <a:r>
              <a:rPr sz="2600" spc="-10" dirty="0"/>
              <a:t>frame)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3572" y="1089253"/>
            <a:ext cx="4760849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344932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 marR="6350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8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spc="-50" dirty="0">
                <a:latin typeface="Times New Roman"/>
                <a:cs typeface="Times New Roman"/>
              </a:rPr>
              <a:t>a 	</a:t>
            </a:r>
            <a:r>
              <a:rPr sz="2000" spc="-10" dirty="0">
                <a:latin typeface="Times New Roman"/>
                <a:cs typeface="Times New Roman"/>
              </a:rPr>
              <a:t>damaged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discards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  <a:p>
            <a:pPr marL="288290" marR="5080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sender 	</a:t>
            </a:r>
            <a:r>
              <a:rPr sz="2000" dirty="0">
                <a:latin typeface="Times New Roman"/>
                <a:cs typeface="Times New Roman"/>
              </a:rPr>
              <a:t>expires,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retransmits 	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28892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already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3201" y="3023057"/>
            <a:ext cx="20104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7535" algn="l"/>
                <a:tab pos="1803400" algn="l"/>
              </a:tabLst>
            </a:pP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expecting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231" y="3023057"/>
            <a:ext cx="102679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821690" algn="l"/>
              </a:tabLst>
            </a:pPr>
            <a:r>
              <a:rPr sz="2000" spc="-10" dirty="0">
                <a:latin typeface="Times New Roman"/>
                <a:cs typeface="Times New Roman"/>
              </a:rPr>
              <a:t>frame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1 </a:t>
            </a:r>
            <a:r>
              <a:rPr sz="2000" spc="-10" dirty="0">
                <a:latin typeface="Times New Roman"/>
                <a:cs typeface="Times New Roman"/>
              </a:rPr>
              <a:t>receive Therefore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9382" y="3328161"/>
            <a:ext cx="209677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943610" algn="l"/>
                <a:tab pos="1410335" algn="l"/>
                <a:tab pos="1774189" algn="l"/>
              </a:tabLst>
            </a:pPr>
            <a:r>
              <a:rPr sz="2000" spc="-10" dirty="0">
                <a:latin typeface="Times New Roman"/>
                <a:cs typeface="Times New Roman"/>
              </a:rPr>
              <a:t>frame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(R=0). </a:t>
            </a:r>
            <a:r>
              <a:rPr sz="2000" spc="-25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discards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231" y="3937812"/>
            <a:ext cx="24072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second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</a:t>
            </a:r>
            <a:r>
              <a:rPr sz="2600" spc="10" dirty="0"/>
              <a:t> </a:t>
            </a:r>
            <a:r>
              <a:rPr sz="2600" dirty="0"/>
              <a:t>and</a:t>
            </a:r>
            <a:r>
              <a:rPr sz="2600" spc="-40" dirty="0"/>
              <a:t> </a:t>
            </a:r>
            <a:r>
              <a:rPr sz="2600" spc="-60" dirty="0"/>
              <a:t>Wait</a:t>
            </a:r>
            <a:r>
              <a:rPr sz="2600" spc="-135" dirty="0"/>
              <a:t> </a:t>
            </a:r>
            <a:r>
              <a:rPr sz="2600" dirty="0"/>
              <a:t>ARQ</a:t>
            </a:r>
            <a:r>
              <a:rPr sz="2600" spc="-5" dirty="0"/>
              <a:t> </a:t>
            </a:r>
            <a:r>
              <a:rPr sz="2600" spc="-10" dirty="0"/>
              <a:t>(Damaged</a:t>
            </a:r>
            <a:r>
              <a:rPr sz="2600" spc="-155" dirty="0"/>
              <a:t> </a:t>
            </a:r>
            <a:r>
              <a:rPr sz="2600" spc="-20" dirty="0"/>
              <a:t>ACK)</a:t>
            </a:r>
            <a:endParaRPr sz="260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3114" y="1131595"/>
            <a:ext cx="5059426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3869690" cy="3562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 marR="5080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delayed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problem</a:t>
            </a:r>
            <a:endParaRPr sz="2000">
              <a:latin typeface="Times New Roman"/>
              <a:cs typeface="Times New Roman"/>
            </a:endParaRPr>
          </a:p>
          <a:p>
            <a:pPr marL="28892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for</a:t>
            </a:r>
            <a:endParaRPr sz="2000">
              <a:latin typeface="Times New Roman"/>
              <a:cs typeface="Times New Roman"/>
            </a:endParaRPr>
          </a:p>
          <a:p>
            <a:pPr marL="29146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expired</a:t>
            </a:r>
            <a:endParaRPr sz="2000">
              <a:latin typeface="Times New Roman"/>
              <a:cs typeface="Times New Roman"/>
            </a:endParaRPr>
          </a:p>
          <a:p>
            <a:pPr marL="288290" marR="6350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retransmitted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spc="-35" dirty="0">
                <a:latin typeface="Times New Roman"/>
                <a:cs typeface="Times New Roman"/>
              </a:rPr>
              <a:t>of 	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0.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=1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means 	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expects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1. 	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discards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duplicate 	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28892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18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ACKs,</a:t>
            </a:r>
            <a:r>
              <a:rPr sz="2000" spc="185" dirty="0">
                <a:latin typeface="Times New Roman"/>
                <a:cs typeface="Times New Roman"/>
              </a:rPr>
              <a:t>   </a:t>
            </a:r>
            <a:r>
              <a:rPr sz="2000" spc="-25" dirty="0"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  <a:p>
            <a:pPr marL="29146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discards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second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ACK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</a:t>
            </a:r>
            <a:r>
              <a:rPr sz="2600" spc="-5" dirty="0"/>
              <a:t> </a:t>
            </a:r>
            <a:r>
              <a:rPr sz="2600" dirty="0"/>
              <a:t>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dirty="0"/>
              <a:t>ARQ</a:t>
            </a:r>
            <a:r>
              <a:rPr sz="2600" spc="-20" dirty="0"/>
              <a:t> </a:t>
            </a:r>
            <a:r>
              <a:rPr sz="2600" dirty="0"/>
              <a:t>(ACK</a:t>
            </a:r>
            <a:r>
              <a:rPr sz="2600" spc="-15" dirty="0"/>
              <a:t> </a:t>
            </a:r>
            <a:r>
              <a:rPr sz="2600" spc="-10" dirty="0"/>
              <a:t>delayed)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3991" y="1059548"/>
            <a:ext cx="4710557" cy="37451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853122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Error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correction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Stop-and-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ARQ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done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keeping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sent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retransmitting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timer </a:t>
            </a:r>
            <a:r>
              <a:rPr sz="2000" spc="-10" dirty="0">
                <a:latin typeface="Times New Roman"/>
                <a:cs typeface="Times New Roman"/>
              </a:rPr>
              <a:t>expires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Stop-</a:t>
            </a:r>
            <a:r>
              <a:rPr sz="2000" spc="-10" dirty="0">
                <a:latin typeface="Times New Roman"/>
                <a:cs typeface="Times New Roman"/>
              </a:rPr>
              <a:t>and-</a:t>
            </a:r>
            <a:r>
              <a:rPr sz="2000" spc="-50" dirty="0">
                <a:latin typeface="Times New Roman"/>
                <a:cs typeface="Times New Roman"/>
              </a:rPr>
              <a:t>Wait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ARQ, we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frames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10" dirty="0">
                <a:latin typeface="Times New Roman"/>
                <a:cs typeface="Times New Roman"/>
              </a:rPr>
              <a:t>modulo-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arithmetic</a:t>
            </a:r>
            <a:endParaRPr sz="2000">
              <a:latin typeface="Times New Roman"/>
              <a:cs typeface="Times New Roman"/>
            </a:endParaRPr>
          </a:p>
          <a:p>
            <a:pPr marL="291465" marR="7620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  <a:tab pos="646430" algn="l"/>
                <a:tab pos="2263775" algn="l"/>
                <a:tab pos="3009265" algn="l"/>
                <a:tab pos="3460115" algn="l"/>
                <a:tab pos="5336540" algn="l"/>
                <a:tab pos="6256020" algn="l"/>
                <a:tab pos="7105015" algn="l"/>
                <a:tab pos="8321040" algn="l"/>
              </a:tabLst>
            </a:pP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Stop-and-</a:t>
            </a:r>
            <a:r>
              <a:rPr sz="2000" spc="-20" dirty="0">
                <a:latin typeface="Times New Roman"/>
                <a:cs typeface="Times New Roman"/>
              </a:rPr>
              <a:t>Wait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ARQ,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acknowledgment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number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always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announces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35" dirty="0">
                <a:latin typeface="Times New Roman"/>
                <a:cs typeface="Times New Roman"/>
              </a:rPr>
              <a:t>in </a:t>
            </a:r>
            <a:r>
              <a:rPr sz="2000" spc="-10" dirty="0">
                <a:latin typeface="Times New Roman"/>
                <a:cs typeface="Times New Roman"/>
              </a:rPr>
              <a:t>modulo-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arithmetic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expected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0119"/>
            <a:ext cx="3869054" cy="37636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25" dirty="0">
                <a:latin typeface="Times New Roman"/>
                <a:cs typeface="Times New Roman"/>
              </a:rPr>
              <a:t>Eg:</a:t>
            </a:r>
            <a:endParaRPr sz="2000">
              <a:latin typeface="Times New Roman"/>
              <a:cs typeface="Times New Roman"/>
            </a:endParaRPr>
          </a:p>
          <a:p>
            <a:pPr marL="615950" marR="7620" lvl="1" indent="-232410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seen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figure,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sent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acknowledged</a:t>
            </a:r>
            <a:endParaRPr sz="17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lost</a:t>
            </a:r>
            <a:r>
              <a:rPr sz="1700" spc="2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resent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after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</a:pPr>
            <a:r>
              <a:rPr sz="1700" spc="-10" dirty="0">
                <a:latin typeface="Times New Roman"/>
                <a:cs typeface="Times New Roman"/>
              </a:rPr>
              <a:t>time-</a:t>
            </a:r>
            <a:r>
              <a:rPr sz="1700" spc="-25" dirty="0">
                <a:latin typeface="Times New Roman"/>
                <a:cs typeface="Times New Roman"/>
              </a:rPr>
              <a:t>out</a:t>
            </a:r>
            <a:endParaRPr sz="1700">
              <a:latin typeface="Times New Roman"/>
              <a:cs typeface="Times New Roman"/>
            </a:endParaRPr>
          </a:p>
          <a:p>
            <a:pPr marL="615950" marR="5715" lvl="1" indent="-232410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resent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acknowledged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timer</a:t>
            </a:r>
            <a:r>
              <a:rPr sz="1700" spc="-20" dirty="0">
                <a:latin typeface="Times New Roman"/>
                <a:cs typeface="Times New Roman"/>
              </a:rPr>
              <a:t> stops</a:t>
            </a:r>
            <a:endParaRPr sz="17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3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sent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acknowledged,</a:t>
            </a:r>
            <a:endParaRPr sz="17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but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acknowledgment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lost</a:t>
            </a:r>
            <a:endParaRPr sz="1700">
              <a:latin typeface="Times New Roman"/>
              <a:cs typeface="Times New Roman"/>
            </a:endParaRPr>
          </a:p>
          <a:p>
            <a:pPr marL="615950" marR="5715" lvl="1" indent="-232410" algn="just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sender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idea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frame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5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acknowledgment</a:t>
            </a:r>
            <a:r>
              <a:rPr sz="1700" spc="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lost,</a:t>
            </a:r>
            <a:r>
              <a:rPr sz="1700" spc="50" dirty="0">
                <a:latin typeface="Times New Roman"/>
                <a:cs typeface="Times New Roman"/>
              </a:rPr>
              <a:t>  </a:t>
            </a:r>
            <a:r>
              <a:rPr sz="1700" spc="-35" dirty="0">
                <a:latin typeface="Times New Roman"/>
                <a:cs typeface="Times New Roman"/>
              </a:rPr>
              <a:t>so </a:t>
            </a:r>
            <a:r>
              <a:rPr sz="1700" dirty="0">
                <a:latin typeface="Times New Roman"/>
                <a:cs typeface="Times New Roman"/>
              </a:rPr>
              <a:t>after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time-</a:t>
            </a:r>
            <a:r>
              <a:rPr sz="1700" dirty="0">
                <a:latin typeface="Times New Roman"/>
                <a:cs typeface="Times New Roman"/>
              </a:rPr>
              <a:t>out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resends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0, </a:t>
            </a:r>
            <a:r>
              <a:rPr sz="1700" dirty="0">
                <a:latin typeface="Times New Roman"/>
                <a:cs typeface="Times New Roman"/>
              </a:rPr>
              <a:t>which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acknowledged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1290447"/>
            <a:ext cx="4572000" cy="30339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spc="-25" dirty="0"/>
              <a:t>Eg:</a:t>
            </a:r>
            <a:endParaRPr sz="2400"/>
          </a:p>
          <a:p>
            <a:pPr marL="615950" marR="5080" indent="-232410" algn="just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/>
              <a:t>Assume</a:t>
            </a:r>
            <a:r>
              <a:rPr sz="2000" spc="70" dirty="0"/>
              <a:t> </a:t>
            </a:r>
            <a:r>
              <a:rPr sz="2000" dirty="0"/>
              <a:t>that,</a:t>
            </a:r>
            <a:r>
              <a:rPr sz="2000" spc="65" dirty="0"/>
              <a:t> </a:t>
            </a:r>
            <a:r>
              <a:rPr sz="2000" dirty="0"/>
              <a:t>in</a:t>
            </a:r>
            <a:r>
              <a:rPr sz="2000" spc="65" dirty="0"/>
              <a:t> </a:t>
            </a:r>
            <a:r>
              <a:rPr sz="2000" dirty="0"/>
              <a:t>a</a:t>
            </a:r>
            <a:r>
              <a:rPr sz="2000" spc="60" dirty="0"/>
              <a:t> </a:t>
            </a:r>
            <a:r>
              <a:rPr sz="2000" spc="-10" dirty="0"/>
              <a:t>Stop-and-</a:t>
            </a:r>
            <a:r>
              <a:rPr sz="2000" dirty="0"/>
              <a:t>Wait</a:t>
            </a:r>
            <a:r>
              <a:rPr sz="2000" spc="60" dirty="0"/>
              <a:t> </a:t>
            </a:r>
            <a:r>
              <a:rPr sz="2000" dirty="0"/>
              <a:t>ARQ</a:t>
            </a:r>
            <a:r>
              <a:rPr sz="2000" spc="60" dirty="0"/>
              <a:t> </a:t>
            </a:r>
            <a:r>
              <a:rPr sz="2000" dirty="0"/>
              <a:t>system,</a:t>
            </a:r>
            <a:r>
              <a:rPr sz="2000" spc="75" dirty="0"/>
              <a:t> </a:t>
            </a:r>
            <a:r>
              <a:rPr sz="2000" dirty="0"/>
              <a:t>the</a:t>
            </a:r>
            <a:r>
              <a:rPr sz="2000" spc="65" dirty="0"/>
              <a:t> </a:t>
            </a:r>
            <a:r>
              <a:rPr sz="2000" dirty="0"/>
              <a:t>bandwidth</a:t>
            </a:r>
            <a:r>
              <a:rPr sz="2000" spc="60" dirty="0"/>
              <a:t> </a:t>
            </a:r>
            <a:r>
              <a:rPr sz="2000" dirty="0"/>
              <a:t>of</a:t>
            </a:r>
            <a:r>
              <a:rPr sz="2000" spc="65" dirty="0"/>
              <a:t> </a:t>
            </a:r>
            <a:r>
              <a:rPr sz="2000" dirty="0"/>
              <a:t>the</a:t>
            </a:r>
            <a:r>
              <a:rPr sz="2000" spc="75" dirty="0"/>
              <a:t> </a:t>
            </a:r>
            <a:r>
              <a:rPr sz="2000" dirty="0"/>
              <a:t>line</a:t>
            </a:r>
            <a:r>
              <a:rPr sz="2000" spc="55" dirty="0"/>
              <a:t> </a:t>
            </a:r>
            <a:r>
              <a:rPr sz="2000" dirty="0"/>
              <a:t>is</a:t>
            </a:r>
            <a:r>
              <a:rPr sz="2000" spc="50" dirty="0"/>
              <a:t> </a:t>
            </a:r>
            <a:r>
              <a:rPr sz="2000" spc="-50" dirty="0"/>
              <a:t>1 </a:t>
            </a:r>
            <a:r>
              <a:rPr sz="2000" dirty="0"/>
              <a:t>Mbps,</a:t>
            </a:r>
            <a:r>
              <a:rPr sz="2000" spc="200" dirty="0"/>
              <a:t> </a:t>
            </a:r>
            <a:r>
              <a:rPr sz="2000" dirty="0"/>
              <a:t>and</a:t>
            </a:r>
            <a:r>
              <a:rPr sz="2000" spc="210" dirty="0"/>
              <a:t> </a:t>
            </a:r>
            <a:r>
              <a:rPr sz="2000" dirty="0"/>
              <a:t>1</a:t>
            </a:r>
            <a:r>
              <a:rPr sz="2000" spc="215" dirty="0"/>
              <a:t> </a:t>
            </a:r>
            <a:r>
              <a:rPr sz="2000" dirty="0"/>
              <a:t>bit</a:t>
            </a:r>
            <a:r>
              <a:rPr sz="2000" spc="215" dirty="0"/>
              <a:t> </a:t>
            </a:r>
            <a:r>
              <a:rPr sz="2000" dirty="0"/>
              <a:t>takes</a:t>
            </a:r>
            <a:r>
              <a:rPr sz="2000" spc="200" dirty="0"/>
              <a:t> </a:t>
            </a:r>
            <a:r>
              <a:rPr sz="2000" dirty="0"/>
              <a:t>20</a:t>
            </a:r>
            <a:r>
              <a:rPr sz="2000" spc="215" dirty="0"/>
              <a:t> </a:t>
            </a:r>
            <a:r>
              <a:rPr sz="2000" dirty="0"/>
              <a:t>ms</a:t>
            </a:r>
            <a:r>
              <a:rPr sz="2000" spc="215" dirty="0"/>
              <a:t> </a:t>
            </a:r>
            <a:r>
              <a:rPr sz="2000" dirty="0"/>
              <a:t>to</a:t>
            </a:r>
            <a:r>
              <a:rPr sz="2000" spc="229" dirty="0"/>
              <a:t> </a:t>
            </a:r>
            <a:r>
              <a:rPr sz="2000" dirty="0"/>
              <a:t>make</a:t>
            </a:r>
            <a:r>
              <a:rPr sz="2000" spc="225" dirty="0"/>
              <a:t> </a:t>
            </a:r>
            <a:r>
              <a:rPr sz="2000" dirty="0"/>
              <a:t>a</a:t>
            </a:r>
            <a:r>
              <a:rPr sz="2000" spc="190" dirty="0"/>
              <a:t> </a:t>
            </a:r>
            <a:r>
              <a:rPr sz="2000" dirty="0"/>
              <a:t>round</a:t>
            </a:r>
            <a:r>
              <a:rPr sz="2000" spc="210" dirty="0"/>
              <a:t> </a:t>
            </a:r>
            <a:r>
              <a:rPr sz="2000" dirty="0"/>
              <a:t>trip.</a:t>
            </a:r>
            <a:r>
              <a:rPr sz="2000" spc="210" dirty="0"/>
              <a:t> </a:t>
            </a:r>
            <a:r>
              <a:rPr sz="2000" dirty="0"/>
              <a:t>What</a:t>
            </a:r>
            <a:r>
              <a:rPr sz="2000" spc="195" dirty="0"/>
              <a:t> </a:t>
            </a:r>
            <a:r>
              <a:rPr sz="2000" dirty="0"/>
              <a:t>is</a:t>
            </a:r>
            <a:r>
              <a:rPr sz="2000" spc="210" dirty="0"/>
              <a:t> </a:t>
            </a:r>
            <a:r>
              <a:rPr sz="2000" dirty="0"/>
              <a:t>the</a:t>
            </a:r>
            <a:r>
              <a:rPr sz="2000" spc="215" dirty="0"/>
              <a:t> </a:t>
            </a:r>
            <a:r>
              <a:rPr sz="2000" spc="-10" dirty="0"/>
              <a:t>bandwidth- </a:t>
            </a:r>
            <a:r>
              <a:rPr sz="2000" dirty="0"/>
              <a:t>delay</a:t>
            </a:r>
            <a:r>
              <a:rPr sz="2000" spc="-30" dirty="0"/>
              <a:t> </a:t>
            </a:r>
            <a:r>
              <a:rPr sz="2000" spc="-10" dirty="0"/>
              <a:t>product?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10" dirty="0">
                <a:solidFill>
                  <a:srgbClr val="FF0000"/>
                </a:solidFill>
              </a:rPr>
              <a:t>Solution</a:t>
            </a:r>
            <a:endParaRPr sz="2400"/>
          </a:p>
          <a:p>
            <a:pPr marL="291465" indent="-2787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/>
              <a:t>The</a:t>
            </a:r>
            <a:r>
              <a:rPr sz="2000" spc="20" dirty="0"/>
              <a:t> </a:t>
            </a:r>
            <a:r>
              <a:rPr sz="2000" spc="-10" dirty="0"/>
              <a:t>bandwidth-</a:t>
            </a:r>
            <a:r>
              <a:rPr sz="2000" dirty="0"/>
              <a:t>delay</a:t>
            </a:r>
            <a:r>
              <a:rPr sz="2000" spc="-10" dirty="0"/>
              <a:t> </a:t>
            </a:r>
            <a:r>
              <a:rPr sz="2000" dirty="0"/>
              <a:t>product</a:t>
            </a:r>
            <a:r>
              <a:rPr sz="2000" spc="-10" dirty="0"/>
              <a:t> </a:t>
            </a:r>
            <a:r>
              <a:rPr sz="2000" spc="-25" dirty="0"/>
              <a:t>is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  <p:grpSp>
        <p:nvGrpSpPr>
          <p:cNvPr id="4" name="object 4"/>
          <p:cNvGrpSpPr/>
          <p:nvPr/>
        </p:nvGrpSpPr>
        <p:grpSpPr>
          <a:xfrm>
            <a:off x="2609850" y="3581400"/>
            <a:ext cx="4281805" cy="417830"/>
            <a:chOff x="2609850" y="3581400"/>
            <a:chExt cx="4281805" cy="4178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0" y="3638549"/>
              <a:ext cx="4149308" cy="3036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09850" y="3581399"/>
              <a:ext cx="4281805" cy="417830"/>
            </a:xfrm>
            <a:custGeom>
              <a:avLst/>
              <a:gdLst/>
              <a:ahLst/>
              <a:cxnLst/>
              <a:rect l="l" t="t" r="r" b="b"/>
              <a:pathLst>
                <a:path w="4281805" h="417829">
                  <a:moveTo>
                    <a:pt x="4235704" y="45720"/>
                  </a:moveTo>
                  <a:lnTo>
                    <a:pt x="4224274" y="45720"/>
                  </a:lnTo>
                  <a:lnTo>
                    <a:pt x="4224274" y="57150"/>
                  </a:lnTo>
                  <a:lnTo>
                    <a:pt x="4224274" y="360680"/>
                  </a:lnTo>
                  <a:lnTo>
                    <a:pt x="57150" y="360680"/>
                  </a:lnTo>
                  <a:lnTo>
                    <a:pt x="57150" y="57150"/>
                  </a:lnTo>
                  <a:lnTo>
                    <a:pt x="4224274" y="57150"/>
                  </a:lnTo>
                  <a:lnTo>
                    <a:pt x="4224274" y="45720"/>
                  </a:lnTo>
                  <a:lnTo>
                    <a:pt x="45720" y="45720"/>
                  </a:lnTo>
                  <a:lnTo>
                    <a:pt x="45720" y="57150"/>
                  </a:lnTo>
                  <a:lnTo>
                    <a:pt x="45720" y="360680"/>
                  </a:lnTo>
                  <a:lnTo>
                    <a:pt x="45720" y="372110"/>
                  </a:lnTo>
                  <a:lnTo>
                    <a:pt x="4235704" y="372110"/>
                  </a:lnTo>
                  <a:lnTo>
                    <a:pt x="4235704" y="360756"/>
                  </a:lnTo>
                  <a:lnTo>
                    <a:pt x="4235704" y="57150"/>
                  </a:lnTo>
                  <a:lnTo>
                    <a:pt x="4235704" y="45720"/>
                  </a:lnTo>
                  <a:close/>
                </a:path>
                <a:path w="4281805" h="417829">
                  <a:moveTo>
                    <a:pt x="4281424" y="0"/>
                  </a:moveTo>
                  <a:lnTo>
                    <a:pt x="4247134" y="0"/>
                  </a:lnTo>
                  <a:lnTo>
                    <a:pt x="4247134" y="34290"/>
                  </a:lnTo>
                  <a:lnTo>
                    <a:pt x="4247134" y="383540"/>
                  </a:lnTo>
                  <a:lnTo>
                    <a:pt x="34290" y="383540"/>
                  </a:lnTo>
                  <a:lnTo>
                    <a:pt x="34290" y="34290"/>
                  </a:lnTo>
                  <a:lnTo>
                    <a:pt x="4247134" y="34290"/>
                  </a:lnTo>
                  <a:lnTo>
                    <a:pt x="4247134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0" y="383540"/>
                  </a:lnTo>
                  <a:lnTo>
                    <a:pt x="0" y="417830"/>
                  </a:lnTo>
                  <a:lnTo>
                    <a:pt x="4281424" y="417830"/>
                  </a:lnTo>
                  <a:lnTo>
                    <a:pt x="4281424" y="383616"/>
                  </a:lnTo>
                  <a:lnTo>
                    <a:pt x="4281424" y="34290"/>
                  </a:lnTo>
                  <a:lnTo>
                    <a:pt x="428142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5778"/>
            <a:ext cx="8533130" cy="363347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dirty="0">
                <a:latin typeface="Times New Roman"/>
                <a:cs typeface="Times New Roman"/>
              </a:rPr>
              <a:t>Eg: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(contd)</a:t>
            </a:r>
            <a:endParaRPr sz="2400">
              <a:latin typeface="Times New Roman"/>
              <a:cs typeface="Times New Roman"/>
            </a:endParaRPr>
          </a:p>
          <a:p>
            <a:pPr marL="615950" marR="8255" indent="-23241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length,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utilization </a:t>
            </a:r>
            <a:r>
              <a:rPr sz="2000" dirty="0">
                <a:latin typeface="Times New Roman"/>
                <a:cs typeface="Times New Roman"/>
              </a:rPr>
              <a:t>percentage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link?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300">
              <a:latin typeface="Times New Roman"/>
              <a:cs typeface="Times New Roman"/>
            </a:endParaRPr>
          </a:p>
          <a:p>
            <a:pPr marL="291465" marR="5080" indent="-27940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20,000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takes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</a:t>
            </a:r>
            <a:r>
              <a:rPr sz="2000" spc="-10" dirty="0">
                <a:latin typeface="Times New Roman"/>
                <a:cs typeface="Times New Roman"/>
              </a:rPr>
              <a:t> again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bits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35" dirty="0">
                <a:latin typeface="Times New Roman"/>
                <a:cs typeface="Times New Roman"/>
              </a:rPr>
              <a:t>We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1000/20,000,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percent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reason,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Stop-</a:t>
            </a:r>
            <a:r>
              <a:rPr sz="2000" spc="-20" dirty="0">
                <a:latin typeface="Times New Roman"/>
                <a:cs typeface="Times New Roman"/>
              </a:rPr>
              <a:t>and-</a:t>
            </a:r>
            <a:endParaRPr sz="20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  <a:spcBef>
                <a:spcPts val="5"/>
              </a:spcBef>
            </a:pPr>
            <a:r>
              <a:rPr sz="2000" spc="-45" dirty="0">
                <a:latin typeface="Times New Roman"/>
                <a:cs typeface="Times New Roman"/>
              </a:rPr>
              <a:t>Wait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ARQ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link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2587"/>
            <a:ext cx="8531860" cy="339597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1465" algn="l"/>
              </a:tabLst>
            </a:pPr>
            <a:r>
              <a:rPr sz="2200" dirty="0">
                <a:latin typeface="Times New Roman"/>
                <a:cs typeface="Times New Roman"/>
              </a:rPr>
              <a:t>Eg: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(contd)</a:t>
            </a:r>
            <a:endParaRPr sz="2200">
              <a:latin typeface="Times New Roman"/>
              <a:cs typeface="Times New Roman"/>
            </a:endParaRPr>
          </a:p>
          <a:p>
            <a:pPr marL="615950" marR="6985" indent="-232410">
              <a:lnSpc>
                <a:spcPct val="100000"/>
              </a:lnSpc>
              <a:spcBef>
                <a:spcPts val="470"/>
              </a:spcBef>
            </a:pPr>
            <a:r>
              <a:rPr sz="1900" dirty="0">
                <a:latin typeface="Arial MT"/>
                <a:cs typeface="Arial MT"/>
              </a:rPr>
              <a:t>–</a:t>
            </a:r>
            <a:r>
              <a:rPr sz="1900" spc="220" dirty="0">
                <a:latin typeface="Arial MT"/>
                <a:cs typeface="Arial MT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What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utilization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percentage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link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have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protocol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send </a:t>
            </a:r>
            <a:r>
              <a:rPr sz="1900" dirty="0">
                <a:latin typeface="Times New Roman"/>
                <a:cs typeface="Times New Roman"/>
              </a:rPr>
              <a:t>up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15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frames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before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stopping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worrying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about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acknowledgments?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914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bandwidth-</a:t>
            </a:r>
            <a:r>
              <a:rPr sz="2200" dirty="0">
                <a:latin typeface="Times New Roman"/>
                <a:cs typeface="Times New Roman"/>
              </a:rPr>
              <a:t>delay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20,000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bits</a:t>
            </a:r>
            <a:endParaRPr sz="22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14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15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15,000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round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trip</a:t>
            </a:r>
            <a:endParaRPr sz="22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1465" algn="l"/>
              </a:tabLst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utilization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15,000/20,000,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75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percent</a:t>
            </a:r>
            <a:endParaRPr sz="22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1465" algn="l"/>
                <a:tab pos="615950" algn="l"/>
                <a:tab pos="1313815" algn="l"/>
                <a:tab pos="1795780" algn="l"/>
                <a:tab pos="2941955" algn="l"/>
                <a:tab pos="3911600" algn="l"/>
                <a:tab pos="4391660" algn="l"/>
                <a:tab pos="5665470" algn="l"/>
                <a:tab pos="7014845" algn="l"/>
                <a:tab pos="7341234" algn="l"/>
                <a:tab pos="8100059" algn="l"/>
              </a:tabLst>
            </a:pPr>
            <a:r>
              <a:rPr sz="2200" spc="-25" dirty="0">
                <a:latin typeface="Times New Roman"/>
                <a:cs typeface="Times New Roman"/>
              </a:rPr>
              <a:t>If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there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damaged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frames,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utilization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percentage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much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less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because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3393"/>
            <a:ext cx="8447405" cy="35998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spc="-10" dirty="0"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  <a:p>
            <a:pPr marL="615950" marR="1088390" lvl="1" indent="-23241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615950" algn="l"/>
              </a:tabLst>
            </a:pP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be </a:t>
            </a:r>
            <a:r>
              <a:rPr sz="1800" spc="-10" dirty="0">
                <a:latin typeface="Times New Roman"/>
                <a:cs typeface="Times New Roman"/>
              </a:rPr>
              <a:t>acknowledged</a:t>
            </a:r>
            <a:endParaRPr sz="18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15950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good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-10" dirty="0">
                <a:latin typeface="Times New Roman"/>
                <a:cs typeface="Times New Roman"/>
              </a:rPr>
              <a:t> medium</a:t>
            </a:r>
            <a:endParaRPr sz="18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615950" algn="l"/>
              </a:tabLst>
            </a:pPr>
            <a:r>
              <a:rPr sz="1800" spc="-10" dirty="0">
                <a:latin typeface="Times New Roman"/>
                <a:cs typeface="Times New Roman"/>
              </a:rPr>
              <a:t>Efficiency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low</a:t>
            </a:r>
            <a:endParaRPr sz="18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15950" algn="l"/>
              </a:tabLst>
            </a:pPr>
            <a:r>
              <a:rPr sz="1800" spc="-3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efficiency,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multiple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transition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ACK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939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buFont typeface="Arial MT"/>
              <a:buChar char="•"/>
              <a:tabLst>
                <a:tab pos="291465" algn="l"/>
              </a:tabLst>
            </a:pPr>
            <a:r>
              <a:rPr sz="2400" spc="-35" dirty="0">
                <a:latin typeface="Times New Roman"/>
                <a:cs typeface="Times New Roman"/>
              </a:rPr>
              <a:t>Two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concept</a:t>
            </a:r>
            <a:endParaRPr sz="2400">
              <a:latin typeface="Times New Roman"/>
              <a:cs typeface="Times New Roman"/>
            </a:endParaRPr>
          </a:p>
          <a:p>
            <a:pPr marL="615950" indent="-231775">
              <a:lnSpc>
                <a:spcPct val="100000"/>
              </a:lnSpc>
              <a:spcBef>
                <a:spcPts val="455"/>
              </a:spcBef>
              <a:buFont typeface="Arial MT"/>
              <a:buChar char="–"/>
              <a:tabLst>
                <a:tab pos="615950" algn="l"/>
              </a:tabLst>
            </a:pPr>
            <a:r>
              <a:rPr sz="1800" dirty="0">
                <a:latin typeface="Times New Roman"/>
                <a:cs typeface="Times New Roman"/>
              </a:rPr>
              <a:t>Go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ARQ</a:t>
            </a:r>
            <a:endParaRPr sz="1800">
              <a:latin typeface="Times New Roman"/>
              <a:cs typeface="Times New Roman"/>
            </a:endParaRPr>
          </a:p>
          <a:p>
            <a:pPr marL="615315" indent="-23114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15315" algn="l"/>
              </a:tabLst>
            </a:pPr>
            <a:r>
              <a:rPr sz="1800" dirty="0">
                <a:latin typeface="Times New Roman"/>
                <a:cs typeface="Times New Roman"/>
              </a:rPr>
              <a:t>Selective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repeat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ARQ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76311"/>
            <a:ext cx="8686800" cy="31983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1783"/>
            <a:ext cx="8531225" cy="35229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Efficiency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(η)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Total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cycle</a:t>
            </a:r>
            <a:r>
              <a:rPr sz="2000" spc="-20" dirty="0">
                <a:latin typeface="Times New Roman"/>
                <a:cs typeface="Times New Roman"/>
              </a:rPr>
              <a:t> time</a:t>
            </a:r>
            <a:endParaRPr sz="2000">
              <a:latin typeface="Times New Roman"/>
              <a:cs typeface="Times New Roman"/>
            </a:endParaRPr>
          </a:p>
          <a:p>
            <a:pPr marL="175323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2*Tp)</a:t>
            </a:r>
            <a:endParaRPr sz="2000">
              <a:latin typeface="Times New Roman"/>
              <a:cs typeface="Times New Roman"/>
            </a:endParaRPr>
          </a:p>
          <a:p>
            <a:pPr marL="175323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(1+2*(Tp/Tt))</a:t>
            </a:r>
            <a:endParaRPr sz="2000">
              <a:latin typeface="Times New Roman"/>
              <a:cs typeface="Times New Roman"/>
            </a:endParaRPr>
          </a:p>
          <a:p>
            <a:pPr marL="175323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(1+2*a)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where,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Tt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10" dirty="0">
                <a:latin typeface="Times New Roman"/>
                <a:cs typeface="Times New Roman"/>
              </a:rPr>
              <a:t>Throughput</a:t>
            </a:r>
            <a:endParaRPr sz="2000">
              <a:latin typeface="Times New Roman"/>
              <a:cs typeface="Times New Roman"/>
            </a:endParaRPr>
          </a:p>
          <a:p>
            <a:pPr marL="384175">
              <a:lnSpc>
                <a:spcPct val="100000"/>
              </a:lnSpc>
              <a:spcBef>
                <a:spcPts val="420"/>
              </a:spcBef>
              <a:tabLst>
                <a:tab pos="1452880" algn="l"/>
                <a:tab pos="1762125" algn="l"/>
                <a:tab pos="2202815" algn="l"/>
                <a:tab pos="2728595" algn="l"/>
                <a:tab pos="3132455" algn="l"/>
                <a:tab pos="3912870" algn="l"/>
                <a:tab pos="4571365" algn="l"/>
                <a:tab pos="4844415" algn="l"/>
                <a:tab pos="5321300" algn="l"/>
                <a:tab pos="6038215" algn="l"/>
                <a:tab pos="6347460" algn="l"/>
                <a:tab pos="7261859" algn="l"/>
                <a:tab pos="8338184" algn="l"/>
              </a:tabLst>
            </a:pPr>
            <a:r>
              <a:rPr sz="1700" dirty="0">
                <a:latin typeface="Arial MT"/>
                <a:cs typeface="Arial MT"/>
              </a:rPr>
              <a:t>–</a:t>
            </a:r>
            <a:r>
              <a:rPr sz="1700" spc="3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Number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of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0" dirty="0">
                <a:latin typeface="Times New Roman"/>
                <a:cs typeface="Times New Roman"/>
              </a:rPr>
              <a:t>bits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0" dirty="0">
                <a:latin typeface="Times New Roman"/>
                <a:cs typeface="Times New Roman"/>
              </a:rPr>
              <a:t>send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per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second,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which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0" dirty="0">
                <a:latin typeface="Times New Roman"/>
                <a:cs typeface="Times New Roman"/>
              </a:rPr>
              <a:t>also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known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as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Effective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Bandwidth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or</a:t>
            </a:r>
            <a:endParaRPr sz="17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Bandwidth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utilization</a:t>
            </a:r>
            <a:endParaRPr sz="17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Throughput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η *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BW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Times New Roman"/>
                <a:cs typeface="Times New Roman"/>
              </a:rPr>
              <a:t>where,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BW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Bandwidth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25" dirty="0"/>
              <a:t>Eg:</a:t>
            </a:r>
            <a:endParaRPr sz="2000"/>
          </a:p>
          <a:p>
            <a:pPr marL="615950" marR="17780" indent="-232410">
              <a:lnSpc>
                <a:spcPct val="100000"/>
              </a:lnSpc>
              <a:spcBef>
                <a:spcPts val="420"/>
              </a:spcBef>
            </a:pPr>
            <a:r>
              <a:rPr sz="1700" dirty="0">
                <a:latin typeface="Arial MT"/>
                <a:cs typeface="Arial MT"/>
              </a:rPr>
              <a:t>–</a:t>
            </a:r>
            <a:r>
              <a:rPr sz="1700" spc="370" dirty="0">
                <a:latin typeface="Arial MT"/>
                <a:cs typeface="Arial MT"/>
              </a:rPr>
              <a:t> </a:t>
            </a:r>
            <a:r>
              <a:rPr sz="1700" dirty="0"/>
              <a:t>If the bandwidth</a:t>
            </a:r>
            <a:r>
              <a:rPr sz="1700" spc="-10" dirty="0"/>
              <a:t> </a:t>
            </a:r>
            <a:r>
              <a:rPr sz="1700" dirty="0"/>
              <a:t>of the line is 1.5 Mbps,</a:t>
            </a:r>
            <a:r>
              <a:rPr sz="1700" spc="5" dirty="0"/>
              <a:t> </a:t>
            </a:r>
            <a:r>
              <a:rPr sz="1700" spc="-20" dirty="0"/>
              <a:t>RTT</a:t>
            </a:r>
            <a:r>
              <a:rPr sz="1700" spc="-25" dirty="0"/>
              <a:t> </a:t>
            </a:r>
            <a:r>
              <a:rPr sz="1700" dirty="0"/>
              <a:t>is</a:t>
            </a:r>
            <a:r>
              <a:rPr sz="1700" spc="-5" dirty="0"/>
              <a:t> </a:t>
            </a:r>
            <a:r>
              <a:rPr sz="1700" dirty="0"/>
              <a:t>45</a:t>
            </a:r>
            <a:r>
              <a:rPr sz="1700" spc="-10" dirty="0"/>
              <a:t> </a:t>
            </a:r>
            <a:r>
              <a:rPr sz="1700" dirty="0"/>
              <a:t>msec</a:t>
            </a:r>
            <a:r>
              <a:rPr sz="1700" spc="-5" dirty="0"/>
              <a:t> </a:t>
            </a:r>
            <a:r>
              <a:rPr sz="1700" dirty="0"/>
              <a:t>and</a:t>
            </a:r>
            <a:r>
              <a:rPr sz="1700" spc="5" dirty="0"/>
              <a:t> </a:t>
            </a:r>
            <a:r>
              <a:rPr sz="1700" dirty="0"/>
              <a:t>packet</a:t>
            </a:r>
            <a:r>
              <a:rPr sz="1700" spc="-15" dirty="0"/>
              <a:t> </a:t>
            </a:r>
            <a:r>
              <a:rPr sz="1700" dirty="0"/>
              <a:t>size</a:t>
            </a:r>
            <a:r>
              <a:rPr sz="1700" spc="15" dirty="0"/>
              <a:t> </a:t>
            </a:r>
            <a:r>
              <a:rPr sz="1700" dirty="0"/>
              <a:t>is 1</a:t>
            </a:r>
            <a:r>
              <a:rPr sz="1700" spc="-10" dirty="0"/>
              <a:t> </a:t>
            </a:r>
            <a:r>
              <a:rPr sz="1700" dirty="0"/>
              <a:t>KB,</a:t>
            </a:r>
            <a:r>
              <a:rPr sz="1700" spc="15" dirty="0"/>
              <a:t> </a:t>
            </a:r>
            <a:r>
              <a:rPr sz="1700" dirty="0"/>
              <a:t>then </a:t>
            </a:r>
            <a:r>
              <a:rPr sz="1700" spc="-20" dirty="0"/>
              <a:t>find </a:t>
            </a:r>
            <a:r>
              <a:rPr sz="1700" dirty="0"/>
              <a:t>the</a:t>
            </a:r>
            <a:r>
              <a:rPr sz="1700" spc="-40" dirty="0"/>
              <a:t> </a:t>
            </a:r>
            <a:r>
              <a:rPr sz="1700" dirty="0"/>
              <a:t>link</a:t>
            </a:r>
            <a:r>
              <a:rPr sz="1700" spc="-10" dirty="0"/>
              <a:t> </a:t>
            </a:r>
            <a:r>
              <a:rPr sz="1700" dirty="0"/>
              <a:t>utilization</a:t>
            </a:r>
            <a:r>
              <a:rPr sz="1700" spc="-15" dirty="0"/>
              <a:t> </a:t>
            </a:r>
            <a:r>
              <a:rPr sz="1700" dirty="0"/>
              <a:t>in</a:t>
            </a:r>
            <a:r>
              <a:rPr sz="1700" spc="-20" dirty="0"/>
              <a:t> </a:t>
            </a:r>
            <a:r>
              <a:rPr sz="1700" dirty="0"/>
              <a:t>stop</a:t>
            </a:r>
            <a:r>
              <a:rPr sz="1700" spc="-2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20" dirty="0"/>
              <a:t>wait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solidFill>
                  <a:srgbClr val="FF0000"/>
                </a:solidFill>
              </a:rPr>
              <a:t>Solution</a:t>
            </a:r>
            <a:endParaRPr sz="2000"/>
          </a:p>
          <a:p>
            <a:pPr marL="1498600">
              <a:lnSpc>
                <a:spcPct val="100000"/>
              </a:lnSpc>
              <a:spcBef>
                <a:spcPts val="480"/>
              </a:spcBef>
            </a:pPr>
            <a:r>
              <a:rPr sz="2000" spc="-10" dirty="0"/>
              <a:t>Transmission</a:t>
            </a:r>
            <a:r>
              <a:rPr sz="2000" spc="-20" dirty="0"/>
              <a:t> </a:t>
            </a:r>
            <a:r>
              <a:rPr sz="2000" dirty="0"/>
              <a:t>delay</a:t>
            </a:r>
            <a:r>
              <a:rPr sz="2000" spc="-20" dirty="0"/>
              <a:t> </a:t>
            </a:r>
            <a:r>
              <a:rPr sz="2000" dirty="0"/>
              <a:t>(T</a:t>
            </a:r>
            <a:r>
              <a:rPr sz="1950" baseline="-21367" dirty="0"/>
              <a:t>t</a:t>
            </a:r>
            <a:r>
              <a:rPr sz="2000" dirty="0"/>
              <a:t>)</a:t>
            </a:r>
            <a:r>
              <a:rPr sz="2000" spc="-20" dirty="0"/>
              <a:t> </a:t>
            </a:r>
            <a:r>
              <a:rPr sz="2000" dirty="0"/>
              <a:t>=</a:t>
            </a:r>
            <a:r>
              <a:rPr sz="2000" spc="-5" dirty="0"/>
              <a:t> </a:t>
            </a:r>
            <a:r>
              <a:rPr sz="2000" dirty="0"/>
              <a:t>Packet</a:t>
            </a:r>
            <a:r>
              <a:rPr sz="2000" spc="-25" dirty="0"/>
              <a:t> </a:t>
            </a:r>
            <a:r>
              <a:rPr sz="2000" dirty="0"/>
              <a:t>size</a:t>
            </a:r>
            <a:r>
              <a:rPr sz="2000" spc="-15" dirty="0"/>
              <a:t> </a:t>
            </a:r>
            <a:r>
              <a:rPr sz="2000" dirty="0"/>
              <a:t>/</a:t>
            </a:r>
            <a:r>
              <a:rPr sz="2000" spc="-15" dirty="0"/>
              <a:t> </a:t>
            </a:r>
            <a:r>
              <a:rPr sz="2000" spc="-10" dirty="0"/>
              <a:t>Bandwidth</a:t>
            </a:r>
            <a:endParaRPr sz="2000"/>
          </a:p>
          <a:p>
            <a:pPr marL="3983354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=</a:t>
            </a:r>
            <a:r>
              <a:rPr sz="2000" spc="-15" dirty="0"/>
              <a:t> </a:t>
            </a:r>
            <a:r>
              <a:rPr sz="2000" dirty="0"/>
              <a:t>1</a:t>
            </a:r>
            <a:r>
              <a:rPr sz="2000" spc="-5" dirty="0"/>
              <a:t> </a:t>
            </a:r>
            <a:r>
              <a:rPr sz="2000" dirty="0"/>
              <a:t>KB</a:t>
            </a:r>
            <a:r>
              <a:rPr sz="2000" spc="-10" dirty="0"/>
              <a:t> </a:t>
            </a:r>
            <a:r>
              <a:rPr sz="2000" dirty="0"/>
              <a:t>/</a:t>
            </a:r>
            <a:r>
              <a:rPr sz="2000" spc="-5" dirty="0"/>
              <a:t> </a:t>
            </a:r>
            <a:r>
              <a:rPr sz="2000" dirty="0"/>
              <a:t>1.5</a:t>
            </a:r>
            <a:r>
              <a:rPr sz="2000" spc="-20" dirty="0"/>
              <a:t> Mbps</a:t>
            </a:r>
            <a:endParaRPr sz="2000"/>
          </a:p>
          <a:p>
            <a:pPr marL="3983354">
              <a:lnSpc>
                <a:spcPct val="100000"/>
              </a:lnSpc>
              <a:spcBef>
                <a:spcPts val="484"/>
              </a:spcBef>
            </a:pPr>
            <a:r>
              <a:rPr sz="2000" dirty="0"/>
              <a:t>=</a:t>
            </a:r>
            <a:r>
              <a:rPr sz="2000" spc="-5" dirty="0"/>
              <a:t> </a:t>
            </a:r>
            <a:r>
              <a:rPr sz="2000" dirty="0"/>
              <a:t>(2</a:t>
            </a:r>
            <a:r>
              <a:rPr sz="1950" baseline="25641" dirty="0"/>
              <a:t>10</a:t>
            </a:r>
            <a:r>
              <a:rPr sz="1950" spc="217" baseline="25641" dirty="0"/>
              <a:t> </a:t>
            </a:r>
            <a:r>
              <a:rPr sz="2000" dirty="0"/>
              <a:t>x 8 bits)</a:t>
            </a:r>
            <a:r>
              <a:rPr sz="2000" spc="-25" dirty="0"/>
              <a:t> </a:t>
            </a:r>
            <a:r>
              <a:rPr sz="2000" dirty="0"/>
              <a:t>/ (1.5</a:t>
            </a:r>
            <a:r>
              <a:rPr sz="2000" spc="-25" dirty="0"/>
              <a:t> </a:t>
            </a:r>
            <a:r>
              <a:rPr sz="2000" dirty="0"/>
              <a:t>x 10</a:t>
            </a:r>
            <a:r>
              <a:rPr sz="1950" baseline="25641" dirty="0"/>
              <a:t>6</a:t>
            </a:r>
            <a:r>
              <a:rPr sz="1950" spc="225" baseline="25641" dirty="0"/>
              <a:t> </a:t>
            </a:r>
            <a:r>
              <a:rPr sz="2000" spc="-10" dirty="0"/>
              <a:t>bits/sec)</a:t>
            </a:r>
            <a:endParaRPr sz="2000"/>
          </a:p>
          <a:p>
            <a:pPr marL="3983354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=</a:t>
            </a:r>
            <a:r>
              <a:rPr sz="2000" spc="-5" dirty="0"/>
              <a:t> </a:t>
            </a:r>
            <a:r>
              <a:rPr sz="2000" dirty="0"/>
              <a:t>5.461</a:t>
            </a:r>
            <a:r>
              <a:rPr sz="2000" spc="-20" dirty="0"/>
              <a:t> msec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21841"/>
            <a:ext cx="6920230" cy="3654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92985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Propagation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delay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(Tp)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Round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Trip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L="442976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 45</a:t>
            </a:r>
            <a:r>
              <a:rPr sz="1700" spc="-10" dirty="0">
                <a:latin typeface="Times New Roman"/>
                <a:cs typeface="Times New Roman"/>
              </a:rPr>
              <a:t> msec/2</a:t>
            </a:r>
            <a:endParaRPr sz="1700">
              <a:latin typeface="Times New Roman"/>
              <a:cs typeface="Times New Roman"/>
            </a:endParaRPr>
          </a:p>
          <a:p>
            <a:pPr marL="442976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 22.5</a:t>
            </a:r>
            <a:r>
              <a:rPr sz="1700" spc="-20" dirty="0">
                <a:latin typeface="Times New Roman"/>
                <a:cs typeface="Times New Roman"/>
              </a:rPr>
              <a:t> msec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700">
              <a:latin typeface="Times New Roman"/>
              <a:cs typeface="Times New Roman"/>
            </a:endParaRPr>
          </a:p>
          <a:p>
            <a:pPr marR="4775200" algn="ctr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Calculating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Value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45" dirty="0">
                <a:latin typeface="Times New Roman"/>
                <a:cs typeface="Times New Roman"/>
              </a:rPr>
              <a:t>„a‟</a:t>
            </a:r>
            <a:endParaRPr sz="1700">
              <a:latin typeface="Times New Roman"/>
              <a:cs typeface="Times New Roman"/>
            </a:endParaRPr>
          </a:p>
          <a:p>
            <a:pPr marL="1608455" algn="ctr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Tp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Tt</a:t>
            </a:r>
            <a:endParaRPr sz="1700">
              <a:latin typeface="Times New Roman"/>
              <a:cs typeface="Times New Roman"/>
            </a:endParaRPr>
          </a:p>
          <a:p>
            <a:pPr marL="1607185" algn="ctr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</a:t>
            </a:r>
            <a:r>
              <a:rPr sz="1700" spc="-10" dirty="0">
                <a:latin typeface="Times New Roman"/>
                <a:cs typeface="Times New Roman"/>
              </a:rPr>
              <a:t>22.5/5.461</a:t>
            </a:r>
            <a:endParaRPr sz="1700">
              <a:latin typeface="Times New Roman"/>
              <a:cs typeface="Times New Roman"/>
            </a:endParaRPr>
          </a:p>
          <a:p>
            <a:pPr marL="1607820" algn="ctr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4.12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msec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700">
              <a:latin typeface="Times New Roman"/>
              <a:cs typeface="Times New Roman"/>
            </a:endParaRPr>
          </a:p>
          <a:p>
            <a:pPr marL="235521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Link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Utilization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Efficiency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(η)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20" dirty="0">
                <a:latin typeface="Times New Roman"/>
                <a:cs typeface="Times New Roman"/>
              </a:rPr>
              <a:t> 1+2a</a:t>
            </a:r>
            <a:endParaRPr sz="1700">
              <a:latin typeface="Times New Roman"/>
              <a:cs typeface="Times New Roman"/>
            </a:endParaRPr>
          </a:p>
          <a:p>
            <a:pPr marL="526796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 1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+ 2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 </a:t>
            </a:r>
            <a:r>
              <a:rPr sz="1700" spc="-20" dirty="0">
                <a:latin typeface="Times New Roman"/>
                <a:cs typeface="Times New Roman"/>
              </a:rPr>
              <a:t>4.12)</a:t>
            </a:r>
            <a:endParaRPr sz="1700">
              <a:latin typeface="Times New Roman"/>
              <a:cs typeface="Times New Roman"/>
            </a:endParaRPr>
          </a:p>
          <a:p>
            <a:pPr marL="526796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 1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9.24</a:t>
            </a:r>
            <a:endParaRPr sz="1700">
              <a:latin typeface="Times New Roman"/>
              <a:cs typeface="Times New Roman"/>
            </a:endParaRPr>
          </a:p>
          <a:p>
            <a:pPr marL="526796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0" dirty="0">
                <a:latin typeface="Times New Roman"/>
                <a:cs typeface="Times New Roman"/>
              </a:rPr>
              <a:t> 0.108</a:t>
            </a:r>
            <a:endParaRPr sz="1700">
              <a:latin typeface="Times New Roman"/>
              <a:cs typeface="Times New Roman"/>
            </a:endParaRPr>
          </a:p>
          <a:p>
            <a:pPr marL="526796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 10.8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%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5746"/>
            <a:ext cx="8528685" cy="3662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560" indent="-27686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9560" algn="l"/>
              </a:tabLst>
            </a:pPr>
            <a:r>
              <a:rPr sz="1900" spc="-25" dirty="0">
                <a:latin typeface="Times New Roman"/>
                <a:cs typeface="Times New Roman"/>
              </a:rPr>
              <a:t>Eg:</a:t>
            </a:r>
            <a:endParaRPr sz="1900">
              <a:latin typeface="Times New Roman"/>
              <a:cs typeface="Times New Roman"/>
            </a:endParaRPr>
          </a:p>
          <a:p>
            <a:pPr marL="615950" marR="5080" lvl="1" indent="-232410" algn="just">
              <a:lnSpc>
                <a:spcPts val="1540"/>
              </a:lnSpc>
              <a:spcBef>
                <a:spcPts val="380"/>
              </a:spcBef>
              <a:buFont typeface="Arial MT"/>
              <a:buChar char="–"/>
              <a:tabLst>
                <a:tab pos="615950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Kbps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propagation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delay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msec.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uses </a:t>
            </a:r>
            <a:r>
              <a:rPr sz="1600" dirty="0">
                <a:latin typeface="Times New Roman"/>
                <a:cs typeface="Times New Roman"/>
              </a:rPr>
              <a:t>stop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wait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protocol.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transmission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acknowledgement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negligible.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efficiency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50%,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minimum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should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be</a:t>
            </a:r>
            <a:endParaRPr sz="1600">
              <a:latin typeface="Times New Roman"/>
              <a:cs typeface="Times New Roman"/>
            </a:endParaRPr>
          </a:p>
          <a:p>
            <a:pPr marL="616585" lvl="1" indent="-23241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616585" algn="l"/>
              </a:tabLst>
            </a:pPr>
            <a:r>
              <a:rPr sz="1600" dirty="0">
                <a:latin typeface="Times New Roman"/>
                <a:cs typeface="Times New Roman"/>
              </a:rPr>
              <a:t>80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bytes</a:t>
            </a:r>
            <a:endParaRPr sz="1600">
              <a:latin typeface="Times New Roman"/>
              <a:cs typeface="Times New Roman"/>
            </a:endParaRPr>
          </a:p>
          <a:p>
            <a:pPr marL="616585" lvl="1" indent="-232410">
              <a:lnSpc>
                <a:spcPct val="100000"/>
              </a:lnSpc>
              <a:buFont typeface="Arial MT"/>
              <a:buChar char="–"/>
              <a:tabLst>
                <a:tab pos="616585" algn="l"/>
              </a:tabLst>
            </a:pPr>
            <a:r>
              <a:rPr sz="1600" dirty="0">
                <a:latin typeface="Times New Roman"/>
                <a:cs typeface="Times New Roman"/>
              </a:rPr>
              <a:t>80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bits</a:t>
            </a:r>
            <a:endParaRPr sz="1600">
              <a:latin typeface="Times New Roman"/>
              <a:cs typeface="Times New Roman"/>
            </a:endParaRPr>
          </a:p>
          <a:p>
            <a:pPr marL="616585" lvl="1" indent="-232410">
              <a:lnSpc>
                <a:spcPct val="100000"/>
              </a:lnSpc>
              <a:buFont typeface="Arial MT"/>
              <a:buChar char="–"/>
              <a:tabLst>
                <a:tab pos="616585" algn="l"/>
              </a:tabLst>
            </a:pPr>
            <a:r>
              <a:rPr sz="1600" dirty="0">
                <a:latin typeface="Times New Roman"/>
                <a:cs typeface="Times New Roman"/>
              </a:rPr>
              <a:t>160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bytes</a:t>
            </a:r>
            <a:endParaRPr sz="1600">
              <a:latin typeface="Times New Roman"/>
              <a:cs typeface="Times New Roman"/>
            </a:endParaRPr>
          </a:p>
          <a:p>
            <a:pPr marL="616585" lvl="1" indent="-232410">
              <a:lnSpc>
                <a:spcPts val="1914"/>
              </a:lnSpc>
              <a:buFont typeface="Arial MT"/>
              <a:buChar char="–"/>
              <a:tabLst>
                <a:tab pos="616585" algn="l"/>
              </a:tabLst>
            </a:pPr>
            <a:r>
              <a:rPr sz="1600" dirty="0">
                <a:latin typeface="Times New Roman"/>
                <a:cs typeface="Times New Roman"/>
              </a:rPr>
              <a:t>160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bits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Times New Roman"/>
                <a:cs typeface="Times New Roman"/>
              </a:rPr>
              <a:t>Bandwidth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Kbps,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Propagation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delay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(Tp)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20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msec,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Efficiency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&gt;=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50%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900">
              <a:latin typeface="Times New Roman"/>
              <a:cs typeface="Times New Roman"/>
            </a:endParaRPr>
          </a:p>
          <a:p>
            <a:pPr marR="5097145" algn="ctr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Times New Roman"/>
                <a:cs typeface="Times New Roman"/>
              </a:rPr>
              <a:t>Let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required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frame size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bits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900" spc="-10" dirty="0">
                <a:latin typeface="Times New Roman"/>
                <a:cs typeface="Times New Roman"/>
              </a:rPr>
              <a:t>Transmission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delay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(Tt)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size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/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Bandwidth</a:t>
            </a:r>
            <a:endParaRPr sz="1900">
              <a:latin typeface="Times New Roman"/>
              <a:cs typeface="Times New Roman"/>
            </a:endParaRPr>
          </a:p>
          <a:p>
            <a:pPr marL="1485900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/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 </a:t>
            </a:r>
            <a:r>
              <a:rPr sz="1900" spc="-20" dirty="0">
                <a:latin typeface="Times New Roman"/>
                <a:cs typeface="Times New Roman"/>
              </a:rPr>
              <a:t>Kbps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2097" y="4961421"/>
            <a:ext cx="1536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79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5746"/>
            <a:ext cx="6708775" cy="3790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Condition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efficiency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least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50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%</a:t>
            </a:r>
            <a:endParaRPr sz="19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efficiency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least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50%,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must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have</a:t>
            </a:r>
            <a:endParaRPr sz="1900">
              <a:latin typeface="Times New Roman"/>
              <a:cs typeface="Times New Roman"/>
            </a:endParaRPr>
          </a:p>
          <a:p>
            <a:pPr marL="1818005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/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1+2a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&gt;= </a:t>
            </a:r>
            <a:r>
              <a:rPr sz="1900" spc="-25" dirty="0">
                <a:latin typeface="Times New Roman"/>
                <a:cs typeface="Times New Roman"/>
              </a:rPr>
              <a:t>1/2</a:t>
            </a:r>
            <a:endParaRPr sz="1900">
              <a:latin typeface="Times New Roman"/>
              <a:cs typeface="Times New Roman"/>
            </a:endParaRPr>
          </a:p>
          <a:p>
            <a:pPr marL="1818005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&lt;= </a:t>
            </a:r>
            <a:r>
              <a:rPr sz="1900" spc="-25" dirty="0">
                <a:latin typeface="Times New Roman"/>
                <a:cs typeface="Times New Roman"/>
              </a:rPr>
              <a:t>1/2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900">
              <a:latin typeface="Times New Roman"/>
              <a:cs typeface="Times New Roman"/>
            </a:endParaRPr>
          </a:p>
          <a:p>
            <a:pPr marR="3227070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Substituting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value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„a‟,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get</a:t>
            </a:r>
            <a:endParaRPr sz="1900">
              <a:latin typeface="Times New Roman"/>
              <a:cs typeface="Times New Roman"/>
            </a:endParaRPr>
          </a:p>
          <a:p>
            <a:pPr marL="1817370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(20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msec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Kbps)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/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&lt;=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1/2</a:t>
            </a:r>
            <a:endParaRPr sz="1900">
              <a:latin typeface="Times New Roman"/>
              <a:cs typeface="Times New Roman"/>
            </a:endParaRPr>
          </a:p>
          <a:p>
            <a:pPr marL="1818005" algn="ctr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&gt;=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msec x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Kbps)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 marL="1818005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&gt;=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10-</a:t>
            </a:r>
            <a:r>
              <a:rPr sz="1900" dirty="0">
                <a:latin typeface="Times New Roman"/>
                <a:cs typeface="Times New Roman"/>
              </a:rPr>
              <a:t>3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sec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103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sec)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 marL="1817370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&gt;= 20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bits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 marL="1818005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L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&gt;=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160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here,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frame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size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must be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least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160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bits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Stop and</a:t>
            </a:r>
            <a:r>
              <a:rPr sz="2600" spc="-55" dirty="0"/>
              <a:t> </a:t>
            </a:r>
            <a:r>
              <a:rPr sz="2600" spc="-60" dirty="0"/>
              <a:t>Wait</a:t>
            </a:r>
            <a:r>
              <a:rPr sz="2600" spc="-145" dirty="0"/>
              <a:t> </a:t>
            </a:r>
            <a:r>
              <a:rPr sz="2600" spc="-25" dirty="0"/>
              <a:t>ARQ</a:t>
            </a:r>
            <a:endParaRPr sz="2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10438"/>
            <a:ext cx="41192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Disadvantage</a:t>
            </a:r>
            <a:r>
              <a:rPr sz="2600" spc="-50" dirty="0"/>
              <a:t> </a:t>
            </a:r>
            <a:r>
              <a:rPr sz="2600" dirty="0"/>
              <a:t>of</a:t>
            </a:r>
            <a:r>
              <a:rPr sz="2600" spc="5" dirty="0"/>
              <a:t> </a:t>
            </a:r>
            <a:r>
              <a:rPr sz="2600" dirty="0"/>
              <a:t>Stop</a:t>
            </a:r>
            <a:r>
              <a:rPr sz="2600" spc="-5" dirty="0"/>
              <a:t> </a:t>
            </a:r>
            <a:r>
              <a:rPr sz="2600" dirty="0"/>
              <a:t>and</a:t>
            </a:r>
            <a:r>
              <a:rPr sz="2600" spc="-60" dirty="0"/>
              <a:t> </a:t>
            </a:r>
            <a:r>
              <a:rPr sz="2600" spc="-20" dirty="0"/>
              <a:t>Wait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307340" y="1072133"/>
            <a:ext cx="8388350" cy="2661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283845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stop-</a:t>
            </a:r>
            <a:r>
              <a:rPr sz="2000" spc="-10" dirty="0">
                <a:latin typeface="Times New Roman"/>
                <a:cs typeface="Times New Roman"/>
              </a:rPr>
              <a:t>and-</a:t>
            </a:r>
            <a:r>
              <a:rPr sz="2000" dirty="0">
                <a:latin typeface="Times New Roman"/>
                <a:cs typeface="Times New Roman"/>
              </a:rPr>
              <a:t>wait,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time, 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acknowledged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medium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3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efficiency,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</a:t>
            </a:r>
            <a:endParaRPr sz="20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ACK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35" dirty="0">
                <a:latin typeface="Times New Roman"/>
                <a:cs typeface="Times New Roman"/>
              </a:rPr>
              <a:t>Two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concept,</a:t>
            </a:r>
            <a:endParaRPr sz="20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spc="-10" dirty="0">
                <a:latin typeface="Times New Roman"/>
                <a:cs typeface="Times New Roman"/>
              </a:rPr>
              <a:t>Go-Back-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ARQ</a:t>
            </a:r>
            <a:endParaRPr sz="17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615950" algn="l"/>
              </a:tabLst>
            </a:pPr>
            <a:r>
              <a:rPr sz="1700" dirty="0">
                <a:latin typeface="Times New Roman"/>
                <a:cs typeface="Times New Roman"/>
              </a:rPr>
              <a:t>Selective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Repeat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ARQ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Go</a:t>
            </a:r>
            <a:r>
              <a:rPr sz="2600" spc="-10" dirty="0"/>
              <a:t> </a:t>
            </a:r>
            <a:r>
              <a:rPr sz="2600" dirty="0"/>
              <a:t>Back</a:t>
            </a:r>
            <a:r>
              <a:rPr sz="2600" spc="-15" dirty="0"/>
              <a:t> </a:t>
            </a:r>
            <a:r>
              <a:rPr sz="2600" dirty="0"/>
              <a:t>N</a:t>
            </a:r>
            <a:r>
              <a:rPr sz="2600" spc="-155" dirty="0"/>
              <a:t> </a:t>
            </a:r>
            <a:r>
              <a:rPr sz="2600" spc="-25" dirty="0"/>
              <a:t>ARQ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307340" y="1011783"/>
            <a:ext cx="822515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50" dirty="0">
                <a:latin typeface="Times New Roman"/>
                <a:cs typeface="Times New Roman"/>
              </a:rPr>
              <a:t>We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worrying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ACKs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spc="-50" dirty="0">
                <a:latin typeface="Times New Roman"/>
                <a:cs typeface="Times New Roman"/>
              </a:rPr>
              <a:t>We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arrive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procedure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Wait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Sequence</a:t>
            </a:r>
            <a:r>
              <a:rPr sz="2600" spc="-35" dirty="0"/>
              <a:t> </a:t>
            </a:r>
            <a:r>
              <a:rPr sz="2600" spc="-10" dirty="0"/>
              <a:t>Numbers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256540" y="1011783"/>
            <a:ext cx="8645525" cy="28301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422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numbered</a:t>
            </a:r>
            <a:r>
              <a:rPr sz="2000" spc="-10" dirty="0">
                <a:latin typeface="Times New Roman"/>
                <a:cs typeface="Times New Roman"/>
              </a:rPr>
              <a:t> sequentially</a:t>
            </a:r>
            <a:endParaRPr sz="2000">
              <a:latin typeface="Times New Roman"/>
              <a:cs typeface="Times New Roman"/>
            </a:endParaRPr>
          </a:p>
          <a:p>
            <a:pPr marL="342265" marR="69215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each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header</a:t>
            </a:r>
            <a:endParaRPr sz="20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header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number,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sequence</a:t>
            </a:r>
            <a:endParaRPr sz="2000">
              <a:latin typeface="Times New Roman"/>
              <a:cs typeface="Times New Roman"/>
            </a:endParaRPr>
          </a:p>
          <a:p>
            <a:pPr marL="3422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range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1950" baseline="25641" dirty="0">
                <a:latin typeface="Times New Roman"/>
                <a:cs typeface="Times New Roman"/>
              </a:rPr>
              <a:t>m</a:t>
            </a:r>
            <a:r>
              <a:rPr sz="1950" spc="277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3, sequence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are: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3, 4,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6, </a:t>
            </a:r>
            <a:r>
              <a:rPr sz="2000" spc="-5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40" dirty="0">
                <a:latin typeface="Times New Roman"/>
                <a:cs typeface="Times New Roman"/>
              </a:rPr>
              <a:t>We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</a:t>
            </a:r>
            <a:endParaRPr sz="20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0,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1, 2, 3,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4, 5, 6,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7, 0, 1,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3, 4,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5, 6, 7,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0, 1, </a:t>
            </a:r>
            <a:r>
              <a:rPr sz="2000" spc="-50" dirty="0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Sender</a:t>
            </a:r>
            <a:r>
              <a:rPr spc="-80" dirty="0"/>
              <a:t> </a:t>
            </a:r>
            <a:r>
              <a:rPr dirty="0"/>
              <a:t>Sliding</a:t>
            </a:r>
            <a:r>
              <a:rPr spc="-140" dirty="0"/>
              <a:t> </a:t>
            </a:r>
            <a:r>
              <a:rPr spc="-10" dirty="0"/>
              <a:t>Window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041653"/>
            <a:ext cx="4045585" cy="353250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28625" marR="92075" indent="-339725" algn="just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sending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site,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hold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outstanding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	</a:t>
            </a:r>
            <a:r>
              <a:rPr sz="2000" dirty="0">
                <a:latin typeface="Times New Roman"/>
                <a:cs typeface="Times New Roman"/>
              </a:rPr>
              <a:t>acknowledged,</a:t>
            </a:r>
            <a:r>
              <a:rPr sz="2000" spc="40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40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95" dirty="0">
                <a:latin typeface="Times New Roman"/>
                <a:cs typeface="Times New Roman"/>
              </a:rPr>
              <a:t>  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concept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window</a:t>
            </a:r>
            <a:endParaRPr sz="2000">
              <a:latin typeface="Times New Roman"/>
              <a:cs typeface="Times New Roman"/>
            </a:endParaRPr>
          </a:p>
          <a:p>
            <a:pPr marL="428625" marR="93980" indent="-339725" algn="just">
              <a:lnSpc>
                <a:spcPts val="2160"/>
              </a:lnSpc>
              <a:spcBef>
                <a:spcPts val="480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most 	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1950" baseline="25641" dirty="0">
                <a:latin typeface="Times New Roman"/>
                <a:cs typeface="Times New Roman"/>
              </a:rPr>
              <a:t>m</a:t>
            </a:r>
            <a:r>
              <a:rPr sz="1950" spc="66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-1,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	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10" dirty="0">
                <a:latin typeface="Times New Roman"/>
                <a:cs typeface="Times New Roman"/>
              </a:rPr>
              <a:t> number</a:t>
            </a:r>
            <a:endParaRPr sz="2000">
              <a:latin typeface="Times New Roman"/>
              <a:cs typeface="Times New Roman"/>
            </a:endParaRPr>
          </a:p>
          <a:p>
            <a:pPr marL="427990" indent="-339090" algn="just">
              <a:lnSpc>
                <a:spcPts val="2280"/>
              </a:lnSpc>
              <a:spcBef>
                <a:spcPts val="210"/>
              </a:spcBef>
              <a:buFont typeface="Arial MT"/>
              <a:buChar char="•"/>
              <a:tabLst>
                <a:tab pos="427990" algn="l"/>
              </a:tabLst>
            </a:pP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3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3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9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endParaRPr sz="2000">
              <a:latin typeface="Times New Roman"/>
              <a:cs typeface="Times New Roman"/>
            </a:endParaRPr>
          </a:p>
          <a:p>
            <a:pPr marL="431800" algn="just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variable,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e.g.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TCP</a:t>
            </a:r>
            <a:endParaRPr sz="2000">
              <a:latin typeface="Times New Roman"/>
              <a:cs typeface="Times New Roman"/>
            </a:endParaRPr>
          </a:p>
          <a:p>
            <a:pPr marL="428625" marR="92075" indent="-339725" algn="just">
              <a:lnSpc>
                <a:spcPct val="90000"/>
              </a:lnSpc>
              <a:spcBef>
                <a:spcPts val="480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slides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new 	</a:t>
            </a:r>
            <a:r>
              <a:rPr sz="2000" dirty="0">
                <a:latin typeface="Times New Roman"/>
                <a:cs typeface="Times New Roman"/>
              </a:rPr>
              <a:t>unsent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correct 	</a:t>
            </a:r>
            <a:r>
              <a:rPr sz="2000" dirty="0">
                <a:latin typeface="Times New Roman"/>
                <a:cs typeface="Times New Roman"/>
              </a:rPr>
              <a:t>ACKs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received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648967"/>
            <a:ext cx="4572000" cy="19157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Receiver</a:t>
            </a:r>
            <a:r>
              <a:rPr spc="-75" dirty="0"/>
              <a:t> </a:t>
            </a:r>
            <a:r>
              <a:rPr dirty="0"/>
              <a:t>Sliding</a:t>
            </a:r>
            <a:r>
              <a:rPr spc="-125" dirty="0"/>
              <a:t> </a:t>
            </a:r>
            <a:r>
              <a:rPr spc="-10" dirty="0"/>
              <a:t>Window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72133"/>
            <a:ext cx="3882390" cy="3562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5080" indent="-3397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4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4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46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receiving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always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this 	</a:t>
            </a:r>
            <a:r>
              <a:rPr sz="2000" spc="-10" dirty="0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  <a:p>
            <a:pPr marL="351790" marR="5080" indent="-339090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always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looking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	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3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arrive</a:t>
            </a:r>
            <a:r>
              <a:rPr sz="2000" spc="3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10" dirty="0">
                <a:latin typeface="Times New Roman"/>
                <a:cs typeface="Times New Roman"/>
              </a:rPr>
              <a:t>  </a:t>
            </a:r>
            <a:r>
              <a:rPr sz="2000" spc="-50" dirty="0">
                <a:latin typeface="Times New Roman"/>
                <a:cs typeface="Times New Roman"/>
              </a:rPr>
              <a:t>a 	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order</a:t>
            </a:r>
            <a:endParaRPr sz="2000">
              <a:latin typeface="Times New Roman"/>
              <a:cs typeface="Times New Roman"/>
            </a:endParaRPr>
          </a:p>
          <a:p>
            <a:pPr marL="352425" marR="5715" indent="-3397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arriving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	</a:t>
            </a:r>
            <a:r>
              <a:rPr sz="2000" dirty="0">
                <a:latin typeface="Times New Roman"/>
                <a:cs typeface="Times New Roman"/>
              </a:rPr>
              <a:t>discarded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resent.</a:t>
            </a:r>
            <a:endParaRPr sz="2000">
              <a:latin typeface="Times New Roman"/>
              <a:cs typeface="Times New Roman"/>
            </a:endParaRPr>
          </a:p>
          <a:p>
            <a:pPr marL="352425" marR="5080" indent="-3397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slides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shown 	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fig.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for 	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1885950"/>
            <a:ext cx="4572000" cy="145783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25804"/>
            <a:ext cx="8528685" cy="173291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Sender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variables: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SF,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SL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sequence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recently sent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frame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SF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sequence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frame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SL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sequence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frame</a:t>
            </a:r>
            <a:endParaRPr sz="1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Times New Roman"/>
                <a:cs typeface="Times New Roman"/>
              </a:rPr>
              <a:t>Receiver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variable,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R,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holds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sequence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receive.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seq.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no.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accepted,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otherwise </a:t>
            </a:r>
            <a:r>
              <a:rPr sz="1600" spc="-10" dirty="0">
                <a:latin typeface="Times New Roman"/>
                <a:cs typeface="Times New Roman"/>
              </a:rPr>
              <a:t>rejected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Control</a:t>
            </a:r>
            <a:r>
              <a:rPr spc="-80" dirty="0"/>
              <a:t> </a:t>
            </a:r>
            <a:r>
              <a:rPr spc="-35" dirty="0"/>
              <a:t>Variables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989452"/>
            <a:ext cx="7315200" cy="179209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/>
              <a:t>Receiver</a:t>
            </a:r>
            <a:r>
              <a:rPr sz="1800" spc="-35" dirty="0"/>
              <a:t> </a:t>
            </a:r>
            <a:r>
              <a:rPr sz="1800" dirty="0"/>
              <a:t>sends</a:t>
            </a:r>
            <a:r>
              <a:rPr sz="1800" spc="-10" dirty="0"/>
              <a:t> positive</a:t>
            </a:r>
            <a:r>
              <a:rPr sz="1800" spc="-105" dirty="0"/>
              <a:t> </a:t>
            </a:r>
            <a:r>
              <a:rPr sz="1800" dirty="0"/>
              <a:t>ACK</a:t>
            </a:r>
            <a:r>
              <a:rPr sz="1800" spc="-20" dirty="0"/>
              <a:t> </a:t>
            </a:r>
            <a:r>
              <a:rPr sz="1800" dirty="0"/>
              <a:t>if</a:t>
            </a:r>
            <a:r>
              <a:rPr sz="1800" spc="-20" dirty="0"/>
              <a:t> </a:t>
            </a:r>
            <a:r>
              <a:rPr sz="1800" dirty="0"/>
              <a:t>a</a:t>
            </a:r>
            <a:r>
              <a:rPr sz="1800" spc="-20" dirty="0"/>
              <a:t> </a:t>
            </a:r>
            <a:r>
              <a:rPr sz="1800" dirty="0"/>
              <a:t>frame arrived</a:t>
            </a:r>
            <a:r>
              <a:rPr sz="1800" spc="-30" dirty="0"/>
              <a:t> </a:t>
            </a:r>
            <a:r>
              <a:rPr sz="1800" dirty="0"/>
              <a:t>safe</a:t>
            </a:r>
            <a:r>
              <a:rPr sz="1800" spc="-5" dirty="0"/>
              <a:t> </a:t>
            </a:r>
            <a:r>
              <a:rPr sz="1800" dirty="0"/>
              <a:t>and</a:t>
            </a:r>
            <a:r>
              <a:rPr sz="1800" spc="-15" dirty="0"/>
              <a:t> </a:t>
            </a:r>
            <a:r>
              <a:rPr sz="1800" dirty="0"/>
              <a:t>in</a:t>
            </a:r>
            <a:r>
              <a:rPr sz="1800" spc="-20" dirty="0"/>
              <a:t> </a:t>
            </a:r>
            <a:r>
              <a:rPr sz="1800" spc="-10" dirty="0"/>
              <a:t>order</a:t>
            </a:r>
            <a:endParaRPr sz="1800"/>
          </a:p>
          <a:p>
            <a:pPr marL="291465" marR="5080" indent="-2794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/>
              <a:t>If</a:t>
            </a:r>
            <a:r>
              <a:rPr sz="1800" spc="350" dirty="0"/>
              <a:t> </a:t>
            </a:r>
            <a:r>
              <a:rPr sz="1800" dirty="0"/>
              <a:t>the</a:t>
            </a:r>
            <a:r>
              <a:rPr sz="1800" spc="345" dirty="0"/>
              <a:t> </a:t>
            </a:r>
            <a:r>
              <a:rPr sz="1800" dirty="0"/>
              <a:t>frames</a:t>
            </a:r>
            <a:r>
              <a:rPr sz="1800" spc="350" dirty="0"/>
              <a:t> </a:t>
            </a:r>
            <a:r>
              <a:rPr sz="1800" dirty="0"/>
              <a:t>are</a:t>
            </a:r>
            <a:r>
              <a:rPr sz="1800" spc="355" dirty="0"/>
              <a:t> </a:t>
            </a:r>
            <a:r>
              <a:rPr sz="1800" dirty="0"/>
              <a:t>damaged/out</a:t>
            </a:r>
            <a:r>
              <a:rPr sz="1800" spc="345" dirty="0"/>
              <a:t> </a:t>
            </a:r>
            <a:r>
              <a:rPr sz="1800" dirty="0"/>
              <a:t>of</a:t>
            </a:r>
            <a:r>
              <a:rPr sz="1800" spc="350" dirty="0"/>
              <a:t> </a:t>
            </a:r>
            <a:r>
              <a:rPr sz="1800" dirty="0"/>
              <a:t>order,</a:t>
            </a:r>
            <a:r>
              <a:rPr sz="1800" spc="345" dirty="0"/>
              <a:t> </a:t>
            </a:r>
            <a:r>
              <a:rPr sz="1800" dirty="0"/>
              <a:t>receiver</a:t>
            </a:r>
            <a:r>
              <a:rPr sz="1800" spc="345" dirty="0"/>
              <a:t> </a:t>
            </a:r>
            <a:r>
              <a:rPr sz="1800" dirty="0"/>
              <a:t>is</a:t>
            </a:r>
            <a:r>
              <a:rPr sz="1800" spc="345" dirty="0"/>
              <a:t> </a:t>
            </a:r>
            <a:r>
              <a:rPr sz="1800" dirty="0"/>
              <a:t>silent</a:t>
            </a:r>
            <a:r>
              <a:rPr sz="1800" spc="350" dirty="0"/>
              <a:t> </a:t>
            </a:r>
            <a:r>
              <a:rPr sz="1800" dirty="0"/>
              <a:t>and</a:t>
            </a:r>
            <a:r>
              <a:rPr sz="1800" spc="340" dirty="0"/>
              <a:t> </a:t>
            </a:r>
            <a:r>
              <a:rPr sz="1800" dirty="0"/>
              <a:t>discard</a:t>
            </a:r>
            <a:r>
              <a:rPr sz="1800" spc="340" dirty="0"/>
              <a:t> </a:t>
            </a:r>
            <a:r>
              <a:rPr sz="1800" dirty="0"/>
              <a:t>all</a:t>
            </a:r>
            <a:r>
              <a:rPr sz="1800" spc="355" dirty="0"/>
              <a:t> </a:t>
            </a:r>
            <a:r>
              <a:rPr sz="1800" spc="-10" dirty="0"/>
              <a:t>subsequent </a:t>
            </a:r>
            <a:r>
              <a:rPr sz="1800" dirty="0"/>
              <a:t>frames</a:t>
            </a:r>
            <a:r>
              <a:rPr sz="1800" spc="-20" dirty="0"/>
              <a:t> </a:t>
            </a:r>
            <a:r>
              <a:rPr sz="1800" dirty="0"/>
              <a:t>until</a:t>
            </a:r>
            <a:r>
              <a:rPr sz="1800" spc="-30" dirty="0"/>
              <a:t> </a:t>
            </a:r>
            <a:r>
              <a:rPr sz="1800" dirty="0"/>
              <a:t>it</a:t>
            </a:r>
            <a:r>
              <a:rPr sz="1800" spc="-20" dirty="0"/>
              <a:t> </a:t>
            </a:r>
            <a:r>
              <a:rPr sz="1800" dirty="0"/>
              <a:t>receives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20" dirty="0"/>
              <a:t> </a:t>
            </a:r>
            <a:r>
              <a:rPr sz="1800" dirty="0"/>
              <a:t>one</a:t>
            </a:r>
            <a:r>
              <a:rPr sz="1800" spc="-20" dirty="0"/>
              <a:t> </a:t>
            </a:r>
            <a:r>
              <a:rPr sz="1800" dirty="0"/>
              <a:t>it</a:t>
            </a:r>
            <a:r>
              <a:rPr sz="1800" spc="-20" dirty="0"/>
              <a:t> </a:t>
            </a:r>
            <a:r>
              <a:rPr sz="1800" dirty="0"/>
              <a:t>is</a:t>
            </a:r>
            <a:r>
              <a:rPr sz="1800" spc="-15" dirty="0"/>
              <a:t> </a:t>
            </a:r>
            <a:r>
              <a:rPr sz="1800" spc="-10" dirty="0"/>
              <a:t>expecting</a:t>
            </a:r>
            <a:endParaRPr sz="1800"/>
          </a:p>
          <a:p>
            <a:pPr marL="291465" indent="-2787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/>
              <a:t>The</a:t>
            </a:r>
            <a:r>
              <a:rPr sz="1800" spc="-5" dirty="0"/>
              <a:t> </a:t>
            </a:r>
            <a:r>
              <a:rPr sz="1800" dirty="0"/>
              <a:t>silence</a:t>
            </a:r>
            <a:r>
              <a:rPr sz="1800" spc="-25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dirty="0"/>
              <a:t>the</a:t>
            </a:r>
            <a:r>
              <a:rPr sz="1800" spc="-5" dirty="0"/>
              <a:t> </a:t>
            </a:r>
            <a:r>
              <a:rPr sz="1800" dirty="0"/>
              <a:t>receiver</a:t>
            </a:r>
            <a:r>
              <a:rPr sz="1800" spc="-15" dirty="0"/>
              <a:t> </a:t>
            </a:r>
            <a:r>
              <a:rPr sz="1800" dirty="0"/>
              <a:t>causes</a:t>
            </a:r>
            <a:r>
              <a:rPr sz="1800" spc="-5" dirty="0"/>
              <a:t> </a:t>
            </a:r>
            <a:r>
              <a:rPr sz="1800" dirty="0"/>
              <a:t>the</a:t>
            </a:r>
            <a:r>
              <a:rPr sz="1800" spc="-5" dirty="0"/>
              <a:t> </a:t>
            </a:r>
            <a:r>
              <a:rPr sz="1800" dirty="0"/>
              <a:t>timer of the</a:t>
            </a:r>
            <a:r>
              <a:rPr sz="1800" spc="-5" dirty="0"/>
              <a:t> </a:t>
            </a:r>
            <a:r>
              <a:rPr sz="1800" dirty="0"/>
              <a:t>unacknowledged</a:t>
            </a:r>
            <a:r>
              <a:rPr sz="1800" spc="-15" dirty="0"/>
              <a:t> </a:t>
            </a:r>
            <a:r>
              <a:rPr sz="1800" dirty="0"/>
              <a:t>frame</a:t>
            </a:r>
            <a:r>
              <a:rPr sz="1800" spc="-15" dirty="0"/>
              <a:t> </a:t>
            </a:r>
            <a:r>
              <a:rPr sz="1800" dirty="0"/>
              <a:t>to</a:t>
            </a:r>
            <a:r>
              <a:rPr sz="1800" spc="5" dirty="0"/>
              <a:t> </a:t>
            </a:r>
            <a:r>
              <a:rPr sz="1800" spc="-10" dirty="0"/>
              <a:t>expire</a:t>
            </a:r>
            <a:endParaRPr sz="1800"/>
          </a:p>
          <a:p>
            <a:pPr marL="291465" indent="-2787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/>
              <a:t>Then</a:t>
            </a:r>
            <a:r>
              <a:rPr sz="1800" spc="-35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sender</a:t>
            </a:r>
            <a:r>
              <a:rPr sz="1800" spc="-30" dirty="0"/>
              <a:t> </a:t>
            </a:r>
            <a:r>
              <a:rPr sz="1800" dirty="0"/>
              <a:t>resends</a:t>
            </a:r>
            <a:r>
              <a:rPr sz="1800" spc="-35" dirty="0"/>
              <a:t> </a:t>
            </a:r>
            <a:r>
              <a:rPr sz="1800" dirty="0"/>
              <a:t>all</a:t>
            </a:r>
            <a:r>
              <a:rPr sz="1800" spc="-30" dirty="0"/>
              <a:t> </a:t>
            </a:r>
            <a:r>
              <a:rPr sz="1800" dirty="0"/>
              <a:t>frames,</a:t>
            </a:r>
            <a:r>
              <a:rPr sz="1800" spc="-30" dirty="0"/>
              <a:t> </a:t>
            </a:r>
            <a:r>
              <a:rPr sz="1800" dirty="0"/>
              <a:t>beginning</a:t>
            </a:r>
            <a:r>
              <a:rPr sz="1800" spc="-25" dirty="0"/>
              <a:t> </a:t>
            </a:r>
            <a:r>
              <a:rPr sz="1800" dirty="0"/>
              <a:t>with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one</a:t>
            </a:r>
            <a:r>
              <a:rPr sz="1800" spc="-35" dirty="0"/>
              <a:t> </a:t>
            </a:r>
            <a:r>
              <a:rPr sz="1800" dirty="0"/>
              <a:t>with</a:t>
            </a:r>
            <a:r>
              <a:rPr sz="1800" spc="-25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expired</a:t>
            </a:r>
            <a:r>
              <a:rPr sz="1800" spc="-40" dirty="0"/>
              <a:t> </a:t>
            </a:r>
            <a:r>
              <a:rPr sz="1800" spc="-10" dirty="0"/>
              <a:t>timer</a:t>
            </a:r>
            <a:endParaRPr sz="1800"/>
          </a:p>
          <a:p>
            <a:pPr marL="291465" marR="5080" indent="-279400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/>
              <a:t>For</a:t>
            </a:r>
            <a:r>
              <a:rPr sz="1800" spc="70" dirty="0"/>
              <a:t> </a:t>
            </a:r>
            <a:r>
              <a:rPr sz="1800" dirty="0"/>
              <a:t>example,</a:t>
            </a:r>
            <a:r>
              <a:rPr sz="1800" spc="70" dirty="0"/>
              <a:t> </a:t>
            </a:r>
            <a:r>
              <a:rPr sz="1800" dirty="0"/>
              <a:t>suppose</a:t>
            </a:r>
            <a:r>
              <a:rPr sz="1800" spc="80" dirty="0"/>
              <a:t> </a:t>
            </a:r>
            <a:r>
              <a:rPr sz="1800" dirty="0"/>
              <a:t>the</a:t>
            </a:r>
            <a:r>
              <a:rPr sz="1800" spc="70" dirty="0"/>
              <a:t> </a:t>
            </a:r>
            <a:r>
              <a:rPr sz="1800" dirty="0"/>
              <a:t>sender</a:t>
            </a:r>
            <a:r>
              <a:rPr sz="1800" spc="70" dirty="0"/>
              <a:t> </a:t>
            </a:r>
            <a:r>
              <a:rPr sz="1800" dirty="0"/>
              <a:t>has</a:t>
            </a:r>
            <a:r>
              <a:rPr sz="1800" spc="65" dirty="0"/>
              <a:t> </a:t>
            </a:r>
            <a:r>
              <a:rPr sz="1800" dirty="0"/>
              <a:t>sent</a:t>
            </a:r>
            <a:r>
              <a:rPr sz="1800" spc="70" dirty="0"/>
              <a:t> </a:t>
            </a:r>
            <a:r>
              <a:rPr sz="1800" dirty="0"/>
              <a:t>frame</a:t>
            </a:r>
            <a:r>
              <a:rPr sz="1800" spc="60" dirty="0"/>
              <a:t> </a:t>
            </a:r>
            <a:r>
              <a:rPr sz="1800" dirty="0"/>
              <a:t>6,</a:t>
            </a:r>
            <a:r>
              <a:rPr sz="1800" spc="80" dirty="0"/>
              <a:t> </a:t>
            </a:r>
            <a:r>
              <a:rPr sz="1800" dirty="0"/>
              <a:t>but</a:t>
            </a:r>
            <a:r>
              <a:rPr sz="1800" spc="65" dirty="0"/>
              <a:t> </a:t>
            </a:r>
            <a:r>
              <a:rPr sz="1800" dirty="0"/>
              <a:t>the</a:t>
            </a:r>
            <a:r>
              <a:rPr sz="1800" spc="65" dirty="0"/>
              <a:t> </a:t>
            </a:r>
            <a:r>
              <a:rPr sz="1800" dirty="0"/>
              <a:t>timer</a:t>
            </a:r>
            <a:r>
              <a:rPr sz="1800" spc="60" dirty="0"/>
              <a:t> </a:t>
            </a:r>
            <a:r>
              <a:rPr sz="1800" dirty="0"/>
              <a:t>for</a:t>
            </a:r>
            <a:r>
              <a:rPr sz="1800" spc="75" dirty="0"/>
              <a:t> </a:t>
            </a:r>
            <a:r>
              <a:rPr sz="1800" dirty="0"/>
              <a:t>frame</a:t>
            </a:r>
            <a:r>
              <a:rPr sz="1800" spc="70" dirty="0"/>
              <a:t> </a:t>
            </a:r>
            <a:r>
              <a:rPr sz="1800" dirty="0"/>
              <a:t>3</a:t>
            </a:r>
            <a:r>
              <a:rPr sz="1800" spc="65" dirty="0"/>
              <a:t> </a:t>
            </a:r>
            <a:r>
              <a:rPr sz="1800" dirty="0"/>
              <a:t>expires</a:t>
            </a:r>
            <a:r>
              <a:rPr sz="1800" spc="75" dirty="0"/>
              <a:t> </a:t>
            </a:r>
            <a:r>
              <a:rPr sz="1800" spc="-10" dirty="0"/>
              <a:t>(i.e. </a:t>
            </a:r>
            <a:r>
              <a:rPr sz="1800" dirty="0"/>
              <a:t>frame</a:t>
            </a:r>
            <a:r>
              <a:rPr sz="1800" spc="25" dirty="0"/>
              <a:t> </a:t>
            </a:r>
            <a:r>
              <a:rPr sz="1800" dirty="0"/>
              <a:t>3</a:t>
            </a:r>
            <a:r>
              <a:rPr sz="1800" spc="15" dirty="0"/>
              <a:t> </a:t>
            </a:r>
            <a:r>
              <a:rPr sz="1800" dirty="0"/>
              <a:t>has</a:t>
            </a:r>
            <a:r>
              <a:rPr sz="1800" spc="15" dirty="0"/>
              <a:t> </a:t>
            </a:r>
            <a:r>
              <a:rPr sz="1800" dirty="0"/>
              <a:t>not</a:t>
            </a:r>
            <a:r>
              <a:rPr sz="1800" spc="5" dirty="0"/>
              <a:t> </a:t>
            </a:r>
            <a:r>
              <a:rPr sz="1800" dirty="0"/>
              <a:t>been</a:t>
            </a:r>
            <a:r>
              <a:rPr sz="1800" spc="15" dirty="0"/>
              <a:t> </a:t>
            </a:r>
            <a:r>
              <a:rPr sz="1800" dirty="0"/>
              <a:t>acknowledged),</a:t>
            </a:r>
            <a:r>
              <a:rPr sz="1800" spc="30" dirty="0"/>
              <a:t> </a:t>
            </a:r>
            <a:r>
              <a:rPr sz="1800" dirty="0"/>
              <a:t>then</a:t>
            </a:r>
            <a:r>
              <a:rPr sz="1800" spc="25" dirty="0"/>
              <a:t> </a:t>
            </a:r>
            <a:r>
              <a:rPr sz="1800" dirty="0"/>
              <a:t>the</a:t>
            </a:r>
            <a:r>
              <a:rPr sz="1800" spc="25" dirty="0"/>
              <a:t> </a:t>
            </a:r>
            <a:r>
              <a:rPr sz="1800" dirty="0"/>
              <a:t>sender</a:t>
            </a:r>
            <a:r>
              <a:rPr sz="1800" spc="20" dirty="0"/>
              <a:t> </a:t>
            </a:r>
            <a:r>
              <a:rPr sz="1800" dirty="0"/>
              <a:t>goes</a:t>
            </a:r>
            <a:r>
              <a:rPr sz="1800" spc="15" dirty="0"/>
              <a:t> </a:t>
            </a:r>
            <a:r>
              <a:rPr sz="1800" dirty="0"/>
              <a:t>back</a:t>
            </a:r>
            <a:r>
              <a:rPr sz="1800" spc="10" dirty="0"/>
              <a:t> </a:t>
            </a:r>
            <a:r>
              <a:rPr sz="1800" dirty="0"/>
              <a:t>and</a:t>
            </a:r>
            <a:r>
              <a:rPr sz="1800" spc="15" dirty="0"/>
              <a:t> </a:t>
            </a:r>
            <a:r>
              <a:rPr sz="1800" dirty="0"/>
              <a:t>sends</a:t>
            </a:r>
            <a:r>
              <a:rPr sz="1800" spc="15" dirty="0"/>
              <a:t> </a:t>
            </a:r>
            <a:r>
              <a:rPr sz="1800" dirty="0"/>
              <a:t>frames</a:t>
            </a:r>
            <a:r>
              <a:rPr sz="1800" spc="20" dirty="0"/>
              <a:t> </a:t>
            </a:r>
            <a:r>
              <a:rPr sz="1800" dirty="0"/>
              <a:t>3,</a:t>
            </a:r>
            <a:r>
              <a:rPr sz="1800" spc="20" dirty="0"/>
              <a:t> </a:t>
            </a:r>
            <a:r>
              <a:rPr sz="1800" dirty="0"/>
              <a:t>4,</a:t>
            </a:r>
            <a:r>
              <a:rPr sz="1800" spc="20" dirty="0"/>
              <a:t> </a:t>
            </a:r>
            <a:r>
              <a:rPr sz="1800" spc="-25" dirty="0"/>
              <a:t>5, </a:t>
            </a:r>
            <a:r>
              <a:rPr sz="1800" dirty="0"/>
              <a:t>6 again.</a:t>
            </a:r>
            <a:r>
              <a:rPr sz="1800" spc="-30" dirty="0"/>
              <a:t> </a:t>
            </a:r>
            <a:r>
              <a:rPr sz="1800" dirty="0"/>
              <a:t>Thus</a:t>
            </a:r>
            <a:r>
              <a:rPr sz="1800" spc="-5" dirty="0"/>
              <a:t> </a:t>
            </a:r>
            <a:r>
              <a:rPr sz="1800" dirty="0"/>
              <a:t>it</a:t>
            </a:r>
            <a:r>
              <a:rPr sz="1800" spc="5" dirty="0"/>
              <a:t> </a:t>
            </a:r>
            <a:r>
              <a:rPr sz="1800" dirty="0"/>
              <a:t>is</a:t>
            </a:r>
            <a:r>
              <a:rPr sz="1800" spc="10" dirty="0"/>
              <a:t> </a:t>
            </a:r>
            <a:r>
              <a:rPr sz="1800" dirty="0"/>
              <a:t>called</a:t>
            </a:r>
            <a:r>
              <a:rPr sz="1800" spc="-15" dirty="0"/>
              <a:t> </a:t>
            </a:r>
            <a:r>
              <a:rPr sz="1800" spc="-10" dirty="0"/>
              <a:t>Go-Back-N-</a:t>
            </a:r>
            <a:r>
              <a:rPr sz="1800" spc="-25" dirty="0"/>
              <a:t>ARQ</a:t>
            </a:r>
            <a:endParaRPr sz="1800"/>
          </a:p>
          <a:p>
            <a:pPr marL="291465" marR="5080" indent="-279400" algn="just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/>
              <a:t>The</a:t>
            </a:r>
            <a:r>
              <a:rPr sz="1800" spc="25" dirty="0"/>
              <a:t>  </a:t>
            </a:r>
            <a:r>
              <a:rPr sz="1800" dirty="0"/>
              <a:t>receiver</a:t>
            </a:r>
            <a:r>
              <a:rPr sz="1800" spc="30" dirty="0"/>
              <a:t>  </a:t>
            </a:r>
            <a:r>
              <a:rPr sz="1800" dirty="0"/>
              <a:t>does</a:t>
            </a:r>
            <a:r>
              <a:rPr sz="1800" spc="30" dirty="0"/>
              <a:t>  </a:t>
            </a:r>
            <a:r>
              <a:rPr sz="1800" dirty="0"/>
              <a:t>not</a:t>
            </a:r>
            <a:r>
              <a:rPr sz="1800" spc="25" dirty="0"/>
              <a:t>  </a:t>
            </a:r>
            <a:r>
              <a:rPr sz="1800" dirty="0"/>
              <a:t>have</a:t>
            </a:r>
            <a:r>
              <a:rPr sz="1800" spc="25" dirty="0"/>
              <a:t>  </a:t>
            </a:r>
            <a:r>
              <a:rPr sz="1800" dirty="0"/>
              <a:t>to</a:t>
            </a:r>
            <a:r>
              <a:rPr sz="1800" spc="30" dirty="0"/>
              <a:t>  </a:t>
            </a:r>
            <a:r>
              <a:rPr sz="1800" dirty="0"/>
              <a:t>acknowledge</a:t>
            </a:r>
            <a:r>
              <a:rPr sz="1800" spc="30" dirty="0"/>
              <a:t>  </a:t>
            </a:r>
            <a:r>
              <a:rPr sz="1800" dirty="0"/>
              <a:t>each</a:t>
            </a:r>
            <a:r>
              <a:rPr sz="1800" spc="495" dirty="0"/>
              <a:t> </a:t>
            </a:r>
            <a:r>
              <a:rPr sz="1800" dirty="0"/>
              <a:t>frame</a:t>
            </a:r>
            <a:r>
              <a:rPr sz="1800" spc="30" dirty="0"/>
              <a:t>  </a:t>
            </a:r>
            <a:r>
              <a:rPr sz="1800" dirty="0"/>
              <a:t>received,</a:t>
            </a:r>
            <a:r>
              <a:rPr sz="1800" spc="30" dirty="0"/>
              <a:t>  </a:t>
            </a:r>
            <a:r>
              <a:rPr sz="1800" dirty="0"/>
              <a:t>it</a:t>
            </a:r>
            <a:r>
              <a:rPr sz="1800" spc="490" dirty="0"/>
              <a:t> </a:t>
            </a:r>
            <a:r>
              <a:rPr sz="1800" dirty="0"/>
              <a:t>can</a:t>
            </a:r>
            <a:r>
              <a:rPr sz="1800" spc="480" dirty="0"/>
              <a:t> </a:t>
            </a:r>
            <a:r>
              <a:rPr sz="1800" dirty="0"/>
              <a:t>send</a:t>
            </a:r>
            <a:r>
              <a:rPr sz="1800" spc="30" dirty="0"/>
              <a:t>  </a:t>
            </a:r>
            <a:r>
              <a:rPr sz="1800" spc="-25" dirty="0"/>
              <a:t>one </a:t>
            </a:r>
            <a:r>
              <a:rPr sz="1800" spc="-10" dirty="0"/>
              <a:t>cumulative</a:t>
            </a:r>
            <a:r>
              <a:rPr sz="1800" spc="-105" dirty="0"/>
              <a:t> </a:t>
            </a:r>
            <a:r>
              <a:rPr sz="1800" dirty="0"/>
              <a:t>ACK</a:t>
            </a:r>
            <a:r>
              <a:rPr sz="1800" spc="-25" dirty="0"/>
              <a:t> </a:t>
            </a:r>
            <a:r>
              <a:rPr sz="1800" dirty="0"/>
              <a:t>for</a:t>
            </a:r>
            <a:r>
              <a:rPr sz="1800" spc="-10" dirty="0"/>
              <a:t> </a:t>
            </a:r>
            <a:r>
              <a:rPr sz="1800" dirty="0"/>
              <a:t>several</a:t>
            </a:r>
            <a:r>
              <a:rPr sz="1800" spc="-20" dirty="0"/>
              <a:t> </a:t>
            </a:r>
            <a:r>
              <a:rPr sz="1800" spc="-10" dirty="0"/>
              <a:t>frames</a:t>
            </a:r>
            <a:endParaRPr sz="18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Acknowledgement</a:t>
            </a:r>
            <a:endParaRPr sz="2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1119021"/>
            <a:ext cx="9155430" cy="4022090"/>
            <a:chOff x="-6350" y="1119021"/>
            <a:chExt cx="9155430" cy="4022090"/>
          </a:xfrm>
        </p:grpSpPr>
        <p:sp>
          <p:nvSpPr>
            <p:cNvPr id="3" name="object 3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3742" y="19037"/>
            <a:ext cx="9152255" cy="868044"/>
            <a:chOff x="-3742" y="19037"/>
            <a:chExt cx="9152255" cy="86804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635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340" y="1073658"/>
            <a:ext cx="8530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146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keeps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outstanding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windows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ACKs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arrive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70" dirty="0"/>
              <a:t> </a:t>
            </a:r>
            <a:r>
              <a:rPr dirty="0"/>
              <a:t>Back</a:t>
            </a:r>
            <a:r>
              <a:rPr spc="-40" dirty="0"/>
              <a:t> </a:t>
            </a:r>
            <a:r>
              <a:rPr spc="-30" dirty="0"/>
              <a:t>N</a:t>
            </a:r>
            <a:r>
              <a:rPr spc="-155" dirty="0"/>
              <a:t> </a:t>
            </a:r>
            <a:r>
              <a:rPr dirty="0"/>
              <a:t>ARQ,</a:t>
            </a:r>
            <a:r>
              <a:rPr spc="-20" dirty="0"/>
              <a:t> </a:t>
            </a:r>
            <a:r>
              <a:rPr dirty="0"/>
              <a:t>normal</a:t>
            </a:r>
            <a:r>
              <a:rPr spc="-40" dirty="0"/>
              <a:t> </a:t>
            </a:r>
            <a:r>
              <a:rPr spc="-10" dirty="0"/>
              <a:t>operation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1657362"/>
            <a:ext cx="6400800" cy="326936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8794"/>
            <a:ext cx="3877310" cy="21107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lost</a:t>
            </a:r>
            <a:endParaRPr sz="1800">
              <a:latin typeface="Times New Roman"/>
              <a:cs typeface="Times New Roman"/>
            </a:endParaRPr>
          </a:p>
          <a:p>
            <a:pPr marL="355600" marR="3048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it </a:t>
            </a:r>
            <a:r>
              <a:rPr sz="1800" dirty="0">
                <a:latin typeface="Times New Roman"/>
                <a:cs typeface="Times New Roman"/>
              </a:rPr>
              <a:t>discards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expecting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(according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window)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expires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at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site,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frame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40" dirty="0"/>
              <a:t> </a:t>
            </a:r>
            <a:r>
              <a:rPr dirty="0"/>
              <a:t>Back</a:t>
            </a:r>
            <a:r>
              <a:rPr spc="-30" dirty="0"/>
              <a:t> N</a:t>
            </a:r>
            <a:r>
              <a:rPr spc="-155" dirty="0"/>
              <a:t> </a:t>
            </a:r>
            <a:r>
              <a:rPr dirty="0"/>
              <a:t>ARQ, lost</a:t>
            </a:r>
            <a:r>
              <a:rPr spc="-30" dirty="0"/>
              <a:t> </a:t>
            </a:r>
            <a:r>
              <a:rPr spc="-10" dirty="0"/>
              <a:t>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1428775"/>
            <a:ext cx="4572000" cy="31161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/>
              <a:t>If</a:t>
            </a:r>
            <a:r>
              <a:rPr sz="2000" spc="-30" dirty="0"/>
              <a:t> </a:t>
            </a:r>
            <a:r>
              <a:rPr sz="2000" dirty="0"/>
              <a:t>an</a:t>
            </a:r>
            <a:r>
              <a:rPr sz="2000" spc="-114" dirty="0"/>
              <a:t> </a:t>
            </a:r>
            <a:r>
              <a:rPr sz="2000" dirty="0"/>
              <a:t>ACK</a:t>
            </a:r>
            <a:r>
              <a:rPr sz="2000" spc="-10" dirty="0"/>
              <a:t> </a:t>
            </a:r>
            <a:r>
              <a:rPr sz="2000" dirty="0"/>
              <a:t>is</a:t>
            </a:r>
            <a:r>
              <a:rPr sz="2000" spc="-20" dirty="0"/>
              <a:t> </a:t>
            </a:r>
            <a:r>
              <a:rPr sz="2000" dirty="0"/>
              <a:t>damaged/lost,</a:t>
            </a:r>
            <a:r>
              <a:rPr sz="2000" spc="-4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can</a:t>
            </a:r>
            <a:r>
              <a:rPr sz="2000" spc="-15" dirty="0"/>
              <a:t> </a:t>
            </a:r>
            <a:r>
              <a:rPr sz="2000" dirty="0"/>
              <a:t>have</a:t>
            </a:r>
            <a:r>
              <a:rPr sz="2000" spc="-30" dirty="0"/>
              <a:t> </a:t>
            </a:r>
            <a:r>
              <a:rPr sz="2000" dirty="0"/>
              <a:t>two</a:t>
            </a:r>
            <a:r>
              <a:rPr sz="2000" spc="-15" dirty="0"/>
              <a:t> </a:t>
            </a:r>
            <a:r>
              <a:rPr sz="2000" spc="-10" dirty="0"/>
              <a:t>situations</a:t>
            </a:r>
            <a:endParaRPr sz="2000"/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/>
              <a:t>If</a:t>
            </a:r>
            <a:r>
              <a:rPr sz="2000" spc="90" dirty="0"/>
              <a:t> </a:t>
            </a:r>
            <a:r>
              <a:rPr sz="2000" dirty="0"/>
              <a:t>the</a:t>
            </a:r>
            <a:r>
              <a:rPr sz="2000" spc="75" dirty="0"/>
              <a:t> </a:t>
            </a:r>
            <a:r>
              <a:rPr sz="2000" dirty="0"/>
              <a:t>next</a:t>
            </a:r>
            <a:r>
              <a:rPr sz="2000" spc="85" dirty="0"/>
              <a:t> </a:t>
            </a:r>
            <a:r>
              <a:rPr sz="2000" dirty="0"/>
              <a:t>ACK</a:t>
            </a:r>
            <a:r>
              <a:rPr sz="2000" spc="95" dirty="0"/>
              <a:t> </a:t>
            </a:r>
            <a:r>
              <a:rPr sz="2000" dirty="0"/>
              <a:t>arrives</a:t>
            </a:r>
            <a:r>
              <a:rPr sz="2000" spc="85" dirty="0"/>
              <a:t> </a:t>
            </a:r>
            <a:r>
              <a:rPr sz="2000" dirty="0"/>
              <a:t>before</a:t>
            </a:r>
            <a:r>
              <a:rPr sz="2000" spc="85" dirty="0"/>
              <a:t> </a:t>
            </a:r>
            <a:r>
              <a:rPr sz="2000" dirty="0"/>
              <a:t>the</a:t>
            </a:r>
            <a:r>
              <a:rPr sz="2000" spc="95" dirty="0"/>
              <a:t> </a:t>
            </a:r>
            <a:r>
              <a:rPr sz="2000" dirty="0"/>
              <a:t>expiration</a:t>
            </a:r>
            <a:r>
              <a:rPr sz="2000" spc="90" dirty="0"/>
              <a:t> </a:t>
            </a:r>
            <a:r>
              <a:rPr sz="2000" dirty="0"/>
              <a:t>of</a:t>
            </a:r>
            <a:r>
              <a:rPr sz="2000" spc="95" dirty="0"/>
              <a:t> </a:t>
            </a:r>
            <a:r>
              <a:rPr sz="2000" dirty="0"/>
              <a:t>any</a:t>
            </a:r>
            <a:r>
              <a:rPr sz="2000" spc="90" dirty="0"/>
              <a:t> </a:t>
            </a:r>
            <a:r>
              <a:rPr sz="2000" dirty="0"/>
              <a:t>timer,</a:t>
            </a:r>
            <a:r>
              <a:rPr sz="2000" spc="100" dirty="0"/>
              <a:t> </a:t>
            </a:r>
            <a:r>
              <a:rPr sz="2000" dirty="0"/>
              <a:t>there</a:t>
            </a:r>
            <a:r>
              <a:rPr sz="2000" spc="85" dirty="0"/>
              <a:t> </a:t>
            </a:r>
            <a:r>
              <a:rPr sz="2000" dirty="0"/>
              <a:t>is</a:t>
            </a:r>
            <a:r>
              <a:rPr sz="2000" spc="75" dirty="0"/>
              <a:t> </a:t>
            </a:r>
            <a:r>
              <a:rPr sz="2000" dirty="0"/>
              <a:t>no</a:t>
            </a:r>
            <a:r>
              <a:rPr sz="2000" spc="85" dirty="0"/>
              <a:t> </a:t>
            </a:r>
            <a:r>
              <a:rPr sz="2000" dirty="0"/>
              <a:t>need</a:t>
            </a:r>
            <a:r>
              <a:rPr sz="2000" spc="80" dirty="0"/>
              <a:t> </a:t>
            </a:r>
            <a:r>
              <a:rPr sz="2000" spc="-25" dirty="0"/>
              <a:t>for </a:t>
            </a:r>
            <a:r>
              <a:rPr sz="2000" dirty="0"/>
              <a:t>retransmission</a:t>
            </a:r>
            <a:r>
              <a:rPr sz="2000" spc="-70" dirty="0"/>
              <a:t> </a:t>
            </a:r>
            <a:r>
              <a:rPr sz="2000" dirty="0"/>
              <a:t>of</a:t>
            </a:r>
            <a:r>
              <a:rPr sz="2000" spc="-25" dirty="0"/>
              <a:t> </a:t>
            </a:r>
            <a:r>
              <a:rPr sz="2000" dirty="0"/>
              <a:t>frames</a:t>
            </a:r>
            <a:r>
              <a:rPr sz="2000" spc="-35" dirty="0"/>
              <a:t> </a:t>
            </a:r>
            <a:r>
              <a:rPr sz="2000" dirty="0"/>
              <a:t>because</a:t>
            </a:r>
            <a:r>
              <a:rPr sz="2000" spc="-130" dirty="0"/>
              <a:t> </a:t>
            </a:r>
            <a:r>
              <a:rPr sz="2000" dirty="0"/>
              <a:t>ACKs</a:t>
            </a:r>
            <a:r>
              <a:rPr sz="2000" spc="-20" dirty="0"/>
              <a:t> </a:t>
            </a:r>
            <a:r>
              <a:rPr sz="2000" dirty="0"/>
              <a:t>are</a:t>
            </a:r>
            <a:r>
              <a:rPr sz="2000" spc="-30" dirty="0"/>
              <a:t> </a:t>
            </a:r>
            <a:r>
              <a:rPr sz="2000" dirty="0"/>
              <a:t>cumulative</a:t>
            </a:r>
            <a:r>
              <a:rPr sz="2000" spc="-30" dirty="0"/>
              <a:t> </a:t>
            </a:r>
            <a:r>
              <a:rPr sz="2000" dirty="0"/>
              <a:t>in</a:t>
            </a:r>
            <a:r>
              <a:rPr sz="2000" spc="-20" dirty="0"/>
              <a:t> </a:t>
            </a:r>
            <a:r>
              <a:rPr sz="2000" dirty="0"/>
              <a:t>this</a:t>
            </a:r>
            <a:r>
              <a:rPr sz="2000" spc="-45" dirty="0"/>
              <a:t> </a:t>
            </a:r>
            <a:r>
              <a:rPr sz="2000" spc="-10" dirty="0"/>
              <a:t>protocol</a:t>
            </a:r>
            <a:endParaRPr sz="2000"/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/>
              <a:t>If</a:t>
            </a:r>
            <a:r>
              <a:rPr sz="2000" spc="70" dirty="0"/>
              <a:t> </a:t>
            </a:r>
            <a:r>
              <a:rPr sz="2000" dirty="0"/>
              <a:t>ACK1,</a:t>
            </a:r>
            <a:r>
              <a:rPr sz="2000" spc="70" dirty="0"/>
              <a:t> </a:t>
            </a:r>
            <a:r>
              <a:rPr sz="2000" dirty="0"/>
              <a:t>ACK2,</a:t>
            </a:r>
            <a:r>
              <a:rPr sz="2000" spc="70" dirty="0"/>
              <a:t> </a:t>
            </a:r>
            <a:r>
              <a:rPr sz="2000" dirty="0"/>
              <a:t>and</a:t>
            </a:r>
            <a:r>
              <a:rPr sz="2000" spc="65" dirty="0"/>
              <a:t> </a:t>
            </a:r>
            <a:r>
              <a:rPr sz="2000" dirty="0"/>
              <a:t>ACk3</a:t>
            </a:r>
            <a:r>
              <a:rPr sz="2000" spc="65" dirty="0"/>
              <a:t> </a:t>
            </a:r>
            <a:r>
              <a:rPr sz="2000" dirty="0"/>
              <a:t>are</a:t>
            </a:r>
            <a:r>
              <a:rPr sz="2000" spc="65" dirty="0"/>
              <a:t> </a:t>
            </a:r>
            <a:r>
              <a:rPr sz="2000" dirty="0"/>
              <a:t>lost,</a:t>
            </a:r>
            <a:r>
              <a:rPr sz="2000" spc="55" dirty="0"/>
              <a:t> </a:t>
            </a:r>
            <a:r>
              <a:rPr sz="2000" dirty="0"/>
              <a:t>ACK4</a:t>
            </a:r>
            <a:r>
              <a:rPr sz="2000" spc="75" dirty="0"/>
              <a:t> </a:t>
            </a:r>
            <a:r>
              <a:rPr sz="2000" dirty="0"/>
              <a:t>covers</a:t>
            </a:r>
            <a:r>
              <a:rPr sz="2000" spc="70" dirty="0"/>
              <a:t> </a:t>
            </a:r>
            <a:r>
              <a:rPr sz="2000" dirty="0"/>
              <a:t>them</a:t>
            </a:r>
            <a:r>
              <a:rPr sz="2000" spc="45" dirty="0"/>
              <a:t> </a:t>
            </a:r>
            <a:r>
              <a:rPr sz="2000" dirty="0"/>
              <a:t>if</a:t>
            </a:r>
            <a:r>
              <a:rPr sz="2000" spc="70" dirty="0"/>
              <a:t> </a:t>
            </a:r>
            <a:r>
              <a:rPr sz="2000" dirty="0"/>
              <a:t>it</a:t>
            </a:r>
            <a:r>
              <a:rPr sz="2000" spc="65" dirty="0"/>
              <a:t> </a:t>
            </a:r>
            <a:r>
              <a:rPr sz="2000" dirty="0"/>
              <a:t>arrives</a:t>
            </a:r>
            <a:r>
              <a:rPr sz="2000" spc="55" dirty="0"/>
              <a:t> </a:t>
            </a:r>
            <a:r>
              <a:rPr sz="2000" dirty="0"/>
              <a:t>before</a:t>
            </a:r>
            <a:r>
              <a:rPr sz="2000" spc="60" dirty="0"/>
              <a:t> </a:t>
            </a:r>
            <a:r>
              <a:rPr sz="2000" spc="-25" dirty="0"/>
              <a:t>the</a:t>
            </a:r>
            <a:endParaRPr sz="2000"/>
          </a:p>
          <a:p>
            <a:pPr marL="355600">
              <a:lnSpc>
                <a:spcPct val="100000"/>
              </a:lnSpc>
            </a:pPr>
            <a:r>
              <a:rPr sz="2000" dirty="0"/>
              <a:t>timer</a:t>
            </a:r>
            <a:r>
              <a:rPr sz="2000" spc="-15" dirty="0"/>
              <a:t> </a:t>
            </a:r>
            <a:r>
              <a:rPr sz="2000" spc="-10" dirty="0"/>
              <a:t>expires</a:t>
            </a:r>
            <a:endParaRPr sz="2000"/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/>
              <a:t>If</a:t>
            </a:r>
            <a:r>
              <a:rPr sz="2000" spc="180" dirty="0"/>
              <a:t> </a:t>
            </a:r>
            <a:r>
              <a:rPr sz="2000" dirty="0"/>
              <a:t>ACK4</a:t>
            </a:r>
            <a:r>
              <a:rPr sz="2000" spc="175" dirty="0"/>
              <a:t> </a:t>
            </a:r>
            <a:r>
              <a:rPr sz="2000" dirty="0"/>
              <a:t>arrives</a:t>
            </a:r>
            <a:r>
              <a:rPr sz="2000" spc="180" dirty="0"/>
              <a:t> </a:t>
            </a:r>
            <a:r>
              <a:rPr sz="2000" dirty="0"/>
              <a:t>after</a:t>
            </a:r>
            <a:r>
              <a:rPr sz="2000" spc="185" dirty="0"/>
              <a:t> </a:t>
            </a:r>
            <a:r>
              <a:rPr sz="2000" spc="-10" dirty="0"/>
              <a:t>time-</a:t>
            </a:r>
            <a:r>
              <a:rPr sz="2000" dirty="0"/>
              <a:t>out,</a:t>
            </a:r>
            <a:r>
              <a:rPr sz="2000" spc="160" dirty="0"/>
              <a:t> </a:t>
            </a:r>
            <a:r>
              <a:rPr sz="2000" dirty="0"/>
              <a:t>the</a:t>
            </a:r>
            <a:r>
              <a:rPr sz="2000" spc="170" dirty="0"/>
              <a:t> </a:t>
            </a:r>
            <a:r>
              <a:rPr sz="2000" dirty="0"/>
              <a:t>last</a:t>
            </a:r>
            <a:r>
              <a:rPr sz="2000" spc="160" dirty="0"/>
              <a:t> </a:t>
            </a:r>
            <a:r>
              <a:rPr sz="2000" dirty="0"/>
              <a:t>frame</a:t>
            </a:r>
            <a:r>
              <a:rPr sz="2000" spc="180" dirty="0"/>
              <a:t> </a:t>
            </a:r>
            <a:r>
              <a:rPr sz="2000" dirty="0"/>
              <a:t>and</a:t>
            </a:r>
            <a:r>
              <a:rPr sz="2000" spc="185" dirty="0"/>
              <a:t> </a:t>
            </a:r>
            <a:r>
              <a:rPr sz="2000" dirty="0"/>
              <a:t>all</a:t>
            </a:r>
            <a:r>
              <a:rPr sz="2000" spc="165" dirty="0"/>
              <a:t> </a:t>
            </a:r>
            <a:r>
              <a:rPr sz="2000" dirty="0"/>
              <a:t>the</a:t>
            </a:r>
            <a:r>
              <a:rPr sz="2000" spc="165" dirty="0"/>
              <a:t> </a:t>
            </a:r>
            <a:r>
              <a:rPr sz="2000" dirty="0"/>
              <a:t>frames</a:t>
            </a:r>
            <a:r>
              <a:rPr sz="2000" spc="180" dirty="0"/>
              <a:t> </a:t>
            </a:r>
            <a:r>
              <a:rPr sz="2000" dirty="0"/>
              <a:t>after</a:t>
            </a:r>
            <a:r>
              <a:rPr sz="2000" spc="175" dirty="0"/>
              <a:t> </a:t>
            </a:r>
            <a:r>
              <a:rPr sz="2000" dirty="0"/>
              <a:t>that</a:t>
            </a:r>
            <a:r>
              <a:rPr sz="2000" spc="175" dirty="0"/>
              <a:t> </a:t>
            </a:r>
            <a:r>
              <a:rPr sz="2000" spc="-25" dirty="0"/>
              <a:t>are</a:t>
            </a:r>
            <a:endParaRPr sz="2000"/>
          </a:p>
          <a:p>
            <a:pPr marL="355600">
              <a:lnSpc>
                <a:spcPct val="100000"/>
              </a:lnSpc>
            </a:pPr>
            <a:r>
              <a:rPr sz="2000" spc="-10" dirty="0"/>
              <a:t>resent</a:t>
            </a:r>
            <a:endParaRPr sz="2000"/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/>
              <a:t>Receiver</a:t>
            </a:r>
            <a:r>
              <a:rPr sz="2000" spc="-15" dirty="0"/>
              <a:t> </a:t>
            </a:r>
            <a:r>
              <a:rPr sz="2000" dirty="0"/>
              <a:t>never</a:t>
            </a:r>
            <a:r>
              <a:rPr sz="2000" spc="-20" dirty="0"/>
              <a:t> </a:t>
            </a:r>
            <a:r>
              <a:rPr sz="2000" dirty="0"/>
              <a:t>resends</a:t>
            </a:r>
            <a:r>
              <a:rPr sz="2000" spc="-40" dirty="0"/>
              <a:t> </a:t>
            </a:r>
            <a:r>
              <a:rPr sz="2000" dirty="0"/>
              <a:t>an</a:t>
            </a:r>
            <a:r>
              <a:rPr sz="2000" spc="-110" dirty="0"/>
              <a:t> </a:t>
            </a:r>
            <a:r>
              <a:rPr sz="2000" spc="-25" dirty="0"/>
              <a:t>ACK</a:t>
            </a:r>
            <a:endParaRPr sz="2000"/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/>
              <a:t>A</a:t>
            </a:r>
            <a:r>
              <a:rPr sz="2000" spc="-114" dirty="0"/>
              <a:t> </a:t>
            </a:r>
            <a:r>
              <a:rPr sz="2000" spc="-10" dirty="0"/>
              <a:t>delayed</a:t>
            </a:r>
            <a:r>
              <a:rPr sz="2000" spc="-125" dirty="0"/>
              <a:t> </a:t>
            </a:r>
            <a:r>
              <a:rPr sz="2000" dirty="0"/>
              <a:t>ACK</a:t>
            </a:r>
            <a:r>
              <a:rPr sz="2000" spc="5" dirty="0"/>
              <a:t> </a:t>
            </a:r>
            <a:r>
              <a:rPr sz="2000" dirty="0"/>
              <a:t>also triggers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dirty="0"/>
              <a:t>resending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20" dirty="0"/>
              <a:t> </a:t>
            </a:r>
            <a:r>
              <a:rPr sz="2000" spc="-10" dirty="0"/>
              <a:t>frames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20" dirty="0"/>
              <a:t> </a:t>
            </a:r>
            <a:r>
              <a:rPr dirty="0"/>
              <a:t>Back</a:t>
            </a:r>
            <a:r>
              <a:rPr spc="10" dirty="0"/>
              <a:t> </a:t>
            </a:r>
            <a:r>
              <a:rPr spc="-30" dirty="0"/>
              <a:t>N</a:t>
            </a:r>
            <a:r>
              <a:rPr spc="-140" dirty="0"/>
              <a:t> </a:t>
            </a:r>
            <a:r>
              <a:rPr dirty="0"/>
              <a:t>ARQ,</a:t>
            </a:r>
            <a:r>
              <a:rPr spc="40" dirty="0"/>
              <a:t> </a:t>
            </a:r>
            <a:r>
              <a:rPr spc="-10" dirty="0"/>
              <a:t>damaged/lost/delayed</a:t>
            </a:r>
            <a:r>
              <a:rPr spc="-185" dirty="0"/>
              <a:t> </a:t>
            </a:r>
            <a:r>
              <a:rPr spc="-25" dirty="0"/>
              <a:t>ACK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1018794"/>
            <a:ext cx="477456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80365" algn="l"/>
              </a:tabLst>
            </a:pP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2</a:t>
            </a:r>
            <a:r>
              <a:rPr sz="1800" spc="-37" baseline="25462" dirty="0">
                <a:latin typeface="Times New Roman"/>
                <a:cs typeface="Times New Roman"/>
              </a:rPr>
              <a:t>m</a:t>
            </a:r>
            <a:endParaRPr sz="1800" baseline="25462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80365" algn="l"/>
              </a:tabLst>
            </a:pP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always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65" dirty="0"/>
              <a:t> </a:t>
            </a:r>
            <a:r>
              <a:rPr dirty="0"/>
              <a:t>Back</a:t>
            </a:r>
            <a:r>
              <a:rPr spc="-45" dirty="0"/>
              <a:t> </a:t>
            </a:r>
            <a:r>
              <a:rPr spc="-30" dirty="0"/>
              <a:t>N</a:t>
            </a:r>
            <a:r>
              <a:rPr spc="-155" dirty="0"/>
              <a:t> </a:t>
            </a:r>
            <a:r>
              <a:rPr dirty="0"/>
              <a:t>ARQ,</a:t>
            </a:r>
            <a:r>
              <a:rPr spc="-15" dirty="0"/>
              <a:t> </a:t>
            </a:r>
            <a:r>
              <a:rPr dirty="0"/>
              <a:t>sender</a:t>
            </a:r>
            <a:r>
              <a:rPr spc="-55" dirty="0"/>
              <a:t> </a:t>
            </a:r>
            <a:r>
              <a:rPr dirty="0"/>
              <a:t>window</a:t>
            </a:r>
            <a:r>
              <a:rPr spc="-35" dirty="0"/>
              <a:t> </a:t>
            </a:r>
            <a:r>
              <a:rPr spc="-20" dirty="0"/>
              <a:t>size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782445"/>
            <a:ext cx="6400800" cy="29991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78306"/>
            <a:ext cx="8229600" cy="32984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50" dirty="0"/>
              <a:t> </a:t>
            </a:r>
            <a:r>
              <a:rPr dirty="0"/>
              <a:t>Back</a:t>
            </a:r>
            <a:r>
              <a:rPr spc="-30" dirty="0"/>
              <a:t> N</a:t>
            </a:r>
            <a:r>
              <a:rPr spc="-155" dirty="0"/>
              <a:t> </a:t>
            </a:r>
            <a:r>
              <a:rPr dirty="0"/>
              <a:t>ARQ</a:t>
            </a:r>
            <a:r>
              <a:rPr spc="-25" dirty="0"/>
              <a:t> </a:t>
            </a:r>
            <a:r>
              <a:rPr dirty="0"/>
              <a:t>(sending</a:t>
            </a:r>
            <a:r>
              <a:rPr spc="-40" dirty="0"/>
              <a:t> </a:t>
            </a:r>
            <a:r>
              <a:rPr spc="-10" dirty="0"/>
              <a:t>window)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457706"/>
            <a:ext cx="8229600" cy="27142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50" dirty="0"/>
              <a:t> </a:t>
            </a:r>
            <a:r>
              <a:rPr dirty="0"/>
              <a:t>Back</a:t>
            </a:r>
            <a:r>
              <a:rPr spc="-30" dirty="0"/>
              <a:t> N</a:t>
            </a:r>
            <a:r>
              <a:rPr spc="-155" dirty="0"/>
              <a:t> </a:t>
            </a:r>
            <a:r>
              <a:rPr dirty="0"/>
              <a:t>ARQ</a:t>
            </a:r>
            <a:r>
              <a:rPr spc="-25" dirty="0"/>
              <a:t> </a:t>
            </a:r>
            <a:r>
              <a:rPr dirty="0"/>
              <a:t>(receiving</a:t>
            </a:r>
            <a:r>
              <a:rPr spc="-35" dirty="0"/>
              <a:t> </a:t>
            </a:r>
            <a:r>
              <a:rPr spc="-10" dirty="0"/>
              <a:t>window)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537" y="1003680"/>
            <a:ext cx="7357999" cy="38540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50" dirty="0"/>
              <a:t> </a:t>
            </a:r>
            <a:r>
              <a:rPr dirty="0"/>
              <a:t>Back</a:t>
            </a:r>
            <a:r>
              <a:rPr spc="-35" dirty="0"/>
              <a:t> </a:t>
            </a:r>
            <a:r>
              <a:rPr spc="-30" dirty="0"/>
              <a:t>N</a:t>
            </a:r>
            <a:r>
              <a:rPr spc="-155" dirty="0"/>
              <a:t> </a:t>
            </a:r>
            <a:r>
              <a:rPr dirty="0"/>
              <a:t>ARQ</a:t>
            </a:r>
            <a:r>
              <a:rPr spc="-30" dirty="0"/>
              <a:t> </a:t>
            </a:r>
            <a:r>
              <a:rPr dirty="0"/>
              <a:t>(sending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receiving</a:t>
            </a:r>
            <a:r>
              <a:rPr spc="-40" dirty="0"/>
              <a:t> </a:t>
            </a:r>
            <a:r>
              <a:rPr spc="-10" dirty="0"/>
              <a:t>window)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0119"/>
            <a:ext cx="8531860" cy="25196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8925" indent="-276225" algn="just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spc="-25" dirty="0">
                <a:latin typeface="Times New Roman"/>
                <a:cs typeface="Times New Roman"/>
              </a:rPr>
              <a:t>Eg:</a:t>
            </a:r>
            <a:endParaRPr sz="2000">
              <a:latin typeface="Times New Roman"/>
              <a:cs typeface="Times New Roman"/>
            </a:endParaRPr>
          </a:p>
          <a:p>
            <a:pPr marL="615950" marR="5080" indent="-232410" algn="just">
              <a:lnSpc>
                <a:spcPct val="100000"/>
              </a:lnSpc>
              <a:spcBef>
                <a:spcPts val="420"/>
              </a:spcBef>
            </a:pPr>
            <a:r>
              <a:rPr sz="1700" dirty="0">
                <a:latin typeface="Arial MT"/>
                <a:cs typeface="Arial MT"/>
              </a:rPr>
              <a:t>–</a:t>
            </a:r>
            <a:r>
              <a:rPr sz="1700" spc="385" dirty="0">
                <a:latin typeface="Arial MT"/>
                <a:cs typeface="Arial MT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Figure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shows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example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Back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N.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example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case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forward </a:t>
            </a:r>
            <a:r>
              <a:rPr sz="1700" dirty="0">
                <a:latin typeface="Times New Roman"/>
                <a:cs typeface="Times New Roman"/>
              </a:rPr>
              <a:t>channel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reliable,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but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reverse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not.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lost,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but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some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ACKs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are </a:t>
            </a:r>
            <a:r>
              <a:rPr sz="1700" dirty="0">
                <a:latin typeface="Times New Roman"/>
                <a:cs typeface="Times New Roman"/>
              </a:rPr>
              <a:t>delayed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one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lost.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example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also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shows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cumulative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acknowledgments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can </a:t>
            </a:r>
            <a:r>
              <a:rPr sz="1700" dirty="0">
                <a:latin typeface="Times New Roman"/>
                <a:cs typeface="Times New Roman"/>
              </a:rPr>
              <a:t>help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acknowledgments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delayed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lost.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After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initialization,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there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seven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sender </a:t>
            </a:r>
            <a:r>
              <a:rPr sz="1700" dirty="0">
                <a:latin typeface="Times New Roman"/>
                <a:cs typeface="Times New Roman"/>
              </a:rPr>
              <a:t>events.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Request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events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25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triggered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layer;</a:t>
            </a:r>
            <a:r>
              <a:rPr sz="1700" spc="2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arrival</a:t>
            </a:r>
            <a:r>
              <a:rPr sz="1700" spc="25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events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are </a:t>
            </a:r>
            <a:r>
              <a:rPr sz="1700" dirty="0">
                <a:latin typeface="Times New Roman"/>
                <a:cs typeface="Times New Roman"/>
              </a:rPr>
              <a:t>triggered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acknowledgments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physical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layer.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There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time-</a:t>
            </a:r>
            <a:r>
              <a:rPr sz="1700" dirty="0">
                <a:latin typeface="Times New Roman"/>
                <a:cs typeface="Times New Roman"/>
              </a:rPr>
              <a:t>out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event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here </a:t>
            </a:r>
            <a:r>
              <a:rPr sz="1700" dirty="0">
                <a:latin typeface="Times New Roman"/>
                <a:cs typeface="Times New Roman"/>
              </a:rPr>
              <a:t>because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all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outstanding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acknowledged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before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timer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expires.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Note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that </a:t>
            </a:r>
            <a:r>
              <a:rPr sz="1700" spc="-10" dirty="0">
                <a:latin typeface="Times New Roman"/>
                <a:cs typeface="Times New Roman"/>
              </a:rPr>
              <a:t>although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 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lost,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 3 serves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 </a:t>
            </a:r>
            <a:r>
              <a:rPr sz="1700" spc="-10" dirty="0">
                <a:latin typeface="Times New Roman"/>
                <a:cs typeface="Times New Roman"/>
              </a:rPr>
              <a:t>both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and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3.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25" dirty="0"/>
              <a:t> </a:t>
            </a:r>
            <a:r>
              <a:rPr dirty="0"/>
              <a:t>Back</a:t>
            </a:r>
            <a:r>
              <a:rPr spc="-15" dirty="0"/>
              <a:t> </a:t>
            </a:r>
            <a:r>
              <a:rPr spc="-30" dirty="0"/>
              <a:t>N</a:t>
            </a:r>
            <a:r>
              <a:rPr spc="-15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387" y="947674"/>
            <a:ext cx="7211949" cy="39100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</a:t>
            </a:r>
            <a:r>
              <a:rPr spc="-25" dirty="0"/>
              <a:t> </a:t>
            </a:r>
            <a:r>
              <a:rPr dirty="0"/>
              <a:t>Back</a:t>
            </a:r>
            <a:r>
              <a:rPr spc="-15" dirty="0"/>
              <a:t> </a:t>
            </a:r>
            <a:r>
              <a:rPr spc="-30" dirty="0"/>
              <a:t>N</a:t>
            </a:r>
            <a:r>
              <a:rPr spc="-15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3658"/>
            <a:ext cx="852995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Go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ARQ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simplifies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site.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keeps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variable,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buffer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out-of-</a:t>
            </a:r>
            <a:r>
              <a:rPr sz="1800" dirty="0">
                <a:latin typeface="Times New Roman"/>
                <a:cs typeface="Times New Roman"/>
              </a:rPr>
              <a:t>order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frames,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simply </a:t>
            </a:r>
            <a:r>
              <a:rPr sz="1800" dirty="0">
                <a:latin typeface="Times New Roman"/>
                <a:cs typeface="Times New Roman"/>
              </a:rPr>
              <a:t>discarded.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However,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ARQ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protocol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inefficient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noisy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link</a:t>
            </a:r>
            <a:endParaRPr sz="18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Selective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Repeat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ARQ,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damaged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resent.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bandwidth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efficient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receiver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defines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negative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ACK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(NAK)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report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damaged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frame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expires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Selective</a:t>
            </a:r>
            <a:r>
              <a:rPr sz="2400" spc="-70" dirty="0"/>
              <a:t> </a:t>
            </a:r>
            <a:r>
              <a:rPr sz="2400" dirty="0"/>
              <a:t>Repeat</a:t>
            </a:r>
            <a:r>
              <a:rPr sz="2400" spc="-155" dirty="0"/>
              <a:t> </a:t>
            </a:r>
            <a:r>
              <a:rPr sz="2400" dirty="0"/>
              <a:t>ARQ, sender</a:t>
            </a:r>
            <a:r>
              <a:rPr sz="2400" spc="-15" dirty="0"/>
              <a:t> </a:t>
            </a:r>
            <a:r>
              <a:rPr sz="2400" dirty="0"/>
              <a:t>and</a:t>
            </a:r>
            <a:r>
              <a:rPr sz="2400" spc="-15" dirty="0"/>
              <a:t> </a:t>
            </a:r>
            <a:r>
              <a:rPr sz="2400" dirty="0"/>
              <a:t>receiver</a:t>
            </a:r>
            <a:r>
              <a:rPr sz="2400" spc="-60" dirty="0"/>
              <a:t> </a:t>
            </a:r>
            <a:r>
              <a:rPr sz="2400" spc="-10" dirty="0"/>
              <a:t>windows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412" y="3257499"/>
            <a:ext cx="8866124" cy="153238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3658"/>
            <a:ext cx="3805554" cy="255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accepted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when </a:t>
            </a:r>
            <a:r>
              <a:rPr sz="1800" dirty="0">
                <a:latin typeface="Times New Roman"/>
                <a:cs typeface="Times New Roman"/>
              </a:rPr>
              <a:t>received</a:t>
            </a:r>
            <a:r>
              <a:rPr sz="1800" spc="1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1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1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65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3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specified</a:t>
            </a:r>
            <a:r>
              <a:rPr sz="1800" spc="3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3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receiver window.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NAK2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show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that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been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received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resends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accepted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window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Selective</a:t>
            </a:r>
            <a:r>
              <a:rPr sz="2400" spc="-80" dirty="0"/>
              <a:t> </a:t>
            </a:r>
            <a:r>
              <a:rPr sz="2400" dirty="0"/>
              <a:t>Repeat</a:t>
            </a:r>
            <a:r>
              <a:rPr sz="2400" spc="-155" dirty="0"/>
              <a:t> </a:t>
            </a:r>
            <a:r>
              <a:rPr sz="2400" dirty="0"/>
              <a:t>ARQ, lost</a:t>
            </a:r>
            <a:r>
              <a:rPr sz="2400" spc="-25" dirty="0"/>
              <a:t> </a:t>
            </a:r>
            <a:r>
              <a:rPr sz="2400" spc="-10" dirty="0"/>
              <a:t>frame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1310766"/>
            <a:ext cx="4572000" cy="331838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1119021"/>
            <a:ext cx="9155430" cy="4022090"/>
            <a:chOff x="-6350" y="1119021"/>
            <a:chExt cx="9155430" cy="4022090"/>
          </a:xfrm>
        </p:grpSpPr>
        <p:sp>
          <p:nvSpPr>
            <p:cNvPr id="3" name="object 3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3742" y="19037"/>
            <a:ext cx="9152255" cy="868044"/>
            <a:chOff x="-3742" y="19037"/>
            <a:chExt cx="9152255" cy="86804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635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9240" y="1073658"/>
            <a:ext cx="8620760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6515" indent="-3429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3700" algn="l"/>
              </a:tabLst>
            </a:pP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windows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most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one-</a:t>
            </a:r>
            <a:r>
              <a:rPr sz="1800" dirty="0">
                <a:latin typeface="Times New Roman"/>
                <a:cs typeface="Times New Roman"/>
              </a:rPr>
              <a:t>half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aseline="25462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2,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aseline="25462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/2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393700" marR="55880" indent="-342900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93700" algn="l"/>
              </a:tabLst>
            </a:pPr>
            <a:r>
              <a:rPr sz="1800" dirty="0">
                <a:latin typeface="Times New Roman"/>
                <a:cs typeface="Times New Roman"/>
              </a:rPr>
              <a:t>Fig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compares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all </a:t>
            </a:r>
            <a:r>
              <a:rPr sz="1800" dirty="0">
                <a:latin typeface="Times New Roman"/>
                <a:cs typeface="Times New Roman"/>
              </a:rPr>
              <a:t>ACKs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lost,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sender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sends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duplicate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expect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receive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cycle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error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Selective</a:t>
            </a:r>
            <a:r>
              <a:rPr spc="-70" dirty="0"/>
              <a:t> </a:t>
            </a:r>
            <a:r>
              <a:rPr dirty="0"/>
              <a:t>Repeat</a:t>
            </a:r>
            <a:r>
              <a:rPr spc="-175" dirty="0"/>
              <a:t> </a:t>
            </a:r>
            <a:r>
              <a:rPr dirty="0"/>
              <a:t>ARQ,</a:t>
            </a:r>
            <a:r>
              <a:rPr spc="-35" dirty="0"/>
              <a:t> </a:t>
            </a:r>
            <a:r>
              <a:rPr dirty="0"/>
              <a:t>sender</a:t>
            </a:r>
            <a:r>
              <a:rPr spc="-45" dirty="0"/>
              <a:t> </a:t>
            </a:r>
            <a:r>
              <a:rPr dirty="0"/>
              <a:t>window</a:t>
            </a:r>
            <a:r>
              <a:rPr spc="-45" dirty="0"/>
              <a:t> </a:t>
            </a:r>
            <a:r>
              <a:rPr spc="-20" dirty="0"/>
              <a:t>size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800" y="2647937"/>
            <a:ext cx="5486400" cy="23018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5912" y="1047750"/>
            <a:ext cx="8447405" cy="3731895"/>
            <a:chOff x="315912" y="1047750"/>
            <a:chExt cx="8447405" cy="3731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912" y="1047750"/>
              <a:ext cx="8447024" cy="1676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3039617"/>
              <a:ext cx="7486650" cy="158953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Window</a:t>
            </a:r>
            <a:r>
              <a:rPr spc="-6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Selective</a:t>
            </a:r>
            <a:r>
              <a:rPr spc="-30" dirty="0"/>
              <a:t> </a:t>
            </a:r>
            <a:r>
              <a:rPr spc="-10" dirty="0"/>
              <a:t>Repeat</a:t>
            </a:r>
            <a:r>
              <a:rPr spc="-16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425" y="1038225"/>
            <a:ext cx="8537575" cy="34766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Window</a:t>
            </a:r>
            <a:r>
              <a:rPr spc="-6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Selective</a:t>
            </a:r>
            <a:r>
              <a:rPr spc="-30" dirty="0"/>
              <a:t> </a:t>
            </a:r>
            <a:r>
              <a:rPr spc="-10" dirty="0"/>
              <a:t>Repeat</a:t>
            </a:r>
            <a:r>
              <a:rPr spc="-16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975" y="1931162"/>
            <a:ext cx="7870825" cy="13835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Delivery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Selective</a:t>
            </a:r>
            <a:r>
              <a:rPr spc="-45" dirty="0"/>
              <a:t> </a:t>
            </a:r>
            <a:r>
              <a:rPr spc="-10" dirty="0"/>
              <a:t>Repeat</a:t>
            </a:r>
            <a:r>
              <a:rPr spc="-16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91465" algn="l"/>
              </a:tabLst>
            </a:pPr>
            <a:r>
              <a:rPr spc="-25" dirty="0"/>
              <a:t>Eg:</a:t>
            </a:r>
          </a:p>
          <a:p>
            <a:pPr marL="615950" marR="6985" lvl="1" indent="-232410" algn="just">
              <a:lnSpc>
                <a:spcPct val="90000"/>
              </a:lnSpc>
              <a:spcBef>
                <a:spcPts val="395"/>
              </a:spcBef>
              <a:buFont typeface="Arial MT"/>
              <a:buChar char="–"/>
              <a:tabLst>
                <a:tab pos="615950" algn="l"/>
              </a:tabLst>
            </a:pP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similar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previous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lost.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Selective </a:t>
            </a:r>
            <a:r>
              <a:rPr sz="1600" dirty="0">
                <a:latin typeface="Times New Roman"/>
                <a:cs typeface="Times New Roman"/>
              </a:rPr>
              <a:t>Repeat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behaves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case.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Figure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11.23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shows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situation.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main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difference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timers.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Here,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resent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needs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timer,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timers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numbered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(0,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1,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2,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3).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timer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request,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stops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arrives.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request,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restarts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arrives,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finally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stops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arrives.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timers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start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corresponding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arrival </a:t>
            </a:r>
            <a:r>
              <a:rPr sz="1600" spc="-10" dirty="0"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  <a:p>
            <a:pPr marL="615950" marR="5080" lvl="1" indent="-232410" algn="just">
              <a:lnSpc>
                <a:spcPct val="90000"/>
              </a:lnSpc>
              <a:spcBef>
                <a:spcPts val="384"/>
              </a:spcBef>
              <a:buFont typeface="Arial MT"/>
              <a:buChar char="–"/>
              <a:tabLst>
                <a:tab pos="615950" algn="l"/>
              </a:tabLst>
            </a:pP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receiver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distinguish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acceptance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layer.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arrival,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stored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marked,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cannot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delivered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because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missing.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next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arrival,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marked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stored,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still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none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delivered. Only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arrival,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finally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copy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arrives,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1,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2,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delivered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layer.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two </a:t>
            </a:r>
            <a:r>
              <a:rPr sz="1600" dirty="0">
                <a:latin typeface="Times New Roman"/>
                <a:cs typeface="Times New Roman"/>
              </a:rPr>
              <a:t>conditions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delivery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layer: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consecutive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frames </a:t>
            </a:r>
            <a:r>
              <a:rPr sz="1600" dirty="0">
                <a:latin typeface="Times New Roman"/>
                <a:cs typeface="Times New Roman"/>
              </a:rPr>
              <a:t>must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arrived.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beginning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window.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Selective</a:t>
            </a:r>
            <a:r>
              <a:rPr spc="-30" dirty="0"/>
              <a:t> </a:t>
            </a:r>
            <a:r>
              <a:rPr dirty="0"/>
              <a:t>Repeat</a:t>
            </a:r>
            <a:r>
              <a:rPr spc="-15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7837"/>
            <a:ext cx="8531860" cy="29337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10" dirty="0">
                <a:latin typeface="Times New Roman"/>
                <a:cs typeface="Times New Roman"/>
              </a:rPr>
              <a:t> (contd…)</a:t>
            </a:r>
            <a:endParaRPr sz="2000">
              <a:latin typeface="Times New Roman"/>
              <a:cs typeface="Times New Roman"/>
            </a:endParaRPr>
          </a:p>
          <a:p>
            <a:pPr marL="615950" marR="6350" lvl="1" indent="-232410" algn="just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615950" algn="l"/>
              </a:tabLst>
            </a:pPr>
            <a:r>
              <a:rPr sz="1600" dirty="0">
                <a:latin typeface="Times New Roman"/>
                <a:cs typeface="Times New Roman"/>
              </a:rPr>
              <a:t>Another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important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arrival,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third, </a:t>
            </a:r>
            <a:r>
              <a:rPr sz="1600" dirty="0">
                <a:latin typeface="Times New Roman"/>
                <a:cs typeface="Times New Roman"/>
              </a:rPr>
              <a:t>although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situations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look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same.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protocol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want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crowd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unnecessary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unnecessary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resent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frames.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would </a:t>
            </a:r>
            <a:r>
              <a:rPr sz="1600" dirty="0">
                <a:latin typeface="Times New Roman"/>
                <a:cs typeface="Times New Roman"/>
              </a:rPr>
              <a:t>still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NAK1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sender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resend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again;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 has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already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 done.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first </a:t>
            </a:r>
            <a:r>
              <a:rPr sz="1600" dirty="0">
                <a:latin typeface="Times New Roman"/>
                <a:cs typeface="Times New Roman"/>
              </a:rPr>
              <a:t>NAK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remembered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(using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nakSent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variable)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again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until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frame slides.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NAK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window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position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 slot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window.</a:t>
            </a:r>
            <a:endParaRPr sz="1600">
              <a:latin typeface="Times New Roman"/>
              <a:cs typeface="Times New Roman"/>
            </a:endParaRPr>
          </a:p>
          <a:p>
            <a:pPr marL="615950" marR="5080" lvl="1" indent="-232410" algn="just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615950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next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about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ACKs.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Notice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ACKs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here.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one </a:t>
            </a:r>
            <a:r>
              <a:rPr sz="1600" dirty="0">
                <a:latin typeface="Times New Roman"/>
                <a:cs typeface="Times New Roman"/>
              </a:rPr>
              <a:t>acknowledges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frame;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acknowledges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three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frames.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Selective </a:t>
            </a:r>
            <a:r>
              <a:rPr sz="1600" dirty="0">
                <a:latin typeface="Times New Roman"/>
                <a:cs typeface="Times New Roman"/>
              </a:rPr>
              <a:t>Repeat,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delivered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layer.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belonging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n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delivered 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shot,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one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ACK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them.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Selective</a:t>
            </a:r>
            <a:r>
              <a:rPr spc="-30" dirty="0"/>
              <a:t> </a:t>
            </a:r>
            <a:r>
              <a:rPr dirty="0"/>
              <a:t>Repeat</a:t>
            </a:r>
            <a:r>
              <a:rPr spc="-15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587" y="1123937"/>
            <a:ext cx="6856349" cy="35873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Selective</a:t>
            </a:r>
            <a:r>
              <a:rPr spc="-30" dirty="0"/>
              <a:t> </a:t>
            </a:r>
            <a:r>
              <a:rPr dirty="0"/>
              <a:t>Repeat</a:t>
            </a:r>
            <a:r>
              <a:rPr spc="-155" dirty="0"/>
              <a:t> </a:t>
            </a:r>
            <a:r>
              <a:rPr spc="-25" dirty="0"/>
              <a:t>ARQ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2756</Words>
  <Application>Microsoft Office PowerPoint</Application>
  <PresentationFormat>On-screen Show (16:9)</PresentationFormat>
  <Paragraphs>272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 MT</vt:lpstr>
      <vt:lpstr>Calibri</vt:lpstr>
      <vt:lpstr>Times New Roman</vt:lpstr>
      <vt:lpstr>Office Theme</vt:lpstr>
      <vt:lpstr>Flow Control</vt:lpstr>
      <vt:lpstr>Flow Control</vt:lpstr>
      <vt:lpstr>Flow Control</vt:lpstr>
      <vt:lpstr>Flow Control</vt:lpstr>
      <vt:lpstr>Flow Control</vt:lpstr>
      <vt:lpstr>Flow Control</vt:lpstr>
      <vt:lpstr>Noiseless channel</vt:lpstr>
      <vt:lpstr>Simplest Protocol</vt:lpstr>
      <vt:lpstr>Stop and Wait Protocol</vt:lpstr>
      <vt:lpstr>Noisy channel</vt:lpstr>
      <vt:lpstr>Stop and Wait ARQ (General Scenario)</vt:lpstr>
      <vt:lpstr>Stop and Wait ARQ (Damaged frame)</vt:lpstr>
      <vt:lpstr>Stop and Wait ARQ (Damaged ACK)</vt:lpstr>
      <vt:lpstr>Stop and Wait ARQ (ACK delayed)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Stop and Wait ARQ</vt:lpstr>
      <vt:lpstr>Disadvantage of Stop and Wait</vt:lpstr>
      <vt:lpstr>Go Back N ARQ</vt:lpstr>
      <vt:lpstr>Sequence Numbers</vt:lpstr>
      <vt:lpstr>Sender Sliding Window</vt:lpstr>
      <vt:lpstr>Receiver Sliding Window</vt:lpstr>
      <vt:lpstr>Control Variables</vt:lpstr>
      <vt:lpstr>Acknowledgement</vt:lpstr>
      <vt:lpstr>Go Back N ARQ, normal operation</vt:lpstr>
      <vt:lpstr>Go Back N ARQ, lost frame</vt:lpstr>
      <vt:lpstr>Go Back N ARQ, damaged/lost/delayed ACK</vt:lpstr>
      <vt:lpstr>Go Back N ARQ, sender window size</vt:lpstr>
      <vt:lpstr>Go Back N ARQ (sending window)</vt:lpstr>
      <vt:lpstr>Go Back N ARQ (receiving window)</vt:lpstr>
      <vt:lpstr>Go Back N ARQ (sending and receiving window)</vt:lpstr>
      <vt:lpstr>Go Back N ARQ</vt:lpstr>
      <vt:lpstr>Go Back N ARQ</vt:lpstr>
      <vt:lpstr>Selective Repeat ARQ, sender and receiver windows</vt:lpstr>
      <vt:lpstr>Selective Repeat ARQ, lost frame</vt:lpstr>
      <vt:lpstr>Selective Repeat ARQ, sender window size</vt:lpstr>
      <vt:lpstr>Window for Selective Repeat ARQ</vt:lpstr>
      <vt:lpstr>Window for Selective Repeat ARQ</vt:lpstr>
      <vt:lpstr>Delivery of data in Selective Repeat ARQ</vt:lpstr>
      <vt:lpstr>Selective Repeat ARQ</vt:lpstr>
      <vt:lpstr>Selective Repeat ARQ</vt:lpstr>
      <vt:lpstr>Selective Repeat ARQ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RadheyKrishna</dc:creator>
  <cp:lastModifiedBy>Admin</cp:lastModifiedBy>
  <cp:revision>3</cp:revision>
  <dcterms:created xsi:type="dcterms:W3CDTF">2024-08-06T04:57:53Z</dcterms:created>
  <dcterms:modified xsi:type="dcterms:W3CDTF">2024-09-24T03:03:20Z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2024-08-06T00:00:00Z</vt:filetime>
  </property>
  <property fmtid="{D5CDD505-2E9C-101B-9397-08002B2CF9AE}" pid="5" name="Producer">
    <vt:lpwstr>Microsoft® PowerPoint® 2010</vt:lpwstr>
  </property>
</Properties>
</file>
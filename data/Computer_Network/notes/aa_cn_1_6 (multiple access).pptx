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8D933-B1C1-425D-8C0D-17DF11949944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66CD3-D3E4-4579-BA5A-C4E2F6B1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787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361A7-AB1B-40A4-8587-9FD36BE36DD8}" type="datetime1">
              <a:rPr lang="en-US" smtClean="0"/>
              <a:t>10/5/2024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48E47-B215-4FE4-9138-A0A635B837E8}" type="datetime1">
              <a:rPr lang="en-US" smtClean="0"/>
              <a:t>10/5/2024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B3160-11DB-4B1E-8E69-CE4D6BE04B8B}" type="datetime1">
              <a:rPr lang="en-US" smtClean="0"/>
              <a:t>10/5/2024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476" y="0"/>
                </a:moveTo>
                <a:lnTo>
                  <a:pt x="0" y="0"/>
                </a:lnTo>
                <a:lnTo>
                  <a:pt x="0" y="179831"/>
                </a:lnTo>
                <a:lnTo>
                  <a:pt x="9142476" y="179831"/>
                </a:lnTo>
                <a:lnTo>
                  <a:pt x="9142476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831"/>
                </a:moveTo>
                <a:lnTo>
                  <a:pt x="9142476" y="179831"/>
                </a:lnTo>
                <a:lnTo>
                  <a:pt x="9142476" y="0"/>
                </a:lnTo>
                <a:lnTo>
                  <a:pt x="0" y="0"/>
                </a:lnTo>
              </a:path>
            </a:pathLst>
          </a:custGeom>
          <a:ln w="12192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9145524" y="0"/>
                </a:moveTo>
                <a:lnTo>
                  <a:pt x="0" y="0"/>
                </a:lnTo>
                <a:lnTo>
                  <a:pt x="0" y="36575"/>
                </a:lnTo>
                <a:lnTo>
                  <a:pt x="9145524" y="36575"/>
                </a:lnTo>
                <a:lnTo>
                  <a:pt x="9145524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0" y="36575"/>
                </a:moveTo>
                <a:lnTo>
                  <a:pt x="9145524" y="36575"/>
                </a:lnTo>
                <a:lnTo>
                  <a:pt x="9145524" y="0"/>
                </a:lnTo>
                <a:lnTo>
                  <a:pt x="0" y="0"/>
                </a:lnTo>
                <a:lnTo>
                  <a:pt x="0" y="36575"/>
                </a:lnTo>
                <a:close/>
              </a:path>
            </a:pathLst>
          </a:custGeom>
          <a:ln w="6096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559" y="19811"/>
            <a:ext cx="830579" cy="8061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E6A79-A778-4AAE-8F04-D71DA17A0A10}" type="datetime1">
              <a:rPr lang="en-US" smtClean="0"/>
              <a:t>10/5/2024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121B4-FF7F-489F-85D5-D80EF1C68A1F}" type="datetime1">
              <a:rPr lang="en-US" smtClean="0"/>
              <a:t>10/5/2024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476" y="0"/>
                </a:moveTo>
                <a:lnTo>
                  <a:pt x="0" y="0"/>
                </a:lnTo>
                <a:lnTo>
                  <a:pt x="0" y="179831"/>
                </a:lnTo>
                <a:lnTo>
                  <a:pt x="9142476" y="179831"/>
                </a:lnTo>
                <a:lnTo>
                  <a:pt x="9142476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831"/>
                </a:moveTo>
                <a:lnTo>
                  <a:pt x="9142476" y="179831"/>
                </a:lnTo>
                <a:lnTo>
                  <a:pt x="9142476" y="0"/>
                </a:lnTo>
                <a:lnTo>
                  <a:pt x="0" y="0"/>
                </a:lnTo>
              </a:path>
            </a:pathLst>
          </a:custGeom>
          <a:ln w="12192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90559" y="19811"/>
            <a:ext cx="830579" cy="80619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9145524" y="0"/>
                </a:moveTo>
                <a:lnTo>
                  <a:pt x="0" y="0"/>
                </a:lnTo>
                <a:lnTo>
                  <a:pt x="0" y="36575"/>
                </a:lnTo>
                <a:lnTo>
                  <a:pt x="9145524" y="36575"/>
                </a:lnTo>
                <a:lnTo>
                  <a:pt x="9145524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0" y="36575"/>
                </a:moveTo>
                <a:lnTo>
                  <a:pt x="9145524" y="36575"/>
                </a:lnTo>
                <a:lnTo>
                  <a:pt x="9145524" y="0"/>
                </a:lnTo>
                <a:lnTo>
                  <a:pt x="0" y="0"/>
                </a:lnTo>
                <a:lnTo>
                  <a:pt x="0" y="36575"/>
                </a:lnTo>
                <a:close/>
              </a:path>
            </a:pathLst>
          </a:custGeom>
          <a:ln w="6096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194894"/>
            <a:ext cx="8529319" cy="5177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6540" y="1010119"/>
            <a:ext cx="8580120" cy="3568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47591" y="4943984"/>
            <a:ext cx="1120775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0D619-BC06-4518-AF38-0BA0CAAF8949}" type="datetime1">
              <a:rPr lang="en-US" smtClean="0"/>
              <a:t>10/5/2024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86697" y="4961693"/>
            <a:ext cx="217170" cy="165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3716" y="0"/>
            <a:ext cx="9157970" cy="1298575"/>
            <a:chOff x="-13716" y="0"/>
            <a:chExt cx="9157970" cy="1298575"/>
          </a:xfrm>
        </p:grpSpPr>
        <p:sp>
          <p:nvSpPr>
            <p:cNvPr id="3" name="object 3"/>
            <p:cNvSpPr/>
            <p:nvPr/>
          </p:nvSpPr>
          <p:spPr>
            <a:xfrm>
              <a:off x="761" y="0"/>
              <a:ext cx="9143365" cy="1037590"/>
            </a:xfrm>
            <a:custGeom>
              <a:avLst/>
              <a:gdLst/>
              <a:ahLst/>
              <a:cxnLst/>
              <a:rect l="l" t="t" r="r" b="b"/>
              <a:pathLst>
                <a:path w="9143365" h="1037590">
                  <a:moveTo>
                    <a:pt x="0" y="1037082"/>
                  </a:moveTo>
                  <a:lnTo>
                    <a:pt x="9143238" y="1037082"/>
                  </a:lnTo>
                  <a:lnTo>
                    <a:pt x="9143238" y="0"/>
                  </a:lnTo>
                  <a:lnTo>
                    <a:pt x="0" y="0"/>
                  </a:lnTo>
                  <a:lnTo>
                    <a:pt x="0" y="1037082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022603"/>
              <a:ext cx="9143365" cy="29209"/>
            </a:xfrm>
            <a:custGeom>
              <a:avLst/>
              <a:gdLst/>
              <a:ahLst/>
              <a:cxnLst/>
              <a:rect l="l" t="t" r="r" b="b"/>
              <a:pathLst>
                <a:path w="9143365" h="29209">
                  <a:moveTo>
                    <a:pt x="0" y="28955"/>
                  </a:moveTo>
                  <a:lnTo>
                    <a:pt x="9143238" y="28955"/>
                  </a:lnTo>
                  <a:lnTo>
                    <a:pt x="9143238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D3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0"/>
              <a:ext cx="0" cy="1037590"/>
            </a:xfrm>
            <a:custGeom>
              <a:avLst/>
              <a:gdLst/>
              <a:ahLst/>
              <a:cxnLst/>
              <a:rect l="l" t="t" r="r" b="b"/>
              <a:pathLst>
                <a:path h="1037590">
                  <a:moveTo>
                    <a:pt x="0" y="0"/>
                  </a:moveTo>
                  <a:lnTo>
                    <a:pt x="0" y="1037082"/>
                  </a:lnTo>
                </a:path>
              </a:pathLst>
            </a:custGeom>
            <a:ln w="28956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9352" y="0"/>
              <a:ext cx="1374648" cy="12984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4236" y="0"/>
              <a:ext cx="1159764" cy="10850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3400" y="109728"/>
              <a:ext cx="830579" cy="8061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5372" y="21335"/>
              <a:ext cx="3902964" cy="10530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7960" y="83819"/>
              <a:ext cx="3637788" cy="923543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042" rIns="0" bIns="0" rtlCol="0">
            <a:spAutoFit/>
          </a:bodyPr>
          <a:lstStyle/>
          <a:p>
            <a:pPr marL="2716530">
              <a:lnSpc>
                <a:spcPct val="100000"/>
              </a:lnSpc>
              <a:spcBef>
                <a:spcPts val="105"/>
              </a:spcBef>
            </a:pPr>
            <a:r>
              <a:rPr sz="2900" spc="-20" dirty="0">
                <a:solidFill>
                  <a:srgbClr val="336600"/>
                </a:solidFill>
              </a:rPr>
              <a:t>GLA</a:t>
            </a:r>
            <a:r>
              <a:rPr sz="2900" spc="-150" dirty="0">
                <a:solidFill>
                  <a:srgbClr val="336600"/>
                </a:solidFill>
              </a:rPr>
              <a:t> </a:t>
            </a:r>
            <a:r>
              <a:rPr sz="2900" spc="-10" dirty="0">
                <a:solidFill>
                  <a:srgbClr val="336600"/>
                </a:solidFill>
              </a:rPr>
              <a:t>UNIVERSITY</a:t>
            </a:r>
            <a:endParaRPr sz="2900"/>
          </a:p>
        </p:txBody>
      </p:sp>
      <p:sp>
        <p:nvSpPr>
          <p:cNvPr id="12" name="object 12"/>
          <p:cNvSpPr txBox="1"/>
          <p:nvPr/>
        </p:nvSpPr>
        <p:spPr>
          <a:xfrm>
            <a:off x="2467482" y="1306829"/>
            <a:ext cx="4355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cap="small" dirty="0">
                <a:latin typeface="Times New Roman"/>
                <a:cs typeface="Times New Roman"/>
              </a:rPr>
              <a:t>Computer</a:t>
            </a:r>
            <a:r>
              <a:rPr sz="3600" b="1" cap="small" spc="-25" dirty="0">
                <a:latin typeface="Times New Roman"/>
                <a:cs typeface="Times New Roman"/>
              </a:rPr>
              <a:t> </a:t>
            </a:r>
            <a:r>
              <a:rPr sz="3600" b="1" cap="small" spc="-75" dirty="0">
                <a:latin typeface="Times New Roman"/>
                <a:cs typeface="Times New Roman"/>
              </a:rPr>
              <a:t>Network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095" y="4948427"/>
            <a:ext cx="9154795" cy="192405"/>
            <a:chOff x="-6095" y="4948427"/>
            <a:chExt cx="9154795" cy="192405"/>
          </a:xfrm>
        </p:grpSpPr>
        <p:sp>
          <p:nvSpPr>
            <p:cNvPr id="4" name="object 4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476" y="0"/>
                  </a:moveTo>
                  <a:lnTo>
                    <a:pt x="0" y="0"/>
                  </a:lnTo>
                  <a:lnTo>
                    <a:pt x="0" y="179831"/>
                  </a:lnTo>
                  <a:lnTo>
                    <a:pt x="9142476" y="179831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831"/>
                  </a:moveTo>
                  <a:lnTo>
                    <a:pt x="9142476" y="179831"/>
                  </a:lnTo>
                  <a:lnTo>
                    <a:pt x="914247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3047" y="19811"/>
            <a:ext cx="9151620" cy="867410"/>
            <a:chOff x="-3047" y="19811"/>
            <a:chExt cx="9151620" cy="8674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559" y="19811"/>
              <a:ext cx="830579" cy="8061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9145524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9145524" y="36575"/>
                  </a:lnTo>
                  <a:lnTo>
                    <a:pt x="9145524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0" y="36575"/>
                  </a:moveTo>
                  <a:lnTo>
                    <a:pt x="9145524" y="36575"/>
                  </a:lnTo>
                  <a:lnTo>
                    <a:pt x="9145524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6096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120389" y="2337943"/>
            <a:ext cx="292544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cap="small" spc="-20" dirty="0">
                <a:latin typeface="Times New Roman"/>
                <a:cs typeface="Times New Roman"/>
              </a:rPr>
              <a:t>Multiple</a:t>
            </a:r>
            <a:r>
              <a:rPr sz="2900" b="1" cap="small" spc="-55" dirty="0">
                <a:latin typeface="Times New Roman"/>
                <a:cs typeface="Times New Roman"/>
              </a:rPr>
              <a:t> </a:t>
            </a:r>
            <a:r>
              <a:rPr sz="2900" b="1" cap="small" spc="-65" dirty="0">
                <a:latin typeface="Times New Roman"/>
                <a:cs typeface="Times New Roman"/>
              </a:rPr>
              <a:t>Access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2133"/>
            <a:ext cx="68338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 layer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divided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functionality-</a:t>
            </a:r>
            <a:r>
              <a:rPr sz="2000" dirty="0">
                <a:latin typeface="Times New Roman"/>
                <a:cs typeface="Times New Roman"/>
              </a:rPr>
              <a:t>oriented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sublayers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3633012"/>
            <a:ext cx="845756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upper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sublayer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responsible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sublayer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responsible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resolving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shared</a:t>
            </a:r>
            <a:r>
              <a:rPr sz="2000" spc="-10" dirty="0">
                <a:latin typeface="Times New Roman"/>
                <a:cs typeface="Times New Roman"/>
              </a:rPr>
              <a:t> media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dedicated,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lower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sublayer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/>
              <a:t>Multiple</a:t>
            </a:r>
            <a:r>
              <a:rPr sz="2600" spc="-90" dirty="0"/>
              <a:t> </a:t>
            </a:r>
            <a:r>
              <a:rPr sz="2600" spc="-10" dirty="0"/>
              <a:t>Access</a:t>
            </a:r>
            <a:endParaRPr sz="26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160" y="1479803"/>
            <a:ext cx="3672840" cy="20833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124712"/>
            <a:ext cx="5672328" cy="35905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/>
              <a:t>Multiple</a:t>
            </a:r>
            <a:r>
              <a:rPr sz="2600" spc="-90" dirty="0"/>
              <a:t> </a:t>
            </a:r>
            <a:r>
              <a:rPr sz="2600" spc="-10" dirty="0"/>
              <a:t>Access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0609"/>
            <a:ext cx="8531860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7620" indent="-27749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1465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random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methods,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station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superior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another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station 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assigned 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another</a:t>
            </a:r>
            <a:endParaRPr sz="2400">
              <a:latin typeface="Times New Roman"/>
              <a:cs typeface="Times New Roman"/>
            </a:endParaRPr>
          </a:p>
          <a:p>
            <a:pPr marL="289560" marR="5080" indent="-277495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91465" algn="l"/>
              </a:tabLst>
            </a:pP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instance,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station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send,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procedure 	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protocol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	</a:t>
            </a:r>
            <a:r>
              <a:rPr sz="2400" spc="-20" dirty="0">
                <a:latin typeface="Times New Roman"/>
                <a:cs typeface="Times New Roman"/>
              </a:rPr>
              <a:t>send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/>
              <a:t>Multiple</a:t>
            </a:r>
            <a:r>
              <a:rPr sz="2600" spc="-150" dirty="0"/>
              <a:t> </a:t>
            </a:r>
            <a:r>
              <a:rPr sz="2600" dirty="0"/>
              <a:t>Access</a:t>
            </a:r>
            <a:r>
              <a:rPr sz="2600" spc="1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Random</a:t>
            </a:r>
            <a:r>
              <a:rPr sz="2600" spc="-170" dirty="0"/>
              <a:t> </a:t>
            </a:r>
            <a:r>
              <a:rPr sz="2600" spc="-10" dirty="0"/>
              <a:t>Access</a:t>
            </a:r>
            <a:endParaRPr sz="2600">
              <a:latin typeface="Wingdings"/>
              <a:cs typeface="Wingding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88129" y="1485138"/>
            <a:ext cx="2432050" cy="0"/>
          </a:xfrm>
          <a:custGeom>
            <a:avLst/>
            <a:gdLst/>
            <a:ahLst/>
            <a:cxnLst/>
            <a:rect l="l" t="t" r="r" b="b"/>
            <a:pathLst>
              <a:path w="2432050">
                <a:moveTo>
                  <a:pt x="0" y="0"/>
                </a:moveTo>
                <a:lnTo>
                  <a:pt x="2432050" y="0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6612"/>
            <a:ext cx="5342255" cy="122555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9146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versions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Aloha</a:t>
            </a:r>
            <a:endParaRPr sz="240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615950" algn="l"/>
              </a:tabLst>
            </a:pPr>
            <a:r>
              <a:rPr sz="2050" dirty="0">
                <a:latin typeface="Times New Roman"/>
                <a:cs typeface="Times New Roman"/>
              </a:rPr>
              <a:t>Pure</a:t>
            </a:r>
            <a:r>
              <a:rPr sz="2050" spc="-8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Aloha</a:t>
            </a:r>
            <a:endParaRPr sz="205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615950" algn="l"/>
              </a:tabLst>
            </a:pPr>
            <a:r>
              <a:rPr sz="2050" dirty="0">
                <a:latin typeface="Times New Roman"/>
                <a:cs typeface="Times New Roman"/>
              </a:rPr>
              <a:t>Slotted</a:t>
            </a:r>
            <a:r>
              <a:rPr sz="2050" spc="-11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Aloha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/>
              <a:t>Multiple</a:t>
            </a:r>
            <a:r>
              <a:rPr sz="2600" spc="-160" dirty="0"/>
              <a:t> </a:t>
            </a:r>
            <a:r>
              <a:rPr sz="2600" dirty="0"/>
              <a:t>Access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Random</a:t>
            </a:r>
            <a:r>
              <a:rPr sz="2600" spc="-175" dirty="0"/>
              <a:t> </a:t>
            </a:r>
            <a:r>
              <a:rPr sz="2600" dirty="0"/>
              <a:t>Access </a:t>
            </a:r>
            <a:r>
              <a:rPr sz="2600" spc="-10" dirty="0">
                <a:latin typeface="Wingdings"/>
                <a:cs typeface="Wingdings"/>
              </a:rPr>
              <a:t></a:t>
            </a:r>
            <a:r>
              <a:rPr sz="2600" spc="-10" dirty="0"/>
              <a:t>Aloha</a:t>
            </a:r>
            <a:endParaRPr sz="26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190" rIns="0" bIns="0" rtlCol="0">
            <a:spAutoFit/>
          </a:bodyPr>
          <a:lstStyle/>
          <a:p>
            <a:pPr marL="342265" marR="5080" indent="-2794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/>
              <a:t>It</a:t>
            </a:r>
            <a:r>
              <a:rPr spc="310" dirty="0"/>
              <a:t> </a:t>
            </a:r>
            <a:r>
              <a:rPr dirty="0"/>
              <a:t>allows</a:t>
            </a:r>
            <a:r>
              <a:rPr spc="305" dirty="0"/>
              <a:t> </a:t>
            </a:r>
            <a:r>
              <a:rPr dirty="0"/>
              <a:t>the</a:t>
            </a:r>
            <a:r>
              <a:rPr spc="320" dirty="0"/>
              <a:t> </a:t>
            </a:r>
            <a:r>
              <a:rPr dirty="0"/>
              <a:t>stations</a:t>
            </a:r>
            <a:r>
              <a:rPr spc="325" dirty="0"/>
              <a:t> </a:t>
            </a:r>
            <a:r>
              <a:rPr dirty="0"/>
              <a:t>to</a:t>
            </a:r>
            <a:r>
              <a:rPr spc="305" dirty="0"/>
              <a:t> </a:t>
            </a:r>
            <a:r>
              <a:rPr dirty="0"/>
              <a:t>transmit</a:t>
            </a:r>
            <a:r>
              <a:rPr spc="315" dirty="0"/>
              <a:t> </a:t>
            </a:r>
            <a:r>
              <a:rPr dirty="0"/>
              <a:t>data</a:t>
            </a:r>
            <a:r>
              <a:rPr spc="315" dirty="0"/>
              <a:t> </a:t>
            </a:r>
            <a:r>
              <a:rPr dirty="0"/>
              <a:t>at</a:t>
            </a:r>
            <a:r>
              <a:rPr spc="305" dirty="0"/>
              <a:t> </a:t>
            </a:r>
            <a:r>
              <a:rPr dirty="0"/>
              <a:t>any</a:t>
            </a:r>
            <a:r>
              <a:rPr spc="320" dirty="0"/>
              <a:t> </a:t>
            </a:r>
            <a:r>
              <a:rPr dirty="0"/>
              <a:t>time</a:t>
            </a:r>
            <a:r>
              <a:rPr spc="330" dirty="0"/>
              <a:t> </a:t>
            </a:r>
            <a:r>
              <a:rPr dirty="0"/>
              <a:t>whenever</a:t>
            </a:r>
            <a:r>
              <a:rPr spc="325" dirty="0"/>
              <a:t> </a:t>
            </a:r>
            <a:r>
              <a:rPr spc="-20" dirty="0"/>
              <a:t>they want</a:t>
            </a:r>
          </a:p>
          <a:p>
            <a:pPr marL="342265" indent="-2787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/>
              <a:t>After transmitting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data</a:t>
            </a:r>
            <a:r>
              <a:rPr spc="-10" dirty="0"/>
              <a:t> </a:t>
            </a:r>
            <a:r>
              <a:rPr dirty="0"/>
              <a:t>packet,</a:t>
            </a:r>
            <a:r>
              <a:rPr spc="-45" dirty="0"/>
              <a:t> </a:t>
            </a:r>
            <a:r>
              <a:rPr dirty="0"/>
              <a:t>station</a:t>
            </a:r>
            <a:r>
              <a:rPr spc="-30" dirty="0"/>
              <a:t> </a:t>
            </a:r>
            <a:r>
              <a:rPr dirty="0"/>
              <a:t>waits</a:t>
            </a:r>
            <a:r>
              <a:rPr spc="-1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some </a:t>
            </a:r>
            <a:r>
              <a:rPr spc="-20" dirty="0"/>
              <a:t>time</a:t>
            </a:r>
          </a:p>
          <a:p>
            <a:pPr marL="342265" indent="-2787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/>
              <a:t>The</a:t>
            </a:r>
            <a:r>
              <a:rPr spc="-10" dirty="0"/>
              <a:t> </a:t>
            </a:r>
            <a:r>
              <a:rPr dirty="0"/>
              <a:t>following two cases</a:t>
            </a:r>
            <a:r>
              <a:rPr spc="-25" dirty="0"/>
              <a:t> </a:t>
            </a:r>
            <a:r>
              <a:rPr dirty="0"/>
              <a:t>are</a:t>
            </a:r>
            <a:r>
              <a:rPr spc="-5" dirty="0"/>
              <a:t> </a:t>
            </a:r>
            <a:r>
              <a:rPr spc="-10" dirty="0"/>
              <a:t>possible</a:t>
            </a:r>
          </a:p>
          <a:p>
            <a:pPr marL="665480" lvl="1" indent="-230504">
              <a:lnSpc>
                <a:spcPct val="100000"/>
              </a:lnSpc>
              <a:spcBef>
                <a:spcPts val="495"/>
              </a:spcBef>
              <a:buFont typeface="Arial MT"/>
              <a:buChar char="–"/>
              <a:tabLst>
                <a:tab pos="665480" algn="l"/>
              </a:tabLst>
            </a:pP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01: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Transmitting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acknowledgement</a:t>
            </a:r>
            <a:endParaRPr sz="2000">
              <a:latin typeface="Times New Roman"/>
              <a:cs typeface="Times New Roman"/>
            </a:endParaRPr>
          </a:p>
          <a:p>
            <a:pPr marL="991235" lvl="2" indent="-18415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991235" algn="l"/>
              </a:tabLst>
            </a:pPr>
            <a:r>
              <a:rPr sz="1800" dirty="0">
                <a:latin typeface="Times New Roman"/>
                <a:cs typeface="Times New Roman"/>
              </a:rPr>
              <a:t>Assumption: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transmission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successful</a:t>
            </a:r>
            <a:endParaRPr sz="1800">
              <a:latin typeface="Times New Roman"/>
              <a:cs typeface="Times New Roman"/>
            </a:endParaRPr>
          </a:p>
          <a:p>
            <a:pPr marL="664845" marR="6985" lvl="1" indent="-230504">
              <a:lnSpc>
                <a:spcPct val="100000"/>
              </a:lnSpc>
              <a:spcBef>
                <a:spcPts val="475"/>
              </a:spcBef>
              <a:buFont typeface="Arial MT"/>
              <a:buChar char="–"/>
              <a:tabLst>
                <a:tab pos="666750" algn="l"/>
              </a:tabLst>
            </a:pP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02: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Transmitting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acknowledgement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within 	</a:t>
            </a:r>
            <a:r>
              <a:rPr sz="2000" dirty="0">
                <a:latin typeface="Times New Roman"/>
                <a:cs typeface="Times New Roman"/>
              </a:rPr>
              <a:t>specified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time</a:t>
            </a:r>
            <a:endParaRPr sz="2000">
              <a:latin typeface="Times New Roman"/>
              <a:cs typeface="Times New Roman"/>
            </a:endParaRPr>
          </a:p>
          <a:p>
            <a:pPr marL="991235" lvl="2" indent="-18415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991235" algn="l"/>
              </a:tabLst>
            </a:pPr>
            <a:r>
              <a:rPr sz="1800" dirty="0">
                <a:latin typeface="Times New Roman"/>
                <a:cs typeface="Times New Roman"/>
              </a:rPr>
              <a:t>Assumption: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transmission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unsuccessful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/>
              <a:t>Multiple</a:t>
            </a:r>
            <a:r>
              <a:rPr sz="2600" spc="-16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Random</a:t>
            </a:r>
            <a:r>
              <a:rPr sz="2600" spc="-18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Aloha</a:t>
            </a:r>
            <a:r>
              <a:rPr sz="2600" spc="-3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Pure</a:t>
            </a:r>
            <a:r>
              <a:rPr sz="2600" spc="-155" dirty="0"/>
              <a:t> </a:t>
            </a:r>
            <a:r>
              <a:rPr sz="2600" spc="-10" dirty="0"/>
              <a:t>Aloha</a:t>
            </a:r>
            <a:endParaRPr sz="2600">
              <a:latin typeface="Wingdings"/>
              <a:cs typeface="Wingding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68090" y="1506474"/>
            <a:ext cx="3124200" cy="0"/>
          </a:xfrm>
          <a:custGeom>
            <a:avLst/>
            <a:gdLst/>
            <a:ahLst/>
            <a:cxnLst/>
            <a:rect l="l" t="t" r="r" b="b"/>
            <a:pathLst>
              <a:path w="3124200">
                <a:moveTo>
                  <a:pt x="0" y="0"/>
                </a:moveTo>
                <a:lnTo>
                  <a:pt x="3123818" y="0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5778"/>
            <a:ext cx="8528050" cy="231013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91465" algn="l"/>
              </a:tabLst>
            </a:pPr>
            <a:r>
              <a:rPr sz="2400" dirty="0">
                <a:latin typeface="Times New Roman"/>
                <a:cs typeface="Times New Roman"/>
              </a:rPr>
              <a:t>Frame</a:t>
            </a:r>
            <a:r>
              <a:rPr sz="2400" spc="-20" dirty="0">
                <a:latin typeface="Times New Roman"/>
                <a:cs typeface="Times New Roman"/>
              </a:rPr>
              <a:t> time</a:t>
            </a:r>
            <a:endParaRPr sz="2400">
              <a:latin typeface="Times New Roman"/>
              <a:cs typeface="Times New Roman"/>
            </a:endParaRPr>
          </a:p>
          <a:p>
            <a:pPr marL="614680" lvl="1" indent="-230504">
              <a:lnSpc>
                <a:spcPct val="100000"/>
              </a:lnSpc>
              <a:spcBef>
                <a:spcPts val="495"/>
              </a:spcBef>
              <a:buFont typeface="Arial MT"/>
              <a:buChar char="–"/>
              <a:tabLst>
                <a:tab pos="61468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time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91465" algn="l"/>
              </a:tabLst>
            </a:pPr>
            <a:r>
              <a:rPr sz="2400" spc="-10" dirty="0">
                <a:latin typeface="Times New Roman"/>
                <a:cs typeface="Times New Roman"/>
              </a:rPr>
              <a:t>Vulnerable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  <a:p>
            <a:pPr marL="614045" marR="5080" lvl="1" indent="-230504">
              <a:lnSpc>
                <a:spcPct val="100000"/>
              </a:lnSpc>
              <a:spcBef>
                <a:spcPts val="495"/>
              </a:spcBef>
              <a:buFont typeface="Arial MT"/>
              <a:buChar char="–"/>
              <a:tabLst>
                <a:tab pos="61595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during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done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avoid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any 	</a:t>
            </a:r>
            <a:r>
              <a:rPr sz="2000" spc="-10" dirty="0">
                <a:latin typeface="Times New Roman"/>
                <a:cs typeface="Times New Roman"/>
              </a:rPr>
              <a:t>collision</a:t>
            </a:r>
            <a:endParaRPr sz="2000">
              <a:latin typeface="Times New Roman"/>
              <a:cs typeface="Times New Roman"/>
            </a:endParaRPr>
          </a:p>
          <a:p>
            <a:pPr marL="614680" lvl="1" indent="-230504">
              <a:lnSpc>
                <a:spcPct val="100000"/>
              </a:lnSpc>
              <a:spcBef>
                <a:spcPts val="484"/>
              </a:spcBef>
              <a:buFont typeface="Arial MT"/>
              <a:buChar char="–"/>
              <a:tabLst>
                <a:tab pos="614680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Pure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Aloha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vulnerable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2T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/>
              <a:t>Multiple</a:t>
            </a:r>
            <a:r>
              <a:rPr sz="2600" spc="-16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Random</a:t>
            </a:r>
            <a:r>
              <a:rPr sz="2600" spc="-18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Aloha</a:t>
            </a:r>
            <a:r>
              <a:rPr sz="2600" spc="-3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Pure</a:t>
            </a:r>
            <a:r>
              <a:rPr sz="2600" spc="-155" dirty="0"/>
              <a:t> </a:t>
            </a:r>
            <a:r>
              <a:rPr sz="2600" spc="-10" dirty="0"/>
              <a:t>Aloha</a:t>
            </a:r>
            <a:endParaRPr sz="26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72" y="1200912"/>
            <a:ext cx="6477000" cy="34914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/>
              <a:t>Multiple</a:t>
            </a:r>
            <a:r>
              <a:rPr sz="2600" spc="-16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Random</a:t>
            </a:r>
            <a:r>
              <a:rPr sz="2600" spc="-18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Aloha</a:t>
            </a:r>
            <a:r>
              <a:rPr sz="2600" spc="-3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Pure</a:t>
            </a:r>
            <a:r>
              <a:rPr sz="2600" spc="-155" dirty="0"/>
              <a:t> </a:t>
            </a:r>
            <a:r>
              <a:rPr sz="2600" spc="-10" dirty="0"/>
              <a:t>Aloha</a:t>
            </a:r>
            <a:endParaRPr sz="26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972311"/>
            <a:ext cx="6240780" cy="3901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/>
              <a:t>Multiple</a:t>
            </a:r>
            <a:r>
              <a:rPr sz="2600" spc="-16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Random</a:t>
            </a:r>
            <a:r>
              <a:rPr sz="2600" spc="-18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Aloha</a:t>
            </a:r>
            <a:r>
              <a:rPr sz="2600" spc="-3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Pure</a:t>
            </a:r>
            <a:r>
              <a:rPr sz="2600" spc="-155" dirty="0"/>
              <a:t> </a:t>
            </a:r>
            <a:r>
              <a:rPr sz="2600" spc="-10" dirty="0"/>
              <a:t>Aloha</a:t>
            </a:r>
            <a:endParaRPr sz="26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42265" indent="-27876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spc="-25" dirty="0"/>
              <a:t>Eg:</a:t>
            </a:r>
            <a:endParaRPr sz="2000"/>
          </a:p>
          <a:p>
            <a:pPr marL="666750" marR="68580" lvl="1" indent="-232410">
              <a:lnSpc>
                <a:spcPct val="100000"/>
              </a:lnSpc>
              <a:spcBef>
                <a:spcPts val="420"/>
              </a:spcBef>
              <a:buFont typeface="Arial MT"/>
              <a:buChar char="–"/>
              <a:tabLst>
                <a:tab pos="66675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stations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wireless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ALOHA</a:t>
            </a:r>
            <a:r>
              <a:rPr sz="1700" spc="-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network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maximum 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600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km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apart.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assume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signals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propagate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×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</a:t>
            </a:r>
            <a:r>
              <a:rPr sz="1650" baseline="25252" dirty="0">
                <a:latin typeface="Times New Roman"/>
                <a:cs typeface="Times New Roman"/>
              </a:rPr>
              <a:t>8</a:t>
            </a:r>
            <a:r>
              <a:rPr sz="1650" spc="202" baseline="2525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m/s,</a:t>
            </a:r>
            <a:r>
              <a:rPr sz="1700" spc="4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find</a:t>
            </a:r>
            <a:endParaRPr sz="17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spc="-10" dirty="0">
                <a:solidFill>
                  <a:srgbClr val="C00000"/>
                </a:solidFill>
              </a:rPr>
              <a:t>Solution</a:t>
            </a:r>
            <a:endParaRPr sz="2000"/>
          </a:p>
          <a:p>
            <a:pPr marL="2292985">
              <a:lnSpc>
                <a:spcPct val="100000"/>
              </a:lnSpc>
              <a:spcBef>
                <a:spcPts val="480"/>
              </a:spcBef>
            </a:pPr>
            <a:r>
              <a:rPr sz="2000" dirty="0"/>
              <a:t>T</a:t>
            </a:r>
            <a:r>
              <a:rPr sz="1950" baseline="-21367" dirty="0"/>
              <a:t>p</a:t>
            </a:r>
            <a:r>
              <a:rPr sz="1950" spc="270" baseline="-21367" dirty="0"/>
              <a:t> </a:t>
            </a:r>
            <a:r>
              <a:rPr sz="2000" dirty="0"/>
              <a:t>=</a:t>
            </a:r>
            <a:r>
              <a:rPr sz="2000" spc="-10" dirty="0"/>
              <a:t> </a:t>
            </a:r>
            <a:r>
              <a:rPr sz="2000" dirty="0"/>
              <a:t>(600</a:t>
            </a:r>
            <a:r>
              <a:rPr sz="2000" spc="-15" dirty="0"/>
              <a:t> </a:t>
            </a:r>
            <a:r>
              <a:rPr sz="2000" dirty="0"/>
              <a:t>×</a:t>
            </a:r>
            <a:r>
              <a:rPr sz="2000" spc="5" dirty="0"/>
              <a:t> </a:t>
            </a:r>
            <a:r>
              <a:rPr sz="2000" dirty="0"/>
              <a:t>10</a:t>
            </a:r>
            <a:r>
              <a:rPr sz="1950" baseline="25641" dirty="0"/>
              <a:t>3</a:t>
            </a:r>
            <a:r>
              <a:rPr sz="2000" dirty="0"/>
              <a:t>)</a:t>
            </a:r>
            <a:r>
              <a:rPr sz="2000" spc="-35" dirty="0"/>
              <a:t> </a:t>
            </a:r>
            <a:r>
              <a:rPr sz="2000" dirty="0"/>
              <a:t>/</a:t>
            </a:r>
            <a:r>
              <a:rPr sz="2000" spc="5" dirty="0"/>
              <a:t> </a:t>
            </a:r>
            <a:r>
              <a:rPr sz="2000" dirty="0"/>
              <a:t>(3</a:t>
            </a:r>
            <a:r>
              <a:rPr sz="2000" spc="-5" dirty="0"/>
              <a:t> </a:t>
            </a:r>
            <a:r>
              <a:rPr sz="2000" dirty="0"/>
              <a:t>×</a:t>
            </a:r>
            <a:r>
              <a:rPr sz="2000" spc="10" dirty="0"/>
              <a:t> </a:t>
            </a:r>
            <a:r>
              <a:rPr sz="2000" dirty="0"/>
              <a:t>10</a:t>
            </a:r>
            <a:r>
              <a:rPr sz="1950" baseline="25641" dirty="0"/>
              <a:t>8</a:t>
            </a:r>
            <a:r>
              <a:rPr sz="2000" dirty="0"/>
              <a:t>)</a:t>
            </a:r>
            <a:r>
              <a:rPr sz="2000" spc="-35" dirty="0"/>
              <a:t> </a:t>
            </a:r>
            <a:r>
              <a:rPr sz="2000" dirty="0"/>
              <a:t>=</a:t>
            </a:r>
            <a:r>
              <a:rPr sz="2000" spc="5" dirty="0"/>
              <a:t> </a:t>
            </a:r>
            <a:r>
              <a:rPr sz="2000" dirty="0"/>
              <a:t>2 </a:t>
            </a:r>
            <a:r>
              <a:rPr sz="2000" spc="-25" dirty="0"/>
              <a:t>ms</a:t>
            </a:r>
            <a:endParaRPr sz="2000"/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/>
          </a:p>
          <a:p>
            <a:pPr marL="342265" indent="-2787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/>
              <a:t>Now</a:t>
            </a:r>
            <a:r>
              <a:rPr sz="2000" spc="-15" dirty="0"/>
              <a:t> </a:t>
            </a:r>
            <a:r>
              <a:rPr sz="2000" dirty="0"/>
              <a:t>we</a:t>
            </a:r>
            <a:r>
              <a:rPr sz="2000" spc="-5" dirty="0"/>
              <a:t> </a:t>
            </a:r>
            <a:r>
              <a:rPr sz="2000" dirty="0"/>
              <a:t>can</a:t>
            </a:r>
            <a:r>
              <a:rPr sz="2000" spc="-10" dirty="0"/>
              <a:t> </a:t>
            </a:r>
            <a:r>
              <a:rPr sz="2000" dirty="0"/>
              <a:t>find</a:t>
            </a:r>
            <a:r>
              <a:rPr sz="2000" spc="-35" dirty="0"/>
              <a:t> </a:t>
            </a:r>
            <a:r>
              <a:rPr sz="2000" dirty="0"/>
              <a:t>the</a:t>
            </a:r>
            <a:r>
              <a:rPr sz="2000" spc="-20" dirty="0"/>
              <a:t> </a:t>
            </a:r>
            <a:r>
              <a:rPr sz="2000" dirty="0"/>
              <a:t>value</a:t>
            </a:r>
            <a:r>
              <a:rPr sz="2000" spc="-25" dirty="0"/>
              <a:t> </a:t>
            </a:r>
            <a:r>
              <a:rPr sz="2000" dirty="0"/>
              <a:t>of</a:t>
            </a:r>
            <a:r>
              <a:rPr sz="2000" spc="-45" dirty="0"/>
              <a:t> </a:t>
            </a:r>
            <a:r>
              <a:rPr sz="2000" dirty="0"/>
              <a:t>T</a:t>
            </a:r>
            <a:r>
              <a:rPr sz="1950" baseline="-21367" dirty="0"/>
              <a:t>B</a:t>
            </a:r>
            <a:r>
              <a:rPr sz="1950" spc="232" baseline="-21367" dirty="0"/>
              <a:t> </a:t>
            </a:r>
            <a:r>
              <a:rPr sz="2000" dirty="0"/>
              <a:t>for</a:t>
            </a:r>
            <a:r>
              <a:rPr sz="2000" spc="-20" dirty="0"/>
              <a:t> </a:t>
            </a:r>
            <a:r>
              <a:rPr sz="2000" dirty="0"/>
              <a:t>different</a:t>
            </a:r>
            <a:r>
              <a:rPr sz="2000" spc="-50" dirty="0"/>
              <a:t> </a:t>
            </a:r>
            <a:r>
              <a:rPr sz="2000" dirty="0"/>
              <a:t>values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20" dirty="0"/>
              <a:t> </a:t>
            </a:r>
            <a:r>
              <a:rPr sz="2000" spc="-50" dirty="0"/>
              <a:t>k</a:t>
            </a:r>
            <a:endParaRPr sz="2000"/>
          </a:p>
          <a:p>
            <a:pPr marL="666750" marR="114300" lvl="1" indent="-232410">
              <a:lnSpc>
                <a:spcPct val="100000"/>
              </a:lnSpc>
              <a:spcBef>
                <a:spcPts val="420"/>
              </a:spcBef>
              <a:buFont typeface="Arial MT"/>
              <a:buChar char="–"/>
              <a:tabLst>
                <a:tab pos="666750" algn="l"/>
              </a:tabLst>
            </a:pP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range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{0,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1}.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station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needs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generate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random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value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1.</a:t>
            </a:r>
            <a:endParaRPr sz="1700">
              <a:latin typeface="Times New Roman"/>
              <a:cs typeface="Times New Roman"/>
            </a:endParaRPr>
          </a:p>
          <a:p>
            <a:pPr marL="666750" lvl="1" indent="-23177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666750" algn="l"/>
              </a:tabLst>
            </a:pP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means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650" baseline="-20202" dirty="0">
                <a:latin typeface="Times New Roman"/>
                <a:cs typeface="Times New Roman"/>
              </a:rPr>
              <a:t>B</a:t>
            </a:r>
            <a:r>
              <a:rPr sz="1650" spc="195" baseline="-2020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either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(0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×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2)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(1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×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2),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based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outcome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the</a:t>
            </a:r>
            <a:endParaRPr sz="1700">
              <a:latin typeface="Times New Roman"/>
              <a:cs typeface="Times New Roman"/>
            </a:endParaRPr>
          </a:p>
          <a:p>
            <a:pPr marL="666750">
              <a:lnSpc>
                <a:spcPct val="100000"/>
              </a:lnSpc>
              <a:spcBef>
                <a:spcPts val="5"/>
              </a:spcBef>
            </a:pPr>
            <a:r>
              <a:rPr sz="1700" dirty="0"/>
              <a:t>random</a:t>
            </a:r>
            <a:r>
              <a:rPr sz="1700" spc="-15" dirty="0"/>
              <a:t> </a:t>
            </a:r>
            <a:r>
              <a:rPr sz="1700" spc="-10" dirty="0"/>
              <a:t>variable</a:t>
            </a:r>
            <a:endParaRPr sz="17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/>
              <a:t>Multiple</a:t>
            </a:r>
            <a:r>
              <a:rPr sz="2600" spc="-16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Random</a:t>
            </a:r>
            <a:r>
              <a:rPr sz="2600" spc="-18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Aloha</a:t>
            </a:r>
            <a:r>
              <a:rPr sz="2600" spc="-3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Pure</a:t>
            </a:r>
            <a:r>
              <a:rPr sz="2600" spc="-155" dirty="0"/>
              <a:t> </a:t>
            </a:r>
            <a:r>
              <a:rPr sz="2600" spc="-10" dirty="0"/>
              <a:t>Aloha</a:t>
            </a:r>
            <a:endParaRPr sz="26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240" y="1011783"/>
            <a:ext cx="5097145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29565" indent="-2787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29565" algn="l"/>
              </a:tabLst>
            </a:pPr>
            <a:r>
              <a:rPr sz="2000" dirty="0">
                <a:latin typeface="Times New Roman"/>
                <a:cs typeface="Times New Roman"/>
              </a:rPr>
              <a:t>The throughput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pure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ALOHA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R="55880" algn="r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 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1950" spc="-30" baseline="25641" dirty="0">
                <a:latin typeface="Times New Roman"/>
                <a:cs typeface="Times New Roman"/>
              </a:rPr>
              <a:t>−2G</a:t>
            </a:r>
            <a:endParaRPr sz="1950" baseline="25641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Times New Roman"/>
                <a:cs typeface="Times New Roman"/>
              </a:rPr>
              <a:t>where,</a:t>
            </a:r>
            <a:endParaRPr sz="2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load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/>
              <a:t>Multiple</a:t>
            </a:r>
            <a:r>
              <a:rPr sz="2600" spc="-16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Random</a:t>
            </a:r>
            <a:r>
              <a:rPr sz="2600" spc="-185" dirty="0"/>
              <a:t> </a:t>
            </a:r>
            <a:r>
              <a:rPr sz="2600" dirty="0"/>
              <a:t>Access</a:t>
            </a:r>
            <a:r>
              <a:rPr sz="2600" spc="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Aloha</a:t>
            </a:r>
            <a:r>
              <a:rPr sz="2600" spc="-35" dirty="0"/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dirty="0"/>
              <a:t>Pure</a:t>
            </a:r>
            <a:r>
              <a:rPr sz="2600" spc="-155" dirty="0"/>
              <a:t> </a:t>
            </a:r>
            <a:r>
              <a:rPr sz="2600" spc="-10" dirty="0"/>
              <a:t>Aloha</a:t>
            </a:r>
            <a:endParaRPr sz="26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072133"/>
            <a:ext cx="8696325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marR="94615" indent="-2794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Times New Roman"/>
                <a:cs typeface="Times New Roman"/>
              </a:rPr>
              <a:t>Slotted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Aloha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divides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shared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discrete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intervals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called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 </a:t>
            </a:r>
            <a:r>
              <a:rPr sz="2000" spc="-10" dirty="0">
                <a:latin typeface="Times New Roman"/>
                <a:cs typeface="Times New Roman"/>
              </a:rPr>
              <a:t>slots</a:t>
            </a:r>
            <a:endParaRPr sz="2000">
              <a:latin typeface="Times New Roman"/>
              <a:cs typeface="Times New Roman"/>
            </a:endParaRPr>
          </a:p>
          <a:p>
            <a:pPr marL="3676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slot</a:t>
            </a:r>
            <a:endParaRPr sz="2000">
              <a:latin typeface="Times New Roman"/>
              <a:cs typeface="Times New Roman"/>
            </a:endParaRPr>
          </a:p>
          <a:p>
            <a:pPr marL="367665" marR="93980" indent="-2794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start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beginning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slot</a:t>
            </a:r>
            <a:endParaRPr sz="2000">
              <a:latin typeface="Times New Roman"/>
              <a:cs typeface="Times New Roman"/>
            </a:endParaRPr>
          </a:p>
          <a:p>
            <a:pPr marL="3676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beginning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slot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missed,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beginning</a:t>
            </a:r>
            <a:endParaRPr sz="20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next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slot</a:t>
            </a:r>
            <a:endParaRPr sz="2000">
              <a:latin typeface="Times New Roman"/>
              <a:cs typeface="Times New Roman"/>
            </a:endParaRPr>
          </a:p>
          <a:p>
            <a:pPr marL="367665" marR="93980" indent="-2794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7665" algn="l"/>
                <a:tab pos="1685925" algn="l"/>
                <a:tab pos="2257425" algn="l"/>
                <a:tab pos="2960370" algn="l"/>
                <a:tab pos="3251200" algn="l"/>
                <a:tab pos="3769360" algn="l"/>
                <a:tab pos="4118610" algn="l"/>
                <a:tab pos="4775835" algn="l"/>
                <a:tab pos="5687060" algn="l"/>
                <a:tab pos="6104890" algn="l"/>
                <a:tab pos="6436995" algn="l"/>
                <a:tab pos="7403465" algn="l"/>
                <a:tab pos="7962900" algn="l"/>
                <a:tab pos="828294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collision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may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occur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two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more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stations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try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transmit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beginning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slot</a:t>
            </a:r>
            <a:endParaRPr sz="2000">
              <a:latin typeface="Times New Roman"/>
              <a:cs typeface="Times New Roman"/>
            </a:endParaRPr>
          </a:p>
          <a:p>
            <a:pPr marL="367665" indent="-27876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Times New Roman"/>
                <a:cs typeface="Times New Roman"/>
              </a:rPr>
              <a:t>However,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vulnerable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now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half,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i.e.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equals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</a:t>
            </a:r>
            <a:r>
              <a:rPr sz="1950" spc="-37" baseline="-21367" dirty="0">
                <a:latin typeface="Times New Roman"/>
                <a:cs typeface="Times New Roman"/>
              </a:rPr>
              <a:t>f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0" dirty="0"/>
              <a:t> </a:t>
            </a:r>
            <a:r>
              <a:rPr sz="2400" dirty="0"/>
              <a:t>Access</a:t>
            </a:r>
            <a:r>
              <a:rPr sz="2400" spc="20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30" dirty="0"/>
              <a:t> </a:t>
            </a:r>
            <a:r>
              <a:rPr sz="2400" dirty="0"/>
              <a:t>Access</a:t>
            </a:r>
            <a:r>
              <a:rPr sz="2400" spc="-5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Aloha</a:t>
            </a:r>
            <a:r>
              <a:rPr sz="2400" spc="-1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Slotted</a:t>
            </a:r>
            <a:r>
              <a:rPr sz="2400" spc="-160" dirty="0"/>
              <a:t> </a:t>
            </a:r>
            <a:r>
              <a:rPr sz="2400" spc="-10" dirty="0"/>
              <a:t>Aloha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07514" y="1430274"/>
            <a:ext cx="1603375" cy="0"/>
          </a:xfrm>
          <a:custGeom>
            <a:avLst/>
            <a:gdLst/>
            <a:ahLst/>
            <a:cxnLst/>
            <a:rect l="l" t="t" r="r" b="b"/>
            <a:pathLst>
              <a:path w="1603375">
                <a:moveTo>
                  <a:pt x="0" y="0"/>
                </a:moveTo>
                <a:lnTo>
                  <a:pt x="1602994" y="0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744" y="1127760"/>
            <a:ext cx="7728204" cy="36149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0" dirty="0"/>
              <a:t> </a:t>
            </a:r>
            <a:r>
              <a:rPr sz="2400" dirty="0"/>
              <a:t>Access</a:t>
            </a:r>
            <a:r>
              <a:rPr sz="2400" spc="20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30" dirty="0"/>
              <a:t> </a:t>
            </a:r>
            <a:r>
              <a:rPr sz="2400" dirty="0"/>
              <a:t>Access</a:t>
            </a:r>
            <a:r>
              <a:rPr sz="2400" spc="-5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Aloha</a:t>
            </a:r>
            <a:r>
              <a:rPr sz="2400" spc="-1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Slotted</a:t>
            </a:r>
            <a:r>
              <a:rPr sz="2400" spc="-160" dirty="0"/>
              <a:t> </a:t>
            </a:r>
            <a:r>
              <a:rPr sz="2400" spc="-10" dirty="0"/>
              <a:t>Aloha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240" y="1011783"/>
            <a:ext cx="5011420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29565" indent="-2787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295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slotted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ALOHA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R="55880" algn="r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 </a:t>
            </a:r>
            <a:r>
              <a:rPr sz="2000" spc="-25" dirty="0">
                <a:latin typeface="Times New Roman"/>
                <a:cs typeface="Times New Roman"/>
              </a:rPr>
              <a:t>e</a:t>
            </a:r>
            <a:r>
              <a:rPr sz="1950" spc="-37" baseline="25641" dirty="0">
                <a:latin typeface="Times New Roman"/>
                <a:cs typeface="Times New Roman"/>
              </a:rPr>
              <a:t>−G</a:t>
            </a:r>
            <a:endParaRPr sz="1950" baseline="25641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Times New Roman"/>
                <a:cs typeface="Times New Roman"/>
              </a:rPr>
              <a:t>where,</a:t>
            </a:r>
            <a:endParaRPr sz="2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load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0" dirty="0"/>
              <a:t> </a:t>
            </a:r>
            <a:r>
              <a:rPr sz="2400" dirty="0"/>
              <a:t>Access</a:t>
            </a:r>
            <a:r>
              <a:rPr sz="2400" spc="20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30" dirty="0"/>
              <a:t> </a:t>
            </a:r>
            <a:r>
              <a:rPr sz="2400" dirty="0"/>
              <a:t>Access</a:t>
            </a:r>
            <a:r>
              <a:rPr sz="2400" spc="-5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Aloha</a:t>
            </a:r>
            <a:r>
              <a:rPr sz="2400" spc="-1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Slotted</a:t>
            </a:r>
            <a:r>
              <a:rPr sz="2400" spc="-160" dirty="0"/>
              <a:t> </a:t>
            </a:r>
            <a:r>
              <a:rPr sz="2400" spc="-10" dirty="0"/>
              <a:t>Aloha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540" y="1013199"/>
            <a:ext cx="8435340" cy="370141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42265" indent="-27876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342265" algn="l"/>
              </a:tabLst>
            </a:pPr>
            <a:r>
              <a:rPr sz="1900" spc="-25" dirty="0">
                <a:latin typeface="Times New Roman"/>
                <a:cs typeface="Times New Roman"/>
              </a:rPr>
              <a:t>Eg:</a:t>
            </a:r>
            <a:endParaRPr sz="1900">
              <a:latin typeface="Times New Roman"/>
              <a:cs typeface="Times New Roman"/>
            </a:endParaRPr>
          </a:p>
          <a:p>
            <a:pPr marL="666750" marR="17780" indent="-232410">
              <a:lnSpc>
                <a:spcPts val="1730"/>
              </a:lnSpc>
              <a:spcBef>
                <a:spcPts val="420"/>
              </a:spcBef>
            </a:pPr>
            <a:r>
              <a:rPr sz="1600" dirty="0">
                <a:latin typeface="Arial MT"/>
                <a:cs typeface="Arial MT"/>
              </a:rPr>
              <a:t>–</a:t>
            </a:r>
            <a:r>
              <a:rPr sz="1600" spc="390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pure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ALOHA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transmits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200-</a:t>
            </a:r>
            <a:r>
              <a:rPr sz="1600" dirty="0">
                <a:latin typeface="Times New Roman"/>
                <a:cs typeface="Times New Roman"/>
              </a:rPr>
              <a:t>bit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shared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channel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200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kbps.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What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requirement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make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collision</a:t>
            </a:r>
            <a:r>
              <a:rPr sz="1600" spc="-20" dirty="0">
                <a:latin typeface="Times New Roman"/>
                <a:cs typeface="Times New Roman"/>
              </a:rPr>
              <a:t> free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6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19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42265" algn="l"/>
              </a:tabLst>
            </a:pPr>
            <a:r>
              <a:rPr sz="1900" spc="-10" dirty="0">
                <a:latin typeface="Times New Roman"/>
                <a:cs typeface="Times New Roman"/>
              </a:rPr>
              <a:t>Average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frame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transmission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time</a:t>
            </a:r>
            <a:endParaRPr sz="1900">
              <a:latin typeface="Times New Roman"/>
              <a:cs typeface="Times New Roman"/>
            </a:endParaRPr>
          </a:p>
          <a:p>
            <a:pPr marL="3035935">
              <a:lnSpc>
                <a:spcPct val="100000"/>
              </a:lnSpc>
              <a:spcBef>
                <a:spcPts val="225"/>
              </a:spcBef>
            </a:pPr>
            <a:r>
              <a:rPr sz="1900" dirty="0">
                <a:latin typeface="Times New Roman"/>
                <a:cs typeface="Times New Roman"/>
              </a:rPr>
              <a:t>T</a:t>
            </a:r>
            <a:r>
              <a:rPr sz="1875" baseline="-20000" dirty="0">
                <a:latin typeface="Times New Roman"/>
                <a:cs typeface="Times New Roman"/>
              </a:rPr>
              <a:t>fr</a:t>
            </a:r>
            <a:r>
              <a:rPr sz="1875" spc="217" baseline="-200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200 bits/200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kbps</a:t>
            </a:r>
            <a:endParaRPr sz="1900">
              <a:latin typeface="Times New Roman"/>
              <a:cs typeface="Times New Roman"/>
            </a:endParaRPr>
          </a:p>
          <a:p>
            <a:pPr marL="3337560">
              <a:lnSpc>
                <a:spcPct val="100000"/>
              </a:lnSpc>
              <a:spcBef>
                <a:spcPts val="229"/>
              </a:spcBef>
            </a:pP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1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ms</a:t>
            </a:r>
            <a:endParaRPr sz="19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42265" algn="l"/>
              </a:tabLst>
            </a:pPr>
            <a:r>
              <a:rPr sz="1900" spc="-10" dirty="0">
                <a:latin typeface="Times New Roman"/>
                <a:cs typeface="Times New Roman"/>
              </a:rPr>
              <a:t>Vulnerable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time</a:t>
            </a:r>
            <a:endParaRPr sz="1900">
              <a:latin typeface="Times New Roman"/>
              <a:cs typeface="Times New Roman"/>
            </a:endParaRPr>
          </a:p>
          <a:p>
            <a:pPr marL="3337560">
              <a:lnSpc>
                <a:spcPct val="100000"/>
              </a:lnSpc>
              <a:spcBef>
                <a:spcPts val="229"/>
              </a:spcBef>
            </a:pP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2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*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T</a:t>
            </a:r>
            <a:r>
              <a:rPr sz="1875" spc="-37" baseline="-20000" dirty="0">
                <a:latin typeface="Times New Roman"/>
                <a:cs typeface="Times New Roman"/>
              </a:rPr>
              <a:t>fr</a:t>
            </a:r>
            <a:endParaRPr sz="1875" baseline="-20000">
              <a:latin typeface="Times New Roman"/>
              <a:cs typeface="Times New Roman"/>
            </a:endParaRPr>
          </a:p>
          <a:p>
            <a:pPr marL="3337560">
              <a:lnSpc>
                <a:spcPct val="100000"/>
              </a:lnSpc>
              <a:spcBef>
                <a:spcPts val="229"/>
              </a:spcBef>
            </a:pP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2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 marL="3337560">
              <a:lnSpc>
                <a:spcPct val="100000"/>
              </a:lnSpc>
              <a:spcBef>
                <a:spcPts val="225"/>
              </a:spcBef>
            </a:pPr>
            <a:r>
              <a:rPr sz="1900" dirty="0">
                <a:latin typeface="Times New Roman"/>
                <a:cs typeface="Times New Roman"/>
              </a:rPr>
              <a:t>=2</a:t>
            </a:r>
            <a:r>
              <a:rPr sz="1900" spc="-25" dirty="0">
                <a:latin typeface="Times New Roman"/>
                <a:cs typeface="Times New Roman"/>
              </a:rPr>
              <a:t> ms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Aloha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540" y="1013199"/>
            <a:ext cx="8592820" cy="366902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42265" indent="-27876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342265" algn="l"/>
              </a:tabLst>
            </a:pPr>
            <a:r>
              <a:rPr sz="1900" spc="-25" dirty="0">
                <a:latin typeface="Times New Roman"/>
                <a:cs typeface="Times New Roman"/>
              </a:rPr>
              <a:t>Eg:</a:t>
            </a:r>
            <a:endParaRPr sz="1900">
              <a:latin typeface="Times New Roman"/>
              <a:cs typeface="Times New Roman"/>
            </a:endParaRPr>
          </a:p>
          <a:p>
            <a:pPr marL="666750" marR="17780" indent="-232410">
              <a:lnSpc>
                <a:spcPts val="1730"/>
              </a:lnSpc>
              <a:spcBef>
                <a:spcPts val="420"/>
              </a:spcBef>
            </a:pPr>
            <a:r>
              <a:rPr sz="1600" dirty="0">
                <a:latin typeface="Arial MT"/>
                <a:cs typeface="Arial MT"/>
              </a:rPr>
              <a:t>–</a:t>
            </a:r>
            <a:r>
              <a:rPr sz="1600" spc="450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pure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ALOHA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transmits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200-</a:t>
            </a:r>
            <a:r>
              <a:rPr sz="1600" dirty="0">
                <a:latin typeface="Times New Roman"/>
                <a:cs typeface="Times New Roman"/>
              </a:rPr>
              <a:t>bit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shared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channel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200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kbps.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What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throughput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system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(all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stations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together)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produces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1000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frames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second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1900">
              <a:latin typeface="Times New Roman"/>
              <a:cs typeface="Times New Roman"/>
            </a:endParaRPr>
          </a:p>
          <a:p>
            <a:pPr marL="3779520">
              <a:lnSpc>
                <a:spcPct val="100000"/>
              </a:lnSpc>
              <a:spcBef>
                <a:spcPts val="215"/>
              </a:spcBef>
            </a:pP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650" baseline="-20202" dirty="0">
                <a:latin typeface="Times New Roman"/>
                <a:cs typeface="Times New Roman"/>
              </a:rPr>
              <a:t>fr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200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bit/200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kbps</a:t>
            </a:r>
            <a:endParaRPr sz="1700">
              <a:latin typeface="Times New Roman"/>
              <a:cs typeface="Times New Roman"/>
            </a:endParaRPr>
          </a:p>
          <a:p>
            <a:pPr marL="3996054">
              <a:lnSpc>
                <a:spcPct val="100000"/>
              </a:lnSpc>
              <a:spcBef>
                <a:spcPts val="200"/>
              </a:spcBef>
            </a:pP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 </a:t>
            </a:r>
            <a:r>
              <a:rPr sz="1700" spc="-25" dirty="0">
                <a:latin typeface="Times New Roman"/>
                <a:cs typeface="Times New Roman"/>
              </a:rPr>
              <a:t>ms</a:t>
            </a:r>
            <a:endParaRPr sz="17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342265" algn="l"/>
              </a:tabLst>
            </a:pP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system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creates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1000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frames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second,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i.e.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millisecond,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load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  <a:p>
            <a:pPr marL="3035935">
              <a:lnSpc>
                <a:spcPct val="100000"/>
              </a:lnSpc>
              <a:spcBef>
                <a:spcPts val="204"/>
              </a:spcBef>
            </a:pPr>
            <a:r>
              <a:rPr sz="1700" dirty="0">
                <a:latin typeface="Times New Roman"/>
                <a:cs typeface="Times New Roman"/>
              </a:rPr>
              <a:t>Throughput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(S)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 G *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650" baseline="25252" dirty="0">
                <a:latin typeface="Times New Roman"/>
                <a:cs typeface="Times New Roman"/>
              </a:rPr>
              <a:t>-</a:t>
            </a:r>
            <a:r>
              <a:rPr sz="1650" spc="-37" baseline="25252" dirty="0">
                <a:latin typeface="Times New Roman"/>
                <a:cs typeface="Times New Roman"/>
              </a:rPr>
              <a:t>2G</a:t>
            </a:r>
            <a:endParaRPr sz="1650" baseline="25252">
              <a:latin typeface="Times New Roman"/>
              <a:cs typeface="Times New Roman"/>
            </a:endParaRPr>
          </a:p>
          <a:p>
            <a:pPr marL="4265295">
              <a:lnSpc>
                <a:spcPct val="100000"/>
              </a:lnSpc>
              <a:spcBef>
                <a:spcPts val="204"/>
              </a:spcBef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 0.135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(13.5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%)</a:t>
            </a:r>
            <a:endParaRPr sz="1700">
              <a:latin typeface="Times New Roman"/>
              <a:cs typeface="Times New Roman"/>
            </a:endParaRPr>
          </a:p>
          <a:p>
            <a:pPr marL="2671445">
              <a:lnSpc>
                <a:spcPct val="100000"/>
              </a:lnSpc>
              <a:spcBef>
                <a:spcPts val="204"/>
              </a:spcBef>
            </a:pPr>
            <a:r>
              <a:rPr sz="1700" dirty="0">
                <a:latin typeface="Times New Roman"/>
                <a:cs typeface="Times New Roman"/>
              </a:rPr>
              <a:t>Overall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throughput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1000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*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0.135</a:t>
            </a:r>
            <a:endParaRPr sz="1700">
              <a:latin typeface="Times New Roman"/>
              <a:cs typeface="Times New Roman"/>
            </a:endParaRPr>
          </a:p>
          <a:p>
            <a:pPr marL="4429125">
              <a:lnSpc>
                <a:spcPct val="100000"/>
              </a:lnSpc>
              <a:spcBef>
                <a:spcPts val="204"/>
              </a:spcBef>
            </a:pP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135</a:t>
            </a:r>
            <a:r>
              <a:rPr sz="1700" spc="-10" dirty="0">
                <a:latin typeface="Times New Roman"/>
                <a:cs typeface="Times New Roman"/>
              </a:rPr>
              <a:t> frames</a:t>
            </a:r>
            <a:endParaRPr sz="17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342265" algn="l"/>
              </a:tabLst>
            </a:pPr>
            <a:r>
              <a:rPr sz="1700" dirty="0">
                <a:latin typeface="Times New Roman"/>
                <a:cs typeface="Times New Roman"/>
              </a:rPr>
              <a:t>Only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135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out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1000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will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probably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survive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Aloha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540" y="1011174"/>
            <a:ext cx="8594090" cy="3622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725" indent="-27622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39725" algn="l"/>
              </a:tabLst>
            </a:pPr>
            <a:r>
              <a:rPr sz="2000" spc="-25" dirty="0">
                <a:latin typeface="Times New Roman"/>
                <a:cs typeface="Times New Roman"/>
              </a:rPr>
              <a:t>Eg:</a:t>
            </a:r>
            <a:endParaRPr sz="2000">
              <a:latin typeface="Times New Roman"/>
              <a:cs typeface="Times New Roman"/>
            </a:endParaRPr>
          </a:p>
          <a:p>
            <a:pPr marL="666750" marR="17780" indent="-232410" algn="just">
              <a:lnSpc>
                <a:spcPts val="1730"/>
              </a:lnSpc>
              <a:spcBef>
                <a:spcPts val="420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90" dirty="0">
                <a:latin typeface="Arial MT"/>
                <a:cs typeface="Arial M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pure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ALOHA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transmits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200-</a:t>
            </a:r>
            <a:r>
              <a:rPr sz="1800" dirty="0">
                <a:latin typeface="Times New Roman"/>
                <a:cs typeface="Times New Roman"/>
              </a:rPr>
              <a:t>bit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frames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shared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channel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200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kbps. </a:t>
            </a:r>
            <a:r>
              <a:rPr sz="1800" dirty="0">
                <a:latin typeface="Times New Roman"/>
                <a:cs typeface="Times New Roman"/>
              </a:rPr>
              <a:t>What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throughput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(all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stations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together)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produces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500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frames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per </a:t>
            </a:r>
            <a:r>
              <a:rPr sz="1800" spc="-10" dirty="0">
                <a:latin typeface="Times New Roman"/>
                <a:cs typeface="Times New Roman"/>
              </a:rPr>
              <a:t>second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689"/>
              </a:spcBef>
            </a:pP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1900">
              <a:latin typeface="Times New Roman"/>
              <a:cs typeface="Times New Roman"/>
            </a:endParaRPr>
          </a:p>
          <a:p>
            <a:pPr marL="377952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650" baseline="-20202" dirty="0">
                <a:latin typeface="Times New Roman"/>
                <a:cs typeface="Times New Roman"/>
              </a:rPr>
              <a:t>fr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200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bit/200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kbps</a:t>
            </a:r>
            <a:endParaRPr sz="1700">
              <a:latin typeface="Times New Roman"/>
              <a:cs typeface="Times New Roman"/>
            </a:endParaRPr>
          </a:p>
          <a:p>
            <a:pPr marL="3996054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 </a:t>
            </a:r>
            <a:r>
              <a:rPr sz="1700" spc="-25" dirty="0">
                <a:latin typeface="Times New Roman"/>
                <a:cs typeface="Times New Roman"/>
              </a:rPr>
              <a:t>ms</a:t>
            </a:r>
            <a:endParaRPr sz="1700">
              <a:latin typeface="Times New Roman"/>
              <a:cs typeface="Times New Roman"/>
            </a:endParaRPr>
          </a:p>
          <a:p>
            <a:pPr marL="342265" marR="419100" indent="-278765">
              <a:lnSpc>
                <a:spcPct val="100000"/>
              </a:lnSpc>
              <a:buFont typeface="Arial MT"/>
              <a:buChar char="•"/>
              <a:tabLst>
                <a:tab pos="3035935" algn="l"/>
              </a:tabLst>
            </a:pP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system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creates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500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second,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i.e.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1/2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millisecond,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load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1/2 	</a:t>
            </a:r>
            <a:r>
              <a:rPr sz="1700" dirty="0">
                <a:latin typeface="Times New Roman"/>
                <a:cs typeface="Times New Roman"/>
              </a:rPr>
              <a:t>Throughput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(S)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 G *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650" baseline="25252" dirty="0">
                <a:latin typeface="Times New Roman"/>
                <a:cs typeface="Times New Roman"/>
              </a:rPr>
              <a:t>-</a:t>
            </a:r>
            <a:r>
              <a:rPr sz="1650" spc="-37" baseline="25252" dirty="0">
                <a:latin typeface="Times New Roman"/>
                <a:cs typeface="Times New Roman"/>
              </a:rPr>
              <a:t>2G</a:t>
            </a:r>
            <a:endParaRPr sz="1650" baseline="25252">
              <a:latin typeface="Times New Roman"/>
              <a:cs typeface="Times New Roman"/>
            </a:endParaRPr>
          </a:p>
          <a:p>
            <a:pPr marL="4265295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 0.184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(18.4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%)</a:t>
            </a:r>
            <a:endParaRPr sz="1700">
              <a:latin typeface="Times New Roman"/>
              <a:cs typeface="Times New Roman"/>
            </a:endParaRPr>
          </a:p>
          <a:p>
            <a:pPr marL="2671445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Overall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throughput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500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*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0.184</a:t>
            </a:r>
            <a:endParaRPr sz="1700">
              <a:latin typeface="Times New Roman"/>
              <a:cs typeface="Times New Roman"/>
            </a:endParaRPr>
          </a:p>
          <a:p>
            <a:pPr marL="437388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92</a:t>
            </a:r>
            <a:r>
              <a:rPr sz="1700" spc="-10" dirty="0">
                <a:latin typeface="Times New Roman"/>
                <a:cs typeface="Times New Roman"/>
              </a:rPr>
              <a:t> frames</a:t>
            </a:r>
            <a:endParaRPr sz="17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buFont typeface="Arial MT"/>
              <a:buChar char="•"/>
              <a:tabLst>
                <a:tab pos="342265" algn="l"/>
              </a:tabLst>
            </a:pPr>
            <a:r>
              <a:rPr sz="1700" dirty="0">
                <a:latin typeface="Times New Roman"/>
                <a:cs typeface="Times New Roman"/>
              </a:rPr>
              <a:t>Only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92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out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500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will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probably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survive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Aloha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540" y="1011174"/>
            <a:ext cx="8594090" cy="3622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725" indent="-27622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39725" algn="l"/>
              </a:tabLst>
            </a:pPr>
            <a:r>
              <a:rPr sz="2000" spc="-25" dirty="0">
                <a:latin typeface="Times New Roman"/>
                <a:cs typeface="Times New Roman"/>
              </a:rPr>
              <a:t>Eg:</a:t>
            </a:r>
            <a:endParaRPr sz="2000">
              <a:latin typeface="Times New Roman"/>
              <a:cs typeface="Times New Roman"/>
            </a:endParaRPr>
          </a:p>
          <a:p>
            <a:pPr marL="666750" marR="17780" indent="-232410" algn="just">
              <a:lnSpc>
                <a:spcPts val="1730"/>
              </a:lnSpc>
              <a:spcBef>
                <a:spcPts val="420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90" dirty="0">
                <a:latin typeface="Arial MT"/>
                <a:cs typeface="Arial M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slotted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ALOHA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transmits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200-</a:t>
            </a:r>
            <a:r>
              <a:rPr sz="1800" dirty="0">
                <a:latin typeface="Times New Roman"/>
                <a:cs typeface="Times New Roman"/>
              </a:rPr>
              <a:t>bit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frames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shared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channel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a </a:t>
            </a:r>
            <a:r>
              <a:rPr sz="1800" spc="-10" dirty="0">
                <a:latin typeface="Times New Roman"/>
                <a:cs typeface="Times New Roman"/>
              </a:rPr>
              <a:t>200-</a:t>
            </a:r>
            <a:r>
              <a:rPr sz="1800" dirty="0">
                <a:latin typeface="Times New Roman"/>
                <a:cs typeface="Times New Roman"/>
              </a:rPr>
              <a:t>kbps</a:t>
            </a:r>
            <a:r>
              <a:rPr sz="1800" spc="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bandwidth.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Find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throughput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(all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stations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together) </a:t>
            </a:r>
            <a:r>
              <a:rPr sz="1800" dirty="0">
                <a:latin typeface="Times New Roman"/>
                <a:cs typeface="Times New Roman"/>
              </a:rPr>
              <a:t>produces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1000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frames per</a:t>
            </a:r>
            <a:r>
              <a:rPr sz="1800" spc="-10" dirty="0">
                <a:latin typeface="Times New Roman"/>
                <a:cs typeface="Times New Roman"/>
              </a:rPr>
              <a:t> second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689"/>
              </a:spcBef>
            </a:pP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1900">
              <a:latin typeface="Times New Roman"/>
              <a:cs typeface="Times New Roman"/>
            </a:endParaRPr>
          </a:p>
          <a:p>
            <a:pPr marL="377952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650" baseline="-20202" dirty="0">
                <a:latin typeface="Times New Roman"/>
                <a:cs typeface="Times New Roman"/>
              </a:rPr>
              <a:t>fr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200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bit/200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kbps</a:t>
            </a:r>
            <a:endParaRPr sz="1700">
              <a:latin typeface="Times New Roman"/>
              <a:cs typeface="Times New Roman"/>
            </a:endParaRPr>
          </a:p>
          <a:p>
            <a:pPr marL="3996054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 </a:t>
            </a:r>
            <a:r>
              <a:rPr sz="1700" spc="-25" dirty="0">
                <a:latin typeface="Times New Roman"/>
                <a:cs typeface="Times New Roman"/>
              </a:rPr>
              <a:t>ms</a:t>
            </a:r>
            <a:endParaRPr sz="17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buFont typeface="Arial MT"/>
              <a:buChar char="•"/>
              <a:tabLst>
                <a:tab pos="342265" algn="l"/>
              </a:tabLst>
            </a:pP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system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creates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1000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second,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i.e.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millisecond,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load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  <a:p>
            <a:pPr marL="3035935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Throughput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(S)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 G *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650" baseline="25252" dirty="0">
                <a:latin typeface="Times New Roman"/>
                <a:cs typeface="Times New Roman"/>
              </a:rPr>
              <a:t>-</a:t>
            </a:r>
            <a:r>
              <a:rPr sz="1650" spc="-75" baseline="25252" dirty="0">
                <a:latin typeface="Times New Roman"/>
                <a:cs typeface="Times New Roman"/>
              </a:rPr>
              <a:t>G</a:t>
            </a:r>
            <a:endParaRPr sz="1650" baseline="25252">
              <a:latin typeface="Times New Roman"/>
              <a:cs typeface="Times New Roman"/>
            </a:endParaRPr>
          </a:p>
          <a:p>
            <a:pPr marL="4265295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 0.368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(36.8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%)</a:t>
            </a:r>
            <a:endParaRPr sz="1700">
              <a:latin typeface="Times New Roman"/>
              <a:cs typeface="Times New Roman"/>
            </a:endParaRPr>
          </a:p>
          <a:p>
            <a:pPr marL="2671445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Overall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throughput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1000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*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0.368</a:t>
            </a:r>
            <a:endParaRPr sz="1700">
              <a:latin typeface="Times New Roman"/>
              <a:cs typeface="Times New Roman"/>
            </a:endParaRPr>
          </a:p>
          <a:p>
            <a:pPr marL="437388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368</a:t>
            </a:r>
            <a:r>
              <a:rPr sz="1700" spc="-10" dirty="0">
                <a:latin typeface="Times New Roman"/>
                <a:cs typeface="Times New Roman"/>
              </a:rPr>
              <a:t> frames</a:t>
            </a:r>
            <a:endParaRPr sz="17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buFont typeface="Arial MT"/>
              <a:buChar char="•"/>
              <a:tabLst>
                <a:tab pos="342265" algn="l"/>
              </a:tabLst>
            </a:pPr>
            <a:r>
              <a:rPr sz="1700" dirty="0">
                <a:latin typeface="Times New Roman"/>
                <a:cs typeface="Times New Roman"/>
              </a:rPr>
              <a:t>Only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368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out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1000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will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probably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survive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Aloha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540" y="1011174"/>
            <a:ext cx="8594090" cy="3622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725" indent="-27622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39725" algn="l"/>
              </a:tabLst>
            </a:pPr>
            <a:r>
              <a:rPr sz="2000" spc="-25" dirty="0">
                <a:latin typeface="Times New Roman"/>
                <a:cs typeface="Times New Roman"/>
              </a:rPr>
              <a:t>Eg:</a:t>
            </a:r>
            <a:endParaRPr sz="2000">
              <a:latin typeface="Times New Roman"/>
              <a:cs typeface="Times New Roman"/>
            </a:endParaRPr>
          </a:p>
          <a:p>
            <a:pPr marL="666750" marR="17780" indent="-232410" algn="just">
              <a:lnSpc>
                <a:spcPts val="1730"/>
              </a:lnSpc>
              <a:spcBef>
                <a:spcPts val="420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90" dirty="0">
                <a:latin typeface="Arial MT"/>
                <a:cs typeface="Arial M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slotted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ALOHA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transmits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200-</a:t>
            </a:r>
            <a:r>
              <a:rPr sz="1800" dirty="0">
                <a:latin typeface="Times New Roman"/>
                <a:cs typeface="Times New Roman"/>
              </a:rPr>
              <a:t>bit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frames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shared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channel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a </a:t>
            </a:r>
            <a:r>
              <a:rPr sz="1800" spc="-10" dirty="0">
                <a:latin typeface="Times New Roman"/>
                <a:cs typeface="Times New Roman"/>
              </a:rPr>
              <a:t>200-</a:t>
            </a:r>
            <a:r>
              <a:rPr sz="1800" dirty="0">
                <a:latin typeface="Times New Roman"/>
                <a:cs typeface="Times New Roman"/>
              </a:rPr>
              <a:t>kbps</a:t>
            </a:r>
            <a:r>
              <a:rPr sz="1800" spc="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bandwidth.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Find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throughput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(all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stations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together) </a:t>
            </a:r>
            <a:r>
              <a:rPr sz="1800" dirty="0">
                <a:latin typeface="Times New Roman"/>
                <a:cs typeface="Times New Roman"/>
              </a:rPr>
              <a:t>produces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500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frames per</a:t>
            </a:r>
            <a:r>
              <a:rPr sz="1800" spc="-10" dirty="0">
                <a:latin typeface="Times New Roman"/>
                <a:cs typeface="Times New Roman"/>
              </a:rPr>
              <a:t> second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689"/>
              </a:spcBef>
            </a:pP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1900">
              <a:latin typeface="Times New Roman"/>
              <a:cs typeface="Times New Roman"/>
            </a:endParaRPr>
          </a:p>
          <a:p>
            <a:pPr marL="377952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650" baseline="-20202" dirty="0">
                <a:latin typeface="Times New Roman"/>
                <a:cs typeface="Times New Roman"/>
              </a:rPr>
              <a:t>fr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200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bit/200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kbps</a:t>
            </a:r>
            <a:endParaRPr sz="1700">
              <a:latin typeface="Times New Roman"/>
              <a:cs typeface="Times New Roman"/>
            </a:endParaRPr>
          </a:p>
          <a:p>
            <a:pPr marL="3996054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 </a:t>
            </a:r>
            <a:r>
              <a:rPr sz="1700" spc="-25" dirty="0">
                <a:latin typeface="Times New Roman"/>
                <a:cs typeface="Times New Roman"/>
              </a:rPr>
              <a:t>ms</a:t>
            </a:r>
            <a:endParaRPr sz="1700">
              <a:latin typeface="Times New Roman"/>
              <a:cs typeface="Times New Roman"/>
            </a:endParaRPr>
          </a:p>
          <a:p>
            <a:pPr marL="342265" marR="419100" indent="-278765">
              <a:lnSpc>
                <a:spcPct val="100000"/>
              </a:lnSpc>
              <a:buFont typeface="Arial MT"/>
              <a:buChar char="•"/>
              <a:tabLst>
                <a:tab pos="3035935" algn="l"/>
              </a:tabLst>
            </a:pP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system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creates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500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second,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i.e.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1/2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millisecond,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load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1/2 	</a:t>
            </a:r>
            <a:r>
              <a:rPr sz="1700" dirty="0">
                <a:latin typeface="Times New Roman"/>
                <a:cs typeface="Times New Roman"/>
              </a:rPr>
              <a:t>Throughput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(S)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 G *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650" baseline="25252" dirty="0">
                <a:latin typeface="Times New Roman"/>
                <a:cs typeface="Times New Roman"/>
              </a:rPr>
              <a:t>-</a:t>
            </a:r>
            <a:r>
              <a:rPr sz="1650" spc="-75" baseline="25252" dirty="0">
                <a:latin typeface="Times New Roman"/>
                <a:cs typeface="Times New Roman"/>
              </a:rPr>
              <a:t>G</a:t>
            </a:r>
            <a:endParaRPr sz="1650" baseline="25252">
              <a:latin typeface="Times New Roman"/>
              <a:cs typeface="Times New Roman"/>
            </a:endParaRPr>
          </a:p>
          <a:p>
            <a:pPr marL="4157345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 0.303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(30.3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%)</a:t>
            </a:r>
            <a:endParaRPr sz="1700">
              <a:latin typeface="Times New Roman"/>
              <a:cs typeface="Times New Roman"/>
            </a:endParaRPr>
          </a:p>
          <a:p>
            <a:pPr marL="283464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Overall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throughput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500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*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0.303</a:t>
            </a:r>
            <a:endParaRPr sz="1700">
              <a:latin typeface="Times New Roman"/>
              <a:cs typeface="Times New Roman"/>
            </a:endParaRPr>
          </a:p>
          <a:p>
            <a:pPr marL="4373880">
              <a:lnSpc>
                <a:spcPct val="100000"/>
              </a:lnSpc>
            </a:pPr>
            <a:r>
              <a:rPr sz="1700" dirty="0">
                <a:latin typeface="Times New Roman"/>
                <a:cs typeface="Times New Roman"/>
              </a:rPr>
              <a:t>=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151</a:t>
            </a:r>
            <a:r>
              <a:rPr sz="1700" spc="-10" dirty="0">
                <a:latin typeface="Times New Roman"/>
                <a:cs typeface="Times New Roman"/>
              </a:rPr>
              <a:t> frames</a:t>
            </a:r>
            <a:endParaRPr sz="1700">
              <a:latin typeface="Times New Roman"/>
              <a:cs typeface="Times New Roman"/>
            </a:endParaRPr>
          </a:p>
          <a:p>
            <a:pPr marL="342265" indent="-278765">
              <a:lnSpc>
                <a:spcPct val="100000"/>
              </a:lnSpc>
              <a:buFont typeface="Arial MT"/>
              <a:buChar char="•"/>
              <a:tabLst>
                <a:tab pos="342265" algn="l"/>
              </a:tabLst>
            </a:pPr>
            <a:r>
              <a:rPr sz="1700" dirty="0">
                <a:latin typeface="Times New Roman"/>
                <a:cs typeface="Times New Roman"/>
              </a:rPr>
              <a:t>Only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151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out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500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will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probably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survive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Aloha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5349" rIns="0" bIns="0" rtlCol="0">
            <a:spAutoFit/>
          </a:bodyPr>
          <a:lstStyle/>
          <a:p>
            <a:pPr marL="342265" marR="8255" indent="-2794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/>
              <a:t>This</a:t>
            </a:r>
            <a:r>
              <a:rPr sz="2000" spc="175" dirty="0"/>
              <a:t> </a:t>
            </a:r>
            <a:r>
              <a:rPr sz="2000" dirty="0"/>
              <a:t>method</a:t>
            </a:r>
            <a:r>
              <a:rPr sz="2000" spc="170" dirty="0"/>
              <a:t> </a:t>
            </a:r>
            <a:r>
              <a:rPr sz="2000" dirty="0"/>
              <a:t>was</a:t>
            </a:r>
            <a:r>
              <a:rPr sz="2000" spc="175" dirty="0"/>
              <a:t> </a:t>
            </a:r>
            <a:r>
              <a:rPr sz="2000" dirty="0"/>
              <a:t>developed</a:t>
            </a:r>
            <a:r>
              <a:rPr sz="2000" spc="185" dirty="0"/>
              <a:t> </a:t>
            </a:r>
            <a:r>
              <a:rPr sz="2000" dirty="0"/>
              <a:t>to</a:t>
            </a:r>
            <a:r>
              <a:rPr sz="2000" spc="170" dirty="0"/>
              <a:t> </a:t>
            </a:r>
            <a:r>
              <a:rPr sz="2000" dirty="0"/>
              <a:t>decrease</a:t>
            </a:r>
            <a:r>
              <a:rPr sz="2000" spc="175" dirty="0"/>
              <a:t> </a:t>
            </a:r>
            <a:r>
              <a:rPr sz="2000" dirty="0"/>
              <a:t>the</a:t>
            </a:r>
            <a:r>
              <a:rPr sz="2000" spc="180" dirty="0"/>
              <a:t> </a:t>
            </a:r>
            <a:r>
              <a:rPr sz="2000" dirty="0"/>
              <a:t>chances</a:t>
            </a:r>
            <a:r>
              <a:rPr sz="2000" spc="175" dirty="0"/>
              <a:t> </a:t>
            </a:r>
            <a:r>
              <a:rPr sz="2000" dirty="0"/>
              <a:t>of</a:t>
            </a:r>
            <a:r>
              <a:rPr sz="2000" spc="195" dirty="0"/>
              <a:t> </a:t>
            </a:r>
            <a:r>
              <a:rPr sz="2000" dirty="0"/>
              <a:t>collisions</a:t>
            </a:r>
            <a:r>
              <a:rPr sz="2000" spc="185" dirty="0"/>
              <a:t> </a:t>
            </a:r>
            <a:r>
              <a:rPr sz="2000" dirty="0"/>
              <a:t>when</a:t>
            </a:r>
            <a:r>
              <a:rPr sz="2000" spc="180" dirty="0"/>
              <a:t> </a:t>
            </a:r>
            <a:r>
              <a:rPr sz="2000" dirty="0"/>
              <a:t>two</a:t>
            </a:r>
            <a:r>
              <a:rPr sz="2000" spc="180" dirty="0"/>
              <a:t> </a:t>
            </a:r>
            <a:r>
              <a:rPr sz="2000" spc="-25" dirty="0"/>
              <a:t>or </a:t>
            </a:r>
            <a:r>
              <a:rPr sz="2000" dirty="0"/>
              <a:t>more</a:t>
            </a:r>
            <a:r>
              <a:rPr sz="2000" spc="-10" dirty="0"/>
              <a:t> </a:t>
            </a:r>
            <a:r>
              <a:rPr sz="2000" dirty="0"/>
              <a:t>stations</a:t>
            </a:r>
            <a:r>
              <a:rPr sz="2000" spc="-35" dirty="0"/>
              <a:t> </a:t>
            </a:r>
            <a:r>
              <a:rPr sz="2000" dirty="0"/>
              <a:t>start</a:t>
            </a:r>
            <a:r>
              <a:rPr sz="2000" spc="-30" dirty="0"/>
              <a:t> </a:t>
            </a:r>
            <a:r>
              <a:rPr sz="2000" dirty="0"/>
              <a:t>sending</a:t>
            </a:r>
            <a:r>
              <a:rPr sz="2000" spc="-25" dirty="0"/>
              <a:t> </a:t>
            </a:r>
            <a:r>
              <a:rPr sz="2000" dirty="0"/>
              <a:t>their</a:t>
            </a:r>
            <a:r>
              <a:rPr sz="2000" spc="-30" dirty="0"/>
              <a:t> </a:t>
            </a:r>
            <a:r>
              <a:rPr sz="2000" spc="-20" dirty="0"/>
              <a:t>data</a:t>
            </a:r>
            <a:endParaRPr sz="2000"/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/>
              <a:t>CSMA</a:t>
            </a:r>
            <a:r>
              <a:rPr sz="2000" spc="305" dirty="0"/>
              <a:t> </a:t>
            </a:r>
            <a:r>
              <a:rPr sz="2000" dirty="0"/>
              <a:t>requires</a:t>
            </a:r>
            <a:r>
              <a:rPr sz="2000" spc="400" dirty="0"/>
              <a:t> </a:t>
            </a:r>
            <a:r>
              <a:rPr sz="2000" dirty="0"/>
              <a:t>that</a:t>
            </a:r>
            <a:r>
              <a:rPr sz="2000" spc="400" dirty="0"/>
              <a:t> </a:t>
            </a:r>
            <a:r>
              <a:rPr sz="2000" dirty="0"/>
              <a:t>each</a:t>
            </a:r>
            <a:r>
              <a:rPr sz="2000" spc="409" dirty="0"/>
              <a:t> </a:t>
            </a:r>
            <a:r>
              <a:rPr sz="2000" dirty="0"/>
              <a:t>station</a:t>
            </a:r>
            <a:r>
              <a:rPr sz="2000" spc="405" dirty="0"/>
              <a:t> </a:t>
            </a:r>
            <a:r>
              <a:rPr sz="2000" dirty="0"/>
              <a:t>first</a:t>
            </a:r>
            <a:r>
              <a:rPr sz="2000" spc="405" dirty="0"/>
              <a:t> </a:t>
            </a:r>
            <a:r>
              <a:rPr sz="2000" dirty="0"/>
              <a:t>check</a:t>
            </a:r>
            <a:r>
              <a:rPr sz="2000" spc="409" dirty="0"/>
              <a:t> </a:t>
            </a:r>
            <a:r>
              <a:rPr sz="2000" dirty="0"/>
              <a:t>the</a:t>
            </a:r>
            <a:r>
              <a:rPr sz="2000" spc="385" dirty="0"/>
              <a:t> </a:t>
            </a:r>
            <a:r>
              <a:rPr sz="2000" dirty="0"/>
              <a:t>state</a:t>
            </a:r>
            <a:r>
              <a:rPr sz="2000" spc="405" dirty="0"/>
              <a:t> </a:t>
            </a:r>
            <a:r>
              <a:rPr sz="2000" dirty="0"/>
              <a:t>of</a:t>
            </a:r>
            <a:r>
              <a:rPr sz="2000" spc="409" dirty="0"/>
              <a:t> </a:t>
            </a:r>
            <a:r>
              <a:rPr sz="2000" dirty="0"/>
              <a:t>the</a:t>
            </a:r>
            <a:r>
              <a:rPr sz="2000" spc="400" dirty="0"/>
              <a:t> </a:t>
            </a:r>
            <a:r>
              <a:rPr sz="2000" dirty="0"/>
              <a:t>medium</a:t>
            </a:r>
            <a:r>
              <a:rPr sz="2000" spc="409" dirty="0"/>
              <a:t> </a:t>
            </a:r>
            <a:r>
              <a:rPr sz="2000" spc="-10" dirty="0"/>
              <a:t>before</a:t>
            </a:r>
            <a:endParaRPr sz="2000"/>
          </a:p>
          <a:p>
            <a:pPr marL="342265">
              <a:lnSpc>
                <a:spcPct val="100000"/>
              </a:lnSpc>
            </a:pPr>
            <a:r>
              <a:rPr sz="2000" spc="-10" dirty="0"/>
              <a:t>sending</a:t>
            </a:r>
            <a:endParaRPr sz="2000"/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spc="-10" dirty="0"/>
              <a:t>CSMA</a:t>
            </a:r>
            <a:r>
              <a:rPr sz="2000" spc="-114" dirty="0"/>
              <a:t> </a:t>
            </a:r>
            <a:r>
              <a:rPr sz="2000" dirty="0"/>
              <a:t>is</a:t>
            </a:r>
            <a:r>
              <a:rPr sz="2000" spc="-5" dirty="0"/>
              <a:t> </a:t>
            </a:r>
            <a:r>
              <a:rPr sz="2000" dirty="0"/>
              <a:t>based</a:t>
            </a:r>
            <a:r>
              <a:rPr sz="2000" spc="-15" dirty="0"/>
              <a:t> </a:t>
            </a:r>
            <a:r>
              <a:rPr sz="2000" dirty="0"/>
              <a:t>on the</a:t>
            </a:r>
            <a:r>
              <a:rPr sz="2000" spc="-15" dirty="0"/>
              <a:t> </a:t>
            </a:r>
            <a:r>
              <a:rPr sz="2000" dirty="0"/>
              <a:t>principle</a:t>
            </a:r>
            <a:r>
              <a:rPr sz="2000" spc="-35" dirty="0"/>
              <a:t> </a:t>
            </a:r>
            <a:r>
              <a:rPr sz="2000" dirty="0"/>
              <a:t>“sense</a:t>
            </a:r>
            <a:r>
              <a:rPr sz="2000" spc="-15" dirty="0"/>
              <a:t> </a:t>
            </a:r>
            <a:r>
              <a:rPr sz="2000" dirty="0"/>
              <a:t>before</a:t>
            </a:r>
            <a:r>
              <a:rPr sz="2000" spc="-35" dirty="0"/>
              <a:t> </a:t>
            </a:r>
            <a:r>
              <a:rPr sz="2000" spc="-10" dirty="0"/>
              <a:t>transmit”</a:t>
            </a:r>
            <a:endParaRPr sz="2000"/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spc="-10" dirty="0"/>
              <a:t>CSMA</a:t>
            </a:r>
            <a:r>
              <a:rPr sz="2000" spc="-114" dirty="0"/>
              <a:t> </a:t>
            </a:r>
            <a:r>
              <a:rPr sz="2000" dirty="0"/>
              <a:t>can</a:t>
            </a:r>
            <a:r>
              <a:rPr sz="2000" spc="-20" dirty="0"/>
              <a:t> </a:t>
            </a:r>
            <a:r>
              <a:rPr sz="2000" dirty="0"/>
              <a:t>reduce</a:t>
            </a:r>
            <a:r>
              <a:rPr sz="2000" spc="-30" dirty="0"/>
              <a:t> </a:t>
            </a:r>
            <a:r>
              <a:rPr sz="2000" dirty="0"/>
              <a:t>the</a:t>
            </a:r>
            <a:r>
              <a:rPr sz="2000" spc="-20" dirty="0"/>
              <a:t> </a:t>
            </a:r>
            <a:r>
              <a:rPr sz="2000" dirty="0"/>
              <a:t>possibility</a:t>
            </a:r>
            <a:r>
              <a:rPr sz="2000" spc="-50" dirty="0"/>
              <a:t> </a:t>
            </a:r>
            <a:r>
              <a:rPr sz="2000" dirty="0"/>
              <a:t>of</a:t>
            </a:r>
            <a:r>
              <a:rPr sz="2000" spc="-25" dirty="0"/>
              <a:t> </a:t>
            </a:r>
            <a:r>
              <a:rPr sz="2000" dirty="0"/>
              <a:t>collision,</a:t>
            </a:r>
            <a:r>
              <a:rPr sz="2000" spc="-45" dirty="0"/>
              <a:t> </a:t>
            </a:r>
            <a:r>
              <a:rPr sz="2000" dirty="0"/>
              <a:t>but</a:t>
            </a:r>
            <a:r>
              <a:rPr sz="2000" spc="-35" dirty="0"/>
              <a:t> </a:t>
            </a:r>
            <a:r>
              <a:rPr sz="2000" dirty="0"/>
              <a:t>it</a:t>
            </a:r>
            <a:r>
              <a:rPr sz="2000" spc="-10" dirty="0"/>
              <a:t> </a:t>
            </a:r>
            <a:r>
              <a:rPr sz="2000" dirty="0"/>
              <a:t>cannot</a:t>
            </a:r>
            <a:r>
              <a:rPr sz="2000" spc="-45" dirty="0"/>
              <a:t> </a:t>
            </a:r>
            <a:r>
              <a:rPr sz="2000" dirty="0"/>
              <a:t>eliminate</a:t>
            </a:r>
            <a:r>
              <a:rPr sz="2000" spc="-5" dirty="0"/>
              <a:t> </a:t>
            </a:r>
            <a:r>
              <a:rPr sz="2000" spc="-25" dirty="0"/>
              <a:t>it</a:t>
            </a:r>
            <a:endParaRPr sz="2000"/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spc="-10" dirty="0"/>
              <a:t>CSMA</a:t>
            </a:r>
            <a:r>
              <a:rPr sz="2000" spc="-105" dirty="0"/>
              <a:t> </a:t>
            </a:r>
            <a:r>
              <a:rPr sz="2000" dirty="0"/>
              <a:t>stands</a:t>
            </a:r>
            <a:r>
              <a:rPr sz="2000" spc="-10" dirty="0"/>
              <a:t> </a:t>
            </a:r>
            <a:r>
              <a:rPr sz="2000" dirty="0"/>
              <a:t>for</a:t>
            </a:r>
            <a:r>
              <a:rPr sz="2000" spc="-10" dirty="0"/>
              <a:t> </a:t>
            </a:r>
            <a:r>
              <a:rPr sz="2000" dirty="0"/>
              <a:t>Carrier Sense</a:t>
            </a:r>
            <a:r>
              <a:rPr sz="2000" spc="-5" dirty="0"/>
              <a:t> </a:t>
            </a:r>
            <a:r>
              <a:rPr sz="2000" spc="-10" dirty="0"/>
              <a:t>Multiple</a:t>
            </a:r>
            <a:r>
              <a:rPr sz="2000" spc="-135" dirty="0"/>
              <a:t> </a:t>
            </a:r>
            <a:r>
              <a:rPr sz="2000" spc="-10" dirty="0"/>
              <a:t>Access</a:t>
            </a:r>
            <a:endParaRPr sz="20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CSMA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82390" y="1430274"/>
            <a:ext cx="213360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995778"/>
            <a:ext cx="8580755" cy="150495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16865" indent="-27876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316865" algn="l"/>
              </a:tabLst>
            </a:pPr>
            <a:r>
              <a:rPr sz="2400" spc="-10" dirty="0">
                <a:latin typeface="Times New Roman"/>
                <a:cs typeface="Times New Roman"/>
              </a:rPr>
              <a:t>Vulnerable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  <a:p>
            <a:pPr marL="640080" lvl="1" indent="-230504">
              <a:lnSpc>
                <a:spcPct val="100000"/>
              </a:lnSpc>
              <a:spcBef>
                <a:spcPts val="495"/>
              </a:spcBef>
              <a:buFont typeface="Arial MT"/>
              <a:buChar char="–"/>
              <a:tabLst>
                <a:tab pos="64008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vulnerable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 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CSMA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25" dirty="0">
                <a:latin typeface="Times New Roman"/>
                <a:cs typeface="Times New Roman"/>
              </a:rPr>
              <a:t> T</a:t>
            </a:r>
            <a:r>
              <a:rPr sz="1950" spc="-37" baseline="-21367" dirty="0">
                <a:latin typeface="Times New Roman"/>
                <a:cs typeface="Times New Roman"/>
              </a:rPr>
              <a:t>p</a:t>
            </a:r>
            <a:endParaRPr sz="1950" baseline="-21367">
              <a:latin typeface="Times New Roman"/>
              <a:cs typeface="Times New Roman"/>
            </a:endParaRPr>
          </a:p>
          <a:p>
            <a:pPr marL="639445" marR="30480" lvl="1" indent="-230504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641350" algn="l"/>
              </a:tabLst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frame,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tries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frame 	</a:t>
            </a:r>
            <a:r>
              <a:rPr sz="2000" dirty="0">
                <a:latin typeface="Times New Roman"/>
                <a:cs typeface="Times New Roman"/>
              </a:rPr>
              <a:t>during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time, a collision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result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CSMA</a:t>
            </a:r>
            <a:endParaRPr sz="2400">
              <a:latin typeface="Wingdings"/>
              <a:cs typeface="Wingding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111" y="2572511"/>
            <a:ext cx="5489447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1052"/>
            <a:ext cx="2551430" cy="131254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  <a:p>
            <a:pPr marL="616585" lvl="1" indent="-23241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616585" algn="l"/>
              </a:tabLst>
            </a:pPr>
            <a:r>
              <a:rPr sz="1650" dirty="0">
                <a:latin typeface="Times New Roman"/>
                <a:cs typeface="Times New Roman"/>
              </a:rPr>
              <a:t>1-Persistent</a:t>
            </a:r>
            <a:r>
              <a:rPr sz="1650" spc="5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CSMA</a:t>
            </a:r>
            <a:endParaRPr sz="1650">
              <a:latin typeface="Times New Roman"/>
              <a:cs typeface="Times New Roman"/>
            </a:endParaRPr>
          </a:p>
          <a:p>
            <a:pPr marL="616585" lvl="1" indent="-2324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616585" algn="l"/>
              </a:tabLst>
            </a:pPr>
            <a:r>
              <a:rPr sz="1650" dirty="0">
                <a:latin typeface="Times New Roman"/>
                <a:cs typeface="Times New Roman"/>
              </a:rPr>
              <a:t>Non-Persistent</a:t>
            </a:r>
            <a:r>
              <a:rPr sz="1650" spc="12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CSMA</a:t>
            </a:r>
            <a:endParaRPr sz="1650">
              <a:latin typeface="Times New Roman"/>
              <a:cs typeface="Times New Roman"/>
            </a:endParaRPr>
          </a:p>
          <a:p>
            <a:pPr marL="616585" lvl="1" indent="-2324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616585" algn="l"/>
              </a:tabLst>
            </a:pPr>
            <a:r>
              <a:rPr sz="1650" dirty="0">
                <a:latin typeface="Times New Roman"/>
                <a:cs typeface="Times New Roman"/>
              </a:rPr>
              <a:t>P-Persistent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CSMA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CSMA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5349" rIns="0" bIns="0" rtlCol="0">
            <a:spAutoFit/>
          </a:bodyPr>
          <a:lstStyle/>
          <a:p>
            <a:pPr marL="342265" marR="5080" indent="-2794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/>
              <a:t>If</a:t>
            </a:r>
            <a:r>
              <a:rPr sz="2000" spc="195" dirty="0"/>
              <a:t> </a:t>
            </a:r>
            <a:r>
              <a:rPr sz="2000" dirty="0"/>
              <a:t>a</a:t>
            </a:r>
            <a:r>
              <a:rPr sz="2000" spc="185" dirty="0"/>
              <a:t> </a:t>
            </a:r>
            <a:r>
              <a:rPr sz="2000" dirty="0"/>
              <a:t>station</a:t>
            </a:r>
            <a:r>
              <a:rPr sz="2000" spc="204" dirty="0"/>
              <a:t> </a:t>
            </a:r>
            <a:r>
              <a:rPr sz="2000" dirty="0"/>
              <a:t>wants</a:t>
            </a:r>
            <a:r>
              <a:rPr sz="2000" spc="185" dirty="0"/>
              <a:t> </a:t>
            </a:r>
            <a:r>
              <a:rPr sz="2000" dirty="0"/>
              <a:t>to</a:t>
            </a:r>
            <a:r>
              <a:rPr sz="2000" spc="204" dirty="0"/>
              <a:t> </a:t>
            </a:r>
            <a:r>
              <a:rPr sz="2000" dirty="0"/>
              <a:t>transmit</a:t>
            </a:r>
            <a:r>
              <a:rPr sz="2000" spc="190" dirty="0"/>
              <a:t> </a:t>
            </a:r>
            <a:r>
              <a:rPr sz="2000" dirty="0"/>
              <a:t>data,</a:t>
            </a:r>
            <a:r>
              <a:rPr sz="2000" spc="200" dirty="0"/>
              <a:t> </a:t>
            </a:r>
            <a:r>
              <a:rPr sz="2000" dirty="0"/>
              <a:t>it</a:t>
            </a:r>
            <a:r>
              <a:rPr sz="2000" spc="180" dirty="0"/>
              <a:t> </a:t>
            </a:r>
            <a:r>
              <a:rPr sz="2000" dirty="0"/>
              <a:t>continuously</a:t>
            </a:r>
            <a:r>
              <a:rPr sz="2000" spc="180" dirty="0"/>
              <a:t> </a:t>
            </a:r>
            <a:r>
              <a:rPr sz="2000" dirty="0"/>
              <a:t>senses</a:t>
            </a:r>
            <a:r>
              <a:rPr sz="2000" spc="190" dirty="0"/>
              <a:t> </a:t>
            </a:r>
            <a:r>
              <a:rPr sz="2000" dirty="0"/>
              <a:t>the</a:t>
            </a:r>
            <a:r>
              <a:rPr sz="2000" spc="195" dirty="0"/>
              <a:t> </a:t>
            </a:r>
            <a:r>
              <a:rPr sz="2000" dirty="0"/>
              <a:t>channel</a:t>
            </a:r>
            <a:r>
              <a:rPr sz="2000" spc="195" dirty="0"/>
              <a:t> </a:t>
            </a:r>
            <a:r>
              <a:rPr sz="2000" dirty="0"/>
              <a:t>to</a:t>
            </a:r>
            <a:r>
              <a:rPr sz="2000" spc="190" dirty="0"/>
              <a:t> </a:t>
            </a:r>
            <a:r>
              <a:rPr sz="2000" spc="-10" dirty="0"/>
              <a:t>check </a:t>
            </a:r>
            <a:r>
              <a:rPr sz="2000" dirty="0"/>
              <a:t>whether</a:t>
            </a:r>
            <a:r>
              <a:rPr sz="2000" spc="-30" dirty="0"/>
              <a:t> </a:t>
            </a:r>
            <a:r>
              <a:rPr sz="2000" dirty="0"/>
              <a:t>the</a:t>
            </a:r>
            <a:r>
              <a:rPr sz="2000" spc="-15" dirty="0"/>
              <a:t> </a:t>
            </a:r>
            <a:r>
              <a:rPr sz="2000" dirty="0"/>
              <a:t>channel</a:t>
            </a:r>
            <a:r>
              <a:rPr sz="2000" spc="-35" dirty="0"/>
              <a:t> </a:t>
            </a:r>
            <a:r>
              <a:rPr sz="2000" dirty="0"/>
              <a:t>is</a:t>
            </a:r>
            <a:r>
              <a:rPr sz="2000" spc="-10" dirty="0"/>
              <a:t> </a:t>
            </a:r>
            <a:r>
              <a:rPr sz="2000" dirty="0"/>
              <a:t>idle</a:t>
            </a:r>
            <a:r>
              <a:rPr sz="2000" spc="-20" dirty="0"/>
              <a:t> </a:t>
            </a:r>
            <a:r>
              <a:rPr sz="2000" dirty="0"/>
              <a:t>or</a:t>
            </a:r>
            <a:r>
              <a:rPr sz="2000" spc="-20" dirty="0"/>
              <a:t> busy</a:t>
            </a:r>
            <a:endParaRPr sz="2000"/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/>
              <a:t>If</a:t>
            </a:r>
            <a:r>
              <a:rPr sz="2000" spc="-35" dirty="0"/>
              <a:t> </a:t>
            </a:r>
            <a:r>
              <a:rPr sz="2000" dirty="0"/>
              <a:t>the</a:t>
            </a:r>
            <a:r>
              <a:rPr sz="2000" spc="-20" dirty="0"/>
              <a:t> </a:t>
            </a:r>
            <a:r>
              <a:rPr sz="2000" dirty="0"/>
              <a:t>channel</a:t>
            </a:r>
            <a:r>
              <a:rPr sz="2000" spc="-50" dirty="0"/>
              <a:t> </a:t>
            </a:r>
            <a:r>
              <a:rPr sz="2000" dirty="0"/>
              <a:t>is</a:t>
            </a:r>
            <a:r>
              <a:rPr sz="2000" spc="-20" dirty="0"/>
              <a:t> </a:t>
            </a:r>
            <a:r>
              <a:rPr sz="2000" spc="-10" dirty="0"/>
              <a:t>busy,</a:t>
            </a:r>
            <a:r>
              <a:rPr sz="2000" spc="-25" dirty="0"/>
              <a:t> </a:t>
            </a:r>
            <a:r>
              <a:rPr sz="2000" dirty="0"/>
              <a:t>the</a:t>
            </a:r>
            <a:r>
              <a:rPr sz="2000" spc="-25" dirty="0"/>
              <a:t> </a:t>
            </a:r>
            <a:r>
              <a:rPr sz="2000" dirty="0"/>
              <a:t>station</a:t>
            </a:r>
            <a:r>
              <a:rPr sz="2000" spc="-30" dirty="0"/>
              <a:t> </a:t>
            </a:r>
            <a:r>
              <a:rPr sz="2000" dirty="0"/>
              <a:t>waits</a:t>
            </a:r>
            <a:r>
              <a:rPr sz="2000" spc="-30" dirty="0"/>
              <a:t> </a:t>
            </a:r>
            <a:r>
              <a:rPr sz="2000" dirty="0"/>
              <a:t>until</a:t>
            </a:r>
            <a:r>
              <a:rPr sz="2000" spc="-35" dirty="0"/>
              <a:t> </a:t>
            </a:r>
            <a:r>
              <a:rPr sz="2000" dirty="0"/>
              <a:t>it</a:t>
            </a:r>
            <a:r>
              <a:rPr sz="2000" spc="-30" dirty="0"/>
              <a:t> </a:t>
            </a:r>
            <a:r>
              <a:rPr sz="2000" dirty="0"/>
              <a:t>becomes</a:t>
            </a:r>
            <a:r>
              <a:rPr sz="2000" spc="-25" dirty="0"/>
              <a:t> </a:t>
            </a:r>
            <a:r>
              <a:rPr sz="2000" spc="-20" dirty="0"/>
              <a:t>idle</a:t>
            </a:r>
            <a:endParaRPr sz="2000"/>
          </a:p>
          <a:p>
            <a:pPr marL="342265" marR="6985" indent="-2794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/>
              <a:t>When</a:t>
            </a:r>
            <a:r>
              <a:rPr sz="2000" spc="385" dirty="0"/>
              <a:t> </a:t>
            </a:r>
            <a:r>
              <a:rPr sz="2000" dirty="0"/>
              <a:t>the</a:t>
            </a:r>
            <a:r>
              <a:rPr sz="2000" spc="370" dirty="0"/>
              <a:t> </a:t>
            </a:r>
            <a:r>
              <a:rPr sz="2000" dirty="0"/>
              <a:t>station</a:t>
            </a:r>
            <a:r>
              <a:rPr sz="2000" spc="380" dirty="0"/>
              <a:t> </a:t>
            </a:r>
            <a:r>
              <a:rPr sz="2000" dirty="0"/>
              <a:t>detects</a:t>
            </a:r>
            <a:r>
              <a:rPr sz="2000" spc="380" dirty="0"/>
              <a:t> </a:t>
            </a:r>
            <a:r>
              <a:rPr sz="2000" dirty="0"/>
              <a:t>an</a:t>
            </a:r>
            <a:r>
              <a:rPr sz="2000" spc="365" dirty="0"/>
              <a:t> </a:t>
            </a:r>
            <a:r>
              <a:rPr sz="2000" spc="-10" dirty="0"/>
              <a:t>idle-</a:t>
            </a:r>
            <a:r>
              <a:rPr sz="2000" dirty="0"/>
              <a:t>channel,</a:t>
            </a:r>
            <a:r>
              <a:rPr sz="2000" spc="370" dirty="0"/>
              <a:t> </a:t>
            </a:r>
            <a:r>
              <a:rPr sz="2000" dirty="0"/>
              <a:t>it</a:t>
            </a:r>
            <a:r>
              <a:rPr sz="2000" spc="375" dirty="0"/>
              <a:t> </a:t>
            </a:r>
            <a:r>
              <a:rPr sz="2000" dirty="0"/>
              <a:t>immediately</a:t>
            </a:r>
            <a:r>
              <a:rPr sz="2000" spc="375" dirty="0"/>
              <a:t> </a:t>
            </a:r>
            <a:r>
              <a:rPr sz="2000" dirty="0"/>
              <a:t>transmits</a:t>
            </a:r>
            <a:r>
              <a:rPr sz="2000" spc="380" dirty="0"/>
              <a:t> </a:t>
            </a:r>
            <a:r>
              <a:rPr sz="2000" dirty="0"/>
              <a:t>the</a:t>
            </a:r>
            <a:r>
              <a:rPr sz="2000" spc="370" dirty="0"/>
              <a:t> </a:t>
            </a:r>
            <a:r>
              <a:rPr sz="2000" spc="-10" dirty="0"/>
              <a:t>frame </a:t>
            </a:r>
            <a:r>
              <a:rPr sz="2000" dirty="0"/>
              <a:t>with</a:t>
            </a:r>
            <a:r>
              <a:rPr sz="2000" spc="-40" dirty="0"/>
              <a:t> </a:t>
            </a:r>
            <a:r>
              <a:rPr sz="2000" dirty="0"/>
              <a:t>probability</a:t>
            </a:r>
            <a:r>
              <a:rPr sz="2000" spc="-40" dirty="0"/>
              <a:t> </a:t>
            </a:r>
            <a:r>
              <a:rPr sz="2000" spc="-50" dirty="0"/>
              <a:t>1</a:t>
            </a:r>
            <a:endParaRPr sz="2000"/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/>
              <a:t>Hence</a:t>
            </a:r>
            <a:r>
              <a:rPr sz="2000" spc="-20" dirty="0"/>
              <a:t> </a:t>
            </a:r>
            <a:r>
              <a:rPr sz="2000" dirty="0"/>
              <a:t>it</a:t>
            </a:r>
            <a:r>
              <a:rPr sz="2000" spc="-25" dirty="0"/>
              <a:t> </a:t>
            </a:r>
            <a:r>
              <a:rPr sz="2000" dirty="0"/>
              <a:t>is</a:t>
            </a:r>
            <a:r>
              <a:rPr sz="2000" spc="-15" dirty="0"/>
              <a:t> </a:t>
            </a:r>
            <a:r>
              <a:rPr sz="2000" dirty="0"/>
              <a:t>called</a:t>
            </a:r>
            <a:r>
              <a:rPr sz="2000" spc="-15" dirty="0"/>
              <a:t> </a:t>
            </a:r>
            <a:r>
              <a:rPr sz="2000" dirty="0"/>
              <a:t>1-persistent</a:t>
            </a:r>
            <a:r>
              <a:rPr sz="2000" spc="-60" dirty="0"/>
              <a:t> </a:t>
            </a:r>
            <a:r>
              <a:rPr sz="2000" spc="-20" dirty="0"/>
              <a:t>CSMA</a:t>
            </a:r>
            <a:endParaRPr sz="20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</a:t>
            </a:r>
            <a:r>
              <a:rPr sz="2400" spc="-25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50" dirty="0"/>
              <a:t> </a:t>
            </a:r>
            <a:r>
              <a:rPr sz="2400" dirty="0"/>
              <a:t>Access</a:t>
            </a:r>
            <a:r>
              <a:rPr sz="2400" spc="-40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CSMA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1</a:t>
            </a:r>
            <a:r>
              <a:rPr sz="2400" spc="-10" dirty="0"/>
              <a:t> persistent</a:t>
            </a:r>
            <a:endParaRPr sz="2400">
              <a:latin typeface="Wingdings"/>
              <a:cs typeface="Wingding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2877311"/>
            <a:ext cx="2168652" cy="17785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42265" indent="-2787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spc="-20" dirty="0"/>
              <a:t>A</a:t>
            </a:r>
            <a:r>
              <a:rPr sz="2000" spc="-114" dirty="0"/>
              <a:t> </a:t>
            </a:r>
            <a:r>
              <a:rPr sz="2000" dirty="0"/>
              <a:t>station</a:t>
            </a:r>
            <a:r>
              <a:rPr sz="2000" spc="-25" dirty="0"/>
              <a:t> </a:t>
            </a:r>
            <a:r>
              <a:rPr sz="2000" dirty="0"/>
              <a:t>that</a:t>
            </a:r>
            <a:r>
              <a:rPr sz="2000" spc="-25" dirty="0"/>
              <a:t> </a:t>
            </a:r>
            <a:r>
              <a:rPr sz="2000" dirty="0"/>
              <a:t>has</a:t>
            </a:r>
            <a:r>
              <a:rPr sz="2000" spc="-10" dirty="0"/>
              <a:t> </a:t>
            </a:r>
            <a:r>
              <a:rPr sz="2000" dirty="0"/>
              <a:t>a</a:t>
            </a:r>
            <a:r>
              <a:rPr sz="2000" spc="-10" dirty="0"/>
              <a:t> </a:t>
            </a:r>
            <a:r>
              <a:rPr sz="2000" dirty="0"/>
              <a:t>frame to</a:t>
            </a:r>
            <a:r>
              <a:rPr sz="2000" spc="-15" dirty="0"/>
              <a:t> </a:t>
            </a:r>
            <a:r>
              <a:rPr sz="2000" dirty="0"/>
              <a:t>send</a:t>
            </a:r>
            <a:r>
              <a:rPr sz="2000" spc="-15" dirty="0"/>
              <a:t> </a:t>
            </a:r>
            <a:r>
              <a:rPr sz="2000" dirty="0"/>
              <a:t>senses</a:t>
            </a:r>
            <a:r>
              <a:rPr sz="2000" spc="-20" dirty="0"/>
              <a:t> </a:t>
            </a:r>
            <a:r>
              <a:rPr sz="2000" dirty="0"/>
              <a:t>the</a:t>
            </a:r>
            <a:r>
              <a:rPr sz="2000" spc="-10" dirty="0"/>
              <a:t> channel</a:t>
            </a:r>
            <a:endParaRPr sz="2000"/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/>
              <a:t>If</a:t>
            </a:r>
            <a:r>
              <a:rPr sz="2000" spc="-20" dirty="0"/>
              <a:t> </a:t>
            </a:r>
            <a:r>
              <a:rPr sz="2000" dirty="0"/>
              <a:t>the</a:t>
            </a:r>
            <a:r>
              <a:rPr sz="2000" spc="-10" dirty="0"/>
              <a:t> </a:t>
            </a:r>
            <a:r>
              <a:rPr sz="2000" dirty="0"/>
              <a:t>channel</a:t>
            </a:r>
            <a:r>
              <a:rPr sz="2000" spc="-30" dirty="0"/>
              <a:t> </a:t>
            </a:r>
            <a:r>
              <a:rPr sz="2000" dirty="0"/>
              <a:t>is</a:t>
            </a:r>
            <a:r>
              <a:rPr sz="2000" spc="-10" dirty="0"/>
              <a:t> </a:t>
            </a:r>
            <a:r>
              <a:rPr sz="2000" dirty="0"/>
              <a:t>idle,</a:t>
            </a:r>
            <a:r>
              <a:rPr sz="2000" spc="-10" dirty="0"/>
              <a:t> </a:t>
            </a:r>
            <a:r>
              <a:rPr sz="2000" dirty="0"/>
              <a:t>it</a:t>
            </a:r>
            <a:r>
              <a:rPr sz="2000" spc="-15" dirty="0"/>
              <a:t> </a:t>
            </a:r>
            <a:r>
              <a:rPr sz="2000" dirty="0"/>
              <a:t>sends</a:t>
            </a:r>
            <a:r>
              <a:rPr sz="2000" spc="-30" dirty="0"/>
              <a:t> </a:t>
            </a:r>
            <a:r>
              <a:rPr sz="2000" spc="-10" dirty="0"/>
              <a:t>immediately</a:t>
            </a:r>
            <a:endParaRPr sz="2000"/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/>
              <a:t>If</a:t>
            </a:r>
            <a:r>
              <a:rPr sz="2000" spc="280" dirty="0"/>
              <a:t> </a:t>
            </a:r>
            <a:r>
              <a:rPr sz="2000" dirty="0"/>
              <a:t>the</a:t>
            </a:r>
            <a:r>
              <a:rPr sz="2000" spc="265" dirty="0"/>
              <a:t> </a:t>
            </a:r>
            <a:r>
              <a:rPr sz="2000" dirty="0"/>
              <a:t>channel</a:t>
            </a:r>
            <a:r>
              <a:rPr sz="2000" spc="260" dirty="0"/>
              <a:t> </a:t>
            </a:r>
            <a:r>
              <a:rPr sz="2000" dirty="0"/>
              <a:t>is</a:t>
            </a:r>
            <a:r>
              <a:rPr sz="2000" spc="265" dirty="0"/>
              <a:t> </a:t>
            </a:r>
            <a:r>
              <a:rPr sz="2000" dirty="0"/>
              <a:t>busy,</a:t>
            </a:r>
            <a:r>
              <a:rPr sz="2000" spc="285" dirty="0"/>
              <a:t> </a:t>
            </a:r>
            <a:r>
              <a:rPr sz="2000" dirty="0"/>
              <a:t>it</a:t>
            </a:r>
            <a:r>
              <a:rPr sz="2000" spc="260" dirty="0"/>
              <a:t> </a:t>
            </a:r>
            <a:r>
              <a:rPr sz="2000" dirty="0"/>
              <a:t>waits</a:t>
            </a:r>
            <a:r>
              <a:rPr sz="2000" spc="275" dirty="0"/>
              <a:t> </a:t>
            </a:r>
            <a:r>
              <a:rPr sz="2000" dirty="0"/>
              <a:t>a</a:t>
            </a:r>
            <a:r>
              <a:rPr sz="2000" spc="250" dirty="0"/>
              <a:t> </a:t>
            </a:r>
            <a:r>
              <a:rPr sz="2000" dirty="0"/>
              <a:t>random</a:t>
            </a:r>
            <a:r>
              <a:rPr sz="2000" spc="260" dirty="0"/>
              <a:t> </a:t>
            </a:r>
            <a:r>
              <a:rPr sz="2000" dirty="0"/>
              <a:t>amount</a:t>
            </a:r>
            <a:r>
              <a:rPr sz="2000" spc="270" dirty="0"/>
              <a:t> </a:t>
            </a:r>
            <a:r>
              <a:rPr sz="2000" dirty="0"/>
              <a:t>of</a:t>
            </a:r>
            <a:r>
              <a:rPr sz="2000" spc="270" dirty="0"/>
              <a:t> </a:t>
            </a:r>
            <a:r>
              <a:rPr sz="2000" dirty="0"/>
              <a:t>time</a:t>
            </a:r>
            <a:r>
              <a:rPr sz="2000" spc="280" dirty="0"/>
              <a:t> </a:t>
            </a:r>
            <a:r>
              <a:rPr sz="2000" dirty="0"/>
              <a:t>and</a:t>
            </a:r>
            <a:r>
              <a:rPr sz="2000" spc="270" dirty="0"/>
              <a:t> </a:t>
            </a:r>
            <a:r>
              <a:rPr sz="2000" dirty="0"/>
              <a:t>then</a:t>
            </a:r>
            <a:r>
              <a:rPr sz="2000" spc="270" dirty="0"/>
              <a:t> </a:t>
            </a:r>
            <a:r>
              <a:rPr sz="2000" dirty="0"/>
              <a:t>senses</a:t>
            </a:r>
            <a:r>
              <a:rPr sz="2000" spc="275" dirty="0"/>
              <a:t> </a:t>
            </a:r>
            <a:r>
              <a:rPr sz="2000" spc="-25" dirty="0"/>
              <a:t>the</a:t>
            </a:r>
            <a:endParaRPr sz="2000"/>
          </a:p>
          <a:p>
            <a:pPr marL="342265">
              <a:lnSpc>
                <a:spcPct val="100000"/>
              </a:lnSpc>
            </a:pPr>
            <a:r>
              <a:rPr sz="2000" dirty="0"/>
              <a:t>channel</a:t>
            </a:r>
            <a:r>
              <a:rPr sz="2000" spc="-25" dirty="0"/>
              <a:t> </a:t>
            </a:r>
            <a:r>
              <a:rPr sz="2000" spc="-10" dirty="0"/>
              <a:t>again</a:t>
            </a:r>
            <a:endParaRPr sz="2000"/>
          </a:p>
          <a:p>
            <a:pPr marL="3422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dirty="0"/>
              <a:t>In</a:t>
            </a:r>
            <a:r>
              <a:rPr sz="2000" spc="-15" dirty="0"/>
              <a:t> </a:t>
            </a:r>
            <a:r>
              <a:rPr sz="2000" dirty="0"/>
              <a:t>non-persistent</a:t>
            </a:r>
            <a:r>
              <a:rPr sz="2000" spc="-40" dirty="0"/>
              <a:t> </a:t>
            </a:r>
            <a:r>
              <a:rPr sz="2000" spc="-10" dirty="0"/>
              <a:t>CSMA</a:t>
            </a:r>
            <a:r>
              <a:rPr sz="2000" spc="-110" dirty="0"/>
              <a:t> </a:t>
            </a:r>
            <a:r>
              <a:rPr sz="2000" dirty="0"/>
              <a:t>the</a:t>
            </a:r>
            <a:r>
              <a:rPr sz="2000" spc="-10" dirty="0"/>
              <a:t> </a:t>
            </a:r>
            <a:r>
              <a:rPr sz="2000" dirty="0"/>
              <a:t>station</a:t>
            </a:r>
            <a:r>
              <a:rPr sz="2000" spc="-20" dirty="0"/>
              <a:t> </a:t>
            </a:r>
            <a:r>
              <a:rPr sz="2000" dirty="0"/>
              <a:t>does</a:t>
            </a:r>
            <a:r>
              <a:rPr sz="2000" spc="-20" dirty="0"/>
              <a:t> </a:t>
            </a:r>
            <a:r>
              <a:rPr sz="2000" dirty="0"/>
              <a:t>not</a:t>
            </a:r>
            <a:r>
              <a:rPr sz="2000" spc="-20" dirty="0"/>
              <a:t> </a:t>
            </a:r>
            <a:r>
              <a:rPr sz="2000" dirty="0"/>
              <a:t>continuously</a:t>
            </a:r>
            <a:r>
              <a:rPr sz="2000" spc="-35" dirty="0"/>
              <a:t> </a:t>
            </a:r>
            <a:r>
              <a:rPr sz="2000" dirty="0"/>
              <a:t>sense</a:t>
            </a:r>
            <a:r>
              <a:rPr sz="2000" spc="-20" dirty="0"/>
              <a:t> </a:t>
            </a:r>
            <a:r>
              <a:rPr sz="2000" dirty="0"/>
              <a:t>the</a:t>
            </a:r>
            <a:r>
              <a:rPr sz="2000" spc="-10" dirty="0"/>
              <a:t> channel</a:t>
            </a:r>
            <a:endParaRPr sz="20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</a:t>
            </a:r>
            <a:r>
              <a:rPr sz="2400" spc="-50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50" dirty="0"/>
              <a:t> </a:t>
            </a:r>
            <a:r>
              <a:rPr sz="2400" dirty="0"/>
              <a:t>Access</a:t>
            </a:r>
            <a:r>
              <a:rPr sz="2400" spc="-45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CSMA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Non</a:t>
            </a:r>
            <a:r>
              <a:rPr sz="2400" spc="-5" dirty="0"/>
              <a:t> </a:t>
            </a:r>
            <a:r>
              <a:rPr sz="2400" spc="-10" dirty="0"/>
              <a:t>persistent</a:t>
            </a:r>
            <a:endParaRPr sz="2400">
              <a:latin typeface="Wingdings"/>
              <a:cs typeface="Wingding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5883" y="2881883"/>
            <a:ext cx="7711440" cy="1981200"/>
            <a:chOff x="595883" y="2881883"/>
            <a:chExt cx="7711440" cy="1981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883" y="2881883"/>
              <a:ext cx="4454652" cy="1981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5336" y="2919983"/>
              <a:ext cx="2951988" cy="1752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6811" y="2910840"/>
            <a:ext cx="3145536" cy="19522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7340" y="1023366"/>
            <a:ext cx="6954520" cy="19335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91465" algn="l"/>
              </a:tabLst>
            </a:pP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p-persistent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approach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combines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advantages of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other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two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strategies</a:t>
            </a:r>
            <a:endParaRPr sz="165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91465" algn="l"/>
              </a:tabLst>
            </a:pPr>
            <a:r>
              <a:rPr sz="1650" dirty="0">
                <a:latin typeface="Times New Roman"/>
                <a:cs typeface="Times New Roman"/>
              </a:rPr>
              <a:t>It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reduces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chance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improves</a:t>
            </a:r>
            <a:r>
              <a:rPr sz="1650" spc="5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efficiency</a:t>
            </a:r>
            <a:endParaRPr sz="165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91465" algn="l"/>
              </a:tabLst>
            </a:pPr>
            <a:r>
              <a:rPr sz="1650" dirty="0">
                <a:latin typeface="Times New Roman"/>
                <a:cs typeface="Times New Roman"/>
              </a:rPr>
              <a:t>In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this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method,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if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station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finds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line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idle,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it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follows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these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steps:</a:t>
            </a:r>
            <a:endParaRPr sz="165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615950" algn="l"/>
              </a:tabLst>
            </a:pPr>
            <a:r>
              <a:rPr sz="1350" dirty="0">
                <a:latin typeface="Times New Roman"/>
                <a:cs typeface="Times New Roman"/>
              </a:rPr>
              <a:t>With</a:t>
            </a:r>
            <a:r>
              <a:rPr sz="1350" spc="-3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probability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p,</a:t>
            </a:r>
            <a:r>
              <a:rPr sz="1350" spc="-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station</a:t>
            </a:r>
            <a:r>
              <a:rPr sz="1350" spc="-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sends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its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spc="-20" dirty="0">
                <a:latin typeface="Times New Roman"/>
                <a:cs typeface="Times New Roman"/>
              </a:rPr>
              <a:t>frame</a:t>
            </a:r>
            <a:endParaRPr sz="135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325"/>
              </a:spcBef>
              <a:buFont typeface="Arial MT"/>
              <a:buChar char="–"/>
              <a:tabLst>
                <a:tab pos="615950" algn="l"/>
              </a:tabLst>
            </a:pP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3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station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waits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for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beginning</a:t>
            </a:r>
            <a:r>
              <a:rPr sz="1350" spc="-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of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next</a:t>
            </a:r>
            <a:r>
              <a:rPr sz="1350" spc="-3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time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slot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and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checks</a:t>
            </a:r>
            <a:r>
              <a:rPr sz="1350" spc="-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line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again</a:t>
            </a:r>
            <a:endParaRPr sz="135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325"/>
              </a:spcBef>
              <a:buFont typeface="Arial MT"/>
              <a:buChar char="–"/>
              <a:tabLst>
                <a:tab pos="615950" algn="l"/>
              </a:tabLst>
            </a:pPr>
            <a:r>
              <a:rPr sz="1350" dirty="0">
                <a:latin typeface="Times New Roman"/>
                <a:cs typeface="Times New Roman"/>
              </a:rPr>
              <a:t>If</a:t>
            </a:r>
            <a:r>
              <a:rPr sz="1350" spc="-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line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is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idle,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it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goes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to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step</a:t>
            </a:r>
            <a:r>
              <a:rPr sz="1350" spc="-5" dirty="0">
                <a:latin typeface="Times New Roman"/>
                <a:cs typeface="Times New Roman"/>
              </a:rPr>
              <a:t> </a:t>
            </a:r>
            <a:r>
              <a:rPr sz="1350" spc="-5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marL="615950" lvl="1" indent="-231775">
              <a:lnSpc>
                <a:spcPct val="100000"/>
              </a:lnSpc>
              <a:spcBef>
                <a:spcPts val="325"/>
              </a:spcBef>
              <a:buFont typeface="Arial MT"/>
              <a:buChar char="–"/>
              <a:tabLst>
                <a:tab pos="615950" algn="l"/>
              </a:tabLst>
            </a:pPr>
            <a:r>
              <a:rPr sz="1350" dirty="0">
                <a:latin typeface="Times New Roman"/>
                <a:cs typeface="Times New Roman"/>
              </a:rPr>
              <a:t>If</a:t>
            </a:r>
            <a:r>
              <a:rPr sz="1350" spc="-3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line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is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busy,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it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acts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as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though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collision</a:t>
            </a:r>
            <a:r>
              <a:rPr sz="1350" spc="-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has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occurred</a:t>
            </a:r>
            <a:r>
              <a:rPr sz="1350" spc="-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and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uses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back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off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procedure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</a:t>
            </a:r>
            <a:r>
              <a:rPr sz="2400" spc="-25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50" dirty="0"/>
              <a:t> </a:t>
            </a:r>
            <a:r>
              <a:rPr sz="2400" dirty="0"/>
              <a:t>Access</a:t>
            </a:r>
            <a:r>
              <a:rPr sz="2400" spc="-40" dirty="0"/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CSMA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p</a:t>
            </a:r>
            <a:r>
              <a:rPr sz="2400" spc="-5" dirty="0"/>
              <a:t> </a:t>
            </a:r>
            <a:r>
              <a:rPr sz="2400" spc="-10" dirty="0"/>
              <a:t>persistent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2133"/>
            <a:ext cx="853059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CSMA/CD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(Carrier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Sense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Access/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Collision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Detection)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media-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method</a:t>
            </a:r>
            <a:endParaRPr sz="20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CSMA/CD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stations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agree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terms</a:t>
            </a:r>
            <a:endParaRPr sz="20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collision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measures</a:t>
            </a:r>
            <a:endParaRPr sz="2000">
              <a:latin typeface="Times New Roman"/>
              <a:cs typeface="Times New Roman"/>
            </a:endParaRPr>
          </a:p>
          <a:p>
            <a:pPr marL="291465" marR="5080" indent="-2794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  <a:tab pos="884555" algn="l"/>
                <a:tab pos="1870075" algn="l"/>
                <a:tab pos="2773045" algn="l"/>
                <a:tab pos="3535045" algn="l"/>
                <a:tab pos="4350385" algn="l"/>
                <a:tab pos="4885690" algn="l"/>
                <a:tab pos="5855970" algn="l"/>
                <a:tab pos="6222365" algn="l"/>
                <a:tab pos="6741795" algn="l"/>
                <a:tab pos="7305675" algn="l"/>
                <a:tab pos="8208645" algn="l"/>
              </a:tabLst>
            </a:pPr>
            <a:r>
              <a:rPr sz="2000" spc="-20" dirty="0">
                <a:latin typeface="Times New Roman"/>
                <a:cs typeface="Times New Roman"/>
              </a:rPr>
              <a:t>This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protocol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decides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which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station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will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transmit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so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reaches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destination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corruption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CSMA/CD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3171"/>
            <a:ext cx="8531225" cy="370649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291465" algn="l"/>
              </a:tabLst>
            </a:pPr>
            <a:r>
              <a:rPr sz="1900" dirty="0">
                <a:latin typeface="Times New Roman"/>
                <a:cs typeface="Times New Roman"/>
              </a:rPr>
              <a:t>Step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1:</a:t>
            </a:r>
            <a:endParaRPr sz="1900">
              <a:latin typeface="Times New Roman"/>
              <a:cs typeface="Times New Roman"/>
            </a:endParaRPr>
          </a:p>
          <a:p>
            <a:pPr marL="614045" lvl="1" indent="-229870">
              <a:lnSpc>
                <a:spcPct val="100000"/>
              </a:lnSpc>
              <a:spcBef>
                <a:spcPts val="375"/>
              </a:spcBef>
              <a:buFont typeface="Arial MT"/>
              <a:buChar char="–"/>
              <a:tabLst>
                <a:tab pos="61404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sender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ready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transmitting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packets</a:t>
            </a:r>
            <a:endParaRPr sz="15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91465" algn="l"/>
              </a:tabLst>
            </a:pPr>
            <a:r>
              <a:rPr sz="1900" dirty="0">
                <a:latin typeface="Times New Roman"/>
                <a:cs typeface="Times New Roman"/>
              </a:rPr>
              <a:t>Step </a:t>
            </a:r>
            <a:r>
              <a:rPr sz="1900" spc="-25" dirty="0">
                <a:latin typeface="Times New Roman"/>
                <a:cs typeface="Times New Roman"/>
              </a:rPr>
              <a:t>2:</a:t>
            </a:r>
            <a:endParaRPr sz="1900">
              <a:latin typeface="Times New Roman"/>
              <a:cs typeface="Times New Roman"/>
            </a:endParaRPr>
          </a:p>
          <a:p>
            <a:pPr marL="614045" lvl="1" indent="-229870">
              <a:lnSpc>
                <a:spcPct val="100000"/>
              </a:lnSpc>
              <a:spcBef>
                <a:spcPts val="380"/>
              </a:spcBef>
              <a:buFont typeface="Arial MT"/>
              <a:buChar char="–"/>
              <a:tabLst>
                <a:tab pos="614045" algn="l"/>
              </a:tabLst>
            </a:pPr>
            <a:r>
              <a:rPr sz="1500" dirty="0">
                <a:latin typeface="Times New Roman"/>
                <a:cs typeface="Times New Roman"/>
              </a:rPr>
              <a:t>Sender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keep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transmission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link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idle</a:t>
            </a:r>
            <a:endParaRPr sz="1500">
              <a:latin typeface="Times New Roman"/>
              <a:cs typeface="Times New Roman"/>
            </a:endParaRPr>
          </a:p>
          <a:p>
            <a:pPr marL="613410" marR="5080" lvl="1" indent="-229870" algn="just">
              <a:lnSpc>
                <a:spcPct val="100000"/>
              </a:lnSpc>
              <a:spcBef>
                <a:spcPts val="360"/>
              </a:spcBef>
              <a:buFont typeface="Arial MT"/>
              <a:buChar char="–"/>
              <a:tabLst>
                <a:tab pos="615950" algn="l"/>
              </a:tabLst>
            </a:pPr>
            <a:r>
              <a:rPr sz="1500" dirty="0">
                <a:latin typeface="Times New Roman"/>
                <a:cs typeface="Times New Roman"/>
              </a:rPr>
              <a:t>Sender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sends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dummy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link.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receive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collision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signal,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means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link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is 	</a:t>
            </a:r>
            <a:r>
              <a:rPr sz="1500" dirty="0">
                <a:latin typeface="Times New Roman"/>
                <a:cs typeface="Times New Roman"/>
              </a:rPr>
              <a:t>idle,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sends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otherwise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not</a:t>
            </a:r>
            <a:endParaRPr sz="15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91465" algn="l"/>
              </a:tabLst>
            </a:pPr>
            <a:r>
              <a:rPr sz="1900" dirty="0">
                <a:latin typeface="Times New Roman"/>
                <a:cs typeface="Times New Roman"/>
              </a:rPr>
              <a:t>Step </a:t>
            </a:r>
            <a:r>
              <a:rPr sz="1900" spc="-25" dirty="0">
                <a:latin typeface="Times New Roman"/>
                <a:cs typeface="Times New Roman"/>
              </a:rPr>
              <a:t>3:</a:t>
            </a:r>
            <a:endParaRPr sz="1900">
              <a:latin typeface="Times New Roman"/>
              <a:cs typeface="Times New Roman"/>
            </a:endParaRPr>
          </a:p>
          <a:p>
            <a:pPr marL="613410" marR="5080" lvl="1" indent="-229870" algn="just">
              <a:lnSpc>
                <a:spcPct val="100000"/>
              </a:lnSpc>
              <a:spcBef>
                <a:spcPts val="380"/>
              </a:spcBef>
              <a:buFont typeface="Arial MT"/>
              <a:buChar char="–"/>
              <a:tabLst>
                <a:tab pos="615950" algn="l"/>
              </a:tabLst>
            </a:pPr>
            <a:r>
              <a:rPr sz="1500" dirty="0">
                <a:latin typeface="Times New Roman"/>
                <a:cs typeface="Times New Roman"/>
              </a:rPr>
              <a:t>Sender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transmits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 on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link.,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CSMA/CD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 use</a:t>
            </a:r>
            <a:r>
              <a:rPr sz="1500" spc="-10" dirty="0">
                <a:latin typeface="Times New Roman"/>
                <a:cs typeface="Times New Roman"/>
              </a:rPr>
              <a:t> ‘acknowledgement’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system.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 checks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for 	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collision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signals.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During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transmission,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collision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signal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received,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transmission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stopped.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	</a:t>
            </a:r>
            <a:r>
              <a:rPr sz="1500" dirty="0">
                <a:latin typeface="Times New Roman"/>
                <a:cs typeface="Times New Roman"/>
              </a:rPr>
              <a:t>station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transmits 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jam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signal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onto the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link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waits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random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time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interval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before it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resends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	</a:t>
            </a:r>
            <a:r>
              <a:rPr sz="1500" spc="-10" dirty="0">
                <a:latin typeface="Times New Roman"/>
                <a:cs typeface="Times New Roman"/>
              </a:rPr>
              <a:t>frame.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After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some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random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time,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again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attempts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transfer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repeats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above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process.</a:t>
            </a:r>
            <a:endParaRPr sz="15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91465" algn="l"/>
              </a:tabLst>
            </a:pPr>
            <a:r>
              <a:rPr sz="1900" dirty="0">
                <a:latin typeface="Times New Roman"/>
                <a:cs typeface="Times New Roman"/>
              </a:rPr>
              <a:t>Step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4:</a:t>
            </a:r>
            <a:endParaRPr sz="1900">
              <a:latin typeface="Times New Roman"/>
              <a:cs typeface="Times New Roman"/>
            </a:endParaRPr>
          </a:p>
          <a:p>
            <a:pPr marL="614045" lvl="1" indent="-229870">
              <a:lnSpc>
                <a:spcPct val="100000"/>
              </a:lnSpc>
              <a:spcBef>
                <a:spcPts val="375"/>
              </a:spcBef>
              <a:buFont typeface="Arial MT"/>
              <a:buChar char="–"/>
              <a:tabLst>
                <a:tab pos="614045" algn="l"/>
              </a:tabLst>
            </a:pP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collision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detected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propagation,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sender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completes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frame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transmission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CSMA/CD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972311"/>
            <a:ext cx="5027676" cy="39258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CSMA/CD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1011052"/>
            <a:ext cx="8595995" cy="29984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16865" indent="-278765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collides?</a:t>
            </a:r>
            <a:endParaRPr sz="2000">
              <a:latin typeface="Times New Roman"/>
              <a:cs typeface="Times New Roman"/>
            </a:endParaRPr>
          </a:p>
          <a:p>
            <a:pPr marL="641985" lvl="1" indent="-23241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641985" algn="l"/>
              </a:tabLst>
            </a:pPr>
            <a:r>
              <a:rPr sz="1650" dirty="0">
                <a:latin typeface="Times New Roman"/>
                <a:cs typeface="Times New Roman"/>
              </a:rPr>
              <a:t>Consider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situation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for</a:t>
            </a:r>
            <a:r>
              <a:rPr sz="1650" spc="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two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stations,</a:t>
            </a:r>
            <a:r>
              <a:rPr sz="1650" spc="-8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imes New Roman"/>
                <a:cs typeface="Times New Roman"/>
              </a:rPr>
              <a:t>B</a:t>
            </a:r>
            <a:endParaRPr sz="1650">
              <a:latin typeface="Times New Roman"/>
              <a:cs typeface="Times New Roman"/>
            </a:endParaRPr>
          </a:p>
          <a:p>
            <a:pPr marL="641985" lvl="1" indent="-2324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641985" algn="l"/>
              </a:tabLst>
            </a:pPr>
            <a:r>
              <a:rPr sz="1650" dirty="0">
                <a:latin typeface="Times New Roman"/>
                <a:cs typeface="Times New Roman"/>
              </a:rPr>
              <a:t>Propagation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Time: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</a:t>
            </a:r>
            <a:r>
              <a:rPr sz="1650" baseline="-20202" dirty="0">
                <a:latin typeface="Times New Roman"/>
                <a:cs typeface="Times New Roman"/>
              </a:rPr>
              <a:t>p</a:t>
            </a:r>
            <a:r>
              <a:rPr sz="1650" spc="247" baseline="-20202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1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hr</a:t>
            </a:r>
            <a:endParaRPr sz="1650">
              <a:latin typeface="Times New Roman"/>
              <a:cs typeface="Times New Roman"/>
            </a:endParaRPr>
          </a:p>
          <a:p>
            <a:pPr marL="641985" lvl="1" indent="-2324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641985" algn="l"/>
              </a:tabLst>
            </a:pPr>
            <a:r>
              <a:rPr sz="1650" dirty="0">
                <a:latin typeface="Times New Roman"/>
                <a:cs typeface="Times New Roman"/>
              </a:rPr>
              <a:t>At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time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0,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8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transmits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its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data</a:t>
            </a:r>
            <a:endParaRPr sz="1650">
              <a:latin typeface="Times New Roman"/>
              <a:cs typeface="Times New Roman"/>
            </a:endParaRPr>
          </a:p>
          <a:p>
            <a:pPr marL="641985" lvl="1" indent="-23241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641985" algn="l"/>
              </a:tabLst>
            </a:pPr>
            <a:r>
              <a:rPr sz="1650" dirty="0">
                <a:latin typeface="Times New Roman"/>
                <a:cs typeface="Times New Roman"/>
              </a:rPr>
              <a:t>At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30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mins.: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 </a:t>
            </a:r>
            <a:r>
              <a:rPr sz="1650" spc="-10" dirty="0">
                <a:latin typeface="Times New Roman"/>
                <a:cs typeface="Times New Roman"/>
              </a:rPr>
              <a:t>occurs</a:t>
            </a:r>
            <a:endParaRPr sz="1650">
              <a:latin typeface="Times New Roman"/>
              <a:cs typeface="Times New Roman"/>
            </a:endParaRPr>
          </a:p>
          <a:p>
            <a:pPr marL="641350" marR="43180" lvl="1" indent="-232410" algn="just">
              <a:lnSpc>
                <a:spcPct val="101600"/>
              </a:lnSpc>
              <a:spcBef>
                <a:spcPts val="400"/>
              </a:spcBef>
              <a:buFont typeface="Arial MT"/>
              <a:buChar char="–"/>
              <a:tabLst>
                <a:tab pos="641350" algn="l"/>
              </a:tabLst>
            </a:pPr>
            <a:r>
              <a:rPr sz="1650" dirty="0">
                <a:latin typeface="Times New Roman"/>
                <a:cs typeface="Times New Roman"/>
              </a:rPr>
              <a:t>After</a:t>
            </a:r>
            <a:r>
              <a:rPr sz="1650" spc="1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1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occurs,</a:t>
            </a:r>
            <a:r>
              <a:rPr sz="1650" spc="1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1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1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signal</a:t>
            </a:r>
            <a:r>
              <a:rPr sz="1650" spc="1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1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generated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1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sent</a:t>
            </a:r>
            <a:r>
              <a:rPr sz="1650" spc="1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1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both</a:t>
            </a:r>
            <a:r>
              <a:rPr sz="1650" spc="1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&amp;</a:t>
            </a:r>
            <a:r>
              <a:rPr sz="1650" spc="1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</a:t>
            </a:r>
            <a:r>
              <a:rPr sz="1650" spc="1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1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inform</a:t>
            </a:r>
            <a:r>
              <a:rPr sz="1650" spc="140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the </a:t>
            </a:r>
            <a:r>
              <a:rPr sz="1650" dirty="0">
                <a:latin typeface="Times New Roman"/>
                <a:cs typeface="Times New Roman"/>
              </a:rPr>
              <a:t>stations</a:t>
            </a:r>
            <a:r>
              <a:rPr sz="1650" spc="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about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collision.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Since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happened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midway,</a:t>
            </a:r>
            <a:r>
              <a:rPr sz="1650" spc="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signal</a:t>
            </a:r>
            <a:r>
              <a:rPr sz="1650" spc="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also</a:t>
            </a:r>
            <a:r>
              <a:rPr sz="1650" spc="6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takes </a:t>
            </a:r>
            <a:r>
              <a:rPr sz="1650" dirty="0">
                <a:latin typeface="Times New Roman"/>
                <a:cs typeface="Times New Roman"/>
              </a:rPr>
              <a:t>30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minutes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reach</a:t>
            </a:r>
            <a:r>
              <a:rPr sz="1650" spc="-9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&amp;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imes New Roman"/>
                <a:cs typeface="Times New Roman"/>
              </a:rPr>
              <a:t>B</a:t>
            </a:r>
            <a:endParaRPr sz="1650">
              <a:latin typeface="Times New Roman"/>
              <a:cs typeface="Times New Roman"/>
            </a:endParaRPr>
          </a:p>
          <a:p>
            <a:pPr marL="641350" marR="44450" lvl="1" indent="-232410" algn="just">
              <a:lnSpc>
                <a:spcPct val="101800"/>
              </a:lnSpc>
              <a:spcBef>
                <a:spcPts val="395"/>
              </a:spcBef>
              <a:buFont typeface="Arial MT"/>
              <a:buChar char="–"/>
              <a:tabLst>
                <a:tab pos="641350" algn="l"/>
              </a:tabLst>
            </a:pPr>
            <a:r>
              <a:rPr sz="1650" dirty="0">
                <a:latin typeface="Times New Roman"/>
                <a:cs typeface="Times New Roman"/>
              </a:rPr>
              <a:t>Therefore,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1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hr: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&amp;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</a:t>
            </a:r>
            <a:r>
              <a:rPr sz="1650" spc="1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receive</a:t>
            </a:r>
            <a:r>
              <a:rPr sz="1650" spc="1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signals.</a:t>
            </a:r>
            <a:r>
              <a:rPr sz="1650" spc="1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This</a:t>
            </a:r>
            <a:r>
              <a:rPr sz="1650" spc="1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signal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1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received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by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all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stations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on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that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link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CSMA/CD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1011052"/>
            <a:ext cx="8594725" cy="29984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16865" indent="-278765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collides?</a:t>
            </a:r>
            <a:endParaRPr sz="2000">
              <a:latin typeface="Times New Roman"/>
              <a:cs typeface="Times New Roman"/>
            </a:endParaRPr>
          </a:p>
          <a:p>
            <a:pPr marL="641985" lvl="1" indent="-23241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641985" algn="l"/>
              </a:tabLst>
            </a:pPr>
            <a:r>
              <a:rPr sz="1650" dirty="0">
                <a:latin typeface="Times New Roman"/>
                <a:cs typeface="Times New Roman"/>
              </a:rPr>
              <a:t>Consider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another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situation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for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two</a:t>
            </a:r>
            <a:r>
              <a:rPr sz="1650" spc="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stations,</a:t>
            </a:r>
            <a:r>
              <a:rPr sz="1650" spc="-7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imes New Roman"/>
                <a:cs typeface="Times New Roman"/>
              </a:rPr>
              <a:t>B</a:t>
            </a:r>
            <a:endParaRPr sz="1650">
              <a:latin typeface="Times New Roman"/>
              <a:cs typeface="Times New Roman"/>
            </a:endParaRPr>
          </a:p>
          <a:p>
            <a:pPr marL="641985" lvl="1" indent="-2324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641985" algn="l"/>
              </a:tabLst>
            </a:pPr>
            <a:r>
              <a:rPr sz="1650" dirty="0">
                <a:latin typeface="Times New Roman"/>
                <a:cs typeface="Times New Roman"/>
              </a:rPr>
              <a:t>At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time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0,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8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transmits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its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data</a:t>
            </a:r>
            <a:endParaRPr sz="1650">
              <a:latin typeface="Times New Roman"/>
              <a:cs typeface="Times New Roman"/>
            </a:endParaRPr>
          </a:p>
          <a:p>
            <a:pPr marL="641985" lvl="1" indent="-2324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641985" algn="l"/>
              </a:tabLst>
            </a:pPr>
            <a:r>
              <a:rPr sz="1650" dirty="0">
                <a:latin typeface="Times New Roman"/>
                <a:cs typeface="Times New Roman"/>
              </a:rPr>
              <a:t>At</a:t>
            </a:r>
            <a:r>
              <a:rPr sz="1650" spc="4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59:59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mins: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 </a:t>
            </a:r>
            <a:r>
              <a:rPr sz="1650" spc="-10" dirty="0">
                <a:latin typeface="Times New Roman"/>
                <a:cs typeface="Times New Roman"/>
              </a:rPr>
              <a:t>occurs</a:t>
            </a:r>
            <a:endParaRPr sz="1650">
              <a:latin typeface="Times New Roman"/>
              <a:cs typeface="Times New Roman"/>
            </a:endParaRPr>
          </a:p>
          <a:p>
            <a:pPr marL="641350" marR="43180" lvl="1" indent="-232410" algn="just">
              <a:lnSpc>
                <a:spcPct val="101499"/>
              </a:lnSpc>
              <a:spcBef>
                <a:spcPts val="400"/>
              </a:spcBef>
              <a:buFont typeface="Arial MT"/>
              <a:buChar char="–"/>
              <a:tabLst>
                <a:tab pos="641350" algn="l"/>
              </a:tabLst>
            </a:pPr>
            <a:r>
              <a:rPr sz="1650" dirty="0">
                <a:latin typeface="Times New Roman"/>
                <a:cs typeface="Times New Roman"/>
              </a:rPr>
              <a:t>This</a:t>
            </a:r>
            <a:r>
              <a:rPr sz="1650" spc="2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2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occurs</a:t>
            </a:r>
            <a:r>
              <a:rPr sz="1650" spc="2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just</a:t>
            </a:r>
            <a:r>
              <a:rPr sz="1650" spc="2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before</a:t>
            </a:r>
            <a:r>
              <a:rPr sz="1650" spc="22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2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data</a:t>
            </a:r>
            <a:r>
              <a:rPr sz="1650" spc="22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reaches</a:t>
            </a:r>
            <a:r>
              <a:rPr sz="1650" spc="204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B.</a:t>
            </a:r>
            <a:r>
              <a:rPr sz="1650" spc="2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Now</a:t>
            </a:r>
            <a:r>
              <a:rPr sz="1650" spc="2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2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22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signal</a:t>
            </a:r>
            <a:r>
              <a:rPr sz="1650" spc="2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takes</a:t>
            </a:r>
            <a:r>
              <a:rPr sz="1650" spc="21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59:59 </a:t>
            </a:r>
            <a:r>
              <a:rPr sz="1650" dirty="0">
                <a:latin typeface="Times New Roman"/>
                <a:cs typeface="Times New Roman"/>
              </a:rPr>
              <a:t>minutes</a:t>
            </a:r>
            <a:r>
              <a:rPr sz="1650" spc="7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again</a:t>
            </a:r>
            <a:r>
              <a:rPr sz="1650" spc="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8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reach</a:t>
            </a:r>
            <a:r>
              <a:rPr sz="1650" spc="8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A.</a:t>
            </a:r>
            <a:r>
              <a:rPr sz="1650" spc="8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Hence,</a:t>
            </a:r>
            <a:r>
              <a:rPr sz="1650" spc="8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receives</a:t>
            </a:r>
            <a:r>
              <a:rPr sz="1650" spc="8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8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information</a:t>
            </a:r>
            <a:r>
              <a:rPr sz="1650" spc="8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approximately</a:t>
            </a:r>
            <a:r>
              <a:rPr sz="1650" spc="10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after</a:t>
            </a:r>
            <a:r>
              <a:rPr sz="1650" spc="90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imes New Roman"/>
                <a:cs typeface="Times New Roman"/>
              </a:rPr>
              <a:t>2 </a:t>
            </a:r>
            <a:r>
              <a:rPr sz="1650" dirty="0">
                <a:latin typeface="Times New Roman"/>
                <a:cs typeface="Times New Roman"/>
              </a:rPr>
              <a:t>hours,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that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is,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after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2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*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Tp</a:t>
            </a:r>
            <a:endParaRPr sz="1650">
              <a:latin typeface="Times New Roman"/>
              <a:cs typeface="Times New Roman"/>
            </a:endParaRPr>
          </a:p>
          <a:p>
            <a:pPr marL="641350" marR="43815" lvl="1" indent="-232410" algn="just">
              <a:lnSpc>
                <a:spcPct val="101800"/>
              </a:lnSpc>
              <a:spcBef>
                <a:spcPts val="400"/>
              </a:spcBef>
              <a:buFont typeface="Arial MT"/>
              <a:buChar char="–"/>
              <a:tabLst>
                <a:tab pos="641350" algn="l"/>
              </a:tabLst>
            </a:pPr>
            <a:r>
              <a:rPr sz="1650" dirty="0">
                <a:latin typeface="Times New Roman"/>
                <a:cs typeface="Times New Roman"/>
              </a:rPr>
              <a:t>This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maximum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time</a:t>
            </a:r>
            <a:r>
              <a:rPr sz="1650" spc="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that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system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can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take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detect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if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collision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was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its </a:t>
            </a:r>
            <a:r>
              <a:rPr sz="1650" dirty="0">
                <a:latin typeface="Times New Roman"/>
                <a:cs typeface="Times New Roman"/>
              </a:rPr>
              <a:t>own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data</a:t>
            </a:r>
            <a:endParaRPr sz="1650">
              <a:latin typeface="Times New Roman"/>
              <a:cs typeface="Times New Roman"/>
            </a:endParaRPr>
          </a:p>
          <a:p>
            <a:pPr marL="641985" lvl="1" indent="-232410" algn="just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641985" algn="l"/>
              </a:tabLst>
            </a:pPr>
            <a:r>
              <a:rPr sz="1650" dirty="0">
                <a:latin typeface="Times New Roman"/>
                <a:cs typeface="Times New Roman"/>
              </a:rPr>
              <a:t>Length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packet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2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* T</a:t>
            </a:r>
            <a:r>
              <a:rPr sz="1650" baseline="-20202" dirty="0">
                <a:latin typeface="Times New Roman"/>
                <a:cs typeface="Times New Roman"/>
              </a:rPr>
              <a:t>p</a:t>
            </a:r>
            <a:r>
              <a:rPr sz="1650" spc="262" baseline="-20202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*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Bandwidth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link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12097" y="4961693"/>
            <a:ext cx="15367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CSMA/CD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1783"/>
            <a:ext cx="8532495" cy="36842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88925" indent="-276225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88925" algn="l"/>
              </a:tabLst>
            </a:pPr>
            <a:r>
              <a:rPr sz="2000" dirty="0">
                <a:latin typeface="Times New Roman"/>
                <a:cs typeface="Times New Roman"/>
              </a:rPr>
              <a:t>Carrier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Sense </a:t>
            </a:r>
            <a:r>
              <a:rPr sz="2000" spc="-10" dirty="0">
                <a:latin typeface="Times New Roman"/>
                <a:cs typeface="Times New Roman"/>
              </a:rPr>
              <a:t>Multiple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 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Collision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Avoidance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(CSMA/CA)</a:t>
            </a:r>
            <a:endParaRPr sz="2000">
              <a:latin typeface="Times New Roman"/>
              <a:cs typeface="Times New Roman"/>
            </a:endParaRPr>
          </a:p>
          <a:p>
            <a:pPr marL="288925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88925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contrast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CSMA/CD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deals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collisions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occurrence,</a:t>
            </a:r>
            <a:endParaRPr sz="2000">
              <a:latin typeface="Times New Roman"/>
              <a:cs typeface="Times New Roman"/>
            </a:endParaRPr>
          </a:p>
          <a:p>
            <a:pPr marL="291465" algn="just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CSMA/CA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prevents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collisions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occurrence</a:t>
            </a:r>
            <a:endParaRPr sz="2000">
              <a:latin typeface="Times New Roman"/>
              <a:cs typeface="Times New Roman"/>
            </a:endParaRPr>
          </a:p>
          <a:p>
            <a:pPr marL="288290" marR="5715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idea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behind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CSMA/CA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able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receive 	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transmitting,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collision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stations</a:t>
            </a:r>
            <a:endParaRPr sz="2000">
              <a:latin typeface="Times New Roman"/>
              <a:cs typeface="Times New Roman"/>
            </a:endParaRPr>
          </a:p>
          <a:p>
            <a:pPr marL="288925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88925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wired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networks,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collision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occurred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energy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  <a:p>
            <a:pPr marL="29146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almost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doubles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possibility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collision</a:t>
            </a:r>
            <a:endParaRPr sz="2000">
              <a:latin typeface="Times New Roman"/>
              <a:cs typeface="Times New Roman"/>
            </a:endParaRPr>
          </a:p>
          <a:p>
            <a:pPr marL="288290" marR="5080" indent="-2762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1465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wireless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energy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energy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received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increases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%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collision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occurs.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 	</a:t>
            </a:r>
            <a:r>
              <a:rPr sz="2000" dirty="0">
                <a:latin typeface="Times New Roman"/>
                <a:cs typeface="Times New Roman"/>
              </a:rPr>
              <a:t>can’t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collision.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Therefore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CSMA/CA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been 	</a:t>
            </a:r>
            <a:r>
              <a:rPr sz="2000" dirty="0">
                <a:latin typeface="Times New Roman"/>
                <a:cs typeface="Times New Roman"/>
              </a:rPr>
              <a:t>specially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wireless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CSMA/CA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5778"/>
            <a:ext cx="8529955" cy="369570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90195" indent="-277495" algn="just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90195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strategies:</a:t>
            </a:r>
            <a:endParaRPr sz="2400">
              <a:latin typeface="Times New Roman"/>
              <a:cs typeface="Times New Roman"/>
            </a:endParaRPr>
          </a:p>
          <a:p>
            <a:pPr marL="614680" lvl="1" indent="-230504" algn="just">
              <a:lnSpc>
                <a:spcPct val="100000"/>
              </a:lnSpc>
              <a:spcBef>
                <a:spcPts val="495"/>
              </a:spcBef>
              <a:buFont typeface="Arial MT"/>
              <a:buChar char="–"/>
              <a:tabLst>
                <a:tab pos="614680" algn="l"/>
              </a:tabLst>
            </a:pPr>
            <a:r>
              <a:rPr sz="2000" dirty="0">
                <a:latin typeface="Times New Roman"/>
                <a:cs typeface="Times New Roman"/>
              </a:rPr>
              <a:t>Inter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Space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(IFS):</a:t>
            </a:r>
            <a:endParaRPr sz="2000">
              <a:latin typeface="Times New Roman"/>
              <a:cs typeface="Times New Roman"/>
            </a:endParaRPr>
          </a:p>
          <a:p>
            <a:pPr marL="939800" marR="5080" lvl="2" indent="-183515" algn="just">
              <a:lnSpc>
                <a:spcPct val="102000"/>
              </a:lnSpc>
              <a:spcBef>
                <a:spcPts val="445"/>
              </a:spcBef>
              <a:buFont typeface="Arial MT"/>
              <a:buChar char="•"/>
              <a:tabLst>
                <a:tab pos="941069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concept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IFS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allows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wireless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implement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simple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priority 	</a:t>
            </a:r>
            <a:r>
              <a:rPr sz="1800" dirty="0">
                <a:latin typeface="Times New Roman"/>
                <a:cs typeface="Times New Roman"/>
              </a:rPr>
              <a:t>system.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priority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shorter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IFS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times,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whenever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	</a:t>
            </a:r>
            <a:r>
              <a:rPr sz="1800" dirty="0">
                <a:latin typeface="Times New Roman"/>
                <a:cs typeface="Times New Roman"/>
              </a:rPr>
              <a:t>medium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clear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send</a:t>
            </a:r>
            <a:endParaRPr sz="1800">
              <a:latin typeface="Times New Roman"/>
              <a:cs typeface="Times New Roman"/>
            </a:endParaRPr>
          </a:p>
          <a:p>
            <a:pPr marL="614680" lvl="1" indent="-230504" algn="just">
              <a:lnSpc>
                <a:spcPct val="100000"/>
              </a:lnSpc>
              <a:spcBef>
                <a:spcPts val="484"/>
              </a:spcBef>
              <a:buFont typeface="Arial MT"/>
              <a:buChar char="–"/>
              <a:tabLst>
                <a:tab pos="614680" algn="l"/>
              </a:tabLst>
            </a:pPr>
            <a:r>
              <a:rPr sz="2000" dirty="0">
                <a:latin typeface="Times New Roman"/>
                <a:cs typeface="Times New Roman"/>
              </a:rPr>
              <a:t>Contention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Window:</a:t>
            </a:r>
            <a:endParaRPr sz="2000">
              <a:latin typeface="Times New Roman"/>
              <a:cs typeface="Times New Roman"/>
            </a:endParaRPr>
          </a:p>
          <a:p>
            <a:pPr marL="939800" marR="5080" lvl="2" indent="-183515" algn="just">
              <a:lnSpc>
                <a:spcPct val="102200"/>
              </a:lnSpc>
              <a:spcBef>
                <a:spcPts val="440"/>
              </a:spcBef>
              <a:buFont typeface="Arial MT"/>
              <a:buChar char="•"/>
              <a:tabLst>
                <a:tab pos="941069" algn="l"/>
              </a:tabLst>
            </a:pP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amount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divided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slots.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station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3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ready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send 	</a:t>
            </a:r>
            <a:r>
              <a:rPr sz="1800" dirty="0">
                <a:latin typeface="Times New Roman"/>
                <a:cs typeface="Times New Roman"/>
              </a:rPr>
              <a:t>frames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chooses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random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number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slots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time</a:t>
            </a:r>
            <a:endParaRPr sz="1800">
              <a:latin typeface="Times New Roman"/>
              <a:cs typeface="Times New Roman"/>
            </a:endParaRPr>
          </a:p>
          <a:p>
            <a:pPr marL="614680" lvl="1" indent="-230504" algn="just">
              <a:lnSpc>
                <a:spcPct val="100000"/>
              </a:lnSpc>
              <a:spcBef>
                <a:spcPts val="470"/>
              </a:spcBef>
              <a:buFont typeface="Arial MT"/>
              <a:buChar char="–"/>
              <a:tabLst>
                <a:tab pos="614680" algn="l"/>
              </a:tabLst>
            </a:pPr>
            <a:r>
              <a:rPr sz="2000" spc="-10" dirty="0">
                <a:latin typeface="Times New Roman"/>
                <a:cs typeface="Times New Roman"/>
              </a:rPr>
              <a:t>Acknowledgements:</a:t>
            </a:r>
            <a:endParaRPr sz="2000">
              <a:latin typeface="Times New Roman"/>
              <a:cs typeface="Times New Roman"/>
            </a:endParaRPr>
          </a:p>
          <a:p>
            <a:pPr marL="939800" marR="6985" lvl="2" indent="-183515" algn="just">
              <a:lnSpc>
                <a:spcPct val="102200"/>
              </a:lnSpc>
              <a:spcBef>
                <a:spcPts val="445"/>
              </a:spcBef>
              <a:buFont typeface="Arial MT"/>
              <a:buChar char="•"/>
              <a:tabLst>
                <a:tab pos="941069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positive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acknowledgements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time-out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timer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guarantee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successful 	</a:t>
            </a:r>
            <a:r>
              <a:rPr sz="1800" dirty="0">
                <a:latin typeface="Times New Roman"/>
                <a:cs typeface="Times New Roman"/>
              </a:rPr>
              <a:t>transmission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frame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Multiple</a:t>
            </a:r>
            <a:r>
              <a:rPr sz="2400" spc="-175" dirty="0"/>
              <a:t> </a:t>
            </a:r>
            <a:r>
              <a:rPr sz="2400" dirty="0"/>
              <a:t>Access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/>
              <a:t>Random</a:t>
            </a:r>
            <a:r>
              <a:rPr sz="2400" spc="-140" dirty="0"/>
              <a:t> </a:t>
            </a:r>
            <a:r>
              <a:rPr sz="2400" dirty="0"/>
              <a:t>Access</a:t>
            </a:r>
            <a:r>
              <a:rPr sz="2400" spc="-20" dirty="0"/>
              <a:t> </a:t>
            </a:r>
            <a:r>
              <a:rPr sz="2400" spc="-10" dirty="0">
                <a:latin typeface="Wingdings"/>
                <a:cs typeface="Wingdings"/>
              </a:rPr>
              <a:t></a:t>
            </a:r>
            <a:r>
              <a:rPr sz="2400" spc="-10" dirty="0"/>
              <a:t>CSMA/CA</a:t>
            </a:r>
            <a:endParaRPr sz="2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84" y="2074163"/>
            <a:ext cx="8510016" cy="19461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CSMA/CA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4948427"/>
            <a:ext cx="9154795" cy="192405"/>
            <a:chOff x="-6095" y="4948427"/>
            <a:chExt cx="9154795" cy="192405"/>
          </a:xfrm>
        </p:grpSpPr>
        <p:sp>
          <p:nvSpPr>
            <p:cNvPr id="3" name="object 3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476" y="0"/>
                  </a:moveTo>
                  <a:lnTo>
                    <a:pt x="0" y="0"/>
                  </a:lnTo>
                  <a:lnTo>
                    <a:pt x="0" y="179831"/>
                  </a:lnTo>
                  <a:lnTo>
                    <a:pt x="9142476" y="179831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831"/>
                  </a:moveTo>
                  <a:lnTo>
                    <a:pt x="9142476" y="179831"/>
                  </a:lnTo>
                  <a:lnTo>
                    <a:pt x="914247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3047" y="19811"/>
            <a:ext cx="9151620" cy="867410"/>
            <a:chOff x="-3047" y="19811"/>
            <a:chExt cx="9151620" cy="867410"/>
          </a:xfrm>
        </p:grpSpPr>
        <p:sp>
          <p:nvSpPr>
            <p:cNvPr id="6" name="object 6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9145524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9145524" y="36575"/>
                  </a:lnTo>
                  <a:lnTo>
                    <a:pt x="9145524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0" y="36575"/>
                  </a:moveTo>
                  <a:lnTo>
                    <a:pt x="9145524" y="36575"/>
                  </a:lnTo>
                  <a:lnTo>
                    <a:pt x="9145524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6096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559" y="19811"/>
              <a:ext cx="830579" cy="80619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863851" y="1119021"/>
            <a:ext cx="5177790" cy="3660140"/>
            <a:chOff x="1863851" y="1119021"/>
            <a:chExt cx="5177790" cy="366014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3851" y="1124712"/>
              <a:ext cx="2555748" cy="364236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CSMA/CA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651628" y="1836877"/>
            <a:ext cx="3241040" cy="197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Channel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idle?</a:t>
            </a:r>
            <a:r>
              <a:rPr sz="1600" spc="3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Don’t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transmit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yet!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latin typeface="Times New Roman"/>
                <a:cs typeface="Times New Roman"/>
              </a:rPr>
              <a:t>Wait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time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Still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idle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after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IFS?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Don’t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transmit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yet! </a:t>
            </a:r>
            <a:r>
              <a:rPr sz="1600" dirty="0">
                <a:latin typeface="Times New Roman"/>
                <a:cs typeface="Times New Roman"/>
              </a:rPr>
              <a:t>Now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Contention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Window.</a:t>
            </a:r>
            <a:endParaRPr sz="1600">
              <a:latin typeface="Times New Roman"/>
              <a:cs typeface="Times New Roman"/>
            </a:endParaRPr>
          </a:p>
          <a:p>
            <a:pPr marL="12700" marR="165735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Choose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random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wait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that </a:t>
            </a:r>
            <a:r>
              <a:rPr sz="1600" dirty="0">
                <a:latin typeface="Times New Roman"/>
                <a:cs typeface="Times New Roman"/>
              </a:rPr>
              <a:t>many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slots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42265" indent="-27876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/>
              <a:t>Algorithm</a:t>
            </a:r>
            <a:r>
              <a:rPr spc="-4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spc="-10" dirty="0"/>
              <a:t>CSMA/CA</a:t>
            </a:r>
          </a:p>
          <a:p>
            <a:pPr marL="666750" lvl="1" indent="-231775">
              <a:lnSpc>
                <a:spcPct val="100000"/>
              </a:lnSpc>
              <a:spcBef>
                <a:spcPts val="459"/>
              </a:spcBef>
              <a:buFont typeface="Arial MT"/>
              <a:buChar char="–"/>
              <a:tabLst>
                <a:tab pos="666750" algn="l"/>
              </a:tabLst>
            </a:pP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ready,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transmitting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station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checks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whether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channel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idle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or</a:t>
            </a:r>
            <a:endParaRPr sz="1800">
              <a:latin typeface="Times New Roman"/>
              <a:cs typeface="Times New Roman"/>
            </a:endParaRPr>
          </a:p>
          <a:p>
            <a:pPr marL="666750">
              <a:lnSpc>
                <a:spcPct val="100000"/>
              </a:lnSpc>
            </a:pPr>
            <a:r>
              <a:rPr sz="1800" spc="-20" dirty="0"/>
              <a:t>busy</a:t>
            </a:r>
            <a:endParaRPr sz="1800"/>
          </a:p>
          <a:p>
            <a:pPr marL="666750" lvl="1" indent="-23177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666750" algn="l"/>
              </a:tabLst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channel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busy,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until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channel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becomes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idle</a:t>
            </a:r>
            <a:endParaRPr sz="1800">
              <a:latin typeface="Times New Roman"/>
              <a:cs typeface="Times New Roman"/>
            </a:endParaRPr>
          </a:p>
          <a:p>
            <a:pPr marL="666750" marR="9525" lvl="1" indent="-2324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666750" algn="l"/>
              </a:tabLst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channel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idle,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station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waits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Inter-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gap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(IFG)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amount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time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frame</a:t>
            </a:r>
            <a:endParaRPr sz="1800">
              <a:latin typeface="Times New Roman"/>
              <a:cs typeface="Times New Roman"/>
            </a:endParaRPr>
          </a:p>
          <a:p>
            <a:pPr marL="666750" lvl="1" indent="-231775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666750" algn="l"/>
              </a:tabLst>
            </a:pPr>
            <a:r>
              <a:rPr sz="1800" dirty="0">
                <a:latin typeface="Times New Roman"/>
                <a:cs typeface="Times New Roman"/>
              </a:rPr>
              <a:t>After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timer</a:t>
            </a:r>
            <a:endParaRPr sz="1800">
              <a:latin typeface="Times New Roman"/>
              <a:cs typeface="Times New Roman"/>
            </a:endParaRPr>
          </a:p>
          <a:p>
            <a:pPr marL="666750" marR="7620" lvl="1" indent="-23241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66675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station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waits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acknowledgement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receiver.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receives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acknowledgement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before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expiry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timer,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marks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successful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transmission</a:t>
            </a:r>
            <a:endParaRPr sz="1800">
              <a:latin typeface="Times New Roman"/>
              <a:cs typeface="Times New Roman"/>
            </a:endParaRPr>
          </a:p>
          <a:p>
            <a:pPr marL="666115" lvl="1" indent="-23114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666115" algn="l"/>
              </a:tabLst>
            </a:pPr>
            <a:r>
              <a:rPr sz="1800" dirty="0">
                <a:latin typeface="Times New Roman"/>
                <a:cs typeface="Times New Roman"/>
              </a:rPr>
              <a:t>Otherwise,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waits for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back-</a:t>
            </a:r>
            <a:r>
              <a:rPr sz="1800" dirty="0">
                <a:latin typeface="Times New Roman"/>
                <a:cs typeface="Times New Roman"/>
              </a:rPr>
              <a:t>off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period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restarts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algorithm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CSMA/CA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993393"/>
            <a:ext cx="8582660" cy="29584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16865" indent="-27876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3168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641350" marR="30480" indent="-232410" algn="just">
              <a:lnSpc>
                <a:spcPct val="100000"/>
              </a:lnSpc>
              <a:spcBef>
                <a:spcPts val="459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CSMA/CD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bandwidth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Mbps.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2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maximum </a:t>
            </a:r>
            <a:r>
              <a:rPr sz="1800" dirty="0">
                <a:latin typeface="Times New Roman"/>
                <a:cs typeface="Times New Roman"/>
              </a:rPr>
              <a:t>propagation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(including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delays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devices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ignoring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needed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send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jamming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signal,)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25.6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μs,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minimum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size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frame?</a:t>
            </a:r>
            <a:endParaRPr sz="1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50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2267585">
              <a:lnSpc>
                <a:spcPct val="100000"/>
              </a:lnSpc>
              <a:spcBef>
                <a:spcPts val="980"/>
              </a:spcBef>
            </a:pP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10" dirty="0">
                <a:latin typeface="Times New Roman"/>
                <a:cs typeface="Times New Roman"/>
              </a:rPr>
              <a:t> bandwidth</a:t>
            </a:r>
            <a:endParaRPr sz="2000">
              <a:latin typeface="Times New Roman"/>
              <a:cs typeface="Times New Roman"/>
            </a:endParaRPr>
          </a:p>
          <a:p>
            <a:pPr marL="3645535">
              <a:lnSpc>
                <a:spcPct val="100000"/>
              </a:lnSpc>
              <a:spcBef>
                <a:spcPts val="575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 * (25.6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 10</a:t>
            </a:r>
            <a:r>
              <a:rPr sz="1950" baseline="25641" dirty="0">
                <a:latin typeface="Times New Roman"/>
                <a:cs typeface="Times New Roman"/>
              </a:rPr>
              <a:t>-6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10</a:t>
            </a:r>
            <a:r>
              <a:rPr sz="1950" spc="-37" baseline="25641" dirty="0">
                <a:latin typeface="Times New Roman"/>
                <a:cs typeface="Times New Roman"/>
              </a:rPr>
              <a:t>6</a:t>
            </a:r>
            <a:endParaRPr sz="1950" baseline="25641">
              <a:latin typeface="Times New Roman"/>
              <a:cs typeface="Times New Roman"/>
            </a:endParaRPr>
          </a:p>
          <a:p>
            <a:pPr marL="3653154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512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64 </a:t>
            </a:r>
            <a:r>
              <a:rPr sz="2000" spc="-20" dirty="0">
                <a:latin typeface="Times New Roman"/>
                <a:cs typeface="Times New Roman"/>
              </a:rPr>
              <a:t>bytes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CSMA/CD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25" dirty="0"/>
              <a:t>CA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993394"/>
            <a:ext cx="8580755" cy="373316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16865" indent="-27876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168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641350" marR="30480" indent="-232410">
              <a:lnSpc>
                <a:spcPts val="1939"/>
              </a:lnSpc>
              <a:spcBef>
                <a:spcPts val="484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95" dirty="0">
                <a:latin typeface="Arial MT"/>
                <a:cs typeface="Arial M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CSMA/CD,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running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Gbps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km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cable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repeaters,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signal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cable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200000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km/sec.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minimum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10" dirty="0">
                <a:latin typeface="Times New Roman"/>
                <a:cs typeface="Times New Roman"/>
              </a:rPr>
              <a:t> size?</a:t>
            </a:r>
            <a:endParaRPr sz="1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44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2267585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</a:t>
            </a:r>
            <a:r>
              <a:rPr sz="1950" baseline="-21367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Distance/Propagation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speed</a:t>
            </a:r>
            <a:endParaRPr sz="2000">
              <a:latin typeface="Times New Roman"/>
              <a:cs typeface="Times New Roman"/>
            </a:endParaRPr>
          </a:p>
          <a:p>
            <a:pPr marL="449643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km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(200000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km/sec)</a:t>
            </a:r>
            <a:endParaRPr sz="2000">
              <a:latin typeface="Times New Roman"/>
              <a:cs typeface="Times New Roman"/>
            </a:endParaRPr>
          </a:p>
          <a:p>
            <a:pPr marL="449643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0.5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 10</a:t>
            </a:r>
            <a:r>
              <a:rPr sz="1950" baseline="25641" dirty="0">
                <a:latin typeface="Times New Roman"/>
                <a:cs typeface="Times New Roman"/>
              </a:rPr>
              <a:t>-5</a:t>
            </a:r>
            <a:r>
              <a:rPr sz="1950" spc="254" baseline="25641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sec</a:t>
            </a:r>
            <a:endParaRPr sz="2000">
              <a:latin typeface="Times New Roman"/>
              <a:cs typeface="Times New Roman"/>
            </a:endParaRPr>
          </a:p>
          <a:p>
            <a:pPr marL="449643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 *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1950" baseline="25641" dirty="0">
                <a:latin typeface="Times New Roman"/>
                <a:cs typeface="Times New Roman"/>
              </a:rPr>
              <a:t>-6</a:t>
            </a:r>
            <a:r>
              <a:rPr sz="1950" spc="247" baseline="25641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sec</a:t>
            </a:r>
            <a:endParaRPr sz="2000">
              <a:latin typeface="Times New Roman"/>
              <a:cs typeface="Times New Roman"/>
            </a:endParaRPr>
          </a:p>
          <a:p>
            <a:pPr marL="301053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10" dirty="0">
                <a:latin typeface="Times New Roman"/>
                <a:cs typeface="Times New Roman"/>
              </a:rPr>
              <a:t> Bandwidth</a:t>
            </a:r>
            <a:endParaRPr sz="2000">
              <a:latin typeface="Times New Roman"/>
              <a:cs typeface="Times New Roman"/>
            </a:endParaRPr>
          </a:p>
          <a:p>
            <a:pPr marL="4135120">
              <a:lnSpc>
                <a:spcPct val="100000"/>
              </a:lnSpc>
              <a:spcBef>
                <a:spcPts val="245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 * 5 *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1950" baseline="25641" dirty="0">
                <a:latin typeface="Times New Roman"/>
                <a:cs typeface="Times New Roman"/>
              </a:rPr>
              <a:t>-6</a:t>
            </a:r>
            <a:r>
              <a:rPr sz="1950" spc="240" baseline="25641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*10</a:t>
            </a:r>
            <a:r>
              <a:rPr sz="1950" spc="-30" baseline="25641" dirty="0">
                <a:latin typeface="Times New Roman"/>
                <a:cs typeface="Times New Roman"/>
              </a:rPr>
              <a:t>9</a:t>
            </a:r>
            <a:endParaRPr sz="1950" baseline="25641">
              <a:latin typeface="Times New Roman"/>
              <a:cs typeface="Times New Roman"/>
            </a:endParaRPr>
          </a:p>
          <a:p>
            <a:pPr marL="413512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Times New Roman"/>
                <a:cs typeface="Times New Roman"/>
              </a:rPr>
              <a:t>= 10000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bits`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CSMA/CD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25" dirty="0"/>
              <a:t>CA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993394"/>
            <a:ext cx="8581390" cy="36449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16865" indent="-27876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168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641350" marR="30480" indent="-232410" algn="just">
              <a:lnSpc>
                <a:spcPct val="90000"/>
              </a:lnSpc>
              <a:spcBef>
                <a:spcPts val="455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km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long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broadcast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baseline="25462" dirty="0">
                <a:latin typeface="Times New Roman"/>
                <a:cs typeface="Times New Roman"/>
              </a:rPr>
              <a:t>7</a:t>
            </a:r>
            <a:r>
              <a:rPr sz="1800" spc="262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bps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bandwidth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CSMA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CD.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signal </a:t>
            </a:r>
            <a:r>
              <a:rPr sz="1800" dirty="0">
                <a:latin typeface="Times New Roman"/>
                <a:cs typeface="Times New Roman"/>
              </a:rPr>
              <a:t>travels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along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wire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x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baseline="25462" dirty="0">
                <a:latin typeface="Times New Roman"/>
                <a:cs typeface="Times New Roman"/>
              </a:rPr>
              <a:t>8</a:t>
            </a:r>
            <a:r>
              <a:rPr sz="1800" spc="307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m/sec.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What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minimum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packet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size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be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network?</a:t>
            </a:r>
            <a:endParaRPr sz="1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2267585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</a:t>
            </a:r>
            <a:r>
              <a:rPr sz="1950" baseline="-21367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Distance/Propagation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speed</a:t>
            </a:r>
            <a:endParaRPr sz="2000">
              <a:latin typeface="Times New Roman"/>
              <a:cs typeface="Times New Roman"/>
            </a:endParaRPr>
          </a:p>
          <a:p>
            <a:pPr marL="449643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 km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 10</a:t>
            </a:r>
            <a:r>
              <a:rPr sz="1950" baseline="25641" dirty="0">
                <a:latin typeface="Times New Roman"/>
                <a:cs typeface="Times New Roman"/>
              </a:rPr>
              <a:t>8</a:t>
            </a:r>
            <a:r>
              <a:rPr sz="1950" spc="240" baseline="25641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m/sec)</a:t>
            </a:r>
            <a:endParaRPr sz="2000">
              <a:latin typeface="Times New Roman"/>
              <a:cs typeface="Times New Roman"/>
            </a:endParaRPr>
          </a:p>
          <a:p>
            <a:pPr marL="449643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1950" baseline="25641" dirty="0">
                <a:latin typeface="Times New Roman"/>
                <a:cs typeface="Times New Roman"/>
              </a:rPr>
              <a:t>-5</a:t>
            </a:r>
            <a:r>
              <a:rPr sz="1950" spc="262" baseline="25641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sec</a:t>
            </a:r>
            <a:endParaRPr sz="2000">
              <a:latin typeface="Times New Roman"/>
              <a:cs typeface="Times New Roman"/>
            </a:endParaRPr>
          </a:p>
          <a:p>
            <a:pPr marL="301053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10" dirty="0">
                <a:latin typeface="Times New Roman"/>
                <a:cs typeface="Times New Roman"/>
              </a:rPr>
              <a:t> Bandwidth</a:t>
            </a:r>
            <a:endParaRPr sz="2000">
              <a:latin typeface="Times New Roman"/>
              <a:cs typeface="Times New Roman"/>
            </a:endParaRPr>
          </a:p>
          <a:p>
            <a:pPr marL="413512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Times New Roman"/>
                <a:cs typeface="Times New Roman"/>
              </a:rPr>
              <a:t>= 2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10</a:t>
            </a:r>
            <a:r>
              <a:rPr sz="1950" spc="-15" baseline="25641" dirty="0">
                <a:latin typeface="Times New Roman"/>
                <a:cs typeface="Times New Roman"/>
              </a:rPr>
              <a:t>-</a:t>
            </a:r>
            <a:r>
              <a:rPr sz="1950" baseline="25641" dirty="0">
                <a:latin typeface="Times New Roman"/>
                <a:cs typeface="Times New Roman"/>
              </a:rPr>
              <a:t>5</a:t>
            </a:r>
            <a:r>
              <a:rPr sz="1950" spc="247" baseline="25641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*10</a:t>
            </a:r>
            <a:r>
              <a:rPr sz="1950" spc="-30" baseline="25641" dirty="0">
                <a:latin typeface="Times New Roman"/>
                <a:cs typeface="Times New Roman"/>
              </a:rPr>
              <a:t>7</a:t>
            </a:r>
            <a:endParaRPr sz="1950" baseline="25641">
              <a:latin typeface="Times New Roman"/>
              <a:cs typeface="Times New Roman"/>
            </a:endParaRPr>
          </a:p>
          <a:p>
            <a:pPr marL="4135120">
              <a:lnSpc>
                <a:spcPct val="100000"/>
              </a:lnSpc>
              <a:spcBef>
                <a:spcPts val="245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200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bits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CSMA/CD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25" dirty="0"/>
              <a:t>CA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3393"/>
            <a:ext cx="8529955" cy="16243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914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615950" marR="5080" indent="-232410" algn="just">
              <a:lnSpc>
                <a:spcPct val="100000"/>
              </a:lnSpc>
              <a:spcBef>
                <a:spcPts val="459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90" dirty="0">
                <a:latin typeface="Arial MT"/>
                <a:cs typeface="Arial M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stations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Ethernet.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steady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queue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frames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send.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attempts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transmit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frame,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collide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wins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off </a:t>
            </a:r>
            <a:r>
              <a:rPr sz="1800" dirty="0">
                <a:latin typeface="Times New Roman"/>
                <a:cs typeface="Times New Roman"/>
              </a:rPr>
              <a:t>race.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successful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transmission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attempt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transmit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collide.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probability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that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second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race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u="sng" spc="25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CSMA/CD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25" dirty="0"/>
              <a:t>CA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993393"/>
            <a:ext cx="6301740" cy="35807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1st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Transmission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Attempt:</a:t>
            </a:r>
            <a:endParaRPr sz="1800" dirty="0">
              <a:latin typeface="Times New Roman"/>
              <a:cs typeface="Times New Roman"/>
            </a:endParaRPr>
          </a:p>
          <a:p>
            <a:pPr marL="78168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stations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 attempts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transmit 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frame</a:t>
            </a:r>
            <a:endParaRPr sz="1800" dirty="0">
              <a:latin typeface="Times New Roman"/>
              <a:cs typeface="Times New Roman"/>
            </a:endParaRPr>
          </a:p>
          <a:p>
            <a:pPr marL="781685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Times New Roman"/>
                <a:cs typeface="Times New Roman"/>
              </a:rPr>
              <a:t>collision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occurs</a:t>
            </a:r>
            <a:endParaRPr sz="1800" dirty="0">
              <a:latin typeface="Times New Roman"/>
              <a:cs typeface="Times New Roman"/>
            </a:endParaRPr>
          </a:p>
          <a:p>
            <a:pPr marL="78168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Times New Roman"/>
                <a:cs typeface="Times New Roman"/>
              </a:rPr>
              <a:t>Back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Off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Algorithm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runs</a:t>
            </a:r>
            <a:endParaRPr sz="1800" dirty="0">
              <a:latin typeface="Times New Roman"/>
              <a:cs typeface="Times New Roman"/>
            </a:endParaRPr>
          </a:p>
          <a:p>
            <a:pPr marL="781685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Times New Roman"/>
                <a:cs typeface="Times New Roman"/>
              </a:rPr>
              <a:t>Station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successfully transmits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1st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packet</a:t>
            </a:r>
            <a:endParaRPr sz="18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70"/>
              </a:spcBef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1950" baseline="25641" dirty="0">
                <a:latin typeface="Times New Roman"/>
                <a:cs typeface="Times New Roman"/>
              </a:rPr>
              <a:t>nd</a:t>
            </a:r>
            <a:r>
              <a:rPr sz="1950" spc="209" baseline="25641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Transmission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Attempt:</a:t>
            </a:r>
            <a:endParaRPr sz="2000" dirty="0">
              <a:latin typeface="Times New Roman"/>
              <a:cs typeface="Times New Roman"/>
            </a:endParaRPr>
          </a:p>
          <a:p>
            <a:pPr marL="781685" marR="415925">
              <a:lnSpc>
                <a:spcPts val="2880"/>
              </a:lnSpc>
              <a:spcBef>
                <a:spcPts val="105"/>
              </a:spcBef>
            </a:pPr>
            <a:r>
              <a:rPr sz="2000" spc="-10" dirty="0">
                <a:latin typeface="Times New Roman"/>
                <a:cs typeface="Times New Roman"/>
              </a:rPr>
              <a:t>Station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attempts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packet </a:t>
            </a:r>
            <a:r>
              <a:rPr sz="2000" dirty="0">
                <a:latin typeface="Times New Roman"/>
                <a:cs typeface="Times New Roman"/>
              </a:rPr>
              <a:t>Station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attempts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retransmit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packet </a:t>
            </a:r>
            <a:r>
              <a:rPr sz="2000" dirty="0">
                <a:latin typeface="Times New Roman"/>
                <a:cs typeface="Times New Roman"/>
              </a:rPr>
              <a:t>collision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occurs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CSMA/CD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25" dirty="0"/>
              <a:t>CA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540" y="1015746"/>
            <a:ext cx="8587740" cy="351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19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5"/>
              </a:spcBef>
            </a:pPr>
            <a:r>
              <a:rPr sz="1500" spc="-20" dirty="0">
                <a:latin typeface="Times New Roman"/>
                <a:cs typeface="Times New Roman"/>
              </a:rPr>
              <a:t>Now,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45" dirty="0">
                <a:latin typeface="Times New Roman"/>
                <a:cs typeface="Times New Roman"/>
              </a:rPr>
              <a:t>We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probability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station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transmit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packet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successfully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after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collision</a:t>
            </a: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63500" marR="6748145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After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collision, </a:t>
            </a: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Station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A:</a:t>
            </a:r>
            <a:endParaRPr sz="1500" dirty="0">
              <a:latin typeface="Times New Roman"/>
              <a:cs typeface="Times New Roman"/>
            </a:endParaRPr>
          </a:p>
          <a:p>
            <a:pPr marL="63500" marR="3729354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latin typeface="Times New Roman"/>
                <a:cs typeface="Times New Roman"/>
              </a:rPr>
              <a:t>2</a:t>
            </a:r>
            <a:r>
              <a:rPr sz="1500" baseline="25000" dirty="0">
                <a:latin typeface="Times New Roman"/>
                <a:cs typeface="Times New Roman"/>
              </a:rPr>
              <a:t>nd</a:t>
            </a:r>
            <a:r>
              <a:rPr sz="1500" spc="157" baseline="250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packet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station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undergoes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collision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1st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time </a:t>
            </a:r>
            <a:r>
              <a:rPr sz="1500" dirty="0">
                <a:latin typeface="Times New Roman"/>
                <a:cs typeface="Times New Roman"/>
              </a:rPr>
              <a:t>So,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collision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number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</a:t>
            </a:r>
            <a:r>
              <a:rPr sz="1500" baseline="25000" dirty="0">
                <a:latin typeface="Times New Roman"/>
                <a:cs typeface="Times New Roman"/>
              </a:rPr>
              <a:t>nd</a:t>
            </a:r>
            <a:r>
              <a:rPr sz="1500" spc="179" baseline="250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packet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station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1</a:t>
            </a:r>
            <a:endParaRPr sz="15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500" spc="-20" dirty="0">
                <a:latin typeface="Times New Roman"/>
                <a:cs typeface="Times New Roman"/>
              </a:rPr>
              <a:t>Now,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station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randomly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chooses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number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range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[0,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</a:t>
            </a:r>
            <a:r>
              <a:rPr sz="1500" baseline="25000" dirty="0">
                <a:latin typeface="Times New Roman"/>
                <a:cs typeface="Times New Roman"/>
              </a:rPr>
              <a:t>1</a:t>
            </a:r>
            <a:r>
              <a:rPr sz="1500" dirty="0">
                <a:latin typeface="Times New Roman"/>
                <a:cs typeface="Times New Roman"/>
              </a:rPr>
              <a:t>-1]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[0,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1]</a:t>
            </a:r>
            <a:endParaRPr sz="15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Then,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station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waits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back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time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attempts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retransmit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packet</a:t>
            </a: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Station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B:</a:t>
            </a:r>
            <a:endParaRPr sz="1500" dirty="0">
              <a:latin typeface="Times New Roman"/>
              <a:cs typeface="Times New Roman"/>
            </a:endParaRPr>
          </a:p>
          <a:p>
            <a:pPr marL="63500" marR="3698875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1</a:t>
            </a:r>
            <a:r>
              <a:rPr sz="1500" baseline="25000" dirty="0">
                <a:latin typeface="Times New Roman"/>
                <a:cs typeface="Times New Roman"/>
              </a:rPr>
              <a:t>st</a:t>
            </a:r>
            <a:r>
              <a:rPr sz="1500" spc="165" baseline="250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packet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station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undergoes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collision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2nd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time </a:t>
            </a:r>
            <a:r>
              <a:rPr sz="1500" dirty="0">
                <a:latin typeface="Times New Roman"/>
                <a:cs typeface="Times New Roman"/>
              </a:rPr>
              <a:t>So,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collision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number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1st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packet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station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 =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2</a:t>
            </a:r>
            <a:endParaRPr sz="15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500" spc="-20" dirty="0">
                <a:latin typeface="Times New Roman"/>
                <a:cs typeface="Times New Roman"/>
              </a:rPr>
              <a:t>Now,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station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randomly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chooses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number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range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[0,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</a:t>
            </a:r>
            <a:r>
              <a:rPr sz="1500" baseline="25000" dirty="0">
                <a:latin typeface="Times New Roman"/>
                <a:cs typeface="Times New Roman"/>
              </a:rPr>
              <a:t>2</a:t>
            </a:r>
            <a:r>
              <a:rPr sz="1500" dirty="0">
                <a:latin typeface="Times New Roman"/>
                <a:cs typeface="Times New Roman"/>
              </a:rPr>
              <a:t>-1]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[0,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3]</a:t>
            </a:r>
            <a:endParaRPr sz="15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latin typeface="Times New Roman"/>
                <a:cs typeface="Times New Roman"/>
              </a:rPr>
              <a:t>Then,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waits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back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time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attempts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retransmit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packet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CSMA/CD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25" dirty="0"/>
              <a:t>CA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240" y="993393"/>
            <a:ext cx="4277360" cy="24472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0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59"/>
              </a:spcBef>
            </a:pPr>
            <a:r>
              <a:rPr sz="1800" dirty="0">
                <a:latin typeface="Times New Roman"/>
                <a:cs typeface="Times New Roman"/>
              </a:rPr>
              <a:t>Following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8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10" dirty="0">
                <a:latin typeface="Times New Roman"/>
                <a:cs typeface="Times New Roman"/>
              </a:rPr>
              <a:t> possible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10" dirty="0">
                <a:latin typeface="Times New Roman"/>
                <a:cs typeface="Times New Roman"/>
              </a:rPr>
              <a:t> here,</a:t>
            </a:r>
            <a:endParaRPr sz="18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Times New Roman"/>
                <a:cs typeface="Times New Roman"/>
              </a:rPr>
              <a:t>Probability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of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winning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baseline="25462" dirty="0">
                <a:latin typeface="Times New Roman"/>
                <a:cs typeface="Times New Roman"/>
              </a:rPr>
              <a:t>nd</a:t>
            </a:r>
            <a:r>
              <a:rPr sz="1800" spc="179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race</a:t>
            </a:r>
            <a:endParaRPr sz="18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5/8</a:t>
            </a:r>
            <a:endParaRPr sz="18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0.625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CSMA/CD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25" dirty="0"/>
              <a:t>CA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096619"/>
              </p:ext>
            </p:extLst>
          </p:nvPr>
        </p:nvGraphicFramePr>
        <p:xfrm>
          <a:off x="5527964" y="1194956"/>
          <a:ext cx="3015324" cy="3549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7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6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Station</a:t>
                      </a:r>
                      <a:r>
                        <a:rPr sz="16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Station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Remark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Collision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wins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wins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6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wins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wins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6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Collision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6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wins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6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wins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16918</TotalTime>
  <Words>2434</Words>
  <Application>Microsoft Office PowerPoint</Application>
  <PresentationFormat>On-screen Show (16:9)</PresentationFormat>
  <Paragraphs>309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 MT</vt:lpstr>
      <vt:lpstr>Calibri</vt:lpstr>
      <vt:lpstr>Times New Roman</vt:lpstr>
      <vt:lpstr>Wingdings</vt:lpstr>
      <vt:lpstr>Office Theme</vt:lpstr>
      <vt:lpstr>GLA UNIVERSITY</vt:lpstr>
      <vt:lpstr>Multiple Access</vt:lpstr>
      <vt:lpstr>Multiple Access</vt:lpstr>
      <vt:lpstr>Multiple Access</vt:lpstr>
      <vt:lpstr>Multiple Access Random Access</vt:lpstr>
      <vt:lpstr>Multiple Access Random Access Aloha</vt:lpstr>
      <vt:lpstr>Multiple Access Random Access Aloha Pure Aloha</vt:lpstr>
      <vt:lpstr>Multiple Access Random Access Aloha Pure Aloha</vt:lpstr>
      <vt:lpstr>Multiple Access Random Access Aloha Pure Aloha</vt:lpstr>
      <vt:lpstr>Multiple Access Random Access Aloha Pure Aloha</vt:lpstr>
      <vt:lpstr>Multiple Access Random Access Aloha Pure Aloha</vt:lpstr>
      <vt:lpstr>Multiple Access Random Access Aloha Pure Aloha</vt:lpstr>
      <vt:lpstr>Multiple Access Random Access Aloha Slotted Aloha</vt:lpstr>
      <vt:lpstr>Multiple Access Random Access Aloha Slotted Aloha</vt:lpstr>
      <vt:lpstr>Multiple Access Random Access Aloha Slotted Aloha</vt:lpstr>
      <vt:lpstr>Multiple Access Random Access Aloha</vt:lpstr>
      <vt:lpstr>Multiple Access Random Access Aloha</vt:lpstr>
      <vt:lpstr>Multiple Access Random Access Aloha</vt:lpstr>
      <vt:lpstr>Multiple Access Random Access Aloha</vt:lpstr>
      <vt:lpstr>Multiple Access Random Access Aloha</vt:lpstr>
      <vt:lpstr>Multiple Access Random Access CSMA</vt:lpstr>
      <vt:lpstr>Multiple Access Random Access CSMA</vt:lpstr>
      <vt:lpstr>Multiple Access Random Access CSMA</vt:lpstr>
      <vt:lpstr>Multiple Access Random Access CSMA1 persistent</vt:lpstr>
      <vt:lpstr>Multiple Access Random Access CSMANon persistent</vt:lpstr>
      <vt:lpstr>Multiple Access Random Access CSMAp persistent</vt:lpstr>
      <vt:lpstr>Multiple Access Random Access CSMA/CD</vt:lpstr>
      <vt:lpstr>Multiple Access Random Access CSMA/CD</vt:lpstr>
      <vt:lpstr>Multiple Access Random Access CSMA/CD</vt:lpstr>
      <vt:lpstr>Multiple Access Random Access CSMA/CD</vt:lpstr>
      <vt:lpstr>Multiple Access Random Access CSMA/CD</vt:lpstr>
      <vt:lpstr>Multiple Access Random Access CSMA/CA</vt:lpstr>
      <vt:lpstr>Multiple Access Random Access CSMA/CA</vt:lpstr>
      <vt:lpstr>CSMA/CA</vt:lpstr>
      <vt:lpstr>CSMA/CA</vt:lpstr>
      <vt:lpstr>CSMA/CA</vt:lpstr>
      <vt:lpstr>CSMA/CD - CA</vt:lpstr>
      <vt:lpstr>CSMA/CD - CA</vt:lpstr>
      <vt:lpstr>CSMA/CD - CA</vt:lpstr>
      <vt:lpstr>CSMA/CD - CA</vt:lpstr>
      <vt:lpstr>CSMA/CD - CA</vt:lpstr>
      <vt:lpstr>CSMA/CD - CA</vt:lpstr>
      <vt:lpstr>CSMA/CD - 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RadheyKrishna</dc:creator>
  <cp:lastModifiedBy>Admin</cp:lastModifiedBy>
  <cp:revision>3</cp:revision>
  <dcterms:created xsi:type="dcterms:W3CDTF">2024-08-06T04:57:05Z</dcterms:created>
  <dcterms:modified xsi:type="dcterms:W3CDTF">2024-10-17T02:57:46Z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2024-08-06T00:00:00Z</vt:filetime>
  </property>
  <property fmtid="{D5CDD505-2E9C-101B-9397-08002B2CF9AE}" pid="5" name="Producer">
    <vt:lpwstr>Microsoft® PowerPoint® 2013</vt:lpwstr>
  </property>
</Properties>
</file>
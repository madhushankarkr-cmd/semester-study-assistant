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5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DBDDD2-68EF-4511-864C-AFA12B9A09A0}" type="datetimeFigureOut">
              <a:rPr lang="en-IN" smtClean="0"/>
              <a:t>27-08-2024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5F37B-8834-45BC-85E7-19FF62F816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40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48DA0-A2FD-4943-8200-057453D6CAB3}" type="datetime1">
              <a:rPr lang="en-US" smtClean="0"/>
              <a:t>8/27/2024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89903-7842-46FC-B811-8FA773D7D82C}" type="datetime1">
              <a:rPr lang="en-US" smtClean="0"/>
              <a:t>8/27/2024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13F49-E35A-491A-93F7-E1E126B20C1C}" type="datetime1">
              <a:rPr lang="en-US" smtClean="0"/>
              <a:t>8/27/2024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B97C5-5C7D-4A15-9A83-A861F78086F3}" type="datetime1">
              <a:rPr lang="en-US" smtClean="0"/>
              <a:t>8/27/2024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C89E3-00B7-4266-B7C0-A1C8CA25A669}" type="datetime1">
              <a:rPr lang="en-US" smtClean="0"/>
              <a:t>8/27/2024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476" y="0"/>
                </a:moveTo>
                <a:lnTo>
                  <a:pt x="0" y="0"/>
                </a:lnTo>
                <a:lnTo>
                  <a:pt x="0" y="179831"/>
                </a:lnTo>
                <a:lnTo>
                  <a:pt x="9142476" y="179831"/>
                </a:lnTo>
                <a:lnTo>
                  <a:pt x="9142476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831"/>
                </a:moveTo>
                <a:lnTo>
                  <a:pt x="9142476" y="179831"/>
                </a:lnTo>
                <a:lnTo>
                  <a:pt x="9142476" y="0"/>
                </a:lnTo>
                <a:lnTo>
                  <a:pt x="0" y="0"/>
                </a:lnTo>
              </a:path>
            </a:pathLst>
          </a:custGeom>
          <a:ln w="12192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9145524" y="0"/>
                </a:moveTo>
                <a:lnTo>
                  <a:pt x="0" y="0"/>
                </a:lnTo>
                <a:lnTo>
                  <a:pt x="0" y="36575"/>
                </a:lnTo>
                <a:lnTo>
                  <a:pt x="9145524" y="36575"/>
                </a:lnTo>
                <a:lnTo>
                  <a:pt x="9145524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0" y="36575"/>
                </a:moveTo>
                <a:lnTo>
                  <a:pt x="9145524" y="36575"/>
                </a:lnTo>
                <a:lnTo>
                  <a:pt x="9145524" y="0"/>
                </a:lnTo>
                <a:lnTo>
                  <a:pt x="0" y="0"/>
                </a:lnTo>
                <a:lnTo>
                  <a:pt x="0" y="36575"/>
                </a:lnTo>
                <a:close/>
              </a:path>
            </a:pathLst>
          </a:custGeom>
          <a:ln w="6096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90559" y="19811"/>
            <a:ext cx="830579" cy="8061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52526"/>
            <a:ext cx="8529319" cy="560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001268"/>
            <a:ext cx="8530590" cy="3487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7591" y="4943984"/>
            <a:ext cx="112077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C1F22-8DB6-4A7D-A8E0-532167EB2EFD}" type="datetime1">
              <a:rPr lang="en-US" smtClean="0"/>
              <a:t>8/27/2024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62314" y="4978230"/>
            <a:ext cx="241300" cy="19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3716" y="0"/>
            <a:ext cx="9157970" cy="1298575"/>
            <a:chOff x="-13716" y="0"/>
            <a:chExt cx="9157970" cy="1298575"/>
          </a:xfrm>
        </p:grpSpPr>
        <p:sp>
          <p:nvSpPr>
            <p:cNvPr id="3" name="object 3"/>
            <p:cNvSpPr/>
            <p:nvPr/>
          </p:nvSpPr>
          <p:spPr>
            <a:xfrm>
              <a:off x="761" y="0"/>
              <a:ext cx="9143365" cy="1037590"/>
            </a:xfrm>
            <a:custGeom>
              <a:avLst/>
              <a:gdLst/>
              <a:ahLst/>
              <a:cxnLst/>
              <a:rect l="l" t="t" r="r" b="b"/>
              <a:pathLst>
                <a:path w="9143365" h="1037590">
                  <a:moveTo>
                    <a:pt x="0" y="1037082"/>
                  </a:moveTo>
                  <a:lnTo>
                    <a:pt x="9143238" y="1037082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1037082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022603"/>
              <a:ext cx="9143365" cy="29209"/>
            </a:xfrm>
            <a:custGeom>
              <a:avLst/>
              <a:gdLst/>
              <a:ahLst/>
              <a:cxnLst/>
              <a:rect l="l" t="t" r="r" b="b"/>
              <a:pathLst>
                <a:path w="9143365" h="29209">
                  <a:moveTo>
                    <a:pt x="0" y="28955"/>
                  </a:moveTo>
                  <a:lnTo>
                    <a:pt x="9143238" y="28955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D3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0"/>
              <a:ext cx="0" cy="1037590"/>
            </a:xfrm>
            <a:custGeom>
              <a:avLst/>
              <a:gdLst/>
              <a:ahLst/>
              <a:cxnLst/>
              <a:rect l="l" t="t" r="r" b="b"/>
              <a:pathLst>
                <a:path h="1037590">
                  <a:moveTo>
                    <a:pt x="0" y="0"/>
                  </a:moveTo>
                  <a:lnTo>
                    <a:pt x="0" y="1037082"/>
                  </a:lnTo>
                </a:path>
              </a:pathLst>
            </a:custGeom>
            <a:ln w="2895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9352" y="0"/>
              <a:ext cx="1374648" cy="12984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4236" y="0"/>
              <a:ext cx="1159764" cy="10850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3400" y="109728"/>
              <a:ext cx="830579" cy="8061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5372" y="21335"/>
              <a:ext cx="3902964" cy="10530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960" y="83819"/>
              <a:ext cx="3637788" cy="923543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409" rIns="0" bIns="0" rtlCol="0">
            <a:spAutoFit/>
          </a:bodyPr>
          <a:lstStyle/>
          <a:p>
            <a:pPr marL="2716530">
              <a:lnSpc>
                <a:spcPct val="100000"/>
              </a:lnSpc>
              <a:spcBef>
                <a:spcPts val="105"/>
              </a:spcBef>
            </a:pPr>
            <a:r>
              <a:rPr sz="2900" spc="-20" dirty="0">
                <a:solidFill>
                  <a:srgbClr val="336600"/>
                </a:solidFill>
              </a:rPr>
              <a:t>GLA</a:t>
            </a:r>
            <a:r>
              <a:rPr sz="2900" spc="-150" dirty="0">
                <a:solidFill>
                  <a:srgbClr val="336600"/>
                </a:solidFill>
              </a:rPr>
              <a:t> </a:t>
            </a:r>
            <a:r>
              <a:rPr sz="2900" spc="-10" dirty="0">
                <a:solidFill>
                  <a:srgbClr val="336600"/>
                </a:solidFill>
              </a:rPr>
              <a:t>UNIVERSITY</a:t>
            </a:r>
            <a:endParaRPr sz="2900"/>
          </a:p>
        </p:txBody>
      </p:sp>
      <p:sp>
        <p:nvSpPr>
          <p:cNvPr id="12" name="object 12"/>
          <p:cNvSpPr txBox="1"/>
          <p:nvPr/>
        </p:nvSpPr>
        <p:spPr>
          <a:xfrm>
            <a:off x="2467482" y="1306829"/>
            <a:ext cx="4355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cap="small" dirty="0">
                <a:latin typeface="Times New Roman"/>
                <a:cs typeface="Times New Roman"/>
              </a:rPr>
              <a:t>Computer</a:t>
            </a:r>
            <a:r>
              <a:rPr sz="3600" b="1" cap="small" spc="-25" dirty="0">
                <a:latin typeface="Times New Roman"/>
                <a:cs typeface="Times New Roman"/>
              </a:rPr>
              <a:t> </a:t>
            </a:r>
            <a:r>
              <a:rPr sz="3600" b="1" cap="small" spc="-75" dirty="0">
                <a:latin typeface="Times New Roman"/>
                <a:cs typeface="Times New Roman"/>
              </a:rPr>
              <a:t>Network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095" y="4948427"/>
            <a:ext cx="9154795" cy="192405"/>
            <a:chOff x="-6095" y="4948427"/>
            <a:chExt cx="9154795" cy="192405"/>
          </a:xfrm>
        </p:grpSpPr>
        <p:sp>
          <p:nvSpPr>
            <p:cNvPr id="4" name="object 4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476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9142476" y="179831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831"/>
                  </a:moveTo>
                  <a:lnTo>
                    <a:pt x="9142476" y="179831"/>
                  </a:lnTo>
                  <a:lnTo>
                    <a:pt x="914247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3047" y="19811"/>
            <a:ext cx="9151620" cy="867410"/>
            <a:chOff x="-3047" y="19811"/>
            <a:chExt cx="9151620" cy="8674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559" y="19811"/>
              <a:ext cx="830579" cy="806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9145524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5524" y="36575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0" y="36575"/>
                  </a:moveTo>
                  <a:lnTo>
                    <a:pt x="9145524" y="36575"/>
                  </a:lnTo>
                  <a:lnTo>
                    <a:pt x="9145524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609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868804" y="2337943"/>
            <a:ext cx="543179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cap="small" spc="-30" dirty="0">
                <a:latin typeface="Times New Roman"/>
                <a:cs typeface="Times New Roman"/>
              </a:rPr>
              <a:t>Digital-</a:t>
            </a:r>
            <a:r>
              <a:rPr sz="2900" b="1" cap="small" spc="-20" dirty="0">
                <a:latin typeface="Times New Roman"/>
                <a:cs typeface="Times New Roman"/>
              </a:rPr>
              <a:t>to-</a:t>
            </a:r>
            <a:r>
              <a:rPr sz="2900" b="1" cap="small" spc="-10" dirty="0">
                <a:latin typeface="Times New Roman"/>
                <a:cs typeface="Times New Roman"/>
              </a:rPr>
              <a:t>Digital</a:t>
            </a:r>
            <a:r>
              <a:rPr sz="2900" b="1" cap="small" spc="-40" dirty="0">
                <a:latin typeface="Times New Roman"/>
                <a:cs typeface="Times New Roman"/>
              </a:rPr>
              <a:t> </a:t>
            </a:r>
            <a:r>
              <a:rPr sz="2900" b="1" cap="small" spc="-25" dirty="0">
                <a:latin typeface="Times New Roman"/>
                <a:cs typeface="Times New Roman"/>
              </a:rPr>
              <a:t>Conversion</a:t>
            </a:r>
            <a:endParaRPr sz="2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Digital-</a:t>
            </a:r>
            <a:r>
              <a:rPr spc="-10" dirty="0"/>
              <a:t>to-</a:t>
            </a:r>
            <a:r>
              <a:rPr dirty="0"/>
              <a:t>digital</a:t>
            </a:r>
            <a:r>
              <a:rPr spc="-5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355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In</a:t>
            </a:r>
            <a:r>
              <a:rPr spc="105" dirty="0"/>
              <a:t> </a:t>
            </a:r>
            <a:r>
              <a:rPr dirty="0"/>
              <a:t>this</a:t>
            </a:r>
            <a:r>
              <a:rPr spc="125" dirty="0"/>
              <a:t> </a:t>
            </a:r>
            <a:r>
              <a:rPr dirty="0"/>
              <a:t>section,</a:t>
            </a:r>
            <a:r>
              <a:rPr spc="114" dirty="0"/>
              <a:t> </a:t>
            </a:r>
            <a:r>
              <a:rPr dirty="0"/>
              <a:t>we</a:t>
            </a:r>
            <a:r>
              <a:rPr spc="120" dirty="0"/>
              <a:t> </a:t>
            </a:r>
            <a:r>
              <a:rPr dirty="0"/>
              <a:t>see</a:t>
            </a:r>
            <a:r>
              <a:rPr spc="120" dirty="0"/>
              <a:t> </a:t>
            </a:r>
            <a:r>
              <a:rPr dirty="0"/>
              <a:t>how</a:t>
            </a:r>
            <a:r>
              <a:rPr spc="120" dirty="0"/>
              <a:t> </a:t>
            </a:r>
            <a:r>
              <a:rPr dirty="0"/>
              <a:t>we</a:t>
            </a:r>
            <a:r>
              <a:rPr spc="125" dirty="0"/>
              <a:t> </a:t>
            </a:r>
            <a:r>
              <a:rPr dirty="0"/>
              <a:t>can</a:t>
            </a:r>
            <a:r>
              <a:rPr spc="114" dirty="0"/>
              <a:t> </a:t>
            </a:r>
            <a:r>
              <a:rPr dirty="0"/>
              <a:t>represent</a:t>
            </a:r>
            <a:r>
              <a:rPr spc="125" dirty="0"/>
              <a:t> </a:t>
            </a:r>
            <a:r>
              <a:rPr dirty="0"/>
              <a:t>digital</a:t>
            </a:r>
            <a:r>
              <a:rPr spc="110" dirty="0"/>
              <a:t> </a:t>
            </a:r>
            <a:r>
              <a:rPr dirty="0"/>
              <a:t>data</a:t>
            </a:r>
            <a:r>
              <a:rPr spc="120" dirty="0"/>
              <a:t> </a:t>
            </a:r>
            <a:r>
              <a:rPr dirty="0"/>
              <a:t>by</a:t>
            </a:r>
            <a:r>
              <a:rPr spc="120" dirty="0"/>
              <a:t> </a:t>
            </a:r>
            <a:r>
              <a:rPr spc="-10" dirty="0"/>
              <a:t>using</a:t>
            </a:r>
          </a:p>
          <a:p>
            <a:pPr marL="355600">
              <a:lnSpc>
                <a:spcPts val="2850"/>
              </a:lnSpc>
            </a:pPr>
            <a:r>
              <a:rPr dirty="0"/>
              <a:t>digital</a:t>
            </a:r>
            <a:r>
              <a:rPr spc="-25" dirty="0"/>
              <a:t> </a:t>
            </a:r>
            <a:r>
              <a:rPr spc="-10" dirty="0"/>
              <a:t>signals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conversion</a:t>
            </a:r>
            <a:r>
              <a:rPr spc="-35" dirty="0"/>
              <a:t> </a:t>
            </a:r>
            <a:r>
              <a:rPr dirty="0"/>
              <a:t>involves</a:t>
            </a:r>
            <a:r>
              <a:rPr spc="-25" dirty="0"/>
              <a:t> </a:t>
            </a:r>
            <a:r>
              <a:rPr dirty="0"/>
              <a:t>three</a:t>
            </a:r>
            <a:r>
              <a:rPr spc="-35" dirty="0"/>
              <a:t> </a:t>
            </a:r>
            <a:r>
              <a:rPr spc="-10" dirty="0"/>
              <a:t>techniques:</a:t>
            </a: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line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coding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coding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scrambling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855"/>
              </a:lnSpc>
              <a:spcBef>
                <a:spcPts val="5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Line</a:t>
            </a:r>
            <a:r>
              <a:rPr spc="-5" dirty="0"/>
              <a:t> </a:t>
            </a:r>
            <a:r>
              <a:rPr dirty="0"/>
              <a:t>coding</a:t>
            </a:r>
            <a:r>
              <a:rPr spc="-5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dirty="0"/>
              <a:t>always</a:t>
            </a:r>
            <a:r>
              <a:rPr spc="10" dirty="0"/>
              <a:t> </a:t>
            </a:r>
            <a:r>
              <a:rPr dirty="0"/>
              <a:t>needed</a:t>
            </a:r>
            <a:r>
              <a:rPr spc="5" dirty="0"/>
              <a:t> </a:t>
            </a:r>
            <a:r>
              <a:rPr dirty="0"/>
              <a:t>block</a:t>
            </a:r>
            <a:r>
              <a:rPr spc="5" dirty="0"/>
              <a:t> </a:t>
            </a:r>
            <a:r>
              <a:rPr dirty="0"/>
              <a:t>coding</a:t>
            </a:r>
            <a:r>
              <a:rPr spc="-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scrambling</a:t>
            </a:r>
            <a:r>
              <a:rPr spc="10" dirty="0"/>
              <a:t> </a:t>
            </a:r>
            <a:r>
              <a:rPr dirty="0"/>
              <a:t>may</a:t>
            </a:r>
            <a:r>
              <a:rPr spc="10" dirty="0"/>
              <a:t> </a:t>
            </a:r>
            <a:r>
              <a:rPr spc="-25" dirty="0"/>
              <a:t>or</a:t>
            </a:r>
          </a:p>
          <a:p>
            <a:pPr marL="355600">
              <a:lnSpc>
                <a:spcPts val="2855"/>
              </a:lnSpc>
            </a:pPr>
            <a:r>
              <a:rPr dirty="0"/>
              <a:t>may</a:t>
            </a:r>
            <a:r>
              <a:rPr spc="-10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needed</a:t>
            </a:r>
          </a:p>
        </p:txBody>
      </p:sp>
      <p:sp>
        <p:nvSpPr>
          <p:cNvPr id="4" name="object 4"/>
          <p:cNvSpPr/>
          <p:nvPr/>
        </p:nvSpPr>
        <p:spPr>
          <a:xfrm>
            <a:off x="2519933" y="1492758"/>
            <a:ext cx="4432300" cy="2289175"/>
          </a:xfrm>
          <a:custGeom>
            <a:avLst/>
            <a:gdLst/>
            <a:ahLst/>
            <a:cxnLst/>
            <a:rect l="l" t="t" r="r" b="b"/>
            <a:pathLst>
              <a:path w="4432300" h="2289175">
                <a:moveTo>
                  <a:pt x="2645664" y="0"/>
                </a:moveTo>
                <a:lnTo>
                  <a:pt x="4431792" y="0"/>
                </a:lnTo>
              </a:path>
              <a:path w="4432300" h="2289175">
                <a:moveTo>
                  <a:pt x="1331976" y="790955"/>
                </a:moveTo>
                <a:lnTo>
                  <a:pt x="3118104" y="790955"/>
                </a:lnTo>
              </a:path>
              <a:path w="4432300" h="2289175">
                <a:moveTo>
                  <a:pt x="0" y="2289047"/>
                </a:moveTo>
                <a:lnTo>
                  <a:pt x="1624583" y="2289047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355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Converting</a:t>
            </a:r>
            <a:r>
              <a:rPr spc="70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string</a:t>
            </a:r>
            <a:r>
              <a:rPr spc="85" dirty="0"/>
              <a:t> </a:t>
            </a:r>
            <a:r>
              <a:rPr dirty="0"/>
              <a:t>of</a:t>
            </a:r>
            <a:r>
              <a:rPr spc="75" dirty="0"/>
              <a:t> </a:t>
            </a:r>
            <a:r>
              <a:rPr dirty="0"/>
              <a:t>1’s</a:t>
            </a:r>
            <a:r>
              <a:rPr spc="80" dirty="0"/>
              <a:t> </a:t>
            </a:r>
            <a:r>
              <a:rPr dirty="0"/>
              <a:t>and</a:t>
            </a:r>
            <a:r>
              <a:rPr spc="80" dirty="0"/>
              <a:t> </a:t>
            </a:r>
            <a:r>
              <a:rPr dirty="0"/>
              <a:t>0’s</a:t>
            </a:r>
            <a:r>
              <a:rPr spc="80" dirty="0"/>
              <a:t> </a:t>
            </a:r>
            <a:r>
              <a:rPr dirty="0"/>
              <a:t>(digital</a:t>
            </a:r>
            <a:r>
              <a:rPr spc="75" dirty="0"/>
              <a:t> </a:t>
            </a:r>
            <a:r>
              <a:rPr dirty="0"/>
              <a:t>data)</a:t>
            </a:r>
            <a:r>
              <a:rPr spc="80" dirty="0"/>
              <a:t> </a:t>
            </a:r>
            <a:r>
              <a:rPr dirty="0"/>
              <a:t>into</a:t>
            </a:r>
            <a:r>
              <a:rPr spc="65" dirty="0"/>
              <a:t> </a:t>
            </a:r>
            <a:r>
              <a:rPr dirty="0"/>
              <a:t>a</a:t>
            </a:r>
            <a:r>
              <a:rPr spc="80" dirty="0"/>
              <a:t> </a:t>
            </a:r>
            <a:r>
              <a:rPr dirty="0"/>
              <a:t>sequence</a:t>
            </a:r>
            <a:r>
              <a:rPr spc="90" dirty="0"/>
              <a:t> </a:t>
            </a:r>
            <a:r>
              <a:rPr spc="-25" dirty="0"/>
              <a:t>of</a:t>
            </a:r>
          </a:p>
          <a:p>
            <a:pPr marL="355600">
              <a:lnSpc>
                <a:spcPts val="2850"/>
              </a:lnSpc>
            </a:pPr>
            <a:r>
              <a:rPr dirty="0"/>
              <a:t>signals</a:t>
            </a:r>
            <a:r>
              <a:rPr spc="-4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denote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1’s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25" dirty="0"/>
              <a:t>0’s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Eg:</a:t>
            </a: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voltage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(+V)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could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“1”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voltage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-V)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could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“0”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Coding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255" y="1446276"/>
            <a:ext cx="8848344" cy="24399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Line</a:t>
            </a:r>
            <a:r>
              <a:rPr spc="-35" dirty="0"/>
              <a:t> </a:t>
            </a:r>
            <a:r>
              <a:rPr dirty="0"/>
              <a:t>coding</a:t>
            </a:r>
            <a:r>
              <a:rPr spc="-4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decoding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81497"/>
            <a:ext cx="8531860" cy="29197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symbol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bits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1,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 </a:t>
            </a:r>
            <a:r>
              <a:rPr sz="2000" spc="-25" dirty="0"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11,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01,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etc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715"/>
              </a:lnSpc>
              <a:spcBef>
                <a:spcPts val="345"/>
              </a:spcBef>
              <a:buFont typeface="Arial MT"/>
              <a:buChar char="•"/>
              <a:tabLst>
                <a:tab pos="354965" algn="l"/>
                <a:tab pos="725805" algn="l"/>
                <a:tab pos="1402715" algn="l"/>
                <a:tab pos="2465070" algn="l"/>
                <a:tab pos="3056255" algn="l"/>
                <a:tab pos="3509010" algn="l"/>
                <a:tab pos="4403725" algn="l"/>
                <a:tab pos="5043805" algn="l"/>
                <a:tab pos="5347335" algn="l"/>
                <a:tab pos="6242050" algn="l"/>
                <a:tab pos="7135495" algn="l"/>
                <a:tab pos="8264525" algn="l"/>
              </a:tabLst>
            </a:pP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symbol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can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coded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into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single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signal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element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715"/>
              </a:lnSpc>
            </a:pPr>
            <a:r>
              <a:rPr sz="2400" dirty="0">
                <a:latin typeface="Times New Roman"/>
                <a:cs typeface="Times New Roman"/>
              </a:rPr>
              <a:t>multiple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elements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280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Times New Roman"/>
                <a:cs typeface="Times New Roman"/>
              </a:rPr>
              <a:t>+V,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50" dirty="0">
                <a:latin typeface="Times New Roman"/>
                <a:cs typeface="Times New Roman"/>
              </a:rPr>
              <a:t>V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ts val="2705"/>
              </a:lnSpc>
              <a:spcBef>
                <a:spcPts val="34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u="heavy" spc="-27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ratio</a:t>
            </a:r>
            <a:r>
              <a:rPr sz="2400" u="heavy" spc="35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‘r</a:t>
            </a:r>
            <a:r>
              <a:rPr sz="2400" dirty="0">
                <a:latin typeface="Times New Roman"/>
                <a:cs typeface="Times New Roman"/>
              </a:rPr>
              <a:t>’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carried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signal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705"/>
              </a:lnSpc>
            </a:pPr>
            <a:r>
              <a:rPr sz="2400" spc="-10" dirty="0">
                <a:latin typeface="Times New Roman"/>
                <a:cs typeface="Times New Roman"/>
              </a:rPr>
              <a:t>element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Mapping</a:t>
            </a:r>
            <a:r>
              <a:rPr spc="-55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symbols</a:t>
            </a:r>
            <a:r>
              <a:rPr spc="-60" dirty="0"/>
              <a:t> </a:t>
            </a:r>
            <a:r>
              <a:rPr dirty="0"/>
              <a:t>onto</a:t>
            </a:r>
            <a:r>
              <a:rPr spc="-55" dirty="0"/>
              <a:t> </a:t>
            </a:r>
            <a:r>
              <a:rPr dirty="0"/>
              <a:t>Signal</a:t>
            </a:r>
            <a:r>
              <a:rPr spc="-55" dirty="0"/>
              <a:t> </a:t>
            </a:r>
            <a:r>
              <a:rPr spc="-10" dirty="0"/>
              <a:t>levels</a:t>
            </a:r>
          </a:p>
        </p:txBody>
      </p:sp>
      <p:sp>
        <p:nvSpPr>
          <p:cNvPr id="4" name="object 4"/>
          <p:cNvSpPr/>
          <p:nvPr/>
        </p:nvSpPr>
        <p:spPr>
          <a:xfrm>
            <a:off x="713994" y="1437894"/>
            <a:ext cx="7617459" cy="1440180"/>
          </a:xfrm>
          <a:custGeom>
            <a:avLst/>
            <a:gdLst/>
            <a:ahLst/>
            <a:cxnLst/>
            <a:rect l="l" t="t" r="r" b="b"/>
            <a:pathLst>
              <a:path w="7617459" h="1440180">
                <a:moveTo>
                  <a:pt x="3691128" y="0"/>
                </a:moveTo>
                <a:lnTo>
                  <a:pt x="6068567" y="0"/>
                </a:lnTo>
              </a:path>
              <a:path w="7617459" h="1440180">
                <a:moveTo>
                  <a:pt x="5001768" y="1135379"/>
                </a:moveTo>
                <a:lnTo>
                  <a:pt x="7616952" y="1135379"/>
                </a:lnTo>
              </a:path>
              <a:path w="7617459" h="1440180">
                <a:moveTo>
                  <a:pt x="0" y="1440179"/>
                </a:moveTo>
                <a:lnTo>
                  <a:pt x="2877311" y="1440179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76"/>
            <a:ext cx="6316980" cy="266700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rate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(bps)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often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rate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rate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elements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second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measured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bauds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referred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modulation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rate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Relationship</a:t>
            </a:r>
            <a:r>
              <a:rPr spc="-50" dirty="0"/>
              <a:t> </a:t>
            </a:r>
            <a:r>
              <a:rPr dirty="0"/>
              <a:t>b/w</a:t>
            </a:r>
            <a:r>
              <a:rPr spc="-3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rate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signal</a:t>
            </a:r>
            <a:r>
              <a:rPr spc="-35" dirty="0"/>
              <a:t> </a:t>
            </a:r>
            <a:r>
              <a:rPr spc="-20" dirty="0"/>
              <a:t>rate</a:t>
            </a:r>
          </a:p>
        </p:txBody>
      </p:sp>
      <p:sp>
        <p:nvSpPr>
          <p:cNvPr id="4" name="object 4"/>
          <p:cNvSpPr/>
          <p:nvPr/>
        </p:nvSpPr>
        <p:spPr>
          <a:xfrm>
            <a:off x="1440941" y="1852422"/>
            <a:ext cx="2883535" cy="1511935"/>
          </a:xfrm>
          <a:custGeom>
            <a:avLst/>
            <a:gdLst/>
            <a:ahLst/>
            <a:cxnLst/>
            <a:rect l="l" t="t" r="r" b="b"/>
            <a:pathLst>
              <a:path w="2883535" h="1511935">
                <a:moveTo>
                  <a:pt x="60960" y="0"/>
                </a:moveTo>
                <a:lnTo>
                  <a:pt x="2674620" y="0"/>
                </a:lnTo>
              </a:path>
              <a:path w="2883535" h="1511935">
                <a:moveTo>
                  <a:pt x="2196084" y="359663"/>
                </a:moveTo>
                <a:lnTo>
                  <a:pt x="2883408" y="359663"/>
                </a:lnTo>
              </a:path>
              <a:path w="2883535" h="1511935">
                <a:moveTo>
                  <a:pt x="0" y="1152144"/>
                </a:moveTo>
                <a:lnTo>
                  <a:pt x="1623060" y="1152144"/>
                </a:lnTo>
              </a:path>
              <a:path w="2883535" h="1511935">
                <a:moveTo>
                  <a:pt x="1389888" y="1511808"/>
                </a:moveTo>
                <a:lnTo>
                  <a:pt x="1958340" y="1511808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621612"/>
            <a:ext cx="4111625" cy="30226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marR="5080" indent="-342900" algn="just">
              <a:lnSpc>
                <a:spcPct val="891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509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element</a:t>
            </a:r>
            <a:r>
              <a:rPr sz="2200" spc="45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40" dirty="0">
                <a:latin typeface="Times New Roman"/>
                <a:cs typeface="Times New Roman"/>
              </a:rPr>
              <a:t> 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0" dirty="0">
                <a:latin typeface="Times New Roman"/>
                <a:cs typeface="Times New Roman"/>
              </a:rPr>
              <a:t>  </a:t>
            </a:r>
            <a:r>
              <a:rPr sz="2200" spc="-10" dirty="0">
                <a:latin typeface="Times New Roman"/>
                <a:cs typeface="Times New Roman"/>
              </a:rPr>
              <a:t>smallest </a:t>
            </a:r>
            <a:r>
              <a:rPr sz="2200" dirty="0">
                <a:latin typeface="Times New Roman"/>
                <a:cs typeface="Times New Roman"/>
              </a:rPr>
              <a:t>entity</a:t>
            </a:r>
            <a:r>
              <a:rPr sz="2200" spc="3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represent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piece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(bit)</a:t>
            </a:r>
            <a:endParaRPr sz="2200">
              <a:latin typeface="Times New Roman"/>
              <a:cs typeface="Times New Roman"/>
            </a:endParaRPr>
          </a:p>
          <a:p>
            <a:pPr marL="355600" indent="-342900" algn="just">
              <a:lnSpc>
                <a:spcPts val="2480"/>
              </a:lnSpc>
              <a:spcBef>
                <a:spcPts val="29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what</a:t>
            </a:r>
            <a:r>
              <a:rPr sz="2200" spc="1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19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need</a:t>
            </a:r>
            <a:endParaRPr sz="2200">
              <a:latin typeface="Times New Roman"/>
              <a:cs typeface="Times New Roman"/>
            </a:endParaRPr>
          </a:p>
          <a:p>
            <a:pPr marL="355600" algn="just">
              <a:lnSpc>
                <a:spcPts val="2480"/>
              </a:lnSpc>
            </a:pP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send</a:t>
            </a:r>
            <a:endParaRPr sz="22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being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carried</a:t>
            </a:r>
            <a:endParaRPr sz="2200">
              <a:latin typeface="Times New Roman"/>
              <a:cs typeface="Times New Roman"/>
            </a:endParaRPr>
          </a:p>
          <a:p>
            <a:pPr marL="355600" indent="-342900" algn="just">
              <a:lnSpc>
                <a:spcPts val="2485"/>
              </a:lnSpc>
              <a:spcBef>
                <a:spcPts val="285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rate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defines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of</a:t>
            </a:r>
            <a:endParaRPr sz="2200">
              <a:latin typeface="Times New Roman"/>
              <a:cs typeface="Times New Roman"/>
            </a:endParaRPr>
          </a:p>
          <a:p>
            <a:pPr marL="355600" algn="just">
              <a:lnSpc>
                <a:spcPts val="2485"/>
              </a:lnSpc>
            </a:pPr>
            <a:r>
              <a:rPr sz="2200" dirty="0">
                <a:latin typeface="Times New Roman"/>
                <a:cs typeface="Times New Roman"/>
              </a:rPr>
              <a:t>data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elements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(bits)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send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1s</a:t>
            </a:r>
            <a:endParaRPr sz="220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Unit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bps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188846"/>
            <a:ext cx="5255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29760" algn="l"/>
              </a:tabLst>
            </a:pPr>
            <a:r>
              <a:rPr sz="2400" b="1" spc="-20" dirty="0">
                <a:latin typeface="Times New Roman"/>
                <a:cs typeface="Times New Roman"/>
              </a:rPr>
              <a:t>Data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b="1" spc="-10" dirty="0">
                <a:latin typeface="Times New Roman"/>
                <a:cs typeface="Times New Roman"/>
              </a:rPr>
              <a:t>Signal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24527" y="1653616"/>
            <a:ext cx="4114165" cy="3078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735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signal</a:t>
            </a:r>
            <a:r>
              <a:rPr sz="2300" spc="1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element</a:t>
            </a:r>
            <a:r>
              <a:rPr sz="2300" spc="1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1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shortest</a:t>
            </a:r>
            <a:endParaRPr sz="2300">
              <a:latin typeface="Times New Roman"/>
              <a:cs typeface="Times New Roman"/>
            </a:endParaRPr>
          </a:p>
          <a:p>
            <a:pPr marL="355600">
              <a:lnSpc>
                <a:spcPts val="2735"/>
              </a:lnSpc>
            </a:pPr>
            <a:r>
              <a:rPr sz="2300" dirty="0">
                <a:latin typeface="Times New Roman"/>
                <a:cs typeface="Times New Roman"/>
              </a:rPr>
              <a:t>unit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of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digital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signal</a:t>
            </a:r>
            <a:endParaRPr sz="2300">
              <a:latin typeface="Times New Roman"/>
              <a:cs typeface="Times New Roman"/>
            </a:endParaRPr>
          </a:p>
          <a:p>
            <a:pPr marL="355600" indent="-342900">
              <a:lnSpc>
                <a:spcPts val="2730"/>
              </a:lnSpc>
              <a:spcBef>
                <a:spcPts val="550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Signal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element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what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we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can</a:t>
            </a:r>
            <a:endParaRPr sz="2300">
              <a:latin typeface="Times New Roman"/>
              <a:cs typeface="Times New Roman"/>
            </a:endParaRPr>
          </a:p>
          <a:p>
            <a:pPr marL="355600">
              <a:lnSpc>
                <a:spcPts val="2730"/>
              </a:lnSpc>
            </a:pPr>
            <a:r>
              <a:rPr sz="2300" spc="-20" dirty="0">
                <a:latin typeface="Times New Roman"/>
                <a:cs typeface="Times New Roman"/>
              </a:rPr>
              <a:t>send</a:t>
            </a:r>
            <a:endParaRPr sz="2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Signal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elements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carriers</a:t>
            </a:r>
            <a:endParaRPr sz="2300">
              <a:latin typeface="Times New Roman"/>
              <a:cs typeface="Times New Roman"/>
            </a:endParaRPr>
          </a:p>
          <a:p>
            <a:pPr marL="355600" marR="6350" indent="-343535">
              <a:lnSpc>
                <a:spcPts val="271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  <a:tab pos="1275715" algn="l"/>
                <a:tab pos="1888489" algn="l"/>
                <a:tab pos="2259330" algn="l"/>
                <a:tab pos="2791460" algn="l"/>
                <a:tab pos="3858260" algn="l"/>
              </a:tabLst>
            </a:pPr>
            <a:r>
              <a:rPr sz="2300" spc="-10" dirty="0">
                <a:latin typeface="Times New Roman"/>
                <a:cs typeface="Times New Roman"/>
              </a:rPr>
              <a:t>Signal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0" dirty="0">
                <a:latin typeface="Times New Roman"/>
                <a:cs typeface="Times New Roman"/>
              </a:rPr>
              <a:t>rate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is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number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of </a:t>
            </a:r>
            <a:r>
              <a:rPr sz="2300" dirty="0">
                <a:latin typeface="Times New Roman"/>
                <a:cs typeface="Times New Roman"/>
              </a:rPr>
              <a:t>signal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elements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send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1s</a:t>
            </a:r>
            <a:endParaRPr sz="23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415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imes New Roman"/>
                <a:cs typeface="Times New Roman"/>
              </a:rPr>
              <a:t>Unit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baud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Relationship</a:t>
            </a:r>
            <a:r>
              <a:rPr spc="-50" dirty="0"/>
              <a:t> </a:t>
            </a:r>
            <a:r>
              <a:rPr dirty="0"/>
              <a:t>b/w</a:t>
            </a:r>
            <a:r>
              <a:rPr spc="-3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rate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signal</a:t>
            </a:r>
            <a:r>
              <a:rPr spc="-35" dirty="0"/>
              <a:t> </a:t>
            </a:r>
            <a:r>
              <a:rPr spc="-20" dirty="0"/>
              <a:t>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element</a:t>
            </a:r>
            <a:r>
              <a:rPr spc="-75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spc="-10" dirty="0"/>
              <a:t>element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1142" y="1119021"/>
            <a:ext cx="6232525" cy="3660140"/>
            <a:chOff x="2671142" y="1119021"/>
            <a:chExt cx="6232525" cy="3660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1483" y="2068068"/>
              <a:ext cx="5402579" cy="270052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86911" y="2063496"/>
              <a:ext cx="5412105" cy="2710180"/>
            </a:xfrm>
            <a:custGeom>
              <a:avLst/>
              <a:gdLst/>
              <a:ahLst/>
              <a:cxnLst/>
              <a:rect l="l" t="t" r="r" b="b"/>
              <a:pathLst>
                <a:path w="5412105" h="2710179">
                  <a:moveTo>
                    <a:pt x="0" y="2709672"/>
                  </a:moveTo>
                  <a:lnTo>
                    <a:pt x="5411724" y="2709672"/>
                  </a:lnTo>
                  <a:lnTo>
                    <a:pt x="5411724" y="0"/>
                  </a:lnTo>
                  <a:lnTo>
                    <a:pt x="0" y="0"/>
                  </a:lnTo>
                  <a:lnTo>
                    <a:pt x="0" y="27096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852931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element</a:t>
            </a:r>
            <a:r>
              <a:rPr spc="-75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lang="en-US" dirty="0" smtClean="0"/>
              <a:t>Signal</a:t>
            </a:r>
            <a:r>
              <a:rPr spc="-60" dirty="0" smtClean="0"/>
              <a:t> </a:t>
            </a:r>
            <a:r>
              <a:rPr spc="-10" dirty="0"/>
              <a:t>element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1142" y="1119021"/>
            <a:ext cx="6244590" cy="3666490"/>
            <a:chOff x="2671142" y="1119021"/>
            <a:chExt cx="6244590" cy="3666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199" y="2068068"/>
              <a:ext cx="5401056" cy="27081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00627" y="2063496"/>
              <a:ext cx="5410200" cy="2717800"/>
            </a:xfrm>
            <a:custGeom>
              <a:avLst/>
              <a:gdLst/>
              <a:ahLst/>
              <a:cxnLst/>
              <a:rect l="l" t="t" r="r" b="b"/>
              <a:pathLst>
                <a:path w="5410200" h="2717800">
                  <a:moveTo>
                    <a:pt x="0" y="2717292"/>
                  </a:moveTo>
                  <a:lnTo>
                    <a:pt x="5410200" y="2717292"/>
                  </a:lnTo>
                  <a:lnTo>
                    <a:pt x="5410200" y="0"/>
                  </a:lnTo>
                  <a:lnTo>
                    <a:pt x="0" y="0"/>
                  </a:lnTo>
                  <a:lnTo>
                    <a:pt x="0" y="27172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852931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element</a:t>
            </a:r>
            <a:r>
              <a:rPr spc="-75" dirty="0"/>
              <a:t> </a:t>
            </a:r>
            <a:r>
              <a:rPr dirty="0" smtClean="0"/>
              <a:t>vs</a:t>
            </a:r>
            <a:r>
              <a:rPr lang="en-US" spc="-40" dirty="0"/>
              <a:t> </a:t>
            </a:r>
            <a:r>
              <a:rPr lang="en-US" spc="-40" dirty="0" smtClean="0"/>
              <a:t>Signal</a:t>
            </a:r>
            <a:r>
              <a:rPr spc="-60" dirty="0" smtClean="0"/>
              <a:t> </a:t>
            </a:r>
            <a:r>
              <a:rPr spc="-10" dirty="0"/>
              <a:t>element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39852" y="1118616"/>
            <a:ext cx="2178050" cy="1097280"/>
            <a:chOff x="339852" y="1118616"/>
            <a:chExt cx="2178050" cy="10972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96" y="1127760"/>
              <a:ext cx="2159508" cy="10789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4424" y="1123188"/>
              <a:ext cx="2169160" cy="1088390"/>
            </a:xfrm>
            <a:custGeom>
              <a:avLst/>
              <a:gdLst/>
              <a:ahLst/>
              <a:cxnLst/>
              <a:rect l="l" t="t" r="r" b="b"/>
              <a:pathLst>
                <a:path w="2169160" h="1088389">
                  <a:moveTo>
                    <a:pt x="0" y="1088136"/>
                  </a:moveTo>
                  <a:lnTo>
                    <a:pt x="2168652" y="1088136"/>
                  </a:lnTo>
                  <a:lnTo>
                    <a:pt x="2168652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1142" y="1119021"/>
            <a:ext cx="6253480" cy="3666490"/>
            <a:chOff x="2671142" y="1119021"/>
            <a:chExt cx="6253480" cy="3666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14343" y="2080260"/>
              <a:ext cx="5401056" cy="26959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509771" y="2075688"/>
              <a:ext cx="5410200" cy="2705100"/>
            </a:xfrm>
            <a:custGeom>
              <a:avLst/>
              <a:gdLst/>
              <a:ahLst/>
              <a:cxnLst/>
              <a:rect l="l" t="t" r="r" b="b"/>
              <a:pathLst>
                <a:path w="5410200" h="2705100">
                  <a:moveTo>
                    <a:pt x="0" y="2705100"/>
                  </a:moveTo>
                  <a:lnTo>
                    <a:pt x="5410200" y="2705100"/>
                  </a:lnTo>
                  <a:lnTo>
                    <a:pt x="5410200" y="0"/>
                  </a:lnTo>
                  <a:lnTo>
                    <a:pt x="0" y="0"/>
                  </a:lnTo>
                  <a:lnTo>
                    <a:pt x="0" y="27051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852931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Data</a:t>
            </a:r>
            <a:r>
              <a:rPr lang="en-IN" spc="-55" dirty="0"/>
              <a:t> </a:t>
            </a:r>
            <a:r>
              <a:rPr lang="en-IN" dirty="0"/>
              <a:t>element</a:t>
            </a:r>
            <a:r>
              <a:rPr lang="en-IN" spc="-75" dirty="0"/>
              <a:t> </a:t>
            </a:r>
            <a:r>
              <a:rPr lang="en-IN" dirty="0"/>
              <a:t>vs</a:t>
            </a:r>
            <a:r>
              <a:rPr lang="en-IN" spc="-40" dirty="0"/>
              <a:t> Signal</a:t>
            </a:r>
            <a:r>
              <a:rPr lang="en-IN" spc="-60" dirty="0"/>
              <a:t> </a:t>
            </a:r>
            <a:r>
              <a:rPr lang="en-IN" spc="-10" dirty="0"/>
              <a:t>element</a:t>
            </a:r>
            <a:endParaRPr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339852" y="1118616"/>
            <a:ext cx="2178050" cy="1097280"/>
            <a:chOff x="339852" y="1118616"/>
            <a:chExt cx="2178050" cy="10972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96" y="1127760"/>
              <a:ext cx="2159508" cy="10789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4424" y="1123188"/>
              <a:ext cx="2169160" cy="1088390"/>
            </a:xfrm>
            <a:custGeom>
              <a:avLst/>
              <a:gdLst/>
              <a:ahLst/>
              <a:cxnLst/>
              <a:rect l="l" t="t" r="r" b="b"/>
              <a:pathLst>
                <a:path w="2169160" h="1088389">
                  <a:moveTo>
                    <a:pt x="0" y="1088136"/>
                  </a:moveTo>
                  <a:lnTo>
                    <a:pt x="2168652" y="1088136"/>
                  </a:lnTo>
                  <a:lnTo>
                    <a:pt x="2168652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2043" y="2308860"/>
            <a:ext cx="2179320" cy="1102360"/>
            <a:chOff x="352043" y="2308860"/>
            <a:chExt cx="2179320" cy="11023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187" y="2318004"/>
              <a:ext cx="2161032" cy="108356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56615" y="2313432"/>
              <a:ext cx="2170430" cy="1092835"/>
            </a:xfrm>
            <a:custGeom>
              <a:avLst/>
              <a:gdLst/>
              <a:ahLst/>
              <a:cxnLst/>
              <a:rect l="l" t="t" r="r" b="b"/>
              <a:pathLst>
                <a:path w="2170430" h="1092835">
                  <a:moveTo>
                    <a:pt x="0" y="1092708"/>
                  </a:moveTo>
                  <a:lnTo>
                    <a:pt x="2170176" y="1092708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109270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1142" y="1119021"/>
            <a:ext cx="6240145" cy="3660140"/>
            <a:chOff x="2671142" y="1119021"/>
            <a:chExt cx="6240145" cy="3660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1483" y="2060447"/>
              <a:ext cx="5410200" cy="270814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86911" y="2055875"/>
              <a:ext cx="5419725" cy="2717800"/>
            </a:xfrm>
            <a:custGeom>
              <a:avLst/>
              <a:gdLst/>
              <a:ahLst/>
              <a:cxnLst/>
              <a:rect l="l" t="t" r="r" b="b"/>
              <a:pathLst>
                <a:path w="5419725" h="2717800">
                  <a:moveTo>
                    <a:pt x="0" y="2717292"/>
                  </a:moveTo>
                  <a:lnTo>
                    <a:pt x="5419344" y="2717292"/>
                  </a:lnTo>
                  <a:lnTo>
                    <a:pt x="5419344" y="0"/>
                  </a:lnTo>
                  <a:lnTo>
                    <a:pt x="0" y="0"/>
                  </a:lnTo>
                  <a:lnTo>
                    <a:pt x="0" y="271729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52526"/>
            <a:ext cx="8529319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Data</a:t>
            </a:r>
            <a:r>
              <a:rPr lang="en-IN" spc="-55" dirty="0"/>
              <a:t> </a:t>
            </a:r>
            <a:r>
              <a:rPr lang="en-IN" dirty="0"/>
              <a:t>element</a:t>
            </a:r>
            <a:r>
              <a:rPr lang="en-IN" spc="-75" dirty="0"/>
              <a:t> </a:t>
            </a:r>
            <a:r>
              <a:rPr lang="en-IN" dirty="0"/>
              <a:t>vs</a:t>
            </a:r>
            <a:r>
              <a:rPr lang="en-IN" spc="-40" dirty="0"/>
              <a:t> Signal</a:t>
            </a:r>
            <a:r>
              <a:rPr lang="en-IN" spc="-60" dirty="0"/>
              <a:t> </a:t>
            </a:r>
            <a:r>
              <a:rPr lang="en-IN" spc="-10" dirty="0"/>
              <a:t>element</a:t>
            </a:r>
            <a:endParaRPr spc="-10" dirty="0"/>
          </a:p>
        </p:txBody>
      </p:sp>
      <p:grpSp>
        <p:nvGrpSpPr>
          <p:cNvPr id="6" name="object 6"/>
          <p:cNvGrpSpPr/>
          <p:nvPr/>
        </p:nvGrpSpPr>
        <p:grpSpPr>
          <a:xfrm>
            <a:off x="339852" y="1118616"/>
            <a:ext cx="2178050" cy="1097280"/>
            <a:chOff x="339852" y="1118616"/>
            <a:chExt cx="2178050" cy="109728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96" y="1127760"/>
              <a:ext cx="2159508" cy="107899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4424" y="1123188"/>
              <a:ext cx="2169160" cy="1088390"/>
            </a:xfrm>
            <a:custGeom>
              <a:avLst/>
              <a:gdLst/>
              <a:ahLst/>
              <a:cxnLst/>
              <a:rect l="l" t="t" r="r" b="b"/>
              <a:pathLst>
                <a:path w="2169160" h="1088389">
                  <a:moveTo>
                    <a:pt x="0" y="1088136"/>
                  </a:moveTo>
                  <a:lnTo>
                    <a:pt x="2168652" y="1088136"/>
                  </a:lnTo>
                  <a:lnTo>
                    <a:pt x="2168652" y="0"/>
                  </a:lnTo>
                  <a:lnTo>
                    <a:pt x="0" y="0"/>
                  </a:lnTo>
                  <a:lnTo>
                    <a:pt x="0" y="10881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2043" y="2308860"/>
            <a:ext cx="2179320" cy="1102360"/>
            <a:chOff x="352043" y="2308860"/>
            <a:chExt cx="2179320" cy="11023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187" y="2318004"/>
              <a:ext cx="2161032" cy="108356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56615" y="2313432"/>
              <a:ext cx="2170430" cy="1092835"/>
            </a:xfrm>
            <a:custGeom>
              <a:avLst/>
              <a:gdLst/>
              <a:ahLst/>
              <a:cxnLst/>
              <a:rect l="l" t="t" r="r" b="b"/>
              <a:pathLst>
                <a:path w="2170430" h="1092835">
                  <a:moveTo>
                    <a:pt x="0" y="1092708"/>
                  </a:moveTo>
                  <a:lnTo>
                    <a:pt x="2170176" y="1092708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109270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62711" y="3607308"/>
            <a:ext cx="2179320" cy="1096010"/>
            <a:chOff x="362711" y="3607308"/>
            <a:chExt cx="2179320" cy="10960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0045" y="3668869"/>
              <a:ext cx="1745595" cy="97554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7283" y="3611880"/>
              <a:ext cx="2170430" cy="1087120"/>
            </a:xfrm>
            <a:custGeom>
              <a:avLst/>
              <a:gdLst/>
              <a:ahLst/>
              <a:cxnLst/>
              <a:rect l="l" t="t" r="r" b="b"/>
              <a:pathLst>
                <a:path w="2170430" h="1087120">
                  <a:moveTo>
                    <a:pt x="0" y="1086612"/>
                  </a:moveTo>
                  <a:lnTo>
                    <a:pt x="2170176" y="1086612"/>
                  </a:lnTo>
                  <a:lnTo>
                    <a:pt x="2170176" y="0"/>
                  </a:lnTo>
                  <a:lnTo>
                    <a:pt x="0" y="0"/>
                  </a:lnTo>
                  <a:lnTo>
                    <a:pt x="0" y="108661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12"/>
            <a:ext cx="6347460" cy="275018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baud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signal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 expressed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as:</a:t>
            </a:r>
            <a:endParaRPr sz="2400">
              <a:latin typeface="Times New Roman"/>
              <a:cs typeface="Times New Roman"/>
            </a:endParaRPr>
          </a:p>
          <a:p>
            <a:pPr marL="2972435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x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1/r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bauds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2800" spc="-10" dirty="0">
                <a:latin typeface="Times New Roman"/>
                <a:cs typeface="Times New Roman"/>
              </a:rPr>
              <a:t>where,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latin typeface="Times New Roman"/>
                <a:cs typeface="Times New Roman"/>
              </a:rPr>
              <a:t>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case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factor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(worst,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best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&amp;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avg.)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rate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ratio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element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Baud</a:t>
            </a:r>
            <a:r>
              <a:rPr spc="-65" dirty="0"/>
              <a:t> </a:t>
            </a:r>
            <a:r>
              <a:rPr spc="-20" dirty="0"/>
              <a:t>rate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Baud</a:t>
            </a:r>
            <a:r>
              <a:rPr spc="-65" dirty="0"/>
              <a:t> </a:t>
            </a:r>
            <a:r>
              <a:rPr spc="-20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0668"/>
            <a:ext cx="8531860" cy="229616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99000"/>
              </a:lnSpc>
              <a:spcBef>
                <a:spcPts val="50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10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signal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carrying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element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encoded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signal </a:t>
            </a:r>
            <a:r>
              <a:rPr sz="2000" dirty="0">
                <a:latin typeface="Times New Roman"/>
                <a:cs typeface="Times New Roman"/>
              </a:rPr>
              <a:t>element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(r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1).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100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kbps,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average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baud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We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assume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average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1/2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baud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rate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240" y="3252927"/>
            <a:ext cx="551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/>
                <a:cs typeface="Times New Roman"/>
              </a:rPr>
              <a:t>then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3842" y="3341878"/>
            <a:ext cx="180911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 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1/r</a:t>
            </a:r>
            <a:endParaRPr sz="18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½ 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100000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*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50000</a:t>
            </a:r>
            <a:endParaRPr sz="18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50k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baud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Eg:</a:t>
            </a:r>
          </a:p>
          <a:p>
            <a:pPr marL="756285" marR="5080" indent="-287020">
              <a:lnSpc>
                <a:spcPts val="2350"/>
              </a:lnSpc>
              <a:spcBef>
                <a:spcPts val="59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/>
              <a:t>Calculate</a:t>
            </a:r>
            <a:r>
              <a:rPr sz="2000" spc="25" dirty="0"/>
              <a:t> </a:t>
            </a:r>
            <a:r>
              <a:rPr sz="2000" dirty="0"/>
              <a:t>the</a:t>
            </a:r>
            <a:r>
              <a:rPr sz="2000" spc="30" dirty="0"/>
              <a:t> </a:t>
            </a:r>
            <a:r>
              <a:rPr sz="2000" dirty="0"/>
              <a:t>value</a:t>
            </a:r>
            <a:r>
              <a:rPr sz="2000" spc="25" dirty="0"/>
              <a:t> </a:t>
            </a:r>
            <a:r>
              <a:rPr sz="2000" dirty="0"/>
              <a:t>of</a:t>
            </a:r>
            <a:r>
              <a:rPr sz="2000" spc="25" dirty="0"/>
              <a:t> </a:t>
            </a:r>
            <a:r>
              <a:rPr sz="2000" dirty="0"/>
              <a:t>signal</a:t>
            </a:r>
            <a:r>
              <a:rPr sz="2000" spc="10" dirty="0"/>
              <a:t> </a:t>
            </a:r>
            <a:r>
              <a:rPr sz="2000" dirty="0"/>
              <a:t>rate</a:t>
            </a:r>
            <a:r>
              <a:rPr sz="2000" spc="20" dirty="0"/>
              <a:t> </a:t>
            </a:r>
            <a:r>
              <a:rPr sz="2000" dirty="0"/>
              <a:t>for</a:t>
            </a:r>
            <a:r>
              <a:rPr sz="2000" spc="30" dirty="0"/>
              <a:t> </a:t>
            </a:r>
            <a:r>
              <a:rPr sz="2000" dirty="0"/>
              <a:t>each</a:t>
            </a:r>
            <a:r>
              <a:rPr sz="2000" spc="35" dirty="0"/>
              <a:t> </a:t>
            </a:r>
            <a:r>
              <a:rPr sz="2000" dirty="0"/>
              <a:t>of</a:t>
            </a:r>
            <a:r>
              <a:rPr sz="2000" spc="25" dirty="0"/>
              <a:t> </a:t>
            </a:r>
            <a:r>
              <a:rPr sz="2000" dirty="0"/>
              <a:t>the</a:t>
            </a:r>
            <a:r>
              <a:rPr sz="2000" spc="20" dirty="0"/>
              <a:t> </a:t>
            </a:r>
            <a:r>
              <a:rPr sz="2000" dirty="0"/>
              <a:t>cases</a:t>
            </a:r>
            <a:r>
              <a:rPr sz="2000" spc="25" dirty="0"/>
              <a:t> </a:t>
            </a:r>
            <a:r>
              <a:rPr sz="2000" dirty="0"/>
              <a:t>if</a:t>
            </a:r>
            <a:r>
              <a:rPr sz="2000" spc="15" dirty="0"/>
              <a:t> </a:t>
            </a:r>
            <a:r>
              <a:rPr sz="2000" dirty="0"/>
              <a:t>data</a:t>
            </a:r>
            <a:r>
              <a:rPr sz="2000" spc="35" dirty="0"/>
              <a:t> </a:t>
            </a:r>
            <a:r>
              <a:rPr sz="2000" dirty="0"/>
              <a:t>rate</a:t>
            </a:r>
            <a:r>
              <a:rPr sz="2000" spc="20" dirty="0"/>
              <a:t> </a:t>
            </a:r>
            <a:r>
              <a:rPr sz="2000" dirty="0"/>
              <a:t>is</a:t>
            </a:r>
            <a:r>
              <a:rPr sz="2000" spc="30" dirty="0"/>
              <a:t> </a:t>
            </a:r>
            <a:r>
              <a:rPr sz="2000" dirty="0"/>
              <a:t>1</a:t>
            </a:r>
            <a:r>
              <a:rPr sz="2000" spc="30" dirty="0"/>
              <a:t> </a:t>
            </a:r>
            <a:r>
              <a:rPr sz="2000" spc="-20" dirty="0"/>
              <a:t>Mbps </a:t>
            </a:r>
            <a:r>
              <a:rPr sz="2000" dirty="0"/>
              <a:t>and</a:t>
            </a:r>
            <a:r>
              <a:rPr sz="2000" spc="-15" dirty="0"/>
              <a:t> </a:t>
            </a:r>
            <a:r>
              <a:rPr sz="2000" dirty="0"/>
              <a:t>c=</a:t>
            </a:r>
            <a:r>
              <a:rPr sz="2000" spc="-10" dirty="0"/>
              <a:t> </a:t>
            </a:r>
            <a:r>
              <a:rPr sz="2000" spc="-25" dirty="0"/>
              <a:t>1/2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157" y="2284089"/>
            <a:ext cx="760399" cy="12182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Baud</a:t>
            </a:r>
            <a:r>
              <a:rPr spc="-65" dirty="0"/>
              <a:t> </a:t>
            </a:r>
            <a:r>
              <a:rPr spc="-20" dirty="0"/>
              <a:t>rate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3060" indent="-340360" algn="just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3060" algn="l"/>
              </a:tabLst>
            </a:pP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dirty="0"/>
              <a:t>well</a:t>
            </a:r>
            <a:r>
              <a:rPr spc="-25" dirty="0"/>
              <a:t> </a:t>
            </a:r>
            <a:r>
              <a:rPr dirty="0"/>
              <a:t>as signals</a:t>
            </a:r>
            <a:r>
              <a:rPr spc="-3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either</a:t>
            </a:r>
            <a:r>
              <a:rPr spc="-30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digital</a:t>
            </a:r>
            <a:r>
              <a:rPr spc="-40" dirty="0"/>
              <a:t> </a:t>
            </a:r>
            <a:r>
              <a:rPr dirty="0"/>
              <a:t>or</a:t>
            </a:r>
            <a:r>
              <a:rPr spc="-10" dirty="0"/>
              <a:t> analog</a:t>
            </a:r>
          </a:p>
          <a:p>
            <a:pPr marL="353060" marR="5715" indent="-340360" algn="just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Line</a:t>
            </a:r>
            <a:r>
              <a:rPr spc="509" dirty="0"/>
              <a:t> </a:t>
            </a:r>
            <a:r>
              <a:rPr dirty="0"/>
              <a:t>coding</a:t>
            </a:r>
            <a:r>
              <a:rPr spc="509" dirty="0"/>
              <a:t> </a:t>
            </a:r>
            <a:r>
              <a:rPr dirty="0"/>
              <a:t>is</a:t>
            </a:r>
            <a:r>
              <a:rPr spc="495" dirty="0"/>
              <a:t> </a:t>
            </a:r>
            <a:r>
              <a:rPr dirty="0"/>
              <a:t>the</a:t>
            </a:r>
            <a:r>
              <a:rPr spc="509" dirty="0"/>
              <a:t> </a:t>
            </a:r>
            <a:r>
              <a:rPr dirty="0"/>
              <a:t>process</a:t>
            </a:r>
            <a:r>
              <a:rPr spc="530" dirty="0"/>
              <a:t> </a:t>
            </a:r>
            <a:r>
              <a:rPr dirty="0"/>
              <a:t>of</a:t>
            </a:r>
            <a:r>
              <a:rPr spc="500" dirty="0"/>
              <a:t> </a:t>
            </a:r>
            <a:r>
              <a:rPr dirty="0"/>
              <a:t>converting</a:t>
            </a:r>
            <a:r>
              <a:rPr spc="525" dirty="0"/>
              <a:t> </a:t>
            </a:r>
            <a:r>
              <a:rPr dirty="0"/>
              <a:t>digital</a:t>
            </a:r>
            <a:r>
              <a:rPr spc="525" dirty="0"/>
              <a:t> </a:t>
            </a:r>
            <a:r>
              <a:rPr dirty="0"/>
              <a:t>data</a:t>
            </a:r>
            <a:r>
              <a:rPr spc="500" dirty="0"/>
              <a:t> </a:t>
            </a:r>
            <a:r>
              <a:rPr dirty="0"/>
              <a:t>to</a:t>
            </a:r>
            <a:r>
              <a:rPr spc="525" dirty="0"/>
              <a:t> </a:t>
            </a:r>
            <a:r>
              <a:rPr spc="-10" dirty="0"/>
              <a:t>digital 	signals</a:t>
            </a:r>
          </a:p>
          <a:p>
            <a:pPr marL="353060" indent="-340360" algn="just">
              <a:lnSpc>
                <a:spcPct val="100000"/>
              </a:lnSpc>
              <a:spcBef>
                <a:spcPts val="420"/>
              </a:spcBef>
              <a:buFont typeface="Arial MT"/>
              <a:buChar char="•"/>
              <a:tabLst>
                <a:tab pos="353060" algn="l"/>
              </a:tabLst>
            </a:pPr>
            <a:r>
              <a:rPr dirty="0"/>
              <a:t>By</a:t>
            </a:r>
            <a:r>
              <a:rPr spc="-15" dirty="0"/>
              <a:t> </a:t>
            </a:r>
            <a:r>
              <a:rPr dirty="0"/>
              <a:t>this</a:t>
            </a:r>
            <a:r>
              <a:rPr spc="-20" dirty="0"/>
              <a:t> </a:t>
            </a:r>
            <a:r>
              <a:rPr dirty="0"/>
              <a:t>technique</a:t>
            </a:r>
            <a:r>
              <a:rPr spc="-50" dirty="0"/>
              <a:t> </a:t>
            </a:r>
            <a:r>
              <a:rPr dirty="0"/>
              <a:t>we</a:t>
            </a:r>
            <a:r>
              <a:rPr spc="10" dirty="0"/>
              <a:t> </a:t>
            </a:r>
            <a:r>
              <a:rPr dirty="0"/>
              <a:t>converts</a:t>
            </a:r>
            <a:r>
              <a:rPr spc="-3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sequence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bits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a digital</a:t>
            </a:r>
            <a:r>
              <a:rPr spc="-45" dirty="0"/>
              <a:t> </a:t>
            </a:r>
            <a:r>
              <a:rPr spc="-10" dirty="0"/>
              <a:t>signal</a:t>
            </a:r>
          </a:p>
          <a:p>
            <a:pPr marL="353060" marR="5080" indent="-340360" algn="just">
              <a:lnSpc>
                <a:spcPct val="99000"/>
              </a:lnSpc>
              <a:spcBef>
                <a:spcPts val="58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At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sender</a:t>
            </a:r>
            <a:r>
              <a:rPr spc="35" dirty="0"/>
              <a:t> </a:t>
            </a:r>
            <a:r>
              <a:rPr dirty="0"/>
              <a:t>side</a:t>
            </a:r>
            <a:r>
              <a:rPr spc="25" dirty="0"/>
              <a:t> </a:t>
            </a:r>
            <a:r>
              <a:rPr dirty="0"/>
              <a:t>digital</a:t>
            </a:r>
            <a:r>
              <a:rPr spc="25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dirty="0"/>
              <a:t>are</a:t>
            </a:r>
            <a:r>
              <a:rPr spc="25" dirty="0"/>
              <a:t> </a:t>
            </a:r>
            <a:r>
              <a:rPr dirty="0"/>
              <a:t>encoded</a:t>
            </a:r>
            <a:r>
              <a:rPr spc="20" dirty="0"/>
              <a:t> </a:t>
            </a:r>
            <a:r>
              <a:rPr dirty="0"/>
              <a:t>into</a:t>
            </a:r>
            <a:r>
              <a:rPr spc="2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dirty="0"/>
              <a:t>digital</a:t>
            </a:r>
            <a:r>
              <a:rPr spc="30" dirty="0"/>
              <a:t> </a:t>
            </a:r>
            <a:r>
              <a:rPr dirty="0"/>
              <a:t>signal</a:t>
            </a:r>
            <a:r>
              <a:rPr spc="25" dirty="0"/>
              <a:t> </a:t>
            </a:r>
            <a:r>
              <a:rPr spc="-25" dirty="0"/>
              <a:t>and 	</a:t>
            </a:r>
            <a:r>
              <a:rPr dirty="0"/>
              <a:t>at</a:t>
            </a:r>
            <a:r>
              <a:rPr spc="215" dirty="0"/>
              <a:t> </a:t>
            </a:r>
            <a:r>
              <a:rPr dirty="0"/>
              <a:t>the</a:t>
            </a:r>
            <a:r>
              <a:rPr spc="225" dirty="0"/>
              <a:t> </a:t>
            </a:r>
            <a:r>
              <a:rPr dirty="0"/>
              <a:t>receiver</a:t>
            </a:r>
            <a:r>
              <a:rPr spc="229" dirty="0"/>
              <a:t> </a:t>
            </a:r>
            <a:r>
              <a:rPr dirty="0"/>
              <a:t>side</a:t>
            </a:r>
            <a:r>
              <a:rPr spc="215" dirty="0"/>
              <a:t> </a:t>
            </a:r>
            <a:r>
              <a:rPr dirty="0"/>
              <a:t>the</a:t>
            </a:r>
            <a:r>
              <a:rPr spc="215" dirty="0"/>
              <a:t> </a:t>
            </a:r>
            <a:r>
              <a:rPr dirty="0"/>
              <a:t>digital</a:t>
            </a:r>
            <a:r>
              <a:rPr spc="229" dirty="0"/>
              <a:t> </a:t>
            </a:r>
            <a:r>
              <a:rPr dirty="0"/>
              <a:t>data</a:t>
            </a:r>
            <a:r>
              <a:rPr spc="215" dirty="0"/>
              <a:t> </a:t>
            </a:r>
            <a:r>
              <a:rPr dirty="0"/>
              <a:t>are</a:t>
            </a:r>
            <a:r>
              <a:rPr spc="215" dirty="0"/>
              <a:t> </a:t>
            </a:r>
            <a:r>
              <a:rPr dirty="0"/>
              <a:t>recreated</a:t>
            </a:r>
            <a:r>
              <a:rPr spc="229" dirty="0"/>
              <a:t> </a:t>
            </a:r>
            <a:r>
              <a:rPr dirty="0"/>
              <a:t>by</a:t>
            </a:r>
            <a:r>
              <a:rPr spc="225" dirty="0"/>
              <a:t> </a:t>
            </a:r>
            <a:r>
              <a:rPr dirty="0"/>
              <a:t>decoding</a:t>
            </a:r>
            <a:r>
              <a:rPr spc="225" dirty="0"/>
              <a:t> </a:t>
            </a:r>
            <a:r>
              <a:rPr spc="-25" dirty="0"/>
              <a:t>the 	</a:t>
            </a:r>
            <a:r>
              <a:rPr dirty="0"/>
              <a:t>digital</a:t>
            </a:r>
            <a:r>
              <a:rPr spc="-25" dirty="0"/>
              <a:t> </a:t>
            </a:r>
            <a:r>
              <a:rPr spc="-10" dirty="0"/>
              <a:t>signal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Coding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pc="-60" dirty="0"/>
              <a:t>We</a:t>
            </a:r>
            <a:r>
              <a:rPr spc="-10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divide</a:t>
            </a:r>
            <a:r>
              <a:rPr spc="-45" dirty="0"/>
              <a:t> </a:t>
            </a:r>
            <a:r>
              <a:rPr dirty="0"/>
              <a:t>line</a:t>
            </a:r>
            <a:r>
              <a:rPr spc="-35" dirty="0"/>
              <a:t> </a:t>
            </a:r>
            <a:r>
              <a:rPr dirty="0"/>
              <a:t>coding</a:t>
            </a:r>
            <a:r>
              <a:rPr spc="-40" dirty="0"/>
              <a:t> </a:t>
            </a:r>
            <a:r>
              <a:rPr dirty="0"/>
              <a:t>schemes</a:t>
            </a:r>
            <a:r>
              <a:rPr spc="-25" dirty="0"/>
              <a:t> </a:t>
            </a:r>
            <a:r>
              <a:rPr dirty="0"/>
              <a:t>into</a:t>
            </a:r>
            <a:r>
              <a:rPr spc="-35" dirty="0"/>
              <a:t> </a:t>
            </a:r>
            <a:r>
              <a:rPr dirty="0"/>
              <a:t>five</a:t>
            </a:r>
            <a:r>
              <a:rPr spc="-25" dirty="0"/>
              <a:t> </a:t>
            </a:r>
            <a:r>
              <a:rPr spc="-10" dirty="0"/>
              <a:t>categories</a:t>
            </a: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Unipolar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(Eg: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NRZ</a:t>
            </a:r>
            <a:r>
              <a:rPr sz="2000" spc="-10" dirty="0">
                <a:latin typeface="Times New Roman"/>
                <a:cs typeface="Times New Roman"/>
              </a:rPr>
              <a:t> scheme)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350"/>
              </a:lnSpc>
              <a:spcBef>
                <a:spcPts val="5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Polar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(Eg: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NRZ-</a:t>
            </a:r>
            <a:r>
              <a:rPr sz="2000" dirty="0">
                <a:latin typeface="Times New Roman"/>
                <a:cs typeface="Times New Roman"/>
              </a:rPr>
              <a:t>L,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NRZ-</a:t>
            </a:r>
            <a:r>
              <a:rPr sz="2000" dirty="0">
                <a:latin typeface="Times New Roman"/>
                <a:cs typeface="Times New Roman"/>
              </a:rPr>
              <a:t>I,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RZ,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Biphase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Manchester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differential Manchester)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Bipolar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(Eg: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AMI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Pseudoternary).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Multilevel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Multi-transition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Coding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9924"/>
            <a:ext cx="8529955" cy="326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2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self-</a:t>
            </a:r>
            <a:r>
              <a:rPr sz="2400" dirty="0">
                <a:latin typeface="Times New Roman"/>
                <a:cs typeface="Times New Roman"/>
              </a:rPr>
              <a:t>synchronizing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i.e.,</a:t>
            </a:r>
            <a:r>
              <a:rPr sz="2400" spc="25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both</a:t>
            </a:r>
            <a:r>
              <a:rPr sz="2400" spc="2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receiver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sender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clock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synchronized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some </a:t>
            </a:r>
            <a:r>
              <a:rPr sz="2400" spc="-20" dirty="0">
                <a:latin typeface="Times New Roman"/>
                <a:cs typeface="Times New Roman"/>
              </a:rPr>
              <a:t>error-</a:t>
            </a:r>
            <a:r>
              <a:rPr sz="2400" dirty="0">
                <a:latin typeface="Times New Roman"/>
                <a:cs typeface="Times New Roman"/>
              </a:rPr>
              <a:t>detecting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capability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immunity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noise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interference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complexity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705"/>
              </a:spcBef>
              <a:buFont typeface="Arial MT"/>
              <a:buChar char="•"/>
              <a:tabLst>
                <a:tab pos="355600" algn="l"/>
                <a:tab pos="1193800" algn="l"/>
                <a:tab pos="2132330" algn="l"/>
                <a:tab pos="2548890" algn="l"/>
                <a:tab pos="2981960" algn="l"/>
                <a:tab pos="3566795" algn="l"/>
                <a:tab pos="4911090" algn="l"/>
                <a:tab pos="6469380" algn="l"/>
                <a:tab pos="7520940" algn="l"/>
              </a:tabLst>
            </a:pPr>
            <a:r>
              <a:rPr sz="2400" spc="-10" dirty="0">
                <a:latin typeface="Times New Roman"/>
                <a:cs typeface="Times New Roman"/>
              </a:rPr>
              <a:t>There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should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no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low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frequency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component,</a:t>
            </a:r>
            <a:r>
              <a:rPr sz="2400" dirty="0">
                <a:latin typeface="Times New Roman"/>
                <a:cs typeface="Times New Roman"/>
              </a:rPr>
              <a:t>	as</a:t>
            </a:r>
            <a:r>
              <a:rPr sz="2400" spc="3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long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distance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feasible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low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frequency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component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signal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should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less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wandering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Characteristics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Line</a:t>
            </a:r>
            <a:r>
              <a:rPr spc="-45" dirty="0"/>
              <a:t> </a:t>
            </a:r>
            <a:r>
              <a:rPr dirty="0"/>
              <a:t>Coding</a:t>
            </a:r>
            <a:r>
              <a:rPr spc="-6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4" name="object 4"/>
          <p:cNvSpPr/>
          <p:nvPr/>
        </p:nvSpPr>
        <p:spPr>
          <a:xfrm>
            <a:off x="2654045" y="1431797"/>
            <a:ext cx="2947670" cy="2970530"/>
          </a:xfrm>
          <a:custGeom>
            <a:avLst/>
            <a:gdLst/>
            <a:ahLst/>
            <a:cxnLst/>
            <a:rect l="l" t="t" r="r" b="b"/>
            <a:pathLst>
              <a:path w="2947670" h="2970529">
                <a:moveTo>
                  <a:pt x="333756" y="0"/>
                </a:moveTo>
                <a:lnTo>
                  <a:pt x="2298192" y="0"/>
                </a:lnTo>
              </a:path>
              <a:path w="2947670" h="2970529">
                <a:moveTo>
                  <a:pt x="982980" y="851915"/>
                </a:moveTo>
                <a:lnTo>
                  <a:pt x="2947416" y="851915"/>
                </a:lnTo>
              </a:path>
              <a:path w="2947670" h="2970529">
                <a:moveTo>
                  <a:pt x="242316" y="1284732"/>
                </a:moveTo>
                <a:lnTo>
                  <a:pt x="2206752" y="1284732"/>
                </a:lnTo>
              </a:path>
              <a:path w="2947670" h="2970529">
                <a:moveTo>
                  <a:pt x="0" y="1738883"/>
                </a:moveTo>
                <a:lnTo>
                  <a:pt x="1964436" y="1738883"/>
                </a:lnTo>
              </a:path>
              <a:path w="2947670" h="2970529">
                <a:moveTo>
                  <a:pt x="153924" y="2970276"/>
                </a:moveTo>
                <a:lnTo>
                  <a:pt x="2767584" y="2970276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011" y="1203960"/>
            <a:ext cx="6092951" cy="34701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Characteristics</a:t>
            </a:r>
            <a:r>
              <a:rPr spc="-6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Line</a:t>
            </a:r>
            <a:r>
              <a:rPr spc="-45" dirty="0"/>
              <a:t> </a:t>
            </a:r>
            <a:r>
              <a:rPr dirty="0"/>
              <a:t>Coding</a:t>
            </a:r>
            <a:r>
              <a:rPr spc="-65" dirty="0"/>
              <a:t> </a:t>
            </a:r>
            <a:r>
              <a:rPr spc="-10" dirty="0"/>
              <a:t>techniques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0668"/>
            <a:ext cx="8530590" cy="308419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99000"/>
              </a:lnSpc>
              <a:spcBef>
                <a:spcPts val="50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5" dirty="0">
                <a:latin typeface="Arial MT"/>
                <a:cs typeface="Arial MT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digital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transmission,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clock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0.1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percent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faster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sender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clock.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bits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per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second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receiver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receive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if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kbps?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many 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 Mbps?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kbps,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1001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bps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instead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1000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bps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ts val="2855"/>
              </a:lnSpc>
              <a:spcBef>
                <a:spcPts val="555"/>
              </a:spcBef>
              <a:buFont typeface="Arial MT"/>
              <a:buChar char="•"/>
              <a:tabLst>
                <a:tab pos="354965" algn="l"/>
                <a:tab pos="864235" algn="l"/>
                <a:tab pos="1221105" algn="l"/>
                <a:tab pos="2193290" algn="l"/>
                <a:tab pos="2769870" algn="l"/>
                <a:tab pos="3950970" algn="l"/>
                <a:tab pos="5149215" algn="l"/>
                <a:tab pos="6571615" algn="l"/>
                <a:tab pos="7197725" algn="l"/>
                <a:tab pos="8263255" algn="l"/>
              </a:tabLst>
            </a:pPr>
            <a:r>
              <a:rPr sz="2400" spc="-25" dirty="0">
                <a:latin typeface="Times New Roman"/>
                <a:cs typeface="Times New Roman"/>
              </a:rPr>
              <a:t>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Mbps,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receiver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receives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1,001,000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bps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instead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5"/>
              </a:lnSpc>
            </a:pPr>
            <a:r>
              <a:rPr sz="2400" dirty="0">
                <a:latin typeface="Times New Roman"/>
                <a:cs typeface="Times New Roman"/>
              </a:rPr>
              <a:t>1,000,000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bps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4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All</a:t>
            </a:r>
            <a:r>
              <a:rPr spc="-15" dirty="0"/>
              <a:t> </a:t>
            </a:r>
            <a:r>
              <a:rPr dirty="0"/>
              <a:t>signal</a:t>
            </a:r>
            <a:r>
              <a:rPr spc="-35" dirty="0"/>
              <a:t> </a:t>
            </a:r>
            <a:r>
              <a:rPr dirty="0"/>
              <a:t>levels</a:t>
            </a:r>
            <a:r>
              <a:rPr spc="-35" dirty="0"/>
              <a:t> </a:t>
            </a:r>
            <a:r>
              <a:rPr dirty="0"/>
              <a:t>are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o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ne</a:t>
            </a:r>
            <a:r>
              <a:rPr u="heavy" spc="-20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side</a:t>
            </a:r>
            <a:r>
              <a:rPr u="heavy" spc="-2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of</a:t>
            </a:r>
            <a:r>
              <a:rPr u="heavy" spc="-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the</a:t>
            </a:r>
            <a:r>
              <a:rPr u="heavy" spc="-2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time</a:t>
            </a:r>
            <a:r>
              <a:rPr u="heavy" spc="-15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u="heavy" spc="-20" dirty="0">
                <a:uFill>
                  <a:solidFill>
                    <a:srgbClr val="C00000"/>
                  </a:solidFill>
                </a:uFill>
              </a:rPr>
              <a:t>axi</a:t>
            </a:r>
            <a:r>
              <a:rPr spc="-20" dirty="0"/>
              <a:t>s</a:t>
            </a:r>
          </a:p>
          <a:p>
            <a:pPr marL="756285" lvl="1" indent="-286385">
              <a:lnSpc>
                <a:spcPts val="233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either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above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below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2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Eg: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NRZ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0" dirty="0">
                <a:latin typeface="Times New Roman"/>
                <a:cs typeface="Times New Roman"/>
              </a:rPr>
              <a:t> Zero)</a:t>
            </a:r>
            <a:endParaRPr sz="2000">
              <a:latin typeface="Times New Roman"/>
              <a:cs typeface="Times New Roman"/>
            </a:endParaRPr>
          </a:p>
          <a:p>
            <a:pPr marL="355600" marR="6985" indent="-342900">
              <a:lnSpc>
                <a:spcPct val="79600"/>
              </a:lnSpc>
              <a:spcBef>
                <a:spcPts val="545"/>
              </a:spcBef>
              <a:buFont typeface="Arial MT"/>
              <a:buChar char="•"/>
              <a:tabLst>
                <a:tab pos="355600" algn="l"/>
                <a:tab pos="1041400" algn="l"/>
                <a:tab pos="1976755" algn="l"/>
                <a:tab pos="2778760" algn="l"/>
                <a:tab pos="3548379" algn="l"/>
                <a:tab pos="4149090" algn="l"/>
                <a:tab pos="5086350" algn="l"/>
                <a:tab pos="5534660" algn="l"/>
                <a:tab pos="6268085" algn="l"/>
                <a:tab pos="7273925" algn="l"/>
                <a:tab pos="762127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signal</a:t>
            </a:r>
            <a:r>
              <a:rPr dirty="0"/>
              <a:t>	</a:t>
            </a:r>
            <a:r>
              <a:rPr spc="-20" dirty="0"/>
              <a:t>level</a:t>
            </a:r>
            <a:r>
              <a:rPr dirty="0"/>
              <a:t>	</a:t>
            </a:r>
            <a:r>
              <a:rPr spc="-20" dirty="0"/>
              <a:t>does</a:t>
            </a:r>
            <a:r>
              <a:rPr dirty="0"/>
              <a:t>	</a:t>
            </a:r>
            <a:r>
              <a:rPr spc="-25" dirty="0"/>
              <a:t>not</a:t>
            </a:r>
            <a:r>
              <a:rPr dirty="0"/>
              <a:t>	</a:t>
            </a:r>
            <a:r>
              <a:rPr spc="-10" dirty="0"/>
              <a:t>return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20" dirty="0"/>
              <a:t>zero</a:t>
            </a:r>
            <a:r>
              <a:rPr dirty="0"/>
              <a:t>	</a:t>
            </a:r>
            <a:r>
              <a:rPr spc="-10" dirty="0"/>
              <a:t>during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symbol transmission</a:t>
            </a:r>
          </a:p>
          <a:p>
            <a:pPr marL="355600" marR="5080" indent="-342900">
              <a:lnSpc>
                <a:spcPct val="79600"/>
              </a:lnSpc>
              <a:spcBef>
                <a:spcPts val="5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250" dirty="0"/>
              <a:t> </a:t>
            </a:r>
            <a:r>
              <a:rPr dirty="0"/>
              <a:t>signal</a:t>
            </a:r>
            <a:r>
              <a:rPr spc="254" dirty="0"/>
              <a:t> </a:t>
            </a:r>
            <a:r>
              <a:rPr dirty="0"/>
              <a:t>will</a:t>
            </a:r>
            <a:r>
              <a:rPr spc="270" dirty="0"/>
              <a:t> </a:t>
            </a:r>
            <a:r>
              <a:rPr dirty="0"/>
              <a:t>change</a:t>
            </a:r>
            <a:r>
              <a:rPr spc="250" dirty="0"/>
              <a:t> </a:t>
            </a:r>
            <a:r>
              <a:rPr dirty="0"/>
              <a:t>level</a:t>
            </a:r>
            <a:r>
              <a:rPr spc="265" dirty="0"/>
              <a:t> </a:t>
            </a:r>
            <a:r>
              <a:rPr dirty="0"/>
              <a:t>at</a:t>
            </a:r>
            <a:r>
              <a:rPr spc="270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dirty="0"/>
              <a:t>edge</a:t>
            </a:r>
            <a:r>
              <a:rPr spc="27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dirty="0"/>
              <a:t>the</a:t>
            </a:r>
            <a:r>
              <a:rPr spc="270" dirty="0"/>
              <a:t> </a:t>
            </a:r>
            <a:r>
              <a:rPr dirty="0"/>
              <a:t>time</a:t>
            </a:r>
            <a:r>
              <a:rPr spc="270" dirty="0"/>
              <a:t> </a:t>
            </a:r>
            <a:r>
              <a:rPr dirty="0"/>
              <a:t>interval</a:t>
            </a:r>
            <a:r>
              <a:rPr spc="270" dirty="0"/>
              <a:t> </a:t>
            </a:r>
            <a:r>
              <a:rPr spc="-25" dirty="0"/>
              <a:t>and </a:t>
            </a:r>
            <a:r>
              <a:rPr dirty="0"/>
              <a:t>not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between</a:t>
            </a:r>
          </a:p>
          <a:p>
            <a:pPr marL="354965" indent="-342265">
              <a:lnSpc>
                <a:spcPts val="2775"/>
              </a:lnSpc>
              <a:buFont typeface="Arial MT"/>
              <a:buChar char="•"/>
              <a:tabLst>
                <a:tab pos="354965" algn="l"/>
              </a:tabLst>
            </a:pPr>
            <a:r>
              <a:rPr spc="-10" dirty="0"/>
              <a:t>Disadvantages</a:t>
            </a:r>
          </a:p>
          <a:p>
            <a:pPr marL="756285" lvl="1" indent="-286385">
              <a:lnSpc>
                <a:spcPts val="2325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Scheme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subject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baseline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wandering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20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synchronization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detection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65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power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consumption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Unipolar</a:t>
            </a:r>
            <a:r>
              <a:rPr spc="-35" dirty="0"/>
              <a:t> </a:t>
            </a:r>
            <a:r>
              <a:rPr dirty="0"/>
              <a:t>Line</a:t>
            </a:r>
            <a:r>
              <a:rPr spc="-10" dirty="0"/>
              <a:t> </a:t>
            </a:r>
            <a:r>
              <a:rPr dirty="0"/>
              <a:t>Coding</a:t>
            </a:r>
            <a:r>
              <a:rPr spc="-30" dirty="0"/>
              <a:t> </a:t>
            </a:r>
            <a:r>
              <a:rPr spc="-10" dirty="0"/>
              <a:t>Scheme</a:t>
            </a:r>
          </a:p>
        </p:txBody>
      </p:sp>
      <p:sp>
        <p:nvSpPr>
          <p:cNvPr id="4" name="object 4"/>
          <p:cNvSpPr/>
          <p:nvPr/>
        </p:nvSpPr>
        <p:spPr>
          <a:xfrm>
            <a:off x="2760726" y="2356866"/>
            <a:ext cx="3515995" cy="669290"/>
          </a:xfrm>
          <a:custGeom>
            <a:avLst/>
            <a:gdLst/>
            <a:ahLst/>
            <a:cxnLst/>
            <a:rect l="l" t="t" r="r" b="b"/>
            <a:pathLst>
              <a:path w="3515995" h="669289">
                <a:moveTo>
                  <a:pt x="1138427" y="0"/>
                </a:moveTo>
                <a:lnTo>
                  <a:pt x="3515868" y="0"/>
                </a:lnTo>
              </a:path>
              <a:path w="3515995" h="669289">
                <a:moveTo>
                  <a:pt x="0" y="669035"/>
                </a:moveTo>
                <a:lnTo>
                  <a:pt x="2875788" y="669035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Unipolar</a:t>
            </a:r>
            <a:r>
              <a:rPr spc="-4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NRZ</a:t>
            </a:r>
            <a:r>
              <a:rPr spc="5" dirty="0"/>
              <a:t> </a:t>
            </a:r>
            <a:r>
              <a:rPr spc="-10" dirty="0"/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69924"/>
            <a:ext cx="853059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Assumption: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‘1’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positive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side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axis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‘0’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20" dirty="0">
                <a:latin typeface="Times New Roman"/>
                <a:cs typeface="Times New Roman"/>
              </a:rPr>
              <a:t> axis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5434" y="3486150"/>
            <a:ext cx="8531225" cy="7512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55600" marR="5080" indent="-342900">
              <a:lnSpc>
                <a:spcPts val="2830"/>
              </a:lnSpc>
              <a:spcBef>
                <a:spcPts val="235"/>
              </a:spcBef>
              <a:buFont typeface="Arial MT"/>
              <a:buChar char="•"/>
              <a:tabLst>
                <a:tab pos="355600" algn="l"/>
                <a:tab pos="1410335" algn="l"/>
                <a:tab pos="2075814" algn="l"/>
                <a:tab pos="3196590" algn="l"/>
                <a:tab pos="3687445" algn="l"/>
                <a:tab pos="4050029" algn="l"/>
                <a:tab pos="4513580" algn="l"/>
                <a:tab pos="5702300" algn="l"/>
                <a:tab pos="6350635" algn="l"/>
                <a:tab pos="6762115" algn="l"/>
                <a:tab pos="7412355" algn="l"/>
                <a:tab pos="8010525" algn="l"/>
              </a:tabLst>
            </a:pPr>
            <a:r>
              <a:rPr sz="2400" spc="-10" dirty="0">
                <a:latin typeface="Times New Roman"/>
                <a:cs typeface="Times New Roman"/>
              </a:rPr>
              <a:t>NOTE: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data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element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‘1’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negative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side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axis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data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‘0’</a:t>
            </a:r>
            <a:r>
              <a:rPr sz="2400" spc="-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axis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assumed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304" y="2068067"/>
            <a:ext cx="4745736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Polar</a:t>
            </a:r>
            <a:r>
              <a:rPr spc="-2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NRZ Line</a:t>
            </a:r>
            <a:r>
              <a:rPr spc="-15" dirty="0"/>
              <a:t> </a:t>
            </a:r>
            <a:r>
              <a:rPr dirty="0"/>
              <a:t>Coding</a:t>
            </a:r>
            <a:r>
              <a:rPr spc="-35" dirty="0"/>
              <a:t> </a:t>
            </a:r>
            <a:r>
              <a:rPr spc="-10" dirty="0"/>
              <a:t>Scheme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55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/>
              <a:t>The</a:t>
            </a:r>
            <a:r>
              <a:rPr sz="2100" spc="-25" dirty="0"/>
              <a:t> </a:t>
            </a:r>
            <a:r>
              <a:rPr sz="2100" dirty="0"/>
              <a:t>voltages</a:t>
            </a:r>
            <a:r>
              <a:rPr sz="2100" spc="-35" dirty="0"/>
              <a:t> </a:t>
            </a:r>
            <a:r>
              <a:rPr sz="2100" dirty="0"/>
              <a:t>are</a:t>
            </a:r>
            <a:r>
              <a:rPr sz="2100" spc="-20" dirty="0"/>
              <a:t> </a:t>
            </a:r>
            <a:r>
              <a:rPr sz="2100" dirty="0"/>
              <a:t>on</a:t>
            </a:r>
            <a:r>
              <a:rPr sz="2100" spc="-35" dirty="0"/>
              <a:t> </a:t>
            </a:r>
            <a:r>
              <a:rPr sz="2100" dirty="0"/>
              <a:t>both</a:t>
            </a:r>
            <a:r>
              <a:rPr sz="2100" spc="-30" dirty="0"/>
              <a:t> </a:t>
            </a:r>
            <a:r>
              <a:rPr sz="2100" dirty="0"/>
              <a:t>sides</a:t>
            </a:r>
            <a:r>
              <a:rPr sz="2100" spc="-45" dirty="0"/>
              <a:t> </a:t>
            </a:r>
            <a:r>
              <a:rPr sz="2100" dirty="0"/>
              <a:t>of</a:t>
            </a:r>
            <a:r>
              <a:rPr sz="2100" spc="-25" dirty="0"/>
              <a:t> </a:t>
            </a:r>
            <a:r>
              <a:rPr sz="2100" dirty="0"/>
              <a:t>the</a:t>
            </a:r>
            <a:r>
              <a:rPr sz="2100" spc="-25" dirty="0"/>
              <a:t> </a:t>
            </a:r>
            <a:r>
              <a:rPr sz="2100" dirty="0"/>
              <a:t>time</a:t>
            </a:r>
            <a:r>
              <a:rPr sz="2100" spc="-5" dirty="0"/>
              <a:t> </a:t>
            </a:r>
            <a:r>
              <a:rPr sz="2100" spc="-20" dirty="0"/>
              <a:t>axis</a:t>
            </a:r>
            <a:endParaRPr sz="2100"/>
          </a:p>
          <a:p>
            <a:pPr marL="354965" indent="-342265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/>
              <a:t>The</a:t>
            </a:r>
            <a:r>
              <a:rPr sz="2100" spc="-30" dirty="0"/>
              <a:t> </a:t>
            </a:r>
            <a:r>
              <a:rPr sz="2100" dirty="0"/>
              <a:t>signal</a:t>
            </a:r>
            <a:r>
              <a:rPr sz="2100" spc="-40" dirty="0"/>
              <a:t> </a:t>
            </a:r>
            <a:r>
              <a:rPr sz="2100" dirty="0"/>
              <a:t>level</a:t>
            </a:r>
            <a:r>
              <a:rPr sz="2100" spc="-30" dirty="0"/>
              <a:t> </a:t>
            </a:r>
            <a:r>
              <a:rPr sz="2100" dirty="0"/>
              <a:t>does</a:t>
            </a:r>
            <a:r>
              <a:rPr sz="2100" spc="-35" dirty="0"/>
              <a:t> </a:t>
            </a:r>
            <a:r>
              <a:rPr sz="2100" dirty="0"/>
              <a:t>not</a:t>
            </a:r>
            <a:r>
              <a:rPr sz="2100" spc="-35" dirty="0"/>
              <a:t> </a:t>
            </a:r>
            <a:r>
              <a:rPr sz="2100" dirty="0"/>
              <a:t>return</a:t>
            </a:r>
            <a:r>
              <a:rPr sz="2100" spc="-30" dirty="0"/>
              <a:t> </a:t>
            </a:r>
            <a:r>
              <a:rPr sz="2100" dirty="0"/>
              <a:t>to</a:t>
            </a:r>
            <a:r>
              <a:rPr sz="2100" spc="-30" dirty="0"/>
              <a:t> </a:t>
            </a:r>
            <a:r>
              <a:rPr sz="2100" dirty="0"/>
              <a:t>zero</a:t>
            </a:r>
            <a:r>
              <a:rPr sz="2100" spc="-30" dirty="0"/>
              <a:t> </a:t>
            </a:r>
            <a:r>
              <a:rPr sz="2100" dirty="0"/>
              <a:t>during</a:t>
            </a:r>
            <a:r>
              <a:rPr sz="2100" spc="-45" dirty="0"/>
              <a:t> </a:t>
            </a:r>
            <a:r>
              <a:rPr sz="2100" dirty="0"/>
              <a:t>a</a:t>
            </a:r>
            <a:r>
              <a:rPr sz="2100" spc="-25" dirty="0"/>
              <a:t> </a:t>
            </a:r>
            <a:r>
              <a:rPr sz="2100" dirty="0"/>
              <a:t>symbol</a:t>
            </a:r>
            <a:r>
              <a:rPr sz="2100" spc="-5" dirty="0"/>
              <a:t> </a:t>
            </a:r>
            <a:r>
              <a:rPr sz="2100" spc="-10" dirty="0"/>
              <a:t>transmission</a:t>
            </a:r>
            <a:endParaRPr sz="2100"/>
          </a:p>
          <a:p>
            <a:pPr marL="355600" marR="5080" indent="-342900">
              <a:lnSpc>
                <a:spcPts val="2220"/>
              </a:lnSpc>
              <a:spcBef>
                <a:spcPts val="610"/>
              </a:spcBef>
              <a:buFont typeface="Arial MT"/>
              <a:buChar char="•"/>
              <a:tabLst>
                <a:tab pos="355600" algn="l"/>
              </a:tabLst>
            </a:pPr>
            <a:r>
              <a:rPr sz="2100" dirty="0"/>
              <a:t>The</a:t>
            </a:r>
            <a:r>
              <a:rPr sz="2100" spc="360" dirty="0"/>
              <a:t> </a:t>
            </a:r>
            <a:r>
              <a:rPr sz="2100" dirty="0"/>
              <a:t>signal</a:t>
            </a:r>
            <a:r>
              <a:rPr sz="2100" spc="350" dirty="0"/>
              <a:t> </a:t>
            </a:r>
            <a:r>
              <a:rPr sz="2100" dirty="0"/>
              <a:t>will</a:t>
            </a:r>
            <a:r>
              <a:rPr sz="2100" spc="360" dirty="0"/>
              <a:t> </a:t>
            </a:r>
            <a:r>
              <a:rPr sz="2100" dirty="0"/>
              <a:t>change</a:t>
            </a:r>
            <a:r>
              <a:rPr sz="2100" spc="355" dirty="0"/>
              <a:t> </a:t>
            </a:r>
            <a:r>
              <a:rPr sz="2100" dirty="0"/>
              <a:t>level</a:t>
            </a:r>
            <a:r>
              <a:rPr sz="2100" spc="360" dirty="0"/>
              <a:t> </a:t>
            </a:r>
            <a:r>
              <a:rPr sz="2100" dirty="0"/>
              <a:t>at</a:t>
            </a:r>
            <a:r>
              <a:rPr sz="2100" spc="360" dirty="0"/>
              <a:t> </a:t>
            </a:r>
            <a:r>
              <a:rPr sz="2100" dirty="0"/>
              <a:t>the</a:t>
            </a:r>
            <a:r>
              <a:rPr sz="2100" spc="345" dirty="0"/>
              <a:t> </a:t>
            </a:r>
            <a:r>
              <a:rPr sz="2100" dirty="0"/>
              <a:t>edge</a:t>
            </a:r>
            <a:r>
              <a:rPr sz="2100" spc="360" dirty="0"/>
              <a:t> </a:t>
            </a:r>
            <a:r>
              <a:rPr sz="2100" dirty="0"/>
              <a:t>of</a:t>
            </a:r>
            <a:r>
              <a:rPr sz="2100" spc="350" dirty="0"/>
              <a:t> </a:t>
            </a:r>
            <a:r>
              <a:rPr sz="2100" dirty="0"/>
              <a:t>the</a:t>
            </a:r>
            <a:r>
              <a:rPr sz="2100" spc="360" dirty="0"/>
              <a:t> </a:t>
            </a:r>
            <a:r>
              <a:rPr sz="2100" dirty="0"/>
              <a:t>time</a:t>
            </a:r>
            <a:r>
              <a:rPr sz="2100" spc="375" dirty="0"/>
              <a:t> </a:t>
            </a:r>
            <a:r>
              <a:rPr sz="2100" dirty="0"/>
              <a:t>interval</a:t>
            </a:r>
            <a:r>
              <a:rPr sz="2100" spc="355" dirty="0"/>
              <a:t> </a:t>
            </a:r>
            <a:r>
              <a:rPr sz="2100" dirty="0"/>
              <a:t>and</a:t>
            </a:r>
            <a:r>
              <a:rPr sz="2100" spc="345" dirty="0"/>
              <a:t> </a:t>
            </a:r>
            <a:r>
              <a:rPr sz="2100" dirty="0"/>
              <a:t>not</a:t>
            </a:r>
            <a:r>
              <a:rPr sz="2100" spc="345" dirty="0"/>
              <a:t> </a:t>
            </a:r>
            <a:r>
              <a:rPr sz="2100" spc="-25" dirty="0"/>
              <a:t>in </a:t>
            </a:r>
            <a:r>
              <a:rPr sz="2100" spc="-10" dirty="0"/>
              <a:t>between</a:t>
            </a:r>
            <a:endParaRPr sz="2100"/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/>
              <a:t>Polar</a:t>
            </a:r>
            <a:r>
              <a:rPr sz="2100" spc="-45" dirty="0"/>
              <a:t> </a:t>
            </a:r>
            <a:r>
              <a:rPr sz="2100" dirty="0"/>
              <a:t>NRZ</a:t>
            </a:r>
            <a:r>
              <a:rPr sz="2100" spc="-50" dirty="0"/>
              <a:t> </a:t>
            </a:r>
            <a:r>
              <a:rPr sz="2100" dirty="0"/>
              <a:t>scheme</a:t>
            </a:r>
            <a:r>
              <a:rPr sz="2100" spc="-10" dirty="0"/>
              <a:t> </a:t>
            </a:r>
            <a:r>
              <a:rPr sz="2100" dirty="0"/>
              <a:t>can</a:t>
            </a:r>
            <a:r>
              <a:rPr sz="2100" spc="-40" dirty="0"/>
              <a:t> </a:t>
            </a:r>
            <a:r>
              <a:rPr sz="2100" dirty="0"/>
              <a:t>be</a:t>
            </a:r>
            <a:r>
              <a:rPr sz="2100" spc="-45" dirty="0"/>
              <a:t> </a:t>
            </a:r>
            <a:r>
              <a:rPr sz="2100" dirty="0"/>
              <a:t>implemented</a:t>
            </a:r>
            <a:r>
              <a:rPr sz="2100" spc="5" dirty="0"/>
              <a:t> </a:t>
            </a:r>
            <a:r>
              <a:rPr sz="2100" dirty="0"/>
              <a:t>with</a:t>
            </a:r>
            <a:r>
              <a:rPr sz="2100" spc="-45" dirty="0"/>
              <a:t> </a:t>
            </a:r>
            <a:r>
              <a:rPr sz="2100" dirty="0"/>
              <a:t>two</a:t>
            </a:r>
            <a:r>
              <a:rPr sz="2100" spc="-45" dirty="0"/>
              <a:t> </a:t>
            </a:r>
            <a:r>
              <a:rPr sz="2100" spc="-10" dirty="0"/>
              <a:t>voltages</a:t>
            </a:r>
            <a:endParaRPr sz="2100"/>
          </a:p>
          <a:p>
            <a:pPr marL="756285" lvl="1" indent="-286385">
              <a:lnSpc>
                <a:spcPct val="100000"/>
              </a:lnSpc>
              <a:spcBef>
                <a:spcPts val="204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E.g.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+V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0" dirty="0">
                <a:latin typeface="Times New Roman"/>
                <a:cs typeface="Times New Roman"/>
              </a:rPr>
              <a:t> -</a:t>
            </a:r>
            <a:r>
              <a:rPr sz="1800" dirty="0">
                <a:latin typeface="Times New Roman"/>
                <a:cs typeface="Times New Roman"/>
              </a:rPr>
              <a:t>V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vice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versa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</a:tabLst>
            </a:pPr>
            <a:r>
              <a:rPr sz="2100" dirty="0"/>
              <a:t>There</a:t>
            </a:r>
            <a:r>
              <a:rPr sz="2100" spc="-20" dirty="0"/>
              <a:t> </a:t>
            </a:r>
            <a:r>
              <a:rPr sz="2100" dirty="0"/>
              <a:t>are</a:t>
            </a:r>
            <a:r>
              <a:rPr sz="2100" spc="-20" dirty="0"/>
              <a:t> </a:t>
            </a:r>
            <a:r>
              <a:rPr sz="2100" dirty="0"/>
              <a:t>two</a:t>
            </a:r>
            <a:r>
              <a:rPr sz="2100" spc="-25" dirty="0"/>
              <a:t> </a:t>
            </a:r>
            <a:r>
              <a:rPr sz="2100" spc="-10" dirty="0"/>
              <a:t>versions:</a:t>
            </a:r>
            <a:endParaRPr sz="2100"/>
          </a:p>
          <a:p>
            <a:pPr marL="756285" lvl="1" indent="-286385">
              <a:lnSpc>
                <a:spcPct val="100000"/>
              </a:lnSpc>
              <a:spcBef>
                <a:spcPts val="204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NRZ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Level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(NRZ-</a:t>
            </a:r>
            <a:r>
              <a:rPr sz="1800" dirty="0">
                <a:latin typeface="Times New Roman"/>
                <a:cs typeface="Times New Roman"/>
              </a:rPr>
              <a:t>L)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positive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voltage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symbol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 negative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10" dirty="0">
                <a:latin typeface="Times New Roman"/>
                <a:cs typeface="Times New Roman"/>
              </a:rPr>
              <a:t> other</a:t>
            </a:r>
            <a:endParaRPr sz="18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1900"/>
              </a:lnSpc>
              <a:spcBef>
                <a:spcPts val="509"/>
              </a:spcBef>
              <a:buFont typeface="Arial MT"/>
              <a:buChar char="–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NRZ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Inversion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(NRZ-</a:t>
            </a:r>
            <a:r>
              <a:rPr sz="1800" dirty="0">
                <a:latin typeface="Times New Roman"/>
                <a:cs typeface="Times New Roman"/>
              </a:rPr>
              <a:t>I)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-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</a:t>
            </a:r>
            <a:r>
              <a:rPr sz="1800" spc="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lack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change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polarity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determines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value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symbol</a:t>
            </a:r>
            <a:endParaRPr sz="18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1155700" algn="l"/>
              </a:tabLst>
            </a:pPr>
            <a:r>
              <a:rPr sz="1600" dirty="0">
                <a:latin typeface="Times New Roman"/>
                <a:cs typeface="Times New Roman"/>
              </a:rPr>
              <a:t>E.g.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symbol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inverts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polarity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not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60398" y="1347977"/>
            <a:ext cx="4014470" cy="2044064"/>
          </a:xfrm>
          <a:custGeom>
            <a:avLst/>
            <a:gdLst/>
            <a:ahLst/>
            <a:cxnLst/>
            <a:rect l="l" t="t" r="r" b="b"/>
            <a:pathLst>
              <a:path w="4014470" h="2044064">
                <a:moveTo>
                  <a:pt x="1400556" y="0"/>
                </a:moveTo>
                <a:lnTo>
                  <a:pt x="4014216" y="0"/>
                </a:lnTo>
              </a:path>
              <a:path w="4014470" h="2044064">
                <a:moveTo>
                  <a:pt x="0" y="2043684"/>
                </a:moveTo>
                <a:lnTo>
                  <a:pt x="1476756" y="2043684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8888" y="1119021"/>
            <a:ext cx="7068820" cy="3660140"/>
            <a:chOff x="1008888" y="1119021"/>
            <a:chExt cx="7068820" cy="36601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888" y="1563623"/>
              <a:ext cx="7068311" cy="25191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4064" y="4299203"/>
              <a:ext cx="6537959" cy="24384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Polar</a:t>
            </a:r>
            <a:r>
              <a:rPr spc="-25" dirty="0"/>
              <a:t> </a:t>
            </a:r>
            <a:r>
              <a:rPr dirty="0"/>
              <a:t>NRZ-L</a:t>
            </a:r>
            <a:r>
              <a:rPr spc="-15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NRZ-I</a:t>
            </a:r>
            <a:r>
              <a:rPr spc="-30" dirty="0"/>
              <a:t> </a:t>
            </a:r>
            <a:r>
              <a:rPr spc="-10" dirty="0"/>
              <a:t>schemes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Polar</a:t>
            </a:r>
            <a:r>
              <a:rPr spc="-25" dirty="0"/>
              <a:t> </a:t>
            </a:r>
            <a:r>
              <a:rPr dirty="0"/>
              <a:t>NRZ-L</a:t>
            </a:r>
            <a:r>
              <a:rPr spc="-15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NRZ-I</a:t>
            </a:r>
            <a:r>
              <a:rPr spc="-30" dirty="0"/>
              <a:t> </a:t>
            </a:r>
            <a:r>
              <a:rPr spc="-10" dirty="0"/>
              <a:t>schemes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0284"/>
            <a:ext cx="8529320" cy="12598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NRZ-</a:t>
            </a:r>
            <a:r>
              <a:rPr sz="2400" dirty="0">
                <a:latin typeface="Times New Roman"/>
                <a:cs typeface="Times New Roman"/>
              </a:rPr>
              <a:t>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voltage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determines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  <a:tab pos="747395" algn="l"/>
                <a:tab pos="1694814" algn="l"/>
                <a:tab pos="2202815" algn="l"/>
                <a:tab pos="3472179" algn="l"/>
                <a:tab pos="3862704" algn="l"/>
                <a:tab pos="4370070" algn="l"/>
                <a:tab pos="5013325" algn="l"/>
                <a:tab pos="5403850" algn="l"/>
                <a:tab pos="6673215" algn="l"/>
                <a:tab pos="8144509" algn="l"/>
              </a:tabLst>
            </a:pP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NRZ-</a:t>
            </a:r>
            <a:r>
              <a:rPr sz="2400" spc="-5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inversion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lack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inversion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determines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84882" y="1492758"/>
            <a:ext cx="3912235" cy="431800"/>
          </a:xfrm>
          <a:custGeom>
            <a:avLst/>
            <a:gdLst/>
            <a:ahLst/>
            <a:cxnLst/>
            <a:rect l="l" t="t" r="r" b="b"/>
            <a:pathLst>
              <a:path w="3912235" h="431800">
                <a:moveTo>
                  <a:pt x="0" y="0"/>
                </a:moveTo>
                <a:lnTo>
                  <a:pt x="2161032" y="0"/>
                </a:lnTo>
              </a:path>
              <a:path w="3912235" h="431800">
                <a:moveTo>
                  <a:pt x="431292" y="431291"/>
                </a:moveTo>
                <a:lnTo>
                  <a:pt x="3912107" y="431291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Return</a:t>
            </a:r>
            <a:r>
              <a:rPr spc="-2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Zero</a:t>
            </a:r>
            <a:r>
              <a:rPr spc="-10" dirty="0"/>
              <a:t> </a:t>
            </a:r>
            <a:r>
              <a:rPr dirty="0"/>
              <a:t>(RZ)</a:t>
            </a:r>
            <a:r>
              <a:rPr spc="-20" dirty="0"/>
              <a:t> </a:t>
            </a:r>
            <a:r>
              <a:rPr dirty="0"/>
              <a:t>scheme</a:t>
            </a:r>
            <a:r>
              <a:rPr spc="-10" dirty="0"/>
              <a:t> </a:t>
            </a:r>
            <a:r>
              <a:rPr dirty="0"/>
              <a:t>uses</a:t>
            </a:r>
            <a:r>
              <a:rPr spc="-5" dirty="0"/>
              <a:t> </a:t>
            </a:r>
            <a:r>
              <a:rPr dirty="0"/>
              <a:t>three</a:t>
            </a:r>
            <a:r>
              <a:rPr spc="-35" dirty="0"/>
              <a:t> </a:t>
            </a:r>
            <a:r>
              <a:rPr dirty="0"/>
              <a:t>voltage</a:t>
            </a:r>
            <a:r>
              <a:rPr spc="-25" dirty="0"/>
              <a:t> </a:t>
            </a:r>
            <a:r>
              <a:rPr spc="-10" dirty="0"/>
              <a:t>values</a:t>
            </a:r>
          </a:p>
          <a:p>
            <a:pPr marL="469900">
              <a:lnSpc>
                <a:spcPct val="100000"/>
              </a:lnSpc>
              <a:spcBef>
                <a:spcPts val="18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/>
              <a:t>+,</a:t>
            </a:r>
            <a:r>
              <a:rPr sz="2000" spc="-10" dirty="0"/>
              <a:t> </a:t>
            </a:r>
            <a:r>
              <a:rPr sz="2000" dirty="0"/>
              <a:t>0,</a:t>
            </a:r>
            <a:r>
              <a:rPr sz="2000" spc="-20" dirty="0"/>
              <a:t> </a:t>
            </a:r>
            <a:r>
              <a:rPr sz="2000" spc="-50" dirty="0"/>
              <a:t>-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Each</a:t>
            </a:r>
            <a:r>
              <a:rPr spc="-20" dirty="0"/>
              <a:t> </a:t>
            </a:r>
            <a:r>
              <a:rPr dirty="0"/>
              <a:t>symbol has</a:t>
            </a:r>
            <a:r>
              <a:rPr spc="-1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tr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ansition</a:t>
            </a:r>
            <a:r>
              <a:rPr u="heavy" spc="-50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in</a:t>
            </a:r>
            <a:r>
              <a:rPr u="heavy" spc="-20" dirty="0">
                <a:uFill>
                  <a:solidFill>
                    <a:srgbClr val="C00000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the</a:t>
            </a:r>
            <a:r>
              <a:rPr u="heavy" spc="-10" dirty="0">
                <a:uFill>
                  <a:solidFill>
                    <a:srgbClr val="C00000"/>
                  </a:solidFill>
                </a:uFill>
              </a:rPr>
              <a:t> midd</a:t>
            </a:r>
            <a:r>
              <a:rPr spc="-10" dirty="0"/>
              <a:t>le</a:t>
            </a:r>
          </a:p>
          <a:p>
            <a:pPr marL="469900">
              <a:lnSpc>
                <a:spcPct val="100000"/>
              </a:lnSpc>
              <a:spcBef>
                <a:spcPts val="185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/>
              <a:t>Either</a:t>
            </a:r>
            <a:r>
              <a:rPr sz="2000" spc="-40" dirty="0"/>
              <a:t> </a:t>
            </a:r>
            <a:r>
              <a:rPr sz="2000" dirty="0"/>
              <a:t>from</a:t>
            </a:r>
            <a:r>
              <a:rPr sz="2000" spc="-40" dirty="0"/>
              <a:t> </a:t>
            </a:r>
            <a:r>
              <a:rPr sz="2000" dirty="0"/>
              <a:t>high</a:t>
            </a:r>
            <a:r>
              <a:rPr sz="2000" spc="-10" dirty="0"/>
              <a:t> </a:t>
            </a:r>
            <a:r>
              <a:rPr sz="2000" dirty="0"/>
              <a:t>to</a:t>
            </a:r>
            <a:r>
              <a:rPr sz="2000" spc="-20" dirty="0"/>
              <a:t> </a:t>
            </a:r>
            <a:r>
              <a:rPr sz="2000" dirty="0"/>
              <a:t>zero</a:t>
            </a:r>
            <a:r>
              <a:rPr sz="2000" spc="-15" dirty="0"/>
              <a:t> </a:t>
            </a:r>
            <a:r>
              <a:rPr sz="2000" dirty="0"/>
              <a:t>or</a:t>
            </a:r>
            <a:r>
              <a:rPr sz="2000" spc="-20" dirty="0"/>
              <a:t> </a:t>
            </a:r>
            <a:r>
              <a:rPr sz="2000" dirty="0"/>
              <a:t>from</a:t>
            </a:r>
            <a:r>
              <a:rPr sz="2000" spc="-45" dirty="0"/>
              <a:t> </a:t>
            </a:r>
            <a:r>
              <a:rPr sz="2000" dirty="0"/>
              <a:t>low</a:t>
            </a:r>
            <a:r>
              <a:rPr sz="2000" spc="-15" dirty="0"/>
              <a:t> </a:t>
            </a:r>
            <a:r>
              <a:rPr sz="2000" dirty="0"/>
              <a:t>to</a:t>
            </a:r>
            <a:r>
              <a:rPr sz="2000" spc="-5" dirty="0"/>
              <a:t> </a:t>
            </a:r>
            <a:r>
              <a:rPr sz="2000" spc="-20" dirty="0"/>
              <a:t>zero</a:t>
            </a:r>
            <a:endParaRPr sz="2000">
              <a:latin typeface="Arial MT"/>
              <a:cs typeface="Arial MT"/>
            </a:endParaRPr>
          </a:p>
          <a:p>
            <a:pPr marL="355600" marR="6350" indent="-342900">
              <a:lnSpc>
                <a:spcPts val="253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254" dirty="0"/>
              <a:t> </a:t>
            </a:r>
            <a:r>
              <a:rPr dirty="0"/>
              <a:t>signal</a:t>
            </a:r>
            <a:r>
              <a:rPr spc="240" dirty="0"/>
              <a:t> </a:t>
            </a:r>
            <a:r>
              <a:rPr dirty="0"/>
              <a:t>will</a:t>
            </a:r>
            <a:r>
              <a:rPr spc="245" dirty="0"/>
              <a:t> </a:t>
            </a:r>
            <a:r>
              <a:rPr dirty="0"/>
              <a:t>change</a:t>
            </a:r>
            <a:r>
              <a:rPr spc="245" dirty="0"/>
              <a:t> </a:t>
            </a:r>
            <a:r>
              <a:rPr dirty="0"/>
              <a:t>level</a:t>
            </a:r>
            <a:r>
              <a:rPr spc="250" dirty="0"/>
              <a:t> </a:t>
            </a:r>
            <a:r>
              <a:rPr dirty="0"/>
              <a:t>in</a:t>
            </a:r>
            <a:r>
              <a:rPr spc="260" dirty="0"/>
              <a:t> </a:t>
            </a:r>
            <a:r>
              <a:rPr dirty="0"/>
              <a:t>between</a:t>
            </a:r>
            <a:r>
              <a:rPr spc="260" dirty="0"/>
              <a:t> </a:t>
            </a:r>
            <a:r>
              <a:rPr dirty="0"/>
              <a:t>of</a:t>
            </a:r>
            <a:r>
              <a:rPr spc="250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dirty="0"/>
              <a:t>signal</a:t>
            </a:r>
            <a:r>
              <a:rPr spc="260" dirty="0"/>
              <a:t> </a:t>
            </a:r>
            <a:r>
              <a:rPr dirty="0"/>
              <a:t>element</a:t>
            </a:r>
            <a:r>
              <a:rPr spc="270" dirty="0"/>
              <a:t> </a:t>
            </a:r>
            <a:r>
              <a:rPr spc="-25" dirty="0"/>
              <a:t>or </a:t>
            </a:r>
            <a:r>
              <a:rPr dirty="0"/>
              <a:t>bit</a:t>
            </a:r>
            <a:r>
              <a:rPr spc="-15" dirty="0"/>
              <a:t> </a:t>
            </a:r>
            <a:r>
              <a:rPr spc="-10" dirty="0"/>
              <a:t>duration</a:t>
            </a:r>
          </a:p>
          <a:p>
            <a:pPr marL="354965" indent="-34226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signal</a:t>
            </a:r>
            <a:r>
              <a:rPr spc="-20" dirty="0"/>
              <a:t> </a:t>
            </a:r>
            <a:r>
              <a:rPr dirty="0"/>
              <a:t>will</a:t>
            </a:r>
            <a:r>
              <a:rPr spc="-20" dirty="0"/>
              <a:t> </a:t>
            </a:r>
            <a:r>
              <a:rPr dirty="0"/>
              <a:t>not</a:t>
            </a:r>
            <a:r>
              <a:rPr spc="-25" dirty="0"/>
              <a:t> </a:t>
            </a:r>
            <a:r>
              <a:rPr dirty="0"/>
              <a:t>change</a:t>
            </a:r>
            <a:r>
              <a:rPr spc="-20" dirty="0"/>
              <a:t> </a:t>
            </a:r>
            <a:r>
              <a:rPr dirty="0"/>
              <a:t>level</a:t>
            </a:r>
            <a:r>
              <a:rPr spc="-25" dirty="0"/>
              <a:t> </a:t>
            </a:r>
            <a:r>
              <a:rPr dirty="0"/>
              <a:t>at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edge</a:t>
            </a:r>
            <a:r>
              <a:rPr spc="-15" dirty="0"/>
              <a:t> </a:t>
            </a:r>
            <a:r>
              <a:rPr dirty="0"/>
              <a:t>of the</a:t>
            </a:r>
            <a:r>
              <a:rPr spc="-25" dirty="0"/>
              <a:t> </a:t>
            </a:r>
            <a:r>
              <a:rPr dirty="0"/>
              <a:t>time</a:t>
            </a:r>
            <a:r>
              <a:rPr spc="-10" dirty="0"/>
              <a:t> interval</a:t>
            </a:r>
          </a:p>
          <a:p>
            <a:pPr marL="355600" marR="5080" indent="-342900">
              <a:lnSpc>
                <a:spcPts val="2540"/>
              </a:lnSpc>
              <a:spcBef>
                <a:spcPts val="635"/>
              </a:spcBef>
              <a:buFont typeface="Arial MT"/>
              <a:buChar char="•"/>
              <a:tabLst>
                <a:tab pos="355600" algn="l"/>
                <a:tab pos="1042669" algn="l"/>
                <a:tab pos="2098675" algn="l"/>
                <a:tab pos="2649220" algn="l"/>
                <a:tab pos="3417570" algn="l"/>
                <a:tab pos="4288155" algn="l"/>
                <a:tab pos="5701030" algn="l"/>
                <a:tab pos="6402070" algn="l"/>
                <a:tab pos="6935470" algn="l"/>
                <a:tab pos="8077200" algn="l"/>
              </a:tabLst>
            </a:pPr>
            <a:r>
              <a:rPr spc="-20" dirty="0"/>
              <a:t>This</a:t>
            </a:r>
            <a:r>
              <a:rPr dirty="0"/>
              <a:t>	</a:t>
            </a:r>
            <a:r>
              <a:rPr spc="-10" dirty="0"/>
              <a:t>scheme</a:t>
            </a:r>
            <a:r>
              <a:rPr dirty="0"/>
              <a:t>	</a:t>
            </a:r>
            <a:r>
              <a:rPr spc="-25" dirty="0"/>
              <a:t>has</a:t>
            </a:r>
            <a:r>
              <a:rPr dirty="0"/>
              <a:t>	</a:t>
            </a:r>
            <a:r>
              <a:rPr spc="-20" dirty="0"/>
              <a:t>more</a:t>
            </a:r>
            <a:r>
              <a:rPr dirty="0"/>
              <a:t>	</a:t>
            </a:r>
            <a:r>
              <a:rPr spc="-10" dirty="0"/>
              <a:t>signal</a:t>
            </a:r>
            <a:r>
              <a:rPr dirty="0"/>
              <a:t>	</a:t>
            </a:r>
            <a:r>
              <a:rPr spc="-10" dirty="0"/>
              <a:t>transitions</a:t>
            </a:r>
            <a:r>
              <a:rPr dirty="0"/>
              <a:t>	</a:t>
            </a:r>
            <a:r>
              <a:rPr spc="-20" dirty="0"/>
              <a:t>(two</a:t>
            </a:r>
            <a:r>
              <a:rPr dirty="0"/>
              <a:t>	</a:t>
            </a:r>
            <a:r>
              <a:rPr spc="-25" dirty="0"/>
              <a:t>per</a:t>
            </a:r>
            <a:r>
              <a:rPr dirty="0"/>
              <a:t>	</a:t>
            </a:r>
            <a:r>
              <a:rPr spc="-10" dirty="0"/>
              <a:t>symbol)</a:t>
            </a:r>
            <a:r>
              <a:rPr dirty="0"/>
              <a:t>	</a:t>
            </a:r>
            <a:r>
              <a:rPr spc="-25" dirty="0"/>
              <a:t>and </a:t>
            </a:r>
            <a:r>
              <a:rPr dirty="0"/>
              <a:t>therefore</a:t>
            </a:r>
            <a:r>
              <a:rPr spc="-35" dirty="0"/>
              <a:t> </a:t>
            </a:r>
            <a:r>
              <a:rPr dirty="0"/>
              <a:t>requires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wider</a:t>
            </a:r>
            <a:r>
              <a:rPr spc="-5" dirty="0"/>
              <a:t> </a:t>
            </a:r>
            <a:r>
              <a:rPr spc="-10" dirty="0"/>
              <a:t>bandwidth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Polar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RZ </a:t>
            </a:r>
            <a:r>
              <a:rPr spc="-10" dirty="0"/>
              <a:t>Scheme</a:t>
            </a:r>
          </a:p>
        </p:txBody>
      </p:sp>
      <p:sp>
        <p:nvSpPr>
          <p:cNvPr id="4" name="object 4"/>
          <p:cNvSpPr/>
          <p:nvPr/>
        </p:nvSpPr>
        <p:spPr>
          <a:xfrm>
            <a:off x="5363717" y="1453133"/>
            <a:ext cx="2377440" cy="0"/>
          </a:xfrm>
          <a:custGeom>
            <a:avLst/>
            <a:gdLst/>
            <a:ahLst/>
            <a:cxnLst/>
            <a:rect l="l" t="t" r="r" b="b"/>
            <a:pathLst>
              <a:path w="2377440">
                <a:moveTo>
                  <a:pt x="0" y="0"/>
                </a:moveTo>
                <a:lnTo>
                  <a:pt x="2377440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Polar</a:t>
            </a:r>
            <a:r>
              <a:rPr spc="-15" dirty="0"/>
              <a:t> </a:t>
            </a:r>
            <a:r>
              <a:rPr dirty="0"/>
              <a:t>RZ</a:t>
            </a:r>
            <a:r>
              <a:rPr spc="-15" dirty="0"/>
              <a:t> </a:t>
            </a:r>
            <a:r>
              <a:rPr spc="-10" dirty="0"/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69924"/>
            <a:ext cx="8531225" cy="11163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duration,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returning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zero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axis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during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i.e., 	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middle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4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43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4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4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4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edge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interval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0804" y="2351532"/>
            <a:ext cx="5420868" cy="23439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Manchester</a:t>
            </a:r>
            <a:r>
              <a:rPr spc="-35" dirty="0"/>
              <a:t> </a:t>
            </a:r>
            <a:r>
              <a:rPr spc="-10" dirty="0"/>
              <a:t>coding</a:t>
            </a: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combining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NRZ-</a:t>
            </a:r>
            <a:r>
              <a:rPr sz="2000" dirty="0">
                <a:latin typeface="Times New Roman"/>
                <a:cs typeface="Times New Roman"/>
              </a:rPr>
              <a:t>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RZ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schemes</a:t>
            </a:r>
            <a:endParaRPr sz="20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ts val="2110"/>
              </a:lnSpc>
              <a:spcBef>
                <a:spcPts val="61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symbol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middle: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low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low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high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4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Uses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voltage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levels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Differential</a:t>
            </a:r>
            <a:r>
              <a:rPr spc="-75" dirty="0"/>
              <a:t> </a:t>
            </a:r>
            <a:r>
              <a:rPr dirty="0"/>
              <a:t>Manchester</a:t>
            </a:r>
            <a:r>
              <a:rPr spc="-75" dirty="0"/>
              <a:t> </a:t>
            </a:r>
            <a:r>
              <a:rPr spc="-10" dirty="0"/>
              <a:t>coding</a:t>
            </a: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combining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NRZ-</a:t>
            </a:r>
            <a:r>
              <a:rPr sz="2000" dirty="0">
                <a:latin typeface="Times New Roman"/>
                <a:cs typeface="Times New Roman"/>
              </a:rPr>
              <a:t>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RZ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schemes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255"/>
              </a:lnSpc>
              <a:spcBef>
                <a:spcPts val="3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Every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symbol</a:t>
            </a:r>
            <a:r>
              <a:rPr sz="2000" spc="4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transition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middle.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4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4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469900" indent="286385">
              <a:lnSpc>
                <a:spcPts val="2255"/>
              </a:lnSpc>
            </a:pPr>
            <a:r>
              <a:rPr sz="2000" dirty="0"/>
              <a:t>beginning</a:t>
            </a:r>
            <a:r>
              <a:rPr sz="2000" spc="-50" dirty="0"/>
              <a:t> </a:t>
            </a:r>
            <a:r>
              <a:rPr sz="2000" dirty="0"/>
              <a:t>of</a:t>
            </a:r>
            <a:r>
              <a:rPr sz="2000" spc="-25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symbol</a:t>
            </a:r>
            <a:r>
              <a:rPr sz="2000" spc="-20" dirty="0"/>
              <a:t> </a:t>
            </a:r>
            <a:r>
              <a:rPr sz="2000" dirty="0"/>
              <a:t>is</a:t>
            </a:r>
            <a:r>
              <a:rPr sz="2000" spc="-30" dirty="0"/>
              <a:t> </a:t>
            </a:r>
            <a:r>
              <a:rPr sz="2000" dirty="0"/>
              <a:t>determined</a:t>
            </a:r>
            <a:r>
              <a:rPr sz="2000" spc="-30" dirty="0"/>
              <a:t> </a:t>
            </a:r>
            <a:r>
              <a:rPr sz="2000" dirty="0"/>
              <a:t>by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20" dirty="0"/>
              <a:t> </a:t>
            </a:r>
            <a:r>
              <a:rPr sz="2000" dirty="0"/>
              <a:t>symbol</a:t>
            </a:r>
            <a:r>
              <a:rPr sz="2000" spc="-30" dirty="0"/>
              <a:t> </a:t>
            </a:r>
            <a:r>
              <a:rPr sz="2000" spc="-10" dirty="0"/>
              <a:t>value</a:t>
            </a:r>
            <a:endParaRPr sz="2000"/>
          </a:p>
          <a:p>
            <a:pPr marL="756285" lvl="1" indent="-286385">
              <a:lnSpc>
                <a:spcPct val="100000"/>
              </a:lnSpc>
              <a:spcBef>
                <a:spcPts val="26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symbol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causes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level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change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Polar</a:t>
            </a:r>
            <a:r>
              <a:rPr spc="-15" dirty="0"/>
              <a:t> </a:t>
            </a:r>
            <a:r>
              <a:rPr spc="-10" dirty="0"/>
              <a:t>Biphase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783" y="1097280"/>
            <a:ext cx="6528816" cy="37078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Polar</a:t>
            </a:r>
            <a:r>
              <a:rPr spc="-15" dirty="0"/>
              <a:t> </a:t>
            </a:r>
            <a:r>
              <a:rPr spc="-10" dirty="0"/>
              <a:t>Biphase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922</Words>
  <Application>Microsoft Office PowerPoint</Application>
  <PresentationFormat>On-screen Show (16:9)</PresentationFormat>
  <Paragraphs>153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 MT</vt:lpstr>
      <vt:lpstr>Calibri</vt:lpstr>
      <vt:lpstr>Times New Roman</vt:lpstr>
      <vt:lpstr>Wingdings</vt:lpstr>
      <vt:lpstr>Office Theme</vt:lpstr>
      <vt:lpstr>GLA UNIVERSITY</vt:lpstr>
      <vt:lpstr>Digital-to-Digital Conversion</vt:lpstr>
      <vt:lpstr>Digital-to-digital conversion</vt:lpstr>
      <vt:lpstr>Line Coding</vt:lpstr>
      <vt:lpstr>Line coding and decoding</vt:lpstr>
      <vt:lpstr>Mapping Data symbols onto Signal levels</vt:lpstr>
      <vt:lpstr>Relationship b/w data rate and signal rate</vt:lpstr>
      <vt:lpstr>Relationship b/w data rate and signal rate</vt:lpstr>
      <vt:lpstr>Data element vs data element</vt:lpstr>
      <vt:lpstr>Data element vs Signal element</vt:lpstr>
      <vt:lpstr>Data element vs Signal element</vt:lpstr>
      <vt:lpstr>Data element vs Signal element</vt:lpstr>
      <vt:lpstr>Data element vs Signal element</vt:lpstr>
      <vt:lpstr>Baud rate</vt:lpstr>
      <vt:lpstr>Baud rate</vt:lpstr>
      <vt:lpstr>Baud rate</vt:lpstr>
      <vt:lpstr>Line Coding</vt:lpstr>
      <vt:lpstr>Line Coding</vt:lpstr>
      <vt:lpstr>Characteristics of Line Coding techniques</vt:lpstr>
      <vt:lpstr>Characteristics of Line Coding techniques</vt:lpstr>
      <vt:lpstr>PowerPoint Presentation</vt:lpstr>
      <vt:lpstr>Unipolar Line Coding Scheme</vt:lpstr>
      <vt:lpstr>Unipolar - NRZ scheme</vt:lpstr>
      <vt:lpstr>Polar – NRZ Line Coding Scheme</vt:lpstr>
      <vt:lpstr>Polar NRZ-L and NRZ-I schemes</vt:lpstr>
      <vt:lpstr>Polar NRZ-L and NRZ-I schemes</vt:lpstr>
      <vt:lpstr>Polar – RZ Scheme</vt:lpstr>
      <vt:lpstr>Polar RZ scheme</vt:lpstr>
      <vt:lpstr>Polar Biphase</vt:lpstr>
      <vt:lpstr>Polar Biphase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RadheyKrishna</dc:creator>
  <cp:lastModifiedBy>Admin</cp:lastModifiedBy>
  <cp:revision>5</cp:revision>
  <dcterms:created xsi:type="dcterms:W3CDTF">2024-08-06T04:56:08Z</dcterms:created>
  <dcterms:modified xsi:type="dcterms:W3CDTF">2024-08-27T04:42:32Z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2024-08-06T00:00:00Z</vt:filetime>
  </property>
  <property fmtid="{D5CDD505-2E9C-101B-9397-08002B2CF9AE}" pid="5" name="Producer">
    <vt:lpwstr>Microsoft® PowerPoint® 2013</vt:lpwstr>
  </property>
</Properties>
</file>
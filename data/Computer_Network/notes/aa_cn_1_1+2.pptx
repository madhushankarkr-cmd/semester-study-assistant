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411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  <p:sldId id="374" r:id="rId121"/>
    <p:sldId id="375" r:id="rId122"/>
    <p:sldId id="376" r:id="rId123"/>
    <p:sldId id="377" r:id="rId124"/>
    <p:sldId id="378" r:id="rId125"/>
    <p:sldId id="379" r:id="rId126"/>
    <p:sldId id="380" r:id="rId127"/>
    <p:sldId id="381" r:id="rId128"/>
    <p:sldId id="382" r:id="rId129"/>
    <p:sldId id="383" r:id="rId130"/>
    <p:sldId id="384" r:id="rId131"/>
    <p:sldId id="385" r:id="rId132"/>
    <p:sldId id="386" r:id="rId133"/>
    <p:sldId id="387" r:id="rId134"/>
    <p:sldId id="410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75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viewProps" Target="viewProp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8E1D49-14A3-499D-8433-81719F5F8661}" type="datetimeFigureOut">
              <a:rPr lang="en-IN" smtClean="0"/>
              <a:t>03-01-2025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EECE6-89A9-43DA-BA2E-5B00587B4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138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954584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9142188" y="0"/>
                </a:moveTo>
                <a:lnTo>
                  <a:pt x="0" y="0"/>
                </a:lnTo>
                <a:lnTo>
                  <a:pt x="0" y="179997"/>
                </a:lnTo>
                <a:lnTo>
                  <a:pt x="9142188" y="179997"/>
                </a:lnTo>
                <a:lnTo>
                  <a:pt x="9142188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4954584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0" y="179997"/>
                </a:moveTo>
                <a:lnTo>
                  <a:pt x="9142188" y="179997"/>
                </a:lnTo>
                <a:lnTo>
                  <a:pt x="9142188" y="0"/>
                </a:lnTo>
                <a:lnTo>
                  <a:pt x="0" y="0"/>
                </a:lnTo>
              </a:path>
            </a:pathLst>
          </a:custGeom>
          <a:ln w="12700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-567" y="847539"/>
            <a:ext cx="9145905" cy="36195"/>
          </a:xfrm>
          <a:custGeom>
            <a:avLst/>
            <a:gdLst/>
            <a:ahLst/>
            <a:cxnLst/>
            <a:rect l="l" t="t" r="r" b="b"/>
            <a:pathLst>
              <a:path w="9145905" h="36194">
                <a:moveTo>
                  <a:pt x="9145778" y="0"/>
                </a:moveTo>
                <a:lnTo>
                  <a:pt x="0" y="0"/>
                </a:lnTo>
                <a:lnTo>
                  <a:pt x="0" y="35999"/>
                </a:lnTo>
                <a:lnTo>
                  <a:pt x="9145778" y="35999"/>
                </a:lnTo>
                <a:lnTo>
                  <a:pt x="9145778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-567" y="847539"/>
            <a:ext cx="9145905" cy="36195"/>
          </a:xfrm>
          <a:custGeom>
            <a:avLst/>
            <a:gdLst/>
            <a:ahLst/>
            <a:cxnLst/>
            <a:rect l="l" t="t" r="r" b="b"/>
            <a:pathLst>
              <a:path w="9145905" h="36194">
                <a:moveTo>
                  <a:pt x="0" y="35999"/>
                </a:moveTo>
                <a:lnTo>
                  <a:pt x="9145778" y="35999"/>
                </a:lnTo>
                <a:lnTo>
                  <a:pt x="9145778" y="0"/>
                </a:lnTo>
                <a:lnTo>
                  <a:pt x="0" y="0"/>
                </a:lnTo>
                <a:lnTo>
                  <a:pt x="0" y="35999"/>
                </a:lnTo>
                <a:close/>
              </a:path>
            </a:pathLst>
          </a:custGeom>
          <a:ln w="12700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0178" y="19037"/>
            <a:ext cx="831278" cy="80633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7340" y="152526"/>
            <a:ext cx="4338320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79372-B3B4-4B01-AA18-B9B3268EABDA}" type="datetime1">
              <a:rPr lang="en-US" smtClean="0"/>
              <a:t>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C0390-5B41-46A8-B5C7-126D5354A2A3}" type="datetime1">
              <a:rPr lang="en-US" smtClean="0"/>
              <a:t>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954584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9142188" y="0"/>
                </a:moveTo>
                <a:lnTo>
                  <a:pt x="0" y="0"/>
                </a:lnTo>
                <a:lnTo>
                  <a:pt x="0" y="179997"/>
                </a:lnTo>
                <a:lnTo>
                  <a:pt x="9142188" y="179997"/>
                </a:lnTo>
                <a:lnTo>
                  <a:pt x="9142188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4954584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0" y="179997"/>
                </a:moveTo>
                <a:lnTo>
                  <a:pt x="9142188" y="179997"/>
                </a:lnTo>
                <a:lnTo>
                  <a:pt x="9142188" y="0"/>
                </a:lnTo>
                <a:lnTo>
                  <a:pt x="0" y="0"/>
                </a:lnTo>
              </a:path>
            </a:pathLst>
          </a:custGeom>
          <a:ln w="12700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-567" y="847539"/>
            <a:ext cx="9145905" cy="36195"/>
          </a:xfrm>
          <a:custGeom>
            <a:avLst/>
            <a:gdLst/>
            <a:ahLst/>
            <a:cxnLst/>
            <a:rect l="l" t="t" r="r" b="b"/>
            <a:pathLst>
              <a:path w="9145905" h="36194">
                <a:moveTo>
                  <a:pt x="9145778" y="0"/>
                </a:moveTo>
                <a:lnTo>
                  <a:pt x="0" y="0"/>
                </a:lnTo>
                <a:lnTo>
                  <a:pt x="0" y="35999"/>
                </a:lnTo>
                <a:lnTo>
                  <a:pt x="9145778" y="35999"/>
                </a:lnTo>
                <a:lnTo>
                  <a:pt x="9145778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-567" y="847539"/>
            <a:ext cx="9145905" cy="36195"/>
          </a:xfrm>
          <a:custGeom>
            <a:avLst/>
            <a:gdLst/>
            <a:ahLst/>
            <a:cxnLst/>
            <a:rect l="l" t="t" r="r" b="b"/>
            <a:pathLst>
              <a:path w="9145905" h="36194">
                <a:moveTo>
                  <a:pt x="0" y="35999"/>
                </a:moveTo>
                <a:lnTo>
                  <a:pt x="9145778" y="35999"/>
                </a:lnTo>
                <a:lnTo>
                  <a:pt x="9145778" y="0"/>
                </a:lnTo>
                <a:lnTo>
                  <a:pt x="0" y="0"/>
                </a:lnTo>
                <a:lnTo>
                  <a:pt x="0" y="35999"/>
                </a:lnTo>
                <a:close/>
              </a:path>
            </a:pathLst>
          </a:custGeom>
          <a:ln w="12700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0178" y="19037"/>
            <a:ext cx="831278" cy="80633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7340" y="1089532"/>
            <a:ext cx="4113529" cy="35544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24527" y="1618868"/>
            <a:ext cx="4113529" cy="3148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177E6-0A8B-4E0F-8670-1CACC0978C7F}" type="datetime1">
              <a:rPr lang="en-US" smtClean="0"/>
              <a:t>1/3/2025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954584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9142188" y="0"/>
                </a:moveTo>
                <a:lnTo>
                  <a:pt x="0" y="0"/>
                </a:lnTo>
                <a:lnTo>
                  <a:pt x="0" y="179997"/>
                </a:lnTo>
                <a:lnTo>
                  <a:pt x="9142188" y="179997"/>
                </a:lnTo>
                <a:lnTo>
                  <a:pt x="9142188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4954584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0" y="179997"/>
                </a:moveTo>
                <a:lnTo>
                  <a:pt x="9142188" y="179997"/>
                </a:lnTo>
                <a:lnTo>
                  <a:pt x="9142188" y="0"/>
                </a:lnTo>
                <a:lnTo>
                  <a:pt x="0" y="0"/>
                </a:lnTo>
              </a:path>
            </a:pathLst>
          </a:custGeom>
          <a:ln w="12700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-567" y="847539"/>
            <a:ext cx="9145905" cy="36195"/>
          </a:xfrm>
          <a:custGeom>
            <a:avLst/>
            <a:gdLst/>
            <a:ahLst/>
            <a:cxnLst/>
            <a:rect l="l" t="t" r="r" b="b"/>
            <a:pathLst>
              <a:path w="9145905" h="36194">
                <a:moveTo>
                  <a:pt x="9145778" y="0"/>
                </a:moveTo>
                <a:lnTo>
                  <a:pt x="0" y="0"/>
                </a:lnTo>
                <a:lnTo>
                  <a:pt x="0" y="35999"/>
                </a:lnTo>
                <a:lnTo>
                  <a:pt x="9145778" y="35999"/>
                </a:lnTo>
                <a:lnTo>
                  <a:pt x="9145778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-567" y="847539"/>
            <a:ext cx="9145905" cy="36195"/>
          </a:xfrm>
          <a:custGeom>
            <a:avLst/>
            <a:gdLst/>
            <a:ahLst/>
            <a:cxnLst/>
            <a:rect l="l" t="t" r="r" b="b"/>
            <a:pathLst>
              <a:path w="9145905" h="36194">
                <a:moveTo>
                  <a:pt x="0" y="35999"/>
                </a:moveTo>
                <a:lnTo>
                  <a:pt x="9145778" y="35999"/>
                </a:lnTo>
                <a:lnTo>
                  <a:pt x="9145778" y="0"/>
                </a:lnTo>
                <a:lnTo>
                  <a:pt x="0" y="0"/>
                </a:lnTo>
                <a:lnTo>
                  <a:pt x="0" y="35999"/>
                </a:lnTo>
                <a:close/>
              </a:path>
            </a:pathLst>
          </a:custGeom>
          <a:ln w="12700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0178" y="19037"/>
            <a:ext cx="831278" cy="80633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34C6F-21B4-4A89-B9C8-617D38D451CE}" type="datetime1">
              <a:rPr lang="en-US" smtClean="0"/>
              <a:t>1/3/2025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954584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9142188" y="0"/>
                </a:moveTo>
                <a:lnTo>
                  <a:pt x="0" y="0"/>
                </a:lnTo>
                <a:lnTo>
                  <a:pt x="0" y="179997"/>
                </a:lnTo>
                <a:lnTo>
                  <a:pt x="9142188" y="179997"/>
                </a:lnTo>
                <a:lnTo>
                  <a:pt x="9142188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4954584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0" y="179997"/>
                </a:moveTo>
                <a:lnTo>
                  <a:pt x="9142188" y="179997"/>
                </a:lnTo>
                <a:lnTo>
                  <a:pt x="9142188" y="0"/>
                </a:lnTo>
                <a:lnTo>
                  <a:pt x="0" y="0"/>
                </a:lnTo>
              </a:path>
            </a:pathLst>
          </a:custGeom>
          <a:ln w="12700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-567" y="847539"/>
            <a:ext cx="9145905" cy="36195"/>
          </a:xfrm>
          <a:custGeom>
            <a:avLst/>
            <a:gdLst/>
            <a:ahLst/>
            <a:cxnLst/>
            <a:rect l="l" t="t" r="r" b="b"/>
            <a:pathLst>
              <a:path w="9145905" h="36194">
                <a:moveTo>
                  <a:pt x="9145778" y="0"/>
                </a:moveTo>
                <a:lnTo>
                  <a:pt x="0" y="0"/>
                </a:lnTo>
                <a:lnTo>
                  <a:pt x="0" y="35999"/>
                </a:lnTo>
                <a:lnTo>
                  <a:pt x="9145778" y="35999"/>
                </a:lnTo>
                <a:lnTo>
                  <a:pt x="9145778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-567" y="847539"/>
            <a:ext cx="9145905" cy="36195"/>
          </a:xfrm>
          <a:custGeom>
            <a:avLst/>
            <a:gdLst/>
            <a:ahLst/>
            <a:cxnLst/>
            <a:rect l="l" t="t" r="r" b="b"/>
            <a:pathLst>
              <a:path w="9145905" h="36194">
                <a:moveTo>
                  <a:pt x="0" y="35999"/>
                </a:moveTo>
                <a:lnTo>
                  <a:pt x="9145778" y="35999"/>
                </a:lnTo>
                <a:lnTo>
                  <a:pt x="9145778" y="0"/>
                </a:lnTo>
                <a:lnTo>
                  <a:pt x="0" y="0"/>
                </a:lnTo>
                <a:lnTo>
                  <a:pt x="0" y="35999"/>
                </a:lnTo>
                <a:close/>
              </a:path>
            </a:pathLst>
          </a:custGeom>
          <a:ln w="12700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0178" y="19037"/>
            <a:ext cx="831278" cy="80633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D8AB7-044D-454A-9B25-4027B113A56D}" type="datetime1">
              <a:rPr lang="en-US" smtClean="0"/>
              <a:t>1/3/2025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954584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9142188" y="0"/>
                </a:moveTo>
                <a:lnTo>
                  <a:pt x="0" y="0"/>
                </a:lnTo>
                <a:lnTo>
                  <a:pt x="0" y="179997"/>
                </a:lnTo>
                <a:lnTo>
                  <a:pt x="9142188" y="179997"/>
                </a:lnTo>
                <a:lnTo>
                  <a:pt x="9142188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4954584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0" y="179997"/>
                </a:moveTo>
                <a:lnTo>
                  <a:pt x="9142188" y="179997"/>
                </a:lnTo>
                <a:lnTo>
                  <a:pt x="9142188" y="0"/>
                </a:lnTo>
                <a:lnTo>
                  <a:pt x="0" y="0"/>
                </a:lnTo>
              </a:path>
            </a:pathLst>
          </a:custGeom>
          <a:ln w="12700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152526"/>
            <a:ext cx="8529319" cy="5600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7340" y="1003421"/>
            <a:ext cx="8530590" cy="3559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47591" y="4943984"/>
            <a:ext cx="1118870" cy="18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1CF19D-0CD1-4824-94C5-9B6A429216F2}" type="datetime1">
              <a:rPr lang="en-US" smtClean="0"/>
              <a:t>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5859" y="4978230"/>
            <a:ext cx="317500" cy="194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32.png"/><Relationship Id="rId4" Type="http://schemas.openxmlformats.org/officeDocument/2006/relationships/image" Target="../media/image2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32.png"/><Relationship Id="rId4" Type="http://schemas.openxmlformats.org/officeDocument/2006/relationships/image" Target="../media/image2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2.png"/><Relationship Id="rId4" Type="http://schemas.openxmlformats.org/officeDocument/2006/relationships/image" Target="../media/image2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9.png"/><Relationship Id="rId4" Type="http://schemas.openxmlformats.org/officeDocument/2006/relationships/image" Target="../media/image1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41.png"/><Relationship Id="rId5" Type="http://schemas.openxmlformats.org/officeDocument/2006/relationships/image" Target="../media/image11.png"/><Relationship Id="rId10" Type="http://schemas.openxmlformats.org/officeDocument/2006/relationships/image" Target="../media/image40.png"/><Relationship Id="rId4" Type="http://schemas.openxmlformats.org/officeDocument/2006/relationships/image" Target="../media/image10.png"/><Relationship Id="rId9" Type="http://schemas.openxmlformats.org/officeDocument/2006/relationships/image" Target="../media/image3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2.png"/><Relationship Id="rId7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jpg"/><Relationship Id="rId9" Type="http://schemas.openxmlformats.org/officeDocument/2006/relationships/image" Target="../media/image52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2.png"/><Relationship Id="rId7" Type="http://schemas.openxmlformats.org/officeDocument/2006/relationships/image" Target="../media/image7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4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4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4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107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108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4287" y="-14287"/>
            <a:ext cx="9172575" cy="1311275"/>
            <a:chOff x="-14287" y="-14287"/>
            <a:chExt cx="9172575" cy="131127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1036319"/>
            </a:xfrm>
            <a:custGeom>
              <a:avLst/>
              <a:gdLst/>
              <a:ahLst/>
              <a:cxnLst/>
              <a:rect l="l" t="t" r="r" b="b"/>
              <a:pathLst>
                <a:path w="9144000" h="1036319">
                  <a:moveTo>
                    <a:pt x="0" y="1036320"/>
                  </a:moveTo>
                  <a:lnTo>
                    <a:pt x="9144000" y="103632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03632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1036319"/>
            </a:xfrm>
            <a:custGeom>
              <a:avLst/>
              <a:gdLst/>
              <a:ahLst/>
              <a:cxnLst/>
              <a:rect l="l" t="t" r="r" b="b"/>
              <a:pathLst>
                <a:path w="9144000" h="1036319">
                  <a:moveTo>
                    <a:pt x="0" y="1036320"/>
                  </a:moveTo>
                  <a:lnTo>
                    <a:pt x="9144000" y="1036320"/>
                  </a:lnTo>
                  <a:lnTo>
                    <a:pt x="9144000" y="0"/>
                  </a:lnTo>
                </a:path>
                <a:path w="9144000" h="1036319">
                  <a:moveTo>
                    <a:pt x="0" y="0"/>
                  </a:moveTo>
                  <a:lnTo>
                    <a:pt x="0" y="1036320"/>
                  </a:lnTo>
                </a:path>
              </a:pathLst>
            </a:custGeom>
            <a:ln w="28575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69352" y="0"/>
              <a:ext cx="1374648" cy="12969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84235" y="0"/>
              <a:ext cx="1159764" cy="108508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53400" y="109207"/>
              <a:ext cx="831278" cy="80633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90800" y="16763"/>
              <a:ext cx="3919728" cy="8397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21864" y="79247"/>
              <a:ext cx="3648455" cy="714755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409" rIns="0" bIns="0" rtlCol="0">
            <a:spAutoFit/>
          </a:bodyPr>
          <a:lstStyle/>
          <a:p>
            <a:pPr marL="2716530">
              <a:lnSpc>
                <a:spcPct val="100000"/>
              </a:lnSpc>
              <a:spcBef>
                <a:spcPts val="105"/>
              </a:spcBef>
            </a:pPr>
            <a:r>
              <a:rPr sz="2900" spc="-20" dirty="0">
                <a:solidFill>
                  <a:srgbClr val="336600"/>
                </a:solidFill>
              </a:rPr>
              <a:t>GLA</a:t>
            </a:r>
            <a:r>
              <a:rPr sz="2900" spc="-165" dirty="0">
                <a:solidFill>
                  <a:srgbClr val="336600"/>
                </a:solidFill>
              </a:rPr>
              <a:t> </a:t>
            </a:r>
            <a:r>
              <a:rPr sz="2900" spc="-10" dirty="0">
                <a:solidFill>
                  <a:srgbClr val="336600"/>
                </a:solidFill>
              </a:rPr>
              <a:t>UNIVERSITY</a:t>
            </a:r>
            <a:endParaRPr sz="2900"/>
          </a:p>
        </p:txBody>
      </p:sp>
      <p:sp>
        <p:nvSpPr>
          <p:cNvPr id="11" name="object 11"/>
          <p:cNvSpPr txBox="1"/>
          <p:nvPr/>
        </p:nvSpPr>
        <p:spPr>
          <a:xfrm>
            <a:off x="2467101" y="1306525"/>
            <a:ext cx="43541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cap="small" dirty="0">
                <a:latin typeface="Times New Roman"/>
                <a:cs typeface="Times New Roman"/>
              </a:rPr>
              <a:t>Computer</a:t>
            </a:r>
            <a:r>
              <a:rPr sz="3600" b="1" cap="small" spc="-20" dirty="0">
                <a:latin typeface="Times New Roman"/>
                <a:cs typeface="Times New Roman"/>
              </a:rPr>
              <a:t> </a:t>
            </a:r>
            <a:r>
              <a:rPr sz="3600" b="1" cap="small" spc="-75" dirty="0">
                <a:latin typeface="Times New Roman"/>
                <a:cs typeface="Times New Roman"/>
              </a:rPr>
              <a:t>Network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07340" y="998714"/>
            <a:ext cx="6497320" cy="330517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Introduction</a:t>
            </a:r>
            <a:r>
              <a:rPr sz="2400" b="1" spc="-1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Concepts: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Goals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networks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structure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architecture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OSI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reference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services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topology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design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Layer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Transmission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Media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Line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scheme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Switching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(circuit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switching,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switching)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25" dirty="0">
                <a:latin typeface="Times New Roman"/>
                <a:cs typeface="Times New Roman"/>
              </a:rPr>
              <a:t>TDM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Outline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1142" y="1047750"/>
            <a:ext cx="4370425" cy="366005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6350" y="4948234"/>
            <a:ext cx="9155430" cy="193040"/>
            <a:chOff x="-6350" y="4948234"/>
            <a:chExt cx="9155430" cy="193040"/>
          </a:xfrm>
        </p:grpSpPr>
        <p:sp>
          <p:nvSpPr>
            <p:cNvPr id="4" name="object 4"/>
            <p:cNvSpPr/>
            <p:nvPr/>
          </p:nvSpPr>
          <p:spPr>
            <a:xfrm>
              <a:off x="0" y="4954584"/>
              <a:ext cx="9142730" cy="180340"/>
            </a:xfrm>
            <a:custGeom>
              <a:avLst/>
              <a:gdLst/>
              <a:ahLst/>
              <a:cxnLst/>
              <a:rect l="l" t="t" r="r" b="b"/>
              <a:pathLst>
                <a:path w="9142730" h="180339">
                  <a:moveTo>
                    <a:pt x="9142188" y="0"/>
                  </a:moveTo>
                  <a:lnTo>
                    <a:pt x="0" y="0"/>
                  </a:lnTo>
                  <a:lnTo>
                    <a:pt x="0" y="179997"/>
                  </a:lnTo>
                  <a:lnTo>
                    <a:pt x="9142188" y="179997"/>
                  </a:lnTo>
                  <a:lnTo>
                    <a:pt x="914218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954584"/>
              <a:ext cx="9142730" cy="180340"/>
            </a:xfrm>
            <a:custGeom>
              <a:avLst/>
              <a:gdLst/>
              <a:ahLst/>
              <a:cxnLst/>
              <a:rect l="l" t="t" r="r" b="b"/>
              <a:pathLst>
                <a:path w="9142730" h="180339">
                  <a:moveTo>
                    <a:pt x="0" y="179997"/>
                  </a:moveTo>
                  <a:lnTo>
                    <a:pt x="9142188" y="179997"/>
                  </a:lnTo>
                  <a:lnTo>
                    <a:pt x="9142188" y="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504694" y="2337638"/>
            <a:ext cx="415734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b="1" cap="small" dirty="0">
                <a:latin typeface="Times New Roman"/>
                <a:cs typeface="Times New Roman"/>
              </a:rPr>
              <a:t>Introduction</a:t>
            </a:r>
            <a:r>
              <a:rPr sz="2900" b="1" cap="small" spc="125" dirty="0">
                <a:latin typeface="Times New Roman"/>
                <a:cs typeface="Times New Roman"/>
              </a:rPr>
              <a:t> </a:t>
            </a:r>
            <a:r>
              <a:rPr sz="2900" b="1" cap="small" spc="-35" dirty="0">
                <a:latin typeface="Times New Roman"/>
                <a:cs typeface="Times New Roman"/>
              </a:rPr>
              <a:t>Concepts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0976"/>
            <a:ext cx="8529320" cy="1688464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400" spc="-10" dirty="0">
                <a:latin typeface="Times New Roman"/>
                <a:cs typeface="Times New Roman"/>
              </a:rPr>
              <a:t>Network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ts val="2850"/>
              </a:lnSpc>
              <a:spcBef>
                <a:spcPts val="565"/>
              </a:spcBef>
              <a:buFont typeface="Arial MT"/>
              <a:buChar char="•"/>
              <a:tabLst>
                <a:tab pos="354965" algn="l"/>
                <a:tab pos="1000125" algn="l"/>
                <a:tab pos="2682875" algn="l"/>
                <a:tab pos="4676140" algn="l"/>
                <a:tab pos="7004050" algn="l"/>
                <a:tab pos="8143875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	defined</a:t>
            </a:r>
            <a:r>
              <a:rPr sz="2400" spc="3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38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medium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which</a:t>
            </a:r>
            <a:r>
              <a:rPr sz="2400" dirty="0">
                <a:latin typeface="Times New Roman"/>
                <a:cs typeface="Times New Roman"/>
              </a:rPr>
              <a:t>	is</a:t>
            </a:r>
            <a:r>
              <a:rPr sz="2400" spc="3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responsible</a:t>
            </a:r>
            <a:r>
              <a:rPr sz="2400" spc="38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for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carrying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ts val="2850"/>
              </a:lnSpc>
            </a:pP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another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Eg: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intranet,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internet,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PAN,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etc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121026" y="2940050"/>
            <a:ext cx="4140200" cy="1906270"/>
            <a:chOff x="2121026" y="2940050"/>
            <a:chExt cx="4140200" cy="1906270"/>
          </a:xfrm>
        </p:grpSpPr>
        <p:sp>
          <p:nvSpPr>
            <p:cNvPr id="10" name="object 10"/>
            <p:cNvSpPr/>
            <p:nvPr/>
          </p:nvSpPr>
          <p:spPr>
            <a:xfrm>
              <a:off x="2133726" y="380809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273" y="0"/>
                  </a:moveTo>
                  <a:lnTo>
                    <a:pt x="104152" y="7761"/>
                  </a:lnTo>
                  <a:lnTo>
                    <a:pt x="62352" y="29374"/>
                  </a:lnTo>
                  <a:lnTo>
                    <a:pt x="29386" y="62333"/>
                  </a:lnTo>
                  <a:lnTo>
                    <a:pt x="7765" y="104131"/>
                  </a:lnTo>
                  <a:lnTo>
                    <a:pt x="0" y="152260"/>
                  </a:lnTo>
                  <a:lnTo>
                    <a:pt x="7765" y="200397"/>
                  </a:lnTo>
                  <a:lnTo>
                    <a:pt x="29386" y="242201"/>
                  </a:lnTo>
                  <a:lnTo>
                    <a:pt x="62352" y="275165"/>
                  </a:lnTo>
                  <a:lnTo>
                    <a:pt x="104152" y="296783"/>
                  </a:lnTo>
                  <a:lnTo>
                    <a:pt x="152273" y="304545"/>
                  </a:lnTo>
                  <a:lnTo>
                    <a:pt x="200393" y="296783"/>
                  </a:lnTo>
                  <a:lnTo>
                    <a:pt x="242193" y="275165"/>
                  </a:lnTo>
                  <a:lnTo>
                    <a:pt x="275159" y="242201"/>
                  </a:lnTo>
                  <a:lnTo>
                    <a:pt x="296780" y="200397"/>
                  </a:lnTo>
                  <a:lnTo>
                    <a:pt x="304546" y="152260"/>
                  </a:lnTo>
                  <a:lnTo>
                    <a:pt x="296780" y="104131"/>
                  </a:lnTo>
                  <a:lnTo>
                    <a:pt x="275159" y="62333"/>
                  </a:lnTo>
                  <a:lnTo>
                    <a:pt x="242193" y="29374"/>
                  </a:lnTo>
                  <a:lnTo>
                    <a:pt x="200393" y="7761"/>
                  </a:lnTo>
                  <a:lnTo>
                    <a:pt x="152273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33726" y="380809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260"/>
                  </a:moveTo>
                  <a:lnTo>
                    <a:pt x="7765" y="104131"/>
                  </a:lnTo>
                  <a:lnTo>
                    <a:pt x="29386" y="62333"/>
                  </a:lnTo>
                  <a:lnTo>
                    <a:pt x="62352" y="29374"/>
                  </a:lnTo>
                  <a:lnTo>
                    <a:pt x="104152" y="7761"/>
                  </a:lnTo>
                  <a:lnTo>
                    <a:pt x="152273" y="0"/>
                  </a:lnTo>
                  <a:lnTo>
                    <a:pt x="200393" y="7761"/>
                  </a:lnTo>
                  <a:lnTo>
                    <a:pt x="242193" y="29374"/>
                  </a:lnTo>
                  <a:lnTo>
                    <a:pt x="275159" y="62333"/>
                  </a:lnTo>
                  <a:lnTo>
                    <a:pt x="296780" y="104131"/>
                  </a:lnTo>
                  <a:lnTo>
                    <a:pt x="304546" y="152260"/>
                  </a:lnTo>
                  <a:lnTo>
                    <a:pt x="296780" y="200397"/>
                  </a:lnTo>
                  <a:lnTo>
                    <a:pt x="275159" y="242201"/>
                  </a:lnTo>
                  <a:lnTo>
                    <a:pt x="242193" y="275165"/>
                  </a:lnTo>
                  <a:lnTo>
                    <a:pt x="200393" y="296783"/>
                  </a:lnTo>
                  <a:lnTo>
                    <a:pt x="152273" y="304545"/>
                  </a:lnTo>
                  <a:lnTo>
                    <a:pt x="104152" y="296783"/>
                  </a:lnTo>
                  <a:lnTo>
                    <a:pt x="62352" y="275165"/>
                  </a:lnTo>
                  <a:lnTo>
                    <a:pt x="29386" y="242201"/>
                  </a:lnTo>
                  <a:lnTo>
                    <a:pt x="7765" y="200397"/>
                  </a:lnTo>
                  <a:lnTo>
                    <a:pt x="0" y="15226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09795" y="392868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273" y="0"/>
                  </a:moveTo>
                  <a:lnTo>
                    <a:pt x="104152" y="7762"/>
                  </a:lnTo>
                  <a:lnTo>
                    <a:pt x="62352" y="29379"/>
                  </a:lnTo>
                  <a:lnTo>
                    <a:pt x="29386" y="62341"/>
                  </a:lnTo>
                  <a:lnTo>
                    <a:pt x="7765" y="104142"/>
                  </a:lnTo>
                  <a:lnTo>
                    <a:pt x="0" y="152272"/>
                  </a:lnTo>
                  <a:lnTo>
                    <a:pt x="7765" y="200409"/>
                  </a:lnTo>
                  <a:lnTo>
                    <a:pt x="29386" y="242213"/>
                  </a:lnTo>
                  <a:lnTo>
                    <a:pt x="62352" y="275178"/>
                  </a:lnTo>
                  <a:lnTo>
                    <a:pt x="104152" y="296795"/>
                  </a:lnTo>
                  <a:lnTo>
                    <a:pt x="152273" y="304558"/>
                  </a:lnTo>
                  <a:lnTo>
                    <a:pt x="200442" y="296795"/>
                  </a:lnTo>
                  <a:lnTo>
                    <a:pt x="242247" y="275178"/>
                  </a:lnTo>
                  <a:lnTo>
                    <a:pt x="275195" y="242213"/>
                  </a:lnTo>
                  <a:lnTo>
                    <a:pt x="296792" y="200409"/>
                  </a:lnTo>
                  <a:lnTo>
                    <a:pt x="304545" y="152272"/>
                  </a:lnTo>
                  <a:lnTo>
                    <a:pt x="296792" y="104142"/>
                  </a:lnTo>
                  <a:lnTo>
                    <a:pt x="275195" y="62341"/>
                  </a:lnTo>
                  <a:lnTo>
                    <a:pt x="242247" y="29379"/>
                  </a:lnTo>
                  <a:lnTo>
                    <a:pt x="200442" y="7762"/>
                  </a:lnTo>
                  <a:lnTo>
                    <a:pt x="152273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09795" y="392868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272"/>
                  </a:moveTo>
                  <a:lnTo>
                    <a:pt x="7765" y="104142"/>
                  </a:lnTo>
                  <a:lnTo>
                    <a:pt x="29386" y="62341"/>
                  </a:lnTo>
                  <a:lnTo>
                    <a:pt x="62352" y="29379"/>
                  </a:lnTo>
                  <a:lnTo>
                    <a:pt x="104152" y="7762"/>
                  </a:lnTo>
                  <a:lnTo>
                    <a:pt x="152273" y="0"/>
                  </a:lnTo>
                  <a:lnTo>
                    <a:pt x="200442" y="7762"/>
                  </a:lnTo>
                  <a:lnTo>
                    <a:pt x="242247" y="29379"/>
                  </a:lnTo>
                  <a:lnTo>
                    <a:pt x="275195" y="62341"/>
                  </a:lnTo>
                  <a:lnTo>
                    <a:pt x="296792" y="104142"/>
                  </a:lnTo>
                  <a:lnTo>
                    <a:pt x="304545" y="152272"/>
                  </a:lnTo>
                  <a:lnTo>
                    <a:pt x="296792" y="200409"/>
                  </a:lnTo>
                  <a:lnTo>
                    <a:pt x="275195" y="242213"/>
                  </a:lnTo>
                  <a:lnTo>
                    <a:pt x="242247" y="275178"/>
                  </a:lnTo>
                  <a:lnTo>
                    <a:pt x="200442" y="296795"/>
                  </a:lnTo>
                  <a:lnTo>
                    <a:pt x="152273" y="304558"/>
                  </a:lnTo>
                  <a:lnTo>
                    <a:pt x="104152" y="296795"/>
                  </a:lnTo>
                  <a:lnTo>
                    <a:pt x="62352" y="275178"/>
                  </a:lnTo>
                  <a:lnTo>
                    <a:pt x="29386" y="242213"/>
                  </a:lnTo>
                  <a:lnTo>
                    <a:pt x="7765" y="200409"/>
                  </a:lnTo>
                  <a:lnTo>
                    <a:pt x="0" y="15227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38216" y="29527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273" y="0"/>
                  </a:moveTo>
                  <a:lnTo>
                    <a:pt x="104152" y="7765"/>
                  </a:lnTo>
                  <a:lnTo>
                    <a:pt x="62352" y="29386"/>
                  </a:lnTo>
                  <a:lnTo>
                    <a:pt x="29386" y="62352"/>
                  </a:lnTo>
                  <a:lnTo>
                    <a:pt x="7765" y="104152"/>
                  </a:lnTo>
                  <a:lnTo>
                    <a:pt x="0" y="152273"/>
                  </a:lnTo>
                  <a:lnTo>
                    <a:pt x="7765" y="200393"/>
                  </a:lnTo>
                  <a:lnTo>
                    <a:pt x="29386" y="242193"/>
                  </a:lnTo>
                  <a:lnTo>
                    <a:pt x="62352" y="275159"/>
                  </a:lnTo>
                  <a:lnTo>
                    <a:pt x="104152" y="296780"/>
                  </a:lnTo>
                  <a:lnTo>
                    <a:pt x="152273" y="304545"/>
                  </a:lnTo>
                  <a:lnTo>
                    <a:pt x="200393" y="296780"/>
                  </a:lnTo>
                  <a:lnTo>
                    <a:pt x="242193" y="275159"/>
                  </a:lnTo>
                  <a:lnTo>
                    <a:pt x="275159" y="242193"/>
                  </a:lnTo>
                  <a:lnTo>
                    <a:pt x="296780" y="200393"/>
                  </a:lnTo>
                  <a:lnTo>
                    <a:pt x="304546" y="152273"/>
                  </a:lnTo>
                  <a:lnTo>
                    <a:pt x="296780" y="104152"/>
                  </a:lnTo>
                  <a:lnTo>
                    <a:pt x="275159" y="62352"/>
                  </a:lnTo>
                  <a:lnTo>
                    <a:pt x="242193" y="29386"/>
                  </a:lnTo>
                  <a:lnTo>
                    <a:pt x="200393" y="7765"/>
                  </a:lnTo>
                  <a:lnTo>
                    <a:pt x="152273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38216" y="29527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273"/>
                  </a:moveTo>
                  <a:lnTo>
                    <a:pt x="7765" y="104152"/>
                  </a:lnTo>
                  <a:lnTo>
                    <a:pt x="29386" y="62352"/>
                  </a:lnTo>
                  <a:lnTo>
                    <a:pt x="62352" y="29386"/>
                  </a:lnTo>
                  <a:lnTo>
                    <a:pt x="104152" y="7765"/>
                  </a:lnTo>
                  <a:lnTo>
                    <a:pt x="152273" y="0"/>
                  </a:lnTo>
                  <a:lnTo>
                    <a:pt x="200393" y="7765"/>
                  </a:lnTo>
                  <a:lnTo>
                    <a:pt x="242193" y="29386"/>
                  </a:lnTo>
                  <a:lnTo>
                    <a:pt x="275159" y="62352"/>
                  </a:lnTo>
                  <a:lnTo>
                    <a:pt x="296780" y="104152"/>
                  </a:lnTo>
                  <a:lnTo>
                    <a:pt x="304546" y="152273"/>
                  </a:lnTo>
                  <a:lnTo>
                    <a:pt x="296780" y="200393"/>
                  </a:lnTo>
                  <a:lnTo>
                    <a:pt x="275159" y="242193"/>
                  </a:lnTo>
                  <a:lnTo>
                    <a:pt x="242193" y="275159"/>
                  </a:lnTo>
                  <a:lnTo>
                    <a:pt x="200393" y="296780"/>
                  </a:lnTo>
                  <a:lnTo>
                    <a:pt x="152273" y="304545"/>
                  </a:lnTo>
                  <a:lnTo>
                    <a:pt x="104152" y="296780"/>
                  </a:lnTo>
                  <a:lnTo>
                    <a:pt x="62352" y="275159"/>
                  </a:lnTo>
                  <a:lnTo>
                    <a:pt x="29386" y="242193"/>
                  </a:lnTo>
                  <a:lnTo>
                    <a:pt x="7765" y="200393"/>
                  </a:lnTo>
                  <a:lnTo>
                    <a:pt x="0" y="15227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24148" y="452843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273" y="0"/>
                  </a:moveTo>
                  <a:lnTo>
                    <a:pt x="104152" y="7762"/>
                  </a:lnTo>
                  <a:lnTo>
                    <a:pt x="62352" y="29380"/>
                  </a:lnTo>
                  <a:lnTo>
                    <a:pt x="29386" y="62344"/>
                  </a:lnTo>
                  <a:lnTo>
                    <a:pt x="7765" y="104148"/>
                  </a:lnTo>
                  <a:lnTo>
                    <a:pt x="0" y="152285"/>
                  </a:lnTo>
                  <a:lnTo>
                    <a:pt x="7765" y="200416"/>
                  </a:lnTo>
                  <a:lnTo>
                    <a:pt x="29386" y="242216"/>
                  </a:lnTo>
                  <a:lnTo>
                    <a:pt x="62352" y="275179"/>
                  </a:lnTo>
                  <a:lnTo>
                    <a:pt x="104152" y="296795"/>
                  </a:lnTo>
                  <a:lnTo>
                    <a:pt x="152273" y="304558"/>
                  </a:lnTo>
                  <a:lnTo>
                    <a:pt x="200393" y="296795"/>
                  </a:lnTo>
                  <a:lnTo>
                    <a:pt x="242193" y="275179"/>
                  </a:lnTo>
                  <a:lnTo>
                    <a:pt x="275159" y="242216"/>
                  </a:lnTo>
                  <a:lnTo>
                    <a:pt x="296780" y="200416"/>
                  </a:lnTo>
                  <a:lnTo>
                    <a:pt x="304546" y="152285"/>
                  </a:lnTo>
                  <a:lnTo>
                    <a:pt x="296780" y="104148"/>
                  </a:lnTo>
                  <a:lnTo>
                    <a:pt x="275159" y="62344"/>
                  </a:lnTo>
                  <a:lnTo>
                    <a:pt x="242193" y="29380"/>
                  </a:lnTo>
                  <a:lnTo>
                    <a:pt x="200393" y="7762"/>
                  </a:lnTo>
                  <a:lnTo>
                    <a:pt x="152273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24148" y="452843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285"/>
                  </a:moveTo>
                  <a:lnTo>
                    <a:pt x="7765" y="104148"/>
                  </a:lnTo>
                  <a:lnTo>
                    <a:pt x="29386" y="62344"/>
                  </a:lnTo>
                  <a:lnTo>
                    <a:pt x="62352" y="29380"/>
                  </a:lnTo>
                  <a:lnTo>
                    <a:pt x="104152" y="7762"/>
                  </a:lnTo>
                  <a:lnTo>
                    <a:pt x="152273" y="0"/>
                  </a:lnTo>
                  <a:lnTo>
                    <a:pt x="200393" y="7762"/>
                  </a:lnTo>
                  <a:lnTo>
                    <a:pt x="242193" y="29380"/>
                  </a:lnTo>
                  <a:lnTo>
                    <a:pt x="275159" y="62344"/>
                  </a:lnTo>
                  <a:lnTo>
                    <a:pt x="296780" y="104148"/>
                  </a:lnTo>
                  <a:lnTo>
                    <a:pt x="304546" y="152285"/>
                  </a:lnTo>
                  <a:lnTo>
                    <a:pt x="296780" y="200416"/>
                  </a:lnTo>
                  <a:lnTo>
                    <a:pt x="275159" y="242216"/>
                  </a:lnTo>
                  <a:lnTo>
                    <a:pt x="242193" y="275179"/>
                  </a:lnTo>
                  <a:lnTo>
                    <a:pt x="200393" y="296795"/>
                  </a:lnTo>
                  <a:lnTo>
                    <a:pt x="152273" y="304558"/>
                  </a:lnTo>
                  <a:lnTo>
                    <a:pt x="104152" y="296795"/>
                  </a:lnTo>
                  <a:lnTo>
                    <a:pt x="62352" y="275179"/>
                  </a:lnTo>
                  <a:lnTo>
                    <a:pt x="29386" y="242216"/>
                  </a:lnTo>
                  <a:lnTo>
                    <a:pt x="7765" y="200416"/>
                  </a:lnTo>
                  <a:lnTo>
                    <a:pt x="0" y="15228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952872" y="452843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273" y="0"/>
                  </a:moveTo>
                  <a:lnTo>
                    <a:pt x="104152" y="7762"/>
                  </a:lnTo>
                  <a:lnTo>
                    <a:pt x="62352" y="29380"/>
                  </a:lnTo>
                  <a:lnTo>
                    <a:pt x="29386" y="62344"/>
                  </a:lnTo>
                  <a:lnTo>
                    <a:pt x="7765" y="104148"/>
                  </a:lnTo>
                  <a:lnTo>
                    <a:pt x="0" y="152285"/>
                  </a:lnTo>
                  <a:lnTo>
                    <a:pt x="7765" y="200416"/>
                  </a:lnTo>
                  <a:lnTo>
                    <a:pt x="29386" y="242216"/>
                  </a:lnTo>
                  <a:lnTo>
                    <a:pt x="62352" y="275179"/>
                  </a:lnTo>
                  <a:lnTo>
                    <a:pt x="104152" y="296795"/>
                  </a:lnTo>
                  <a:lnTo>
                    <a:pt x="152273" y="304558"/>
                  </a:lnTo>
                  <a:lnTo>
                    <a:pt x="200393" y="296795"/>
                  </a:lnTo>
                  <a:lnTo>
                    <a:pt x="242193" y="275179"/>
                  </a:lnTo>
                  <a:lnTo>
                    <a:pt x="275159" y="242216"/>
                  </a:lnTo>
                  <a:lnTo>
                    <a:pt x="296780" y="200416"/>
                  </a:lnTo>
                  <a:lnTo>
                    <a:pt x="304546" y="152285"/>
                  </a:lnTo>
                  <a:lnTo>
                    <a:pt x="296780" y="104148"/>
                  </a:lnTo>
                  <a:lnTo>
                    <a:pt x="275159" y="62344"/>
                  </a:lnTo>
                  <a:lnTo>
                    <a:pt x="242193" y="29380"/>
                  </a:lnTo>
                  <a:lnTo>
                    <a:pt x="200393" y="7762"/>
                  </a:lnTo>
                  <a:lnTo>
                    <a:pt x="152273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952872" y="452843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285"/>
                  </a:moveTo>
                  <a:lnTo>
                    <a:pt x="7765" y="104148"/>
                  </a:lnTo>
                  <a:lnTo>
                    <a:pt x="29386" y="62344"/>
                  </a:lnTo>
                  <a:lnTo>
                    <a:pt x="62352" y="29380"/>
                  </a:lnTo>
                  <a:lnTo>
                    <a:pt x="104152" y="7762"/>
                  </a:lnTo>
                  <a:lnTo>
                    <a:pt x="152273" y="0"/>
                  </a:lnTo>
                  <a:lnTo>
                    <a:pt x="200393" y="7762"/>
                  </a:lnTo>
                  <a:lnTo>
                    <a:pt x="242193" y="29380"/>
                  </a:lnTo>
                  <a:lnTo>
                    <a:pt x="275159" y="62344"/>
                  </a:lnTo>
                  <a:lnTo>
                    <a:pt x="296780" y="104148"/>
                  </a:lnTo>
                  <a:lnTo>
                    <a:pt x="304546" y="152285"/>
                  </a:lnTo>
                  <a:lnTo>
                    <a:pt x="296780" y="200416"/>
                  </a:lnTo>
                  <a:lnTo>
                    <a:pt x="275159" y="242216"/>
                  </a:lnTo>
                  <a:lnTo>
                    <a:pt x="242193" y="275179"/>
                  </a:lnTo>
                  <a:lnTo>
                    <a:pt x="200393" y="296795"/>
                  </a:lnTo>
                  <a:lnTo>
                    <a:pt x="152273" y="304558"/>
                  </a:lnTo>
                  <a:lnTo>
                    <a:pt x="104152" y="296795"/>
                  </a:lnTo>
                  <a:lnTo>
                    <a:pt x="62352" y="275179"/>
                  </a:lnTo>
                  <a:lnTo>
                    <a:pt x="29386" y="242216"/>
                  </a:lnTo>
                  <a:lnTo>
                    <a:pt x="7765" y="200416"/>
                  </a:lnTo>
                  <a:lnTo>
                    <a:pt x="0" y="15228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26916" y="330911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273" y="0"/>
                  </a:moveTo>
                  <a:lnTo>
                    <a:pt x="104152" y="7765"/>
                  </a:lnTo>
                  <a:lnTo>
                    <a:pt x="62352" y="29386"/>
                  </a:lnTo>
                  <a:lnTo>
                    <a:pt x="29386" y="62352"/>
                  </a:lnTo>
                  <a:lnTo>
                    <a:pt x="7765" y="104152"/>
                  </a:lnTo>
                  <a:lnTo>
                    <a:pt x="0" y="152273"/>
                  </a:lnTo>
                  <a:lnTo>
                    <a:pt x="7765" y="200393"/>
                  </a:lnTo>
                  <a:lnTo>
                    <a:pt x="29386" y="242193"/>
                  </a:lnTo>
                  <a:lnTo>
                    <a:pt x="62352" y="275159"/>
                  </a:lnTo>
                  <a:lnTo>
                    <a:pt x="104152" y="296780"/>
                  </a:lnTo>
                  <a:lnTo>
                    <a:pt x="152273" y="304546"/>
                  </a:lnTo>
                  <a:lnTo>
                    <a:pt x="200393" y="296780"/>
                  </a:lnTo>
                  <a:lnTo>
                    <a:pt x="242193" y="275159"/>
                  </a:lnTo>
                  <a:lnTo>
                    <a:pt x="275159" y="242193"/>
                  </a:lnTo>
                  <a:lnTo>
                    <a:pt x="296780" y="200393"/>
                  </a:lnTo>
                  <a:lnTo>
                    <a:pt x="304546" y="152273"/>
                  </a:lnTo>
                  <a:lnTo>
                    <a:pt x="296780" y="104152"/>
                  </a:lnTo>
                  <a:lnTo>
                    <a:pt x="275159" y="62352"/>
                  </a:lnTo>
                  <a:lnTo>
                    <a:pt x="242193" y="29386"/>
                  </a:lnTo>
                  <a:lnTo>
                    <a:pt x="200393" y="7765"/>
                  </a:lnTo>
                  <a:lnTo>
                    <a:pt x="152273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26916" y="330911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273"/>
                  </a:moveTo>
                  <a:lnTo>
                    <a:pt x="7765" y="104152"/>
                  </a:lnTo>
                  <a:lnTo>
                    <a:pt x="29386" y="62352"/>
                  </a:lnTo>
                  <a:lnTo>
                    <a:pt x="62352" y="29386"/>
                  </a:lnTo>
                  <a:lnTo>
                    <a:pt x="104152" y="7765"/>
                  </a:lnTo>
                  <a:lnTo>
                    <a:pt x="152273" y="0"/>
                  </a:lnTo>
                  <a:lnTo>
                    <a:pt x="200393" y="7765"/>
                  </a:lnTo>
                  <a:lnTo>
                    <a:pt x="242193" y="29386"/>
                  </a:lnTo>
                  <a:lnTo>
                    <a:pt x="275159" y="62352"/>
                  </a:lnTo>
                  <a:lnTo>
                    <a:pt x="296780" y="104152"/>
                  </a:lnTo>
                  <a:lnTo>
                    <a:pt x="304546" y="152273"/>
                  </a:lnTo>
                  <a:lnTo>
                    <a:pt x="296780" y="200393"/>
                  </a:lnTo>
                  <a:lnTo>
                    <a:pt x="275159" y="242193"/>
                  </a:lnTo>
                  <a:lnTo>
                    <a:pt x="242193" y="275159"/>
                  </a:lnTo>
                  <a:lnTo>
                    <a:pt x="200393" y="296780"/>
                  </a:lnTo>
                  <a:lnTo>
                    <a:pt x="152273" y="304546"/>
                  </a:lnTo>
                  <a:lnTo>
                    <a:pt x="104152" y="296780"/>
                  </a:lnTo>
                  <a:lnTo>
                    <a:pt x="62352" y="275159"/>
                  </a:lnTo>
                  <a:lnTo>
                    <a:pt x="29386" y="242193"/>
                  </a:lnTo>
                  <a:lnTo>
                    <a:pt x="7765" y="200393"/>
                  </a:lnTo>
                  <a:lnTo>
                    <a:pt x="0" y="15227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43599" y="354164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273" y="0"/>
                  </a:moveTo>
                  <a:lnTo>
                    <a:pt x="104152" y="7765"/>
                  </a:lnTo>
                  <a:lnTo>
                    <a:pt x="62352" y="29386"/>
                  </a:lnTo>
                  <a:lnTo>
                    <a:pt x="29386" y="62352"/>
                  </a:lnTo>
                  <a:lnTo>
                    <a:pt x="7765" y="104152"/>
                  </a:lnTo>
                  <a:lnTo>
                    <a:pt x="0" y="152272"/>
                  </a:lnTo>
                  <a:lnTo>
                    <a:pt x="7765" y="200442"/>
                  </a:lnTo>
                  <a:lnTo>
                    <a:pt x="29386" y="242247"/>
                  </a:lnTo>
                  <a:lnTo>
                    <a:pt x="62352" y="275195"/>
                  </a:lnTo>
                  <a:lnTo>
                    <a:pt x="104152" y="296792"/>
                  </a:lnTo>
                  <a:lnTo>
                    <a:pt x="152273" y="304545"/>
                  </a:lnTo>
                  <a:lnTo>
                    <a:pt x="200393" y="296792"/>
                  </a:lnTo>
                  <a:lnTo>
                    <a:pt x="242193" y="275195"/>
                  </a:lnTo>
                  <a:lnTo>
                    <a:pt x="275159" y="242247"/>
                  </a:lnTo>
                  <a:lnTo>
                    <a:pt x="296780" y="200442"/>
                  </a:lnTo>
                  <a:lnTo>
                    <a:pt x="304546" y="152272"/>
                  </a:lnTo>
                  <a:lnTo>
                    <a:pt x="296780" y="104152"/>
                  </a:lnTo>
                  <a:lnTo>
                    <a:pt x="275159" y="62352"/>
                  </a:lnTo>
                  <a:lnTo>
                    <a:pt x="242193" y="29386"/>
                  </a:lnTo>
                  <a:lnTo>
                    <a:pt x="200393" y="7765"/>
                  </a:lnTo>
                  <a:lnTo>
                    <a:pt x="152273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943599" y="354164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272"/>
                  </a:moveTo>
                  <a:lnTo>
                    <a:pt x="7765" y="104152"/>
                  </a:lnTo>
                  <a:lnTo>
                    <a:pt x="29386" y="62352"/>
                  </a:lnTo>
                  <a:lnTo>
                    <a:pt x="62352" y="29386"/>
                  </a:lnTo>
                  <a:lnTo>
                    <a:pt x="104152" y="7765"/>
                  </a:lnTo>
                  <a:lnTo>
                    <a:pt x="152273" y="0"/>
                  </a:lnTo>
                  <a:lnTo>
                    <a:pt x="200393" y="7765"/>
                  </a:lnTo>
                  <a:lnTo>
                    <a:pt x="242193" y="29386"/>
                  </a:lnTo>
                  <a:lnTo>
                    <a:pt x="275159" y="62352"/>
                  </a:lnTo>
                  <a:lnTo>
                    <a:pt x="296780" y="104152"/>
                  </a:lnTo>
                  <a:lnTo>
                    <a:pt x="304546" y="152272"/>
                  </a:lnTo>
                  <a:lnTo>
                    <a:pt x="296780" y="200442"/>
                  </a:lnTo>
                  <a:lnTo>
                    <a:pt x="275159" y="242247"/>
                  </a:lnTo>
                  <a:lnTo>
                    <a:pt x="242193" y="275195"/>
                  </a:lnTo>
                  <a:lnTo>
                    <a:pt x="200393" y="296792"/>
                  </a:lnTo>
                  <a:lnTo>
                    <a:pt x="152273" y="304545"/>
                  </a:lnTo>
                  <a:lnTo>
                    <a:pt x="104152" y="296792"/>
                  </a:lnTo>
                  <a:lnTo>
                    <a:pt x="62352" y="275195"/>
                  </a:lnTo>
                  <a:lnTo>
                    <a:pt x="29386" y="242247"/>
                  </a:lnTo>
                  <a:lnTo>
                    <a:pt x="7765" y="200442"/>
                  </a:lnTo>
                  <a:lnTo>
                    <a:pt x="0" y="15227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393695" y="3212591"/>
              <a:ext cx="2689225" cy="760730"/>
            </a:xfrm>
            <a:custGeom>
              <a:avLst/>
              <a:gdLst/>
              <a:ahLst/>
              <a:cxnLst/>
              <a:rect l="l" t="t" r="r" b="b"/>
              <a:pathLst>
                <a:path w="2689225" h="760729">
                  <a:moveTo>
                    <a:pt x="0" y="639826"/>
                  </a:moveTo>
                  <a:lnTo>
                    <a:pt x="1133220" y="248793"/>
                  </a:lnTo>
                </a:path>
                <a:path w="2689225" h="760729">
                  <a:moveTo>
                    <a:pt x="2076069" y="760729"/>
                  </a:moveTo>
                  <a:lnTo>
                    <a:pt x="2688844" y="0"/>
                  </a:lnTo>
                </a:path>
              </a:pathLst>
            </a:custGeom>
            <a:ln w="284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14474" y="4681518"/>
              <a:ext cx="1271905" cy="0"/>
            </a:xfrm>
            <a:custGeom>
              <a:avLst/>
              <a:gdLst/>
              <a:ahLst/>
              <a:cxnLst/>
              <a:rect l="l" t="t" r="r" b="b"/>
              <a:pathLst>
                <a:path w="1271904">
                  <a:moveTo>
                    <a:pt x="0" y="0"/>
                  </a:moveTo>
                  <a:lnTo>
                    <a:pt x="1271901" y="0"/>
                  </a:lnTo>
                </a:path>
              </a:pathLst>
            </a:custGeom>
            <a:ln w="300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438272" y="3693922"/>
              <a:ext cx="3657600" cy="987425"/>
            </a:xfrm>
            <a:custGeom>
              <a:avLst/>
              <a:gdLst/>
              <a:ahLst/>
              <a:cxnLst/>
              <a:rect l="l" t="t" r="r" b="b"/>
              <a:pathLst>
                <a:path w="3657600" h="987425">
                  <a:moveTo>
                    <a:pt x="2819527" y="986802"/>
                  </a:moveTo>
                  <a:lnTo>
                    <a:pt x="3657600" y="152653"/>
                  </a:lnTo>
                </a:path>
                <a:path w="3657600" h="987425">
                  <a:moveTo>
                    <a:pt x="2076068" y="387032"/>
                  </a:moveTo>
                  <a:lnTo>
                    <a:pt x="3505327" y="0"/>
                  </a:lnTo>
                </a:path>
                <a:path w="3657600" h="987425">
                  <a:moveTo>
                    <a:pt x="0" y="266433"/>
                  </a:moveTo>
                  <a:lnTo>
                    <a:pt x="1771268" y="387032"/>
                  </a:lnTo>
                </a:path>
              </a:pathLst>
            </a:custGeom>
            <a:ln w="284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23994" y="4005110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182524" y="0"/>
                  </a:moveTo>
                  <a:lnTo>
                    <a:pt x="0" y="0"/>
                  </a:lnTo>
                  <a:lnTo>
                    <a:pt x="0" y="182524"/>
                  </a:lnTo>
                  <a:lnTo>
                    <a:pt x="182524" y="182524"/>
                  </a:lnTo>
                  <a:lnTo>
                    <a:pt x="18252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23994" y="4005110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0" y="182524"/>
                  </a:moveTo>
                  <a:lnTo>
                    <a:pt x="182524" y="182524"/>
                  </a:lnTo>
                  <a:lnTo>
                    <a:pt x="182524" y="0"/>
                  </a:lnTo>
                  <a:lnTo>
                    <a:pt x="0" y="0"/>
                  </a:lnTo>
                  <a:lnTo>
                    <a:pt x="0" y="18252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786375" y="4613910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182524" y="0"/>
                  </a:moveTo>
                  <a:lnTo>
                    <a:pt x="0" y="0"/>
                  </a:lnTo>
                  <a:lnTo>
                    <a:pt x="0" y="182524"/>
                  </a:lnTo>
                  <a:lnTo>
                    <a:pt x="182524" y="182524"/>
                  </a:lnTo>
                  <a:lnTo>
                    <a:pt x="18252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86375" y="4613910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0" y="182524"/>
                  </a:moveTo>
                  <a:lnTo>
                    <a:pt x="182524" y="182524"/>
                  </a:lnTo>
                  <a:lnTo>
                    <a:pt x="182524" y="0"/>
                  </a:lnTo>
                  <a:lnTo>
                    <a:pt x="0" y="0"/>
                  </a:lnTo>
                  <a:lnTo>
                    <a:pt x="0" y="18252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40222" y="3610584"/>
              <a:ext cx="357276" cy="3607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414775" y="3394684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182524" y="0"/>
                  </a:moveTo>
                  <a:lnTo>
                    <a:pt x="0" y="0"/>
                  </a:lnTo>
                  <a:lnTo>
                    <a:pt x="0" y="182524"/>
                  </a:lnTo>
                  <a:lnTo>
                    <a:pt x="182524" y="182524"/>
                  </a:lnTo>
                  <a:lnTo>
                    <a:pt x="18252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14775" y="3394684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0" y="182524"/>
                  </a:moveTo>
                  <a:lnTo>
                    <a:pt x="182524" y="182524"/>
                  </a:lnTo>
                  <a:lnTo>
                    <a:pt x="182524" y="0"/>
                  </a:lnTo>
                  <a:lnTo>
                    <a:pt x="0" y="0"/>
                  </a:lnTo>
                  <a:lnTo>
                    <a:pt x="0" y="18252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938522" y="3167354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182524" y="0"/>
                  </a:moveTo>
                  <a:lnTo>
                    <a:pt x="0" y="0"/>
                  </a:lnTo>
                  <a:lnTo>
                    <a:pt x="0" y="182524"/>
                  </a:lnTo>
                  <a:lnTo>
                    <a:pt x="182524" y="182524"/>
                  </a:lnTo>
                  <a:lnTo>
                    <a:pt x="18252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938522" y="3167354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0" y="182524"/>
                  </a:moveTo>
                  <a:lnTo>
                    <a:pt x="182524" y="182524"/>
                  </a:lnTo>
                  <a:lnTo>
                    <a:pt x="182524" y="0"/>
                  </a:lnTo>
                  <a:lnTo>
                    <a:pt x="0" y="0"/>
                  </a:lnTo>
                  <a:lnTo>
                    <a:pt x="0" y="18252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195823" y="4508715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182524" y="0"/>
                  </a:moveTo>
                  <a:lnTo>
                    <a:pt x="0" y="0"/>
                  </a:lnTo>
                  <a:lnTo>
                    <a:pt x="0" y="182524"/>
                  </a:lnTo>
                  <a:lnTo>
                    <a:pt x="182524" y="182524"/>
                  </a:lnTo>
                  <a:lnTo>
                    <a:pt x="18252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195823" y="4508715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0" y="182524"/>
                  </a:moveTo>
                  <a:lnTo>
                    <a:pt x="182524" y="182524"/>
                  </a:lnTo>
                  <a:lnTo>
                    <a:pt x="182524" y="0"/>
                  </a:lnTo>
                  <a:lnTo>
                    <a:pt x="0" y="0"/>
                  </a:lnTo>
                  <a:lnTo>
                    <a:pt x="0" y="18252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420492" y="3862209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80" h="182879">
                  <a:moveTo>
                    <a:pt x="182524" y="0"/>
                  </a:moveTo>
                  <a:lnTo>
                    <a:pt x="0" y="0"/>
                  </a:lnTo>
                  <a:lnTo>
                    <a:pt x="0" y="182524"/>
                  </a:lnTo>
                  <a:lnTo>
                    <a:pt x="182524" y="182524"/>
                  </a:lnTo>
                  <a:lnTo>
                    <a:pt x="18252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420492" y="3862209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80" h="182879">
                  <a:moveTo>
                    <a:pt x="0" y="182524"/>
                  </a:moveTo>
                  <a:lnTo>
                    <a:pt x="182524" y="182524"/>
                  </a:lnTo>
                  <a:lnTo>
                    <a:pt x="182524" y="0"/>
                  </a:lnTo>
                  <a:lnTo>
                    <a:pt x="0" y="0"/>
                  </a:lnTo>
                  <a:lnTo>
                    <a:pt x="0" y="18252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1003173"/>
            <a:ext cx="8529320" cy="1624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630"/>
              </a:lnSpc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Computer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Network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ts val="261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computer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network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comprised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nodes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links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ts val="262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spc="-20" dirty="0">
                <a:latin typeface="Times New Roman"/>
                <a:cs typeface="Times New Roman"/>
              </a:rPr>
              <a:t>A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node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point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whereas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links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medium</a:t>
            </a:r>
            <a:endParaRPr sz="2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79500"/>
              </a:lnSpc>
              <a:spcBef>
                <a:spcPts val="53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defined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network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through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communicate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system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39773" y="2711450"/>
            <a:ext cx="5435600" cy="2142490"/>
            <a:chOff x="1739773" y="2711450"/>
            <a:chExt cx="5435600" cy="2142490"/>
          </a:xfrm>
        </p:grpSpPr>
        <p:sp>
          <p:nvSpPr>
            <p:cNvPr id="10" name="object 10"/>
            <p:cNvSpPr/>
            <p:nvPr/>
          </p:nvSpPr>
          <p:spPr>
            <a:xfrm>
              <a:off x="1752473" y="3600322"/>
              <a:ext cx="1066800" cy="533400"/>
            </a:xfrm>
            <a:custGeom>
              <a:avLst/>
              <a:gdLst/>
              <a:ahLst/>
              <a:cxnLst/>
              <a:rect l="l" t="t" r="r" b="b"/>
              <a:pathLst>
                <a:path w="1066800" h="533400">
                  <a:moveTo>
                    <a:pt x="977519" y="0"/>
                  </a:moveTo>
                  <a:lnTo>
                    <a:pt x="88900" y="0"/>
                  </a:lnTo>
                  <a:lnTo>
                    <a:pt x="54274" y="6996"/>
                  </a:lnTo>
                  <a:lnTo>
                    <a:pt x="26019" y="26066"/>
                  </a:lnTo>
                  <a:lnTo>
                    <a:pt x="6979" y="54328"/>
                  </a:lnTo>
                  <a:lnTo>
                    <a:pt x="0" y="88899"/>
                  </a:lnTo>
                  <a:lnTo>
                    <a:pt x="0" y="444334"/>
                  </a:lnTo>
                  <a:lnTo>
                    <a:pt x="6979" y="478922"/>
                  </a:lnTo>
                  <a:lnTo>
                    <a:pt x="26019" y="507168"/>
                  </a:lnTo>
                  <a:lnTo>
                    <a:pt x="54274" y="526212"/>
                  </a:lnTo>
                  <a:lnTo>
                    <a:pt x="88900" y="533196"/>
                  </a:lnTo>
                  <a:lnTo>
                    <a:pt x="977519" y="533196"/>
                  </a:lnTo>
                  <a:lnTo>
                    <a:pt x="1012070" y="526212"/>
                  </a:lnTo>
                  <a:lnTo>
                    <a:pt x="1040288" y="507168"/>
                  </a:lnTo>
                  <a:lnTo>
                    <a:pt x="1059314" y="478922"/>
                  </a:lnTo>
                  <a:lnTo>
                    <a:pt x="1066291" y="444334"/>
                  </a:lnTo>
                  <a:lnTo>
                    <a:pt x="1066291" y="88899"/>
                  </a:lnTo>
                  <a:lnTo>
                    <a:pt x="1059314" y="54328"/>
                  </a:lnTo>
                  <a:lnTo>
                    <a:pt x="1040288" y="26066"/>
                  </a:lnTo>
                  <a:lnTo>
                    <a:pt x="1012070" y="6996"/>
                  </a:lnTo>
                  <a:lnTo>
                    <a:pt x="97751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52473" y="3600322"/>
              <a:ext cx="1066800" cy="533400"/>
            </a:xfrm>
            <a:custGeom>
              <a:avLst/>
              <a:gdLst/>
              <a:ahLst/>
              <a:cxnLst/>
              <a:rect l="l" t="t" r="r" b="b"/>
              <a:pathLst>
                <a:path w="1066800" h="533400">
                  <a:moveTo>
                    <a:pt x="0" y="88899"/>
                  </a:moveTo>
                  <a:lnTo>
                    <a:pt x="6979" y="54328"/>
                  </a:lnTo>
                  <a:lnTo>
                    <a:pt x="26019" y="26066"/>
                  </a:lnTo>
                  <a:lnTo>
                    <a:pt x="54274" y="6996"/>
                  </a:lnTo>
                  <a:lnTo>
                    <a:pt x="88900" y="0"/>
                  </a:lnTo>
                  <a:lnTo>
                    <a:pt x="977519" y="0"/>
                  </a:lnTo>
                  <a:lnTo>
                    <a:pt x="1012070" y="6996"/>
                  </a:lnTo>
                  <a:lnTo>
                    <a:pt x="1040288" y="26066"/>
                  </a:lnTo>
                  <a:lnTo>
                    <a:pt x="1059314" y="54328"/>
                  </a:lnTo>
                  <a:lnTo>
                    <a:pt x="1066291" y="88899"/>
                  </a:lnTo>
                  <a:lnTo>
                    <a:pt x="1066291" y="444334"/>
                  </a:lnTo>
                  <a:lnTo>
                    <a:pt x="1059314" y="478922"/>
                  </a:lnTo>
                  <a:lnTo>
                    <a:pt x="1040288" y="507168"/>
                  </a:lnTo>
                  <a:lnTo>
                    <a:pt x="1012070" y="526212"/>
                  </a:lnTo>
                  <a:lnTo>
                    <a:pt x="977519" y="533196"/>
                  </a:lnTo>
                  <a:lnTo>
                    <a:pt x="88900" y="533196"/>
                  </a:lnTo>
                  <a:lnTo>
                    <a:pt x="54274" y="526212"/>
                  </a:lnTo>
                  <a:lnTo>
                    <a:pt x="26019" y="507168"/>
                  </a:lnTo>
                  <a:lnTo>
                    <a:pt x="6979" y="478922"/>
                  </a:lnTo>
                  <a:lnTo>
                    <a:pt x="0" y="444334"/>
                  </a:lnTo>
                  <a:lnTo>
                    <a:pt x="0" y="8889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0" y="4196880"/>
              <a:ext cx="609600" cy="644525"/>
            </a:xfrm>
            <a:custGeom>
              <a:avLst/>
              <a:gdLst/>
              <a:ahLst/>
              <a:cxnLst/>
              <a:rect l="l" t="t" r="r" b="b"/>
              <a:pathLst>
                <a:path w="609600" h="644525">
                  <a:moveTo>
                    <a:pt x="507619" y="0"/>
                  </a:moveTo>
                  <a:lnTo>
                    <a:pt x="101473" y="0"/>
                  </a:lnTo>
                  <a:lnTo>
                    <a:pt x="61989" y="7978"/>
                  </a:lnTo>
                  <a:lnTo>
                    <a:pt x="29733" y="29735"/>
                  </a:lnTo>
                  <a:lnTo>
                    <a:pt x="7979" y="62005"/>
                  </a:lnTo>
                  <a:lnTo>
                    <a:pt x="0" y="101523"/>
                  </a:lnTo>
                  <a:lnTo>
                    <a:pt x="0" y="542518"/>
                  </a:lnTo>
                  <a:lnTo>
                    <a:pt x="7979" y="582036"/>
                  </a:lnTo>
                  <a:lnTo>
                    <a:pt x="29733" y="614306"/>
                  </a:lnTo>
                  <a:lnTo>
                    <a:pt x="61989" y="636064"/>
                  </a:lnTo>
                  <a:lnTo>
                    <a:pt x="101473" y="644042"/>
                  </a:lnTo>
                  <a:lnTo>
                    <a:pt x="507619" y="644042"/>
                  </a:lnTo>
                  <a:lnTo>
                    <a:pt x="547102" y="636064"/>
                  </a:lnTo>
                  <a:lnTo>
                    <a:pt x="579358" y="614306"/>
                  </a:lnTo>
                  <a:lnTo>
                    <a:pt x="601112" y="582036"/>
                  </a:lnTo>
                  <a:lnTo>
                    <a:pt x="609091" y="542518"/>
                  </a:lnTo>
                  <a:lnTo>
                    <a:pt x="609091" y="101523"/>
                  </a:lnTo>
                  <a:lnTo>
                    <a:pt x="601112" y="62005"/>
                  </a:lnTo>
                  <a:lnTo>
                    <a:pt x="579358" y="29735"/>
                  </a:lnTo>
                  <a:lnTo>
                    <a:pt x="547102" y="7978"/>
                  </a:lnTo>
                  <a:lnTo>
                    <a:pt x="50761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72000" y="4196880"/>
              <a:ext cx="609600" cy="644525"/>
            </a:xfrm>
            <a:custGeom>
              <a:avLst/>
              <a:gdLst/>
              <a:ahLst/>
              <a:cxnLst/>
              <a:rect l="l" t="t" r="r" b="b"/>
              <a:pathLst>
                <a:path w="609600" h="644525">
                  <a:moveTo>
                    <a:pt x="0" y="101523"/>
                  </a:moveTo>
                  <a:lnTo>
                    <a:pt x="7979" y="62005"/>
                  </a:lnTo>
                  <a:lnTo>
                    <a:pt x="29733" y="29735"/>
                  </a:lnTo>
                  <a:lnTo>
                    <a:pt x="61989" y="7978"/>
                  </a:lnTo>
                  <a:lnTo>
                    <a:pt x="101473" y="0"/>
                  </a:lnTo>
                  <a:lnTo>
                    <a:pt x="507619" y="0"/>
                  </a:lnTo>
                  <a:lnTo>
                    <a:pt x="547102" y="7978"/>
                  </a:lnTo>
                  <a:lnTo>
                    <a:pt x="579358" y="29735"/>
                  </a:lnTo>
                  <a:lnTo>
                    <a:pt x="601112" y="62005"/>
                  </a:lnTo>
                  <a:lnTo>
                    <a:pt x="609091" y="101523"/>
                  </a:lnTo>
                  <a:lnTo>
                    <a:pt x="609091" y="542518"/>
                  </a:lnTo>
                  <a:lnTo>
                    <a:pt x="601112" y="582036"/>
                  </a:lnTo>
                  <a:lnTo>
                    <a:pt x="579358" y="614306"/>
                  </a:lnTo>
                  <a:lnTo>
                    <a:pt x="547102" y="636064"/>
                  </a:lnTo>
                  <a:lnTo>
                    <a:pt x="507619" y="644042"/>
                  </a:lnTo>
                  <a:lnTo>
                    <a:pt x="101473" y="644042"/>
                  </a:lnTo>
                  <a:lnTo>
                    <a:pt x="61989" y="636064"/>
                  </a:lnTo>
                  <a:lnTo>
                    <a:pt x="29733" y="614306"/>
                  </a:lnTo>
                  <a:lnTo>
                    <a:pt x="7979" y="582036"/>
                  </a:lnTo>
                  <a:lnTo>
                    <a:pt x="0" y="542518"/>
                  </a:lnTo>
                  <a:lnTo>
                    <a:pt x="0" y="101523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5873" y="2946272"/>
              <a:ext cx="1066800" cy="533400"/>
            </a:xfrm>
            <a:custGeom>
              <a:avLst/>
              <a:gdLst/>
              <a:ahLst/>
              <a:cxnLst/>
              <a:rect l="l" t="t" r="r" b="b"/>
              <a:pathLst>
                <a:path w="1066800" h="533400">
                  <a:moveTo>
                    <a:pt x="977519" y="0"/>
                  </a:moveTo>
                  <a:lnTo>
                    <a:pt x="88900" y="0"/>
                  </a:lnTo>
                  <a:lnTo>
                    <a:pt x="54274" y="6977"/>
                  </a:lnTo>
                  <a:lnTo>
                    <a:pt x="26019" y="26003"/>
                  </a:lnTo>
                  <a:lnTo>
                    <a:pt x="6979" y="54221"/>
                  </a:lnTo>
                  <a:lnTo>
                    <a:pt x="0" y="88772"/>
                  </a:lnTo>
                  <a:lnTo>
                    <a:pt x="0" y="444245"/>
                  </a:lnTo>
                  <a:lnTo>
                    <a:pt x="6979" y="478871"/>
                  </a:lnTo>
                  <a:lnTo>
                    <a:pt x="26019" y="507126"/>
                  </a:lnTo>
                  <a:lnTo>
                    <a:pt x="54274" y="526166"/>
                  </a:lnTo>
                  <a:lnTo>
                    <a:pt x="88900" y="533145"/>
                  </a:lnTo>
                  <a:lnTo>
                    <a:pt x="977519" y="533145"/>
                  </a:lnTo>
                  <a:lnTo>
                    <a:pt x="1012070" y="526166"/>
                  </a:lnTo>
                  <a:lnTo>
                    <a:pt x="1040288" y="507126"/>
                  </a:lnTo>
                  <a:lnTo>
                    <a:pt x="1059314" y="478871"/>
                  </a:lnTo>
                  <a:lnTo>
                    <a:pt x="1066292" y="444245"/>
                  </a:lnTo>
                  <a:lnTo>
                    <a:pt x="1066292" y="88772"/>
                  </a:lnTo>
                  <a:lnTo>
                    <a:pt x="1059314" y="54221"/>
                  </a:lnTo>
                  <a:lnTo>
                    <a:pt x="1040288" y="26003"/>
                  </a:lnTo>
                  <a:lnTo>
                    <a:pt x="1012070" y="6977"/>
                  </a:lnTo>
                  <a:lnTo>
                    <a:pt x="97751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95873" y="2946272"/>
              <a:ext cx="1066800" cy="762000"/>
            </a:xfrm>
            <a:custGeom>
              <a:avLst/>
              <a:gdLst/>
              <a:ahLst/>
              <a:cxnLst/>
              <a:rect l="l" t="t" r="r" b="b"/>
              <a:pathLst>
                <a:path w="1066800" h="762000">
                  <a:moveTo>
                    <a:pt x="0" y="88772"/>
                  </a:moveTo>
                  <a:lnTo>
                    <a:pt x="6979" y="54221"/>
                  </a:lnTo>
                  <a:lnTo>
                    <a:pt x="26019" y="26003"/>
                  </a:lnTo>
                  <a:lnTo>
                    <a:pt x="54274" y="6977"/>
                  </a:lnTo>
                  <a:lnTo>
                    <a:pt x="88900" y="0"/>
                  </a:lnTo>
                  <a:lnTo>
                    <a:pt x="977519" y="0"/>
                  </a:lnTo>
                  <a:lnTo>
                    <a:pt x="1012070" y="6977"/>
                  </a:lnTo>
                  <a:lnTo>
                    <a:pt x="1040288" y="26003"/>
                  </a:lnTo>
                  <a:lnTo>
                    <a:pt x="1059314" y="54221"/>
                  </a:lnTo>
                  <a:lnTo>
                    <a:pt x="1066292" y="88772"/>
                  </a:lnTo>
                  <a:lnTo>
                    <a:pt x="1066292" y="444245"/>
                  </a:lnTo>
                  <a:lnTo>
                    <a:pt x="1059314" y="478871"/>
                  </a:lnTo>
                  <a:lnTo>
                    <a:pt x="1040288" y="507126"/>
                  </a:lnTo>
                  <a:lnTo>
                    <a:pt x="1012070" y="526166"/>
                  </a:lnTo>
                  <a:lnTo>
                    <a:pt x="977519" y="533145"/>
                  </a:lnTo>
                  <a:lnTo>
                    <a:pt x="88900" y="533145"/>
                  </a:lnTo>
                  <a:lnTo>
                    <a:pt x="54274" y="526166"/>
                  </a:lnTo>
                  <a:lnTo>
                    <a:pt x="26019" y="507126"/>
                  </a:lnTo>
                  <a:lnTo>
                    <a:pt x="6979" y="478871"/>
                  </a:lnTo>
                  <a:lnTo>
                    <a:pt x="0" y="444245"/>
                  </a:lnTo>
                  <a:lnTo>
                    <a:pt x="0" y="88772"/>
                  </a:lnTo>
                  <a:close/>
                </a:path>
                <a:path w="1066800" h="762000">
                  <a:moveTo>
                    <a:pt x="533526" y="533145"/>
                  </a:moveTo>
                  <a:lnTo>
                    <a:pt x="533526" y="761745"/>
                  </a:lnTo>
                </a:path>
                <a:path w="1066800" h="762000">
                  <a:moveTo>
                    <a:pt x="62991" y="761745"/>
                  </a:moveTo>
                  <a:lnTo>
                    <a:pt x="1042924" y="76174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51427" y="2724150"/>
              <a:ext cx="304800" cy="495300"/>
            </a:xfrm>
            <a:custGeom>
              <a:avLst/>
              <a:gdLst/>
              <a:ahLst/>
              <a:cxnLst/>
              <a:rect l="l" t="t" r="r" b="b"/>
              <a:pathLst>
                <a:path w="304800" h="495300">
                  <a:moveTo>
                    <a:pt x="152273" y="0"/>
                  </a:moveTo>
                  <a:lnTo>
                    <a:pt x="0" y="494919"/>
                  </a:lnTo>
                  <a:lnTo>
                    <a:pt x="304546" y="494919"/>
                  </a:lnTo>
                  <a:lnTo>
                    <a:pt x="152273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86000" y="2724150"/>
              <a:ext cx="3810000" cy="1795145"/>
            </a:xfrm>
            <a:custGeom>
              <a:avLst/>
              <a:gdLst/>
              <a:ahLst/>
              <a:cxnLst/>
              <a:rect l="l" t="t" r="r" b="b"/>
              <a:pathLst>
                <a:path w="3810000" h="1795145">
                  <a:moveTo>
                    <a:pt x="1765427" y="494919"/>
                  </a:moveTo>
                  <a:lnTo>
                    <a:pt x="1917700" y="0"/>
                  </a:lnTo>
                  <a:lnTo>
                    <a:pt x="2069973" y="494919"/>
                  </a:lnTo>
                  <a:lnTo>
                    <a:pt x="1765427" y="494919"/>
                  </a:lnTo>
                  <a:close/>
                </a:path>
                <a:path w="3810000" h="1795145">
                  <a:moveTo>
                    <a:pt x="1917700" y="494919"/>
                  </a:moveTo>
                  <a:lnTo>
                    <a:pt x="2590546" y="1472374"/>
                  </a:lnTo>
                </a:path>
                <a:path w="3810000" h="1795145">
                  <a:moveTo>
                    <a:pt x="1765427" y="494919"/>
                  </a:moveTo>
                  <a:lnTo>
                    <a:pt x="0" y="876172"/>
                  </a:lnTo>
                </a:path>
                <a:path w="3810000" h="1795145">
                  <a:moveTo>
                    <a:pt x="3809873" y="488442"/>
                  </a:moveTo>
                  <a:lnTo>
                    <a:pt x="1994027" y="247650"/>
                  </a:lnTo>
                </a:path>
                <a:path w="3810000" h="1795145">
                  <a:moveTo>
                    <a:pt x="3809873" y="488442"/>
                  </a:moveTo>
                  <a:lnTo>
                    <a:pt x="2895473" y="179457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35730" y="3078200"/>
              <a:ext cx="359181" cy="28310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92749" y="3078708"/>
              <a:ext cx="208305" cy="28234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Goals</a:t>
            </a:r>
            <a:r>
              <a:rPr spc="-4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8589"/>
            <a:ext cx="5173345" cy="359981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goals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are: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Resource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sharing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Eg: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printer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shared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drives,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etc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High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reliability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Eg: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alternative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sources,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copies,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etc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Increase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utilization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Eg: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load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sharing,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pooling,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etc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Powerful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communication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medium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Eg: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update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reflected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immediately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Application</a:t>
            </a:r>
            <a:r>
              <a:rPr spc="-6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8589"/>
            <a:ext cx="4659630" cy="218072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are: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Accessing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web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File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transfer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File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sharing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Remote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procedure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 smtClean="0">
                <a:latin typeface="Times New Roman"/>
                <a:cs typeface="Times New Roman"/>
              </a:rPr>
              <a:t>call</a:t>
            </a:r>
            <a:r>
              <a:rPr sz="2400" dirty="0" smtClean="0">
                <a:latin typeface="Times New Roman"/>
                <a:cs typeface="Times New Roman"/>
              </a:rPr>
              <a:t>,</a:t>
            </a:r>
            <a:r>
              <a:rPr sz="2400" spc="-70" dirty="0" smtClean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etc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</a:t>
            </a:r>
            <a:r>
              <a:rPr spc="-5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4598"/>
            <a:ext cx="8531860" cy="350456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54330" indent="-341630" algn="just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354330" algn="l"/>
              </a:tabLst>
            </a:pPr>
            <a:r>
              <a:rPr sz="2300" dirty="0">
                <a:latin typeface="Times New Roman"/>
                <a:cs typeface="Times New Roman"/>
              </a:rPr>
              <a:t>Network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architecture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is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design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computer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network</a:t>
            </a:r>
            <a:endParaRPr sz="2300">
              <a:latin typeface="Times New Roman"/>
              <a:cs typeface="Times New Roman"/>
            </a:endParaRPr>
          </a:p>
          <a:p>
            <a:pPr marL="354965" indent="-342265" algn="just">
              <a:lnSpc>
                <a:spcPts val="2590"/>
              </a:lnSpc>
              <a:spcBef>
                <a:spcPts val="280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Times New Roman"/>
                <a:cs typeface="Times New Roman"/>
              </a:rPr>
              <a:t>It</a:t>
            </a:r>
            <a:r>
              <a:rPr sz="2300" spc="90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is</a:t>
            </a:r>
            <a:r>
              <a:rPr sz="2300" spc="95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90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framework</a:t>
            </a:r>
            <a:r>
              <a:rPr sz="2300" spc="90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for</a:t>
            </a:r>
            <a:r>
              <a:rPr sz="2300" spc="90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85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specification</a:t>
            </a:r>
            <a:r>
              <a:rPr sz="2300" spc="90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95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85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network's</a:t>
            </a:r>
            <a:r>
              <a:rPr sz="2300" spc="95" dirty="0">
                <a:latin typeface="Times New Roman"/>
                <a:cs typeface="Times New Roman"/>
              </a:rPr>
              <a:t>  </a:t>
            </a:r>
            <a:r>
              <a:rPr sz="2300" spc="-10" dirty="0">
                <a:latin typeface="Times New Roman"/>
                <a:cs typeface="Times New Roman"/>
              </a:rPr>
              <a:t>physical</a:t>
            </a:r>
            <a:endParaRPr sz="2300">
              <a:latin typeface="Times New Roman"/>
              <a:cs typeface="Times New Roman"/>
            </a:endParaRPr>
          </a:p>
          <a:p>
            <a:pPr marL="355600" algn="just">
              <a:lnSpc>
                <a:spcPts val="2590"/>
              </a:lnSpc>
            </a:pPr>
            <a:r>
              <a:rPr sz="2300" dirty="0">
                <a:latin typeface="Times New Roman"/>
                <a:cs typeface="Times New Roman"/>
              </a:rPr>
              <a:t>components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their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functional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organization</a:t>
            </a:r>
            <a:endParaRPr sz="2300">
              <a:latin typeface="Times New Roman"/>
              <a:cs typeface="Times New Roman"/>
            </a:endParaRPr>
          </a:p>
          <a:p>
            <a:pPr marL="354330" indent="-341630" algn="just">
              <a:lnSpc>
                <a:spcPts val="2600"/>
              </a:lnSpc>
              <a:spcBef>
                <a:spcPts val="275"/>
              </a:spcBef>
              <a:buFont typeface="Arial MT"/>
              <a:buChar char="•"/>
              <a:tabLst>
                <a:tab pos="354330" algn="l"/>
              </a:tabLst>
            </a:pPr>
            <a:r>
              <a:rPr sz="2300" dirty="0">
                <a:latin typeface="Times New Roman"/>
                <a:cs typeface="Times New Roman"/>
              </a:rPr>
              <a:t>It</a:t>
            </a:r>
            <a:r>
              <a:rPr sz="2300" spc="325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also</a:t>
            </a:r>
            <a:r>
              <a:rPr sz="2300" spc="330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defines</a:t>
            </a:r>
            <a:r>
              <a:rPr sz="2300" spc="325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25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set</a:t>
            </a:r>
            <a:r>
              <a:rPr sz="2300" spc="325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325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rules</a:t>
            </a:r>
            <a:r>
              <a:rPr sz="2300" spc="320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which</a:t>
            </a:r>
            <a:r>
              <a:rPr sz="2300" spc="320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are</a:t>
            </a:r>
            <a:r>
              <a:rPr sz="2300" spc="325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followed</a:t>
            </a:r>
            <a:r>
              <a:rPr sz="2300" spc="325" dirty="0">
                <a:latin typeface="Times New Roman"/>
                <a:cs typeface="Times New Roman"/>
              </a:rPr>
              <a:t>  </a:t>
            </a:r>
            <a:r>
              <a:rPr sz="2300" spc="-10" dirty="0">
                <a:latin typeface="Times New Roman"/>
                <a:cs typeface="Times New Roman"/>
              </a:rPr>
              <a:t>during</a:t>
            </a:r>
            <a:endParaRPr sz="2300">
              <a:latin typeface="Times New Roman"/>
              <a:cs typeface="Times New Roman"/>
            </a:endParaRPr>
          </a:p>
          <a:p>
            <a:pPr marL="355600" algn="just">
              <a:lnSpc>
                <a:spcPts val="2600"/>
              </a:lnSpc>
            </a:pPr>
            <a:r>
              <a:rPr sz="2300" dirty="0">
                <a:latin typeface="Times New Roman"/>
                <a:cs typeface="Times New Roman"/>
              </a:rPr>
              <a:t>communication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(also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known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as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protocols)</a:t>
            </a:r>
            <a:endParaRPr sz="2300">
              <a:latin typeface="Times New Roman"/>
              <a:cs typeface="Times New Roman"/>
            </a:endParaRPr>
          </a:p>
          <a:p>
            <a:pPr marL="354330" marR="6350" indent="-341630" algn="just">
              <a:lnSpc>
                <a:spcPts val="2440"/>
              </a:lnSpc>
              <a:spcBef>
                <a:spcPts val="625"/>
              </a:spcBef>
              <a:buFont typeface="Arial MT"/>
              <a:buChar char="•"/>
              <a:tabLst>
                <a:tab pos="355600" algn="l"/>
              </a:tabLst>
            </a:pPr>
            <a:r>
              <a:rPr sz="2300" dirty="0">
                <a:latin typeface="Times New Roman"/>
                <a:cs typeface="Times New Roman"/>
              </a:rPr>
              <a:t>Network</a:t>
            </a:r>
            <a:r>
              <a:rPr sz="2300" spc="1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architecture</a:t>
            </a:r>
            <a:r>
              <a:rPr sz="2300" spc="1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refers</a:t>
            </a:r>
            <a:r>
              <a:rPr sz="2300" spc="1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1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1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way</a:t>
            </a:r>
            <a:r>
              <a:rPr sz="2300" spc="1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network</a:t>
            </a:r>
            <a:r>
              <a:rPr sz="2300" spc="114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devices</a:t>
            </a:r>
            <a:r>
              <a:rPr sz="2300" spc="1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12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services 	</a:t>
            </a:r>
            <a:r>
              <a:rPr sz="2300" dirty="0">
                <a:latin typeface="Times New Roman"/>
                <a:cs typeface="Times New Roman"/>
              </a:rPr>
              <a:t>are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structured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serve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connectivity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needs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client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devices</a:t>
            </a:r>
            <a:endParaRPr sz="23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88900"/>
              </a:lnSpc>
              <a:spcBef>
                <a:spcPts val="550"/>
              </a:spcBef>
              <a:buFont typeface="Arial MT"/>
              <a:buChar char="•"/>
              <a:tabLst>
                <a:tab pos="355600" algn="l"/>
              </a:tabLst>
            </a:pP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1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architecture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defines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how the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computers should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get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connected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get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40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maximum</a:t>
            </a:r>
            <a:r>
              <a:rPr sz="2300" spc="40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advantages</a:t>
            </a:r>
            <a:r>
              <a:rPr sz="2300" spc="40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45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40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computer</a:t>
            </a:r>
            <a:r>
              <a:rPr sz="2300" spc="45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network</a:t>
            </a:r>
            <a:r>
              <a:rPr sz="2300" spc="45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such</a:t>
            </a:r>
            <a:r>
              <a:rPr sz="2300" spc="40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as</a:t>
            </a:r>
            <a:r>
              <a:rPr sz="2300" spc="45" dirty="0">
                <a:latin typeface="Times New Roman"/>
                <a:cs typeface="Times New Roman"/>
              </a:rPr>
              <a:t>  </a:t>
            </a:r>
            <a:r>
              <a:rPr sz="2300" spc="-10" dirty="0">
                <a:latin typeface="Times New Roman"/>
                <a:cs typeface="Times New Roman"/>
              </a:rPr>
              <a:t>better </a:t>
            </a:r>
            <a:r>
              <a:rPr sz="2300" dirty="0">
                <a:latin typeface="Times New Roman"/>
                <a:cs typeface="Times New Roman"/>
              </a:rPr>
              <a:t>response</a:t>
            </a:r>
            <a:r>
              <a:rPr sz="2300" spc="-10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time,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security,</a:t>
            </a:r>
            <a:r>
              <a:rPr sz="2300" spc="-8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scalability,</a:t>
            </a:r>
            <a:r>
              <a:rPr sz="2300" spc="-80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etc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</a:t>
            </a:r>
            <a:r>
              <a:rPr spc="-5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8589"/>
            <a:ext cx="5870575" cy="202946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architecture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are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Peer-to-</a:t>
            </a:r>
            <a:r>
              <a:rPr sz="2400" spc="-20" dirty="0">
                <a:latin typeface="Times New Roman"/>
                <a:cs typeface="Times New Roman"/>
              </a:rPr>
              <a:t>Peer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Known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 </a:t>
            </a:r>
            <a:r>
              <a:rPr sz="2000" spc="-25" dirty="0">
                <a:latin typeface="Times New Roman"/>
                <a:cs typeface="Times New Roman"/>
              </a:rPr>
              <a:t>P2P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Client-</a:t>
            </a:r>
            <a:r>
              <a:rPr sz="2400" spc="-10" dirty="0">
                <a:latin typeface="Times New Roman"/>
                <a:cs typeface="Times New Roman"/>
              </a:rPr>
              <a:t>Server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Known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 </a:t>
            </a:r>
            <a:r>
              <a:rPr sz="2000" spc="-10" dirty="0">
                <a:latin typeface="Times New Roman"/>
                <a:cs typeface="Times New Roman"/>
              </a:rPr>
              <a:t>tiered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P2P</a:t>
            </a:r>
            <a:r>
              <a:rPr spc="-15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dirty="0"/>
              <a:t>All</a:t>
            </a:r>
            <a:r>
              <a:rPr sz="2300" spc="-40" dirty="0"/>
              <a:t> </a:t>
            </a:r>
            <a:r>
              <a:rPr sz="2300" dirty="0"/>
              <a:t>the</a:t>
            </a:r>
            <a:r>
              <a:rPr sz="2300" spc="-20" dirty="0"/>
              <a:t> </a:t>
            </a:r>
            <a:r>
              <a:rPr sz="2300" dirty="0"/>
              <a:t>nodes</a:t>
            </a:r>
            <a:r>
              <a:rPr sz="2300" spc="-10" dirty="0"/>
              <a:t> </a:t>
            </a:r>
            <a:r>
              <a:rPr sz="2300" dirty="0"/>
              <a:t>in</a:t>
            </a:r>
            <a:r>
              <a:rPr sz="2300" spc="-25" dirty="0"/>
              <a:t> </a:t>
            </a:r>
            <a:r>
              <a:rPr sz="2300" dirty="0"/>
              <a:t>a</a:t>
            </a:r>
            <a:r>
              <a:rPr sz="2300" spc="-15" dirty="0"/>
              <a:t> </a:t>
            </a:r>
            <a:r>
              <a:rPr sz="2300" dirty="0"/>
              <a:t>network</a:t>
            </a:r>
            <a:r>
              <a:rPr sz="2300" spc="-20" dirty="0"/>
              <a:t> </a:t>
            </a:r>
            <a:r>
              <a:rPr sz="2300" dirty="0"/>
              <a:t>are</a:t>
            </a:r>
            <a:r>
              <a:rPr sz="2300" spc="-15" dirty="0"/>
              <a:t> </a:t>
            </a:r>
            <a:r>
              <a:rPr sz="2300" spc="-10" dirty="0"/>
              <a:t>inter-</a:t>
            </a:r>
            <a:r>
              <a:rPr sz="2300" dirty="0"/>
              <a:t>connected</a:t>
            </a:r>
            <a:r>
              <a:rPr sz="2300" spc="-20" dirty="0"/>
              <a:t> </a:t>
            </a:r>
            <a:r>
              <a:rPr sz="2300" dirty="0"/>
              <a:t>with</a:t>
            </a:r>
            <a:r>
              <a:rPr sz="2300" spc="-30" dirty="0"/>
              <a:t> </a:t>
            </a:r>
            <a:r>
              <a:rPr sz="2300" dirty="0"/>
              <a:t>every</a:t>
            </a:r>
            <a:r>
              <a:rPr sz="2300" spc="-15" dirty="0"/>
              <a:t> </a:t>
            </a:r>
            <a:r>
              <a:rPr sz="2300" dirty="0"/>
              <a:t>other</a:t>
            </a:r>
            <a:r>
              <a:rPr sz="2300" spc="-30" dirty="0"/>
              <a:t> </a:t>
            </a:r>
            <a:r>
              <a:rPr sz="2300" spc="-10" dirty="0"/>
              <a:t>nodes</a:t>
            </a:r>
            <a:endParaRPr sz="2300"/>
          </a:p>
          <a:p>
            <a:pPr marL="354965" indent="-342265">
              <a:lnSpc>
                <a:spcPts val="2730"/>
              </a:lnSpc>
              <a:spcBef>
                <a:spcPts val="555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dirty="0"/>
              <a:t>There</a:t>
            </a:r>
            <a:r>
              <a:rPr sz="2300" spc="155" dirty="0"/>
              <a:t> </a:t>
            </a:r>
            <a:r>
              <a:rPr sz="2300" dirty="0"/>
              <a:t>is</a:t>
            </a:r>
            <a:r>
              <a:rPr sz="2300" spc="160" dirty="0"/>
              <a:t> </a:t>
            </a:r>
            <a:r>
              <a:rPr sz="2300" dirty="0"/>
              <a:t>no</a:t>
            </a:r>
            <a:r>
              <a:rPr sz="2300" spc="145" dirty="0"/>
              <a:t> </a:t>
            </a:r>
            <a:r>
              <a:rPr sz="2300" dirty="0"/>
              <a:t>one</a:t>
            </a:r>
            <a:r>
              <a:rPr sz="2300" spc="155" dirty="0"/>
              <a:t> </a:t>
            </a:r>
            <a:r>
              <a:rPr sz="2300" dirty="0"/>
              <a:t>who</a:t>
            </a:r>
            <a:r>
              <a:rPr sz="2300" spc="150" dirty="0"/>
              <a:t> </a:t>
            </a:r>
            <a:r>
              <a:rPr sz="2300" dirty="0"/>
              <a:t>acts</a:t>
            </a:r>
            <a:r>
              <a:rPr sz="2300" spc="160" dirty="0"/>
              <a:t> </a:t>
            </a:r>
            <a:r>
              <a:rPr sz="2300" dirty="0"/>
              <a:t>as</a:t>
            </a:r>
            <a:r>
              <a:rPr sz="2300" spc="160" dirty="0"/>
              <a:t> </a:t>
            </a:r>
            <a:r>
              <a:rPr sz="2300" dirty="0"/>
              <a:t>a</a:t>
            </a:r>
            <a:r>
              <a:rPr sz="2300" spc="155" dirty="0"/>
              <a:t> </a:t>
            </a:r>
            <a:r>
              <a:rPr sz="2300" dirty="0"/>
              <a:t>master</a:t>
            </a:r>
            <a:r>
              <a:rPr sz="2300" spc="175" dirty="0"/>
              <a:t> </a:t>
            </a:r>
            <a:r>
              <a:rPr sz="2300" dirty="0"/>
              <a:t>(also</a:t>
            </a:r>
            <a:r>
              <a:rPr sz="2300" spc="160" dirty="0"/>
              <a:t> </a:t>
            </a:r>
            <a:r>
              <a:rPr sz="2300" dirty="0"/>
              <a:t>known</a:t>
            </a:r>
            <a:r>
              <a:rPr sz="2300" spc="145" dirty="0"/>
              <a:t> </a:t>
            </a:r>
            <a:r>
              <a:rPr sz="2300" dirty="0"/>
              <a:t>as</a:t>
            </a:r>
            <a:r>
              <a:rPr sz="2300" spc="160" dirty="0"/>
              <a:t> </a:t>
            </a:r>
            <a:r>
              <a:rPr sz="2300" dirty="0"/>
              <a:t>server)</a:t>
            </a:r>
            <a:r>
              <a:rPr sz="2300" spc="160" dirty="0"/>
              <a:t> </a:t>
            </a:r>
            <a:r>
              <a:rPr sz="2300" dirty="0"/>
              <a:t>for</a:t>
            </a:r>
            <a:r>
              <a:rPr sz="2300" spc="150" dirty="0"/>
              <a:t> </a:t>
            </a:r>
            <a:r>
              <a:rPr sz="2300" spc="-20" dirty="0"/>
              <a:t>all,</a:t>
            </a:r>
            <a:endParaRPr sz="2300"/>
          </a:p>
          <a:p>
            <a:pPr marL="355600">
              <a:lnSpc>
                <a:spcPts val="2730"/>
              </a:lnSpc>
            </a:pPr>
            <a:r>
              <a:rPr sz="2300" dirty="0"/>
              <a:t>rather</a:t>
            </a:r>
            <a:r>
              <a:rPr sz="2300" spc="-50" dirty="0"/>
              <a:t> </a:t>
            </a:r>
            <a:r>
              <a:rPr sz="2300" dirty="0"/>
              <a:t>all</a:t>
            </a:r>
            <a:r>
              <a:rPr sz="2300" spc="-35" dirty="0"/>
              <a:t> </a:t>
            </a:r>
            <a:r>
              <a:rPr sz="2300" dirty="0"/>
              <a:t>acts</a:t>
            </a:r>
            <a:r>
              <a:rPr sz="2300" spc="-10" dirty="0"/>
              <a:t> </a:t>
            </a:r>
            <a:r>
              <a:rPr sz="2300" dirty="0"/>
              <a:t>as</a:t>
            </a:r>
            <a:r>
              <a:rPr sz="2300" spc="-30" dirty="0"/>
              <a:t> </a:t>
            </a:r>
            <a:r>
              <a:rPr sz="2300" dirty="0"/>
              <a:t>a</a:t>
            </a:r>
            <a:r>
              <a:rPr sz="2300" spc="-35" dirty="0"/>
              <a:t> </a:t>
            </a:r>
            <a:r>
              <a:rPr sz="2300" dirty="0"/>
              <a:t>master</a:t>
            </a:r>
            <a:r>
              <a:rPr sz="2300" spc="-15" dirty="0"/>
              <a:t> </a:t>
            </a:r>
            <a:r>
              <a:rPr sz="2300" spc="-10" dirty="0"/>
              <a:t>independently</a:t>
            </a:r>
            <a:endParaRPr sz="2300"/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dirty="0"/>
              <a:t>It</a:t>
            </a:r>
            <a:r>
              <a:rPr sz="2300" spc="-40" dirty="0"/>
              <a:t> </a:t>
            </a:r>
            <a:r>
              <a:rPr sz="2300" dirty="0"/>
              <a:t>is</a:t>
            </a:r>
            <a:r>
              <a:rPr sz="2300" spc="-5" dirty="0"/>
              <a:t> </a:t>
            </a:r>
            <a:r>
              <a:rPr sz="2300" dirty="0"/>
              <a:t>useful</a:t>
            </a:r>
            <a:r>
              <a:rPr sz="2300" spc="-25" dirty="0"/>
              <a:t> </a:t>
            </a:r>
            <a:r>
              <a:rPr sz="2300" dirty="0"/>
              <a:t>for</a:t>
            </a:r>
            <a:r>
              <a:rPr sz="2300" spc="-25" dirty="0"/>
              <a:t> </a:t>
            </a:r>
            <a:r>
              <a:rPr sz="2300" dirty="0"/>
              <a:t>small </a:t>
            </a:r>
            <a:r>
              <a:rPr sz="2300" spc="-10" dirty="0"/>
              <a:t>environment</a:t>
            </a:r>
            <a:endParaRPr sz="2300"/>
          </a:p>
        </p:txBody>
      </p:sp>
      <p:grpSp>
        <p:nvGrpSpPr>
          <p:cNvPr id="9" name="object 9"/>
          <p:cNvGrpSpPr/>
          <p:nvPr/>
        </p:nvGrpSpPr>
        <p:grpSpPr>
          <a:xfrm>
            <a:off x="1739773" y="2697352"/>
            <a:ext cx="5572125" cy="2090420"/>
            <a:chOff x="1739773" y="2697352"/>
            <a:chExt cx="5572125" cy="2090420"/>
          </a:xfrm>
        </p:grpSpPr>
        <p:sp>
          <p:nvSpPr>
            <p:cNvPr id="10" name="object 10"/>
            <p:cNvSpPr/>
            <p:nvPr/>
          </p:nvSpPr>
          <p:spPr>
            <a:xfrm>
              <a:off x="6232651" y="3098545"/>
              <a:ext cx="1066800" cy="533400"/>
            </a:xfrm>
            <a:custGeom>
              <a:avLst/>
              <a:gdLst/>
              <a:ahLst/>
              <a:cxnLst/>
              <a:rect l="l" t="t" r="r" b="b"/>
              <a:pathLst>
                <a:path w="1066800" h="533400">
                  <a:moveTo>
                    <a:pt x="977519" y="0"/>
                  </a:moveTo>
                  <a:lnTo>
                    <a:pt x="88900" y="0"/>
                  </a:lnTo>
                  <a:lnTo>
                    <a:pt x="54274" y="6977"/>
                  </a:lnTo>
                  <a:lnTo>
                    <a:pt x="26019" y="26003"/>
                  </a:lnTo>
                  <a:lnTo>
                    <a:pt x="6979" y="54221"/>
                  </a:lnTo>
                  <a:lnTo>
                    <a:pt x="0" y="88773"/>
                  </a:lnTo>
                  <a:lnTo>
                    <a:pt x="0" y="444246"/>
                  </a:lnTo>
                  <a:lnTo>
                    <a:pt x="6979" y="478871"/>
                  </a:lnTo>
                  <a:lnTo>
                    <a:pt x="26019" y="507126"/>
                  </a:lnTo>
                  <a:lnTo>
                    <a:pt x="54274" y="526166"/>
                  </a:lnTo>
                  <a:lnTo>
                    <a:pt x="88900" y="533146"/>
                  </a:lnTo>
                  <a:lnTo>
                    <a:pt x="977519" y="533146"/>
                  </a:lnTo>
                  <a:lnTo>
                    <a:pt x="1012070" y="526166"/>
                  </a:lnTo>
                  <a:lnTo>
                    <a:pt x="1040288" y="507126"/>
                  </a:lnTo>
                  <a:lnTo>
                    <a:pt x="1059314" y="478871"/>
                  </a:lnTo>
                  <a:lnTo>
                    <a:pt x="1066292" y="444246"/>
                  </a:lnTo>
                  <a:lnTo>
                    <a:pt x="1066292" y="88773"/>
                  </a:lnTo>
                  <a:lnTo>
                    <a:pt x="1059314" y="54221"/>
                  </a:lnTo>
                  <a:lnTo>
                    <a:pt x="1040288" y="26003"/>
                  </a:lnTo>
                  <a:lnTo>
                    <a:pt x="1012070" y="6977"/>
                  </a:lnTo>
                  <a:lnTo>
                    <a:pt x="97751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32651" y="3098545"/>
              <a:ext cx="1066800" cy="762000"/>
            </a:xfrm>
            <a:custGeom>
              <a:avLst/>
              <a:gdLst/>
              <a:ahLst/>
              <a:cxnLst/>
              <a:rect l="l" t="t" r="r" b="b"/>
              <a:pathLst>
                <a:path w="1066800" h="762000">
                  <a:moveTo>
                    <a:pt x="0" y="88773"/>
                  </a:moveTo>
                  <a:lnTo>
                    <a:pt x="6979" y="54221"/>
                  </a:lnTo>
                  <a:lnTo>
                    <a:pt x="26019" y="26003"/>
                  </a:lnTo>
                  <a:lnTo>
                    <a:pt x="54274" y="6977"/>
                  </a:lnTo>
                  <a:lnTo>
                    <a:pt x="88900" y="0"/>
                  </a:lnTo>
                  <a:lnTo>
                    <a:pt x="977519" y="0"/>
                  </a:lnTo>
                  <a:lnTo>
                    <a:pt x="1012070" y="6977"/>
                  </a:lnTo>
                  <a:lnTo>
                    <a:pt x="1040288" y="26003"/>
                  </a:lnTo>
                  <a:lnTo>
                    <a:pt x="1059314" y="54221"/>
                  </a:lnTo>
                  <a:lnTo>
                    <a:pt x="1066292" y="88773"/>
                  </a:lnTo>
                  <a:lnTo>
                    <a:pt x="1066292" y="444246"/>
                  </a:lnTo>
                  <a:lnTo>
                    <a:pt x="1059314" y="478871"/>
                  </a:lnTo>
                  <a:lnTo>
                    <a:pt x="1040288" y="507126"/>
                  </a:lnTo>
                  <a:lnTo>
                    <a:pt x="1012070" y="526166"/>
                  </a:lnTo>
                  <a:lnTo>
                    <a:pt x="977519" y="533146"/>
                  </a:lnTo>
                  <a:lnTo>
                    <a:pt x="88900" y="533146"/>
                  </a:lnTo>
                  <a:lnTo>
                    <a:pt x="54274" y="526166"/>
                  </a:lnTo>
                  <a:lnTo>
                    <a:pt x="26019" y="507126"/>
                  </a:lnTo>
                  <a:lnTo>
                    <a:pt x="6979" y="478871"/>
                  </a:lnTo>
                  <a:lnTo>
                    <a:pt x="0" y="444246"/>
                  </a:lnTo>
                  <a:lnTo>
                    <a:pt x="0" y="88773"/>
                  </a:lnTo>
                  <a:close/>
                </a:path>
                <a:path w="1066800" h="762000">
                  <a:moveTo>
                    <a:pt x="533146" y="533146"/>
                  </a:moveTo>
                  <a:lnTo>
                    <a:pt x="533146" y="761746"/>
                  </a:lnTo>
                </a:path>
                <a:path w="1066800" h="762000">
                  <a:moveTo>
                    <a:pt x="62611" y="761746"/>
                  </a:moveTo>
                  <a:lnTo>
                    <a:pt x="1042924" y="76174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52473" y="3860672"/>
              <a:ext cx="1066800" cy="533400"/>
            </a:xfrm>
            <a:custGeom>
              <a:avLst/>
              <a:gdLst/>
              <a:ahLst/>
              <a:cxnLst/>
              <a:rect l="l" t="t" r="r" b="b"/>
              <a:pathLst>
                <a:path w="1066800" h="533400">
                  <a:moveTo>
                    <a:pt x="977519" y="0"/>
                  </a:moveTo>
                  <a:lnTo>
                    <a:pt x="88900" y="0"/>
                  </a:lnTo>
                  <a:lnTo>
                    <a:pt x="54274" y="6977"/>
                  </a:lnTo>
                  <a:lnTo>
                    <a:pt x="26019" y="26009"/>
                  </a:lnTo>
                  <a:lnTo>
                    <a:pt x="6979" y="54242"/>
                  </a:lnTo>
                  <a:lnTo>
                    <a:pt x="0" y="88823"/>
                  </a:lnTo>
                  <a:lnTo>
                    <a:pt x="0" y="444258"/>
                  </a:lnTo>
                  <a:lnTo>
                    <a:pt x="6979" y="478851"/>
                  </a:lnTo>
                  <a:lnTo>
                    <a:pt x="26019" y="507096"/>
                  </a:lnTo>
                  <a:lnTo>
                    <a:pt x="54274" y="526138"/>
                  </a:lnTo>
                  <a:lnTo>
                    <a:pt x="88900" y="533120"/>
                  </a:lnTo>
                  <a:lnTo>
                    <a:pt x="977519" y="533120"/>
                  </a:lnTo>
                  <a:lnTo>
                    <a:pt x="1012070" y="526138"/>
                  </a:lnTo>
                  <a:lnTo>
                    <a:pt x="1040288" y="507096"/>
                  </a:lnTo>
                  <a:lnTo>
                    <a:pt x="1059314" y="478851"/>
                  </a:lnTo>
                  <a:lnTo>
                    <a:pt x="1066291" y="444258"/>
                  </a:lnTo>
                  <a:lnTo>
                    <a:pt x="1066291" y="88823"/>
                  </a:lnTo>
                  <a:lnTo>
                    <a:pt x="1059314" y="54242"/>
                  </a:lnTo>
                  <a:lnTo>
                    <a:pt x="1040288" y="26009"/>
                  </a:lnTo>
                  <a:lnTo>
                    <a:pt x="1012070" y="6977"/>
                  </a:lnTo>
                  <a:lnTo>
                    <a:pt x="97751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52473" y="3860672"/>
              <a:ext cx="1066800" cy="762000"/>
            </a:xfrm>
            <a:custGeom>
              <a:avLst/>
              <a:gdLst/>
              <a:ahLst/>
              <a:cxnLst/>
              <a:rect l="l" t="t" r="r" b="b"/>
              <a:pathLst>
                <a:path w="1066800" h="762000">
                  <a:moveTo>
                    <a:pt x="0" y="88823"/>
                  </a:moveTo>
                  <a:lnTo>
                    <a:pt x="6979" y="54242"/>
                  </a:lnTo>
                  <a:lnTo>
                    <a:pt x="26019" y="26009"/>
                  </a:lnTo>
                  <a:lnTo>
                    <a:pt x="54274" y="6977"/>
                  </a:lnTo>
                  <a:lnTo>
                    <a:pt x="88900" y="0"/>
                  </a:lnTo>
                  <a:lnTo>
                    <a:pt x="977519" y="0"/>
                  </a:lnTo>
                  <a:lnTo>
                    <a:pt x="1012070" y="6977"/>
                  </a:lnTo>
                  <a:lnTo>
                    <a:pt x="1040288" y="26009"/>
                  </a:lnTo>
                  <a:lnTo>
                    <a:pt x="1059314" y="54242"/>
                  </a:lnTo>
                  <a:lnTo>
                    <a:pt x="1066291" y="88823"/>
                  </a:lnTo>
                  <a:lnTo>
                    <a:pt x="1066291" y="444258"/>
                  </a:lnTo>
                  <a:lnTo>
                    <a:pt x="1059314" y="478851"/>
                  </a:lnTo>
                  <a:lnTo>
                    <a:pt x="1040288" y="507096"/>
                  </a:lnTo>
                  <a:lnTo>
                    <a:pt x="1012070" y="526138"/>
                  </a:lnTo>
                  <a:lnTo>
                    <a:pt x="977519" y="533120"/>
                  </a:lnTo>
                  <a:lnTo>
                    <a:pt x="88900" y="533120"/>
                  </a:lnTo>
                  <a:lnTo>
                    <a:pt x="54274" y="526138"/>
                  </a:lnTo>
                  <a:lnTo>
                    <a:pt x="26019" y="507096"/>
                  </a:lnTo>
                  <a:lnTo>
                    <a:pt x="6979" y="478851"/>
                  </a:lnTo>
                  <a:lnTo>
                    <a:pt x="0" y="444258"/>
                  </a:lnTo>
                  <a:lnTo>
                    <a:pt x="0" y="88823"/>
                  </a:lnTo>
                  <a:close/>
                </a:path>
                <a:path w="1066800" h="762000">
                  <a:moveTo>
                    <a:pt x="533526" y="533120"/>
                  </a:moveTo>
                  <a:lnTo>
                    <a:pt x="533526" y="761720"/>
                  </a:lnTo>
                </a:path>
                <a:path w="1066800" h="762000">
                  <a:moveTo>
                    <a:pt x="62991" y="761720"/>
                  </a:moveTo>
                  <a:lnTo>
                    <a:pt x="1042924" y="76172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52673" y="2710052"/>
              <a:ext cx="1066800" cy="533400"/>
            </a:xfrm>
            <a:custGeom>
              <a:avLst/>
              <a:gdLst/>
              <a:ahLst/>
              <a:cxnLst/>
              <a:rect l="l" t="t" r="r" b="b"/>
              <a:pathLst>
                <a:path w="1066800" h="533400">
                  <a:moveTo>
                    <a:pt x="977518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444373"/>
                  </a:lnTo>
                  <a:lnTo>
                    <a:pt x="6979" y="478924"/>
                  </a:lnTo>
                  <a:lnTo>
                    <a:pt x="26019" y="507142"/>
                  </a:lnTo>
                  <a:lnTo>
                    <a:pt x="54274" y="526168"/>
                  </a:lnTo>
                  <a:lnTo>
                    <a:pt x="88900" y="533146"/>
                  </a:lnTo>
                  <a:lnTo>
                    <a:pt x="977518" y="533146"/>
                  </a:lnTo>
                  <a:lnTo>
                    <a:pt x="1012070" y="526168"/>
                  </a:lnTo>
                  <a:lnTo>
                    <a:pt x="1040288" y="507142"/>
                  </a:lnTo>
                  <a:lnTo>
                    <a:pt x="1059314" y="478924"/>
                  </a:lnTo>
                  <a:lnTo>
                    <a:pt x="1066291" y="444373"/>
                  </a:lnTo>
                  <a:lnTo>
                    <a:pt x="1066291" y="88900"/>
                  </a:lnTo>
                  <a:lnTo>
                    <a:pt x="1059314" y="54274"/>
                  </a:lnTo>
                  <a:lnTo>
                    <a:pt x="1040288" y="26019"/>
                  </a:lnTo>
                  <a:lnTo>
                    <a:pt x="1012070" y="6979"/>
                  </a:lnTo>
                  <a:lnTo>
                    <a:pt x="977518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52673" y="2710052"/>
              <a:ext cx="1066800" cy="762000"/>
            </a:xfrm>
            <a:custGeom>
              <a:avLst/>
              <a:gdLst/>
              <a:ahLst/>
              <a:cxnLst/>
              <a:rect l="l" t="t" r="r" b="b"/>
              <a:pathLst>
                <a:path w="1066800" h="7620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977518" y="0"/>
                  </a:lnTo>
                  <a:lnTo>
                    <a:pt x="1012070" y="6979"/>
                  </a:lnTo>
                  <a:lnTo>
                    <a:pt x="1040288" y="26019"/>
                  </a:lnTo>
                  <a:lnTo>
                    <a:pt x="1059314" y="54274"/>
                  </a:lnTo>
                  <a:lnTo>
                    <a:pt x="1066291" y="88900"/>
                  </a:lnTo>
                  <a:lnTo>
                    <a:pt x="1066291" y="444373"/>
                  </a:lnTo>
                  <a:lnTo>
                    <a:pt x="1059314" y="478924"/>
                  </a:lnTo>
                  <a:lnTo>
                    <a:pt x="1040288" y="507142"/>
                  </a:lnTo>
                  <a:lnTo>
                    <a:pt x="1012070" y="526168"/>
                  </a:lnTo>
                  <a:lnTo>
                    <a:pt x="977518" y="533146"/>
                  </a:lnTo>
                  <a:lnTo>
                    <a:pt x="88900" y="533146"/>
                  </a:lnTo>
                  <a:lnTo>
                    <a:pt x="54274" y="526168"/>
                  </a:lnTo>
                  <a:lnTo>
                    <a:pt x="26019" y="507142"/>
                  </a:lnTo>
                  <a:lnTo>
                    <a:pt x="6979" y="478924"/>
                  </a:lnTo>
                  <a:lnTo>
                    <a:pt x="0" y="444373"/>
                  </a:lnTo>
                  <a:lnTo>
                    <a:pt x="0" y="88900"/>
                  </a:lnTo>
                  <a:close/>
                </a:path>
                <a:path w="1066800" h="762000">
                  <a:moveTo>
                    <a:pt x="533526" y="533146"/>
                  </a:moveTo>
                  <a:lnTo>
                    <a:pt x="533526" y="761746"/>
                  </a:lnTo>
                </a:path>
                <a:path w="1066800" h="762000">
                  <a:moveTo>
                    <a:pt x="62991" y="761746"/>
                  </a:moveTo>
                  <a:lnTo>
                    <a:pt x="1042924" y="76174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34992" y="4012920"/>
              <a:ext cx="1066800" cy="533400"/>
            </a:xfrm>
            <a:custGeom>
              <a:avLst/>
              <a:gdLst/>
              <a:ahLst/>
              <a:cxnLst/>
              <a:rect l="l" t="t" r="r" b="b"/>
              <a:pathLst>
                <a:path w="1066800" h="533400">
                  <a:moveTo>
                    <a:pt x="977519" y="0"/>
                  </a:moveTo>
                  <a:lnTo>
                    <a:pt x="88900" y="0"/>
                  </a:lnTo>
                  <a:lnTo>
                    <a:pt x="54274" y="6983"/>
                  </a:lnTo>
                  <a:lnTo>
                    <a:pt x="26019" y="26028"/>
                  </a:lnTo>
                  <a:lnTo>
                    <a:pt x="6979" y="54274"/>
                  </a:lnTo>
                  <a:lnTo>
                    <a:pt x="0" y="88861"/>
                  </a:lnTo>
                  <a:lnTo>
                    <a:pt x="0" y="444296"/>
                  </a:lnTo>
                  <a:lnTo>
                    <a:pt x="6979" y="478884"/>
                  </a:lnTo>
                  <a:lnTo>
                    <a:pt x="26019" y="507130"/>
                  </a:lnTo>
                  <a:lnTo>
                    <a:pt x="54274" y="526174"/>
                  </a:lnTo>
                  <a:lnTo>
                    <a:pt x="88900" y="533158"/>
                  </a:lnTo>
                  <a:lnTo>
                    <a:pt x="977519" y="533158"/>
                  </a:lnTo>
                  <a:lnTo>
                    <a:pt x="1012070" y="526174"/>
                  </a:lnTo>
                  <a:lnTo>
                    <a:pt x="1040288" y="507130"/>
                  </a:lnTo>
                  <a:lnTo>
                    <a:pt x="1059314" y="478884"/>
                  </a:lnTo>
                  <a:lnTo>
                    <a:pt x="1066292" y="444296"/>
                  </a:lnTo>
                  <a:lnTo>
                    <a:pt x="1066292" y="88861"/>
                  </a:lnTo>
                  <a:lnTo>
                    <a:pt x="1059314" y="54274"/>
                  </a:lnTo>
                  <a:lnTo>
                    <a:pt x="1040288" y="26028"/>
                  </a:lnTo>
                  <a:lnTo>
                    <a:pt x="1012070" y="6983"/>
                  </a:lnTo>
                  <a:lnTo>
                    <a:pt x="97751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34992" y="4012920"/>
              <a:ext cx="1066800" cy="762000"/>
            </a:xfrm>
            <a:custGeom>
              <a:avLst/>
              <a:gdLst/>
              <a:ahLst/>
              <a:cxnLst/>
              <a:rect l="l" t="t" r="r" b="b"/>
              <a:pathLst>
                <a:path w="1066800" h="762000">
                  <a:moveTo>
                    <a:pt x="0" y="88861"/>
                  </a:moveTo>
                  <a:lnTo>
                    <a:pt x="6979" y="54274"/>
                  </a:lnTo>
                  <a:lnTo>
                    <a:pt x="26019" y="26028"/>
                  </a:lnTo>
                  <a:lnTo>
                    <a:pt x="54274" y="6983"/>
                  </a:lnTo>
                  <a:lnTo>
                    <a:pt x="88900" y="0"/>
                  </a:lnTo>
                  <a:lnTo>
                    <a:pt x="977519" y="0"/>
                  </a:lnTo>
                  <a:lnTo>
                    <a:pt x="1012070" y="6983"/>
                  </a:lnTo>
                  <a:lnTo>
                    <a:pt x="1040288" y="26028"/>
                  </a:lnTo>
                  <a:lnTo>
                    <a:pt x="1059314" y="54274"/>
                  </a:lnTo>
                  <a:lnTo>
                    <a:pt x="1066292" y="88861"/>
                  </a:lnTo>
                  <a:lnTo>
                    <a:pt x="1066292" y="444296"/>
                  </a:lnTo>
                  <a:lnTo>
                    <a:pt x="1059314" y="478884"/>
                  </a:lnTo>
                  <a:lnTo>
                    <a:pt x="1040288" y="507130"/>
                  </a:lnTo>
                  <a:lnTo>
                    <a:pt x="1012070" y="526174"/>
                  </a:lnTo>
                  <a:lnTo>
                    <a:pt x="977519" y="533158"/>
                  </a:lnTo>
                  <a:lnTo>
                    <a:pt x="88900" y="533158"/>
                  </a:lnTo>
                  <a:lnTo>
                    <a:pt x="54274" y="526174"/>
                  </a:lnTo>
                  <a:lnTo>
                    <a:pt x="26019" y="507130"/>
                  </a:lnTo>
                  <a:lnTo>
                    <a:pt x="6979" y="478884"/>
                  </a:lnTo>
                  <a:lnTo>
                    <a:pt x="0" y="444296"/>
                  </a:lnTo>
                  <a:lnTo>
                    <a:pt x="0" y="88861"/>
                  </a:lnTo>
                  <a:close/>
                </a:path>
                <a:path w="1066800" h="762000">
                  <a:moveTo>
                    <a:pt x="533146" y="533158"/>
                  </a:moveTo>
                  <a:lnTo>
                    <a:pt x="533146" y="761758"/>
                  </a:lnTo>
                </a:path>
                <a:path w="1066800" h="762000">
                  <a:moveTo>
                    <a:pt x="62992" y="761758"/>
                  </a:moveTo>
                  <a:lnTo>
                    <a:pt x="1042924" y="76175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19146" y="2976879"/>
              <a:ext cx="3413125" cy="1303020"/>
            </a:xfrm>
            <a:custGeom>
              <a:avLst/>
              <a:gdLst/>
              <a:ahLst/>
              <a:cxnLst/>
              <a:rect l="l" t="t" r="r" b="b"/>
              <a:pathLst>
                <a:path w="3413125" h="1303020">
                  <a:moveTo>
                    <a:pt x="0" y="1150162"/>
                  </a:moveTo>
                  <a:lnTo>
                    <a:pt x="3413125" y="387984"/>
                  </a:lnTo>
                </a:path>
                <a:path w="3413125" h="1303020">
                  <a:moveTo>
                    <a:pt x="0" y="1150162"/>
                  </a:moveTo>
                  <a:lnTo>
                    <a:pt x="1815845" y="1302435"/>
                  </a:lnTo>
                </a:path>
                <a:path w="3413125" h="1303020">
                  <a:moveTo>
                    <a:pt x="2882519" y="1302435"/>
                  </a:moveTo>
                  <a:lnTo>
                    <a:pt x="3413125" y="387984"/>
                  </a:lnTo>
                </a:path>
                <a:path w="3413125" h="1303020">
                  <a:moveTo>
                    <a:pt x="1600200" y="0"/>
                  </a:moveTo>
                  <a:lnTo>
                    <a:pt x="3413125" y="387984"/>
                  </a:lnTo>
                </a:path>
              </a:pathLst>
            </a:custGeom>
            <a:ln w="284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89532"/>
            <a:ext cx="4111625" cy="290576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2400" b="1" spc="-10" dirty="0">
                <a:latin typeface="Times New Roman"/>
                <a:cs typeface="Times New Roman"/>
              </a:rPr>
              <a:t>Advantages</a:t>
            </a:r>
            <a:endParaRPr sz="2400">
              <a:latin typeface="Times New Roman"/>
              <a:cs typeface="Times New Roman"/>
            </a:endParaRPr>
          </a:p>
          <a:p>
            <a:pPr marL="353060" marR="5715" indent="-340360" algn="just">
              <a:lnSpc>
                <a:spcPts val="2820"/>
              </a:lnSpc>
              <a:spcBef>
                <a:spcPts val="92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Less</a:t>
            </a:r>
            <a:r>
              <a:rPr sz="2400" spc="2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costly</a:t>
            </a:r>
            <a:r>
              <a:rPr sz="2400" spc="2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2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2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50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no 	</a:t>
            </a:r>
            <a:r>
              <a:rPr sz="2400" dirty="0">
                <a:latin typeface="Times New Roman"/>
                <a:cs typeface="Times New Roman"/>
              </a:rPr>
              <a:t>central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server</a:t>
            </a:r>
            <a:endParaRPr sz="2400">
              <a:latin typeface="Times New Roman"/>
              <a:cs typeface="Times New Roman"/>
            </a:endParaRPr>
          </a:p>
          <a:p>
            <a:pPr marL="353060" marR="5080" indent="-340360" algn="just">
              <a:lnSpc>
                <a:spcPct val="99000"/>
              </a:lnSpc>
              <a:spcBef>
                <a:spcPts val="51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case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node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failure,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other 	</a:t>
            </a:r>
            <a:r>
              <a:rPr sz="2400" dirty="0">
                <a:latin typeface="Times New Roman"/>
                <a:cs typeface="Times New Roman"/>
              </a:rPr>
              <a:t>nodes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4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4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not 	</a:t>
            </a:r>
            <a:r>
              <a:rPr sz="2400" spc="-10" dirty="0">
                <a:latin typeface="Times New Roman"/>
                <a:cs typeface="Times New Roman"/>
              </a:rPr>
              <a:t>affected</a:t>
            </a:r>
            <a:endParaRPr sz="2400">
              <a:latin typeface="Times New Roman"/>
              <a:cs typeface="Times New Roman"/>
            </a:endParaRPr>
          </a:p>
          <a:p>
            <a:pPr marL="353060" indent="-340360" algn="just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dirty="0">
                <a:latin typeface="Times New Roman"/>
                <a:cs typeface="Times New Roman"/>
              </a:rPr>
              <a:t>Installation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quite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easy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24527" y="1089532"/>
            <a:ext cx="4113529" cy="1751964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2400" b="1" spc="-10" dirty="0">
                <a:latin typeface="Times New Roman"/>
                <a:cs typeface="Times New Roman"/>
              </a:rPr>
              <a:t>Disadvantages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820"/>
              </a:lnSpc>
              <a:spcBef>
                <a:spcPts val="92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computer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take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backup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own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354965" algn="l"/>
                <a:tab pos="1545590" algn="l"/>
                <a:tab pos="2853055" algn="l"/>
                <a:tab pos="3399154" algn="l"/>
                <a:tab pos="3812540" algn="l"/>
              </a:tabLst>
            </a:pPr>
            <a:r>
              <a:rPr sz="2400" spc="-10" dirty="0">
                <a:latin typeface="Times New Roman"/>
                <a:cs typeface="Times New Roman"/>
              </a:rPr>
              <a:t>Security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measures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be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0821" y="2815589"/>
            <a:ext cx="736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nodes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24527" y="2815589"/>
            <a:ext cx="3053715" cy="117983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55600" marR="5080">
              <a:lnSpc>
                <a:spcPts val="2820"/>
              </a:lnSpc>
              <a:spcBef>
                <a:spcPts val="240"/>
              </a:spcBef>
              <a:tabLst>
                <a:tab pos="1364615" algn="l"/>
                <a:tab pos="2016760" algn="l"/>
                <a:tab pos="2668905" algn="l"/>
              </a:tabLst>
            </a:pPr>
            <a:r>
              <a:rPr sz="2400" spc="-10" dirty="0">
                <a:latin typeface="Times New Roman"/>
                <a:cs typeface="Times New Roman"/>
              </a:rPr>
              <a:t>taken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by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all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independently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2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Scalability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issue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P2P</a:t>
            </a:r>
            <a:r>
              <a:rPr spc="-150" dirty="0"/>
              <a:t> </a:t>
            </a:r>
            <a:r>
              <a:rPr spc="-10" dirty="0"/>
              <a:t>architecture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Client-Server</a:t>
            </a:r>
            <a:r>
              <a:rPr spc="-5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287" rIns="0" bIns="0" rtlCol="0">
            <a:spAutoFit/>
          </a:bodyPr>
          <a:lstStyle/>
          <a:p>
            <a:pPr marL="355600" marR="5080" indent="-342900">
              <a:lnSpc>
                <a:spcPts val="2820"/>
              </a:lnSpc>
              <a:spcBef>
                <a:spcPts val="240"/>
              </a:spcBef>
              <a:buFont typeface="Arial MT"/>
              <a:buChar char="•"/>
              <a:tabLst>
                <a:tab pos="355600" algn="l"/>
                <a:tab pos="3952240" algn="l"/>
                <a:tab pos="5810250" algn="l"/>
                <a:tab pos="7927975" algn="l"/>
              </a:tabLst>
            </a:pPr>
            <a:r>
              <a:rPr dirty="0"/>
              <a:t>All</a:t>
            </a:r>
            <a:r>
              <a:rPr spc="380" dirty="0"/>
              <a:t> </a:t>
            </a:r>
            <a:r>
              <a:rPr dirty="0"/>
              <a:t>the</a:t>
            </a:r>
            <a:r>
              <a:rPr spc="385" dirty="0"/>
              <a:t> </a:t>
            </a:r>
            <a:r>
              <a:rPr dirty="0"/>
              <a:t>nodes</a:t>
            </a:r>
            <a:r>
              <a:rPr spc="375" dirty="0"/>
              <a:t> </a:t>
            </a:r>
            <a:r>
              <a:rPr dirty="0"/>
              <a:t>in</a:t>
            </a:r>
            <a:r>
              <a:rPr spc="370" dirty="0"/>
              <a:t> </a:t>
            </a:r>
            <a:r>
              <a:rPr dirty="0"/>
              <a:t>a</a:t>
            </a:r>
            <a:r>
              <a:rPr spc="390" dirty="0"/>
              <a:t> </a:t>
            </a:r>
            <a:r>
              <a:rPr spc="-10" dirty="0"/>
              <a:t>network</a:t>
            </a:r>
            <a:r>
              <a:rPr dirty="0"/>
              <a:t>	are</a:t>
            </a:r>
            <a:r>
              <a:rPr spc="380" dirty="0"/>
              <a:t> </a:t>
            </a:r>
            <a:r>
              <a:rPr spc="-10" dirty="0"/>
              <a:t>connected</a:t>
            </a:r>
            <a:r>
              <a:rPr dirty="0"/>
              <a:t>	with</a:t>
            </a:r>
            <a:r>
              <a:rPr spc="360" dirty="0"/>
              <a:t> </a:t>
            </a:r>
            <a:r>
              <a:rPr dirty="0"/>
              <a:t>the</a:t>
            </a:r>
            <a:r>
              <a:rPr spc="380" dirty="0"/>
              <a:t> </a:t>
            </a:r>
            <a:r>
              <a:rPr spc="-10" dirty="0"/>
              <a:t>central</a:t>
            </a:r>
            <a:r>
              <a:rPr dirty="0"/>
              <a:t>	</a:t>
            </a:r>
            <a:r>
              <a:rPr spc="-20" dirty="0"/>
              <a:t>node </a:t>
            </a:r>
            <a:r>
              <a:rPr dirty="0"/>
              <a:t>(known</a:t>
            </a:r>
            <a:r>
              <a:rPr spc="-20" dirty="0"/>
              <a:t> </a:t>
            </a:r>
            <a:r>
              <a:rPr dirty="0"/>
              <a:t>as</a:t>
            </a:r>
            <a:r>
              <a:rPr spc="-15" dirty="0"/>
              <a:t> </a:t>
            </a:r>
            <a:r>
              <a:rPr spc="-10" dirty="0"/>
              <a:t>master/server)</a:t>
            </a:r>
          </a:p>
          <a:p>
            <a:pPr marL="355600" marR="6350" indent="-342900">
              <a:lnSpc>
                <a:spcPts val="2820"/>
              </a:lnSpc>
              <a:spcBef>
                <a:spcPts val="63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The</a:t>
            </a:r>
            <a:r>
              <a:rPr spc="114" dirty="0"/>
              <a:t> </a:t>
            </a:r>
            <a:r>
              <a:rPr dirty="0"/>
              <a:t>master</a:t>
            </a:r>
            <a:r>
              <a:rPr spc="105" dirty="0"/>
              <a:t> </a:t>
            </a:r>
            <a:r>
              <a:rPr dirty="0"/>
              <a:t>node</a:t>
            </a:r>
            <a:r>
              <a:rPr spc="110" dirty="0"/>
              <a:t> </a:t>
            </a:r>
            <a:r>
              <a:rPr dirty="0"/>
              <a:t>receive</a:t>
            </a:r>
            <a:r>
              <a:rPr spc="120" dirty="0"/>
              <a:t> </a:t>
            </a:r>
            <a:r>
              <a:rPr dirty="0"/>
              <a:t>request</a:t>
            </a:r>
            <a:r>
              <a:rPr spc="110" dirty="0"/>
              <a:t> </a:t>
            </a:r>
            <a:r>
              <a:rPr dirty="0"/>
              <a:t>from</a:t>
            </a:r>
            <a:r>
              <a:rPr spc="95" dirty="0"/>
              <a:t> </a:t>
            </a:r>
            <a:r>
              <a:rPr dirty="0"/>
              <a:t>all</a:t>
            </a:r>
            <a:r>
              <a:rPr spc="110" dirty="0"/>
              <a:t> </a:t>
            </a:r>
            <a:r>
              <a:rPr dirty="0"/>
              <a:t>the</a:t>
            </a:r>
            <a:r>
              <a:rPr spc="120" dirty="0"/>
              <a:t> </a:t>
            </a:r>
            <a:r>
              <a:rPr dirty="0"/>
              <a:t>other</a:t>
            </a:r>
            <a:r>
              <a:rPr spc="114" dirty="0"/>
              <a:t> </a:t>
            </a:r>
            <a:r>
              <a:rPr dirty="0"/>
              <a:t>nodes</a:t>
            </a:r>
            <a:r>
              <a:rPr spc="114" dirty="0"/>
              <a:t> </a:t>
            </a:r>
            <a:r>
              <a:rPr spc="-10" dirty="0"/>
              <a:t>(clients)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respond</a:t>
            </a:r>
            <a:r>
              <a:rPr spc="-30" dirty="0"/>
              <a:t> </a:t>
            </a:r>
            <a:r>
              <a:rPr dirty="0"/>
              <a:t>their</a:t>
            </a:r>
            <a:r>
              <a:rPr spc="-45" dirty="0"/>
              <a:t> </a:t>
            </a:r>
            <a:r>
              <a:rPr spc="-10" dirty="0"/>
              <a:t>request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2031364" y="2761107"/>
            <a:ext cx="5982335" cy="2063750"/>
            <a:chOff x="2031364" y="2761107"/>
            <a:chExt cx="5982335" cy="2063750"/>
          </a:xfrm>
        </p:grpSpPr>
        <p:sp>
          <p:nvSpPr>
            <p:cNvPr id="10" name="object 10"/>
            <p:cNvSpPr/>
            <p:nvPr/>
          </p:nvSpPr>
          <p:spPr>
            <a:xfrm>
              <a:off x="4674235" y="3307334"/>
              <a:ext cx="1066800" cy="533400"/>
            </a:xfrm>
            <a:custGeom>
              <a:avLst/>
              <a:gdLst/>
              <a:ahLst/>
              <a:cxnLst/>
              <a:rect l="l" t="t" r="r" b="b"/>
              <a:pathLst>
                <a:path w="1066800" h="533400">
                  <a:moveTo>
                    <a:pt x="977518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444246"/>
                  </a:lnTo>
                  <a:lnTo>
                    <a:pt x="6979" y="478871"/>
                  </a:lnTo>
                  <a:lnTo>
                    <a:pt x="26019" y="507126"/>
                  </a:lnTo>
                  <a:lnTo>
                    <a:pt x="54274" y="526166"/>
                  </a:lnTo>
                  <a:lnTo>
                    <a:pt x="88900" y="533146"/>
                  </a:lnTo>
                  <a:lnTo>
                    <a:pt x="977518" y="533146"/>
                  </a:lnTo>
                  <a:lnTo>
                    <a:pt x="1012070" y="526166"/>
                  </a:lnTo>
                  <a:lnTo>
                    <a:pt x="1040288" y="507126"/>
                  </a:lnTo>
                  <a:lnTo>
                    <a:pt x="1059314" y="478871"/>
                  </a:lnTo>
                  <a:lnTo>
                    <a:pt x="1066291" y="444246"/>
                  </a:lnTo>
                  <a:lnTo>
                    <a:pt x="1066291" y="88900"/>
                  </a:lnTo>
                  <a:lnTo>
                    <a:pt x="1059314" y="54274"/>
                  </a:lnTo>
                  <a:lnTo>
                    <a:pt x="1040288" y="26019"/>
                  </a:lnTo>
                  <a:lnTo>
                    <a:pt x="1012070" y="6979"/>
                  </a:lnTo>
                  <a:lnTo>
                    <a:pt x="977518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74235" y="3307334"/>
              <a:ext cx="1066800" cy="762000"/>
            </a:xfrm>
            <a:custGeom>
              <a:avLst/>
              <a:gdLst/>
              <a:ahLst/>
              <a:cxnLst/>
              <a:rect l="l" t="t" r="r" b="b"/>
              <a:pathLst>
                <a:path w="1066800" h="7620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977518" y="0"/>
                  </a:lnTo>
                  <a:lnTo>
                    <a:pt x="1012070" y="6979"/>
                  </a:lnTo>
                  <a:lnTo>
                    <a:pt x="1040288" y="26019"/>
                  </a:lnTo>
                  <a:lnTo>
                    <a:pt x="1059314" y="54274"/>
                  </a:lnTo>
                  <a:lnTo>
                    <a:pt x="1066291" y="88900"/>
                  </a:lnTo>
                  <a:lnTo>
                    <a:pt x="1066291" y="444246"/>
                  </a:lnTo>
                  <a:lnTo>
                    <a:pt x="1059314" y="478871"/>
                  </a:lnTo>
                  <a:lnTo>
                    <a:pt x="1040288" y="507126"/>
                  </a:lnTo>
                  <a:lnTo>
                    <a:pt x="1012070" y="526166"/>
                  </a:lnTo>
                  <a:lnTo>
                    <a:pt x="977518" y="533146"/>
                  </a:lnTo>
                  <a:lnTo>
                    <a:pt x="88900" y="533146"/>
                  </a:lnTo>
                  <a:lnTo>
                    <a:pt x="54274" y="526166"/>
                  </a:lnTo>
                  <a:lnTo>
                    <a:pt x="26019" y="507126"/>
                  </a:lnTo>
                  <a:lnTo>
                    <a:pt x="6979" y="478871"/>
                  </a:lnTo>
                  <a:lnTo>
                    <a:pt x="0" y="444246"/>
                  </a:lnTo>
                  <a:lnTo>
                    <a:pt x="0" y="88900"/>
                  </a:lnTo>
                  <a:close/>
                </a:path>
                <a:path w="1066800" h="762000">
                  <a:moveTo>
                    <a:pt x="533145" y="533146"/>
                  </a:moveTo>
                  <a:lnTo>
                    <a:pt x="533145" y="761746"/>
                  </a:lnTo>
                </a:path>
                <a:path w="1066800" h="762000">
                  <a:moveTo>
                    <a:pt x="62991" y="761746"/>
                  </a:moveTo>
                  <a:lnTo>
                    <a:pt x="1042924" y="76174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34326" y="3637407"/>
              <a:ext cx="1066800" cy="533400"/>
            </a:xfrm>
            <a:custGeom>
              <a:avLst/>
              <a:gdLst/>
              <a:ahLst/>
              <a:cxnLst/>
              <a:rect l="l" t="t" r="r" b="b"/>
              <a:pathLst>
                <a:path w="1066800" h="533400">
                  <a:moveTo>
                    <a:pt x="977392" y="0"/>
                  </a:moveTo>
                  <a:lnTo>
                    <a:pt x="88900" y="0"/>
                  </a:lnTo>
                  <a:lnTo>
                    <a:pt x="54274" y="6996"/>
                  </a:lnTo>
                  <a:lnTo>
                    <a:pt x="26019" y="26066"/>
                  </a:lnTo>
                  <a:lnTo>
                    <a:pt x="6979" y="54328"/>
                  </a:lnTo>
                  <a:lnTo>
                    <a:pt x="0" y="88900"/>
                  </a:lnTo>
                  <a:lnTo>
                    <a:pt x="0" y="444334"/>
                  </a:lnTo>
                  <a:lnTo>
                    <a:pt x="6979" y="478922"/>
                  </a:lnTo>
                  <a:lnTo>
                    <a:pt x="26019" y="507168"/>
                  </a:lnTo>
                  <a:lnTo>
                    <a:pt x="54274" y="526212"/>
                  </a:lnTo>
                  <a:lnTo>
                    <a:pt x="88900" y="533196"/>
                  </a:lnTo>
                  <a:lnTo>
                    <a:pt x="977392" y="533196"/>
                  </a:lnTo>
                  <a:lnTo>
                    <a:pt x="1012017" y="526212"/>
                  </a:lnTo>
                  <a:lnTo>
                    <a:pt x="1040272" y="507168"/>
                  </a:lnTo>
                  <a:lnTo>
                    <a:pt x="1059312" y="478922"/>
                  </a:lnTo>
                  <a:lnTo>
                    <a:pt x="1066292" y="444334"/>
                  </a:lnTo>
                  <a:lnTo>
                    <a:pt x="1066292" y="88900"/>
                  </a:lnTo>
                  <a:lnTo>
                    <a:pt x="1059312" y="54328"/>
                  </a:lnTo>
                  <a:lnTo>
                    <a:pt x="1040272" y="26066"/>
                  </a:lnTo>
                  <a:lnTo>
                    <a:pt x="1012017" y="6996"/>
                  </a:lnTo>
                  <a:lnTo>
                    <a:pt x="977392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34326" y="3637407"/>
              <a:ext cx="1066800" cy="762635"/>
            </a:xfrm>
            <a:custGeom>
              <a:avLst/>
              <a:gdLst/>
              <a:ahLst/>
              <a:cxnLst/>
              <a:rect l="l" t="t" r="r" b="b"/>
              <a:pathLst>
                <a:path w="1066800" h="762635">
                  <a:moveTo>
                    <a:pt x="0" y="88900"/>
                  </a:moveTo>
                  <a:lnTo>
                    <a:pt x="6979" y="54328"/>
                  </a:lnTo>
                  <a:lnTo>
                    <a:pt x="26019" y="26066"/>
                  </a:lnTo>
                  <a:lnTo>
                    <a:pt x="54274" y="6996"/>
                  </a:lnTo>
                  <a:lnTo>
                    <a:pt x="88900" y="0"/>
                  </a:lnTo>
                  <a:lnTo>
                    <a:pt x="977392" y="0"/>
                  </a:lnTo>
                  <a:lnTo>
                    <a:pt x="1012017" y="6996"/>
                  </a:lnTo>
                  <a:lnTo>
                    <a:pt x="1040272" y="26066"/>
                  </a:lnTo>
                  <a:lnTo>
                    <a:pt x="1059312" y="54328"/>
                  </a:lnTo>
                  <a:lnTo>
                    <a:pt x="1066292" y="88900"/>
                  </a:lnTo>
                  <a:lnTo>
                    <a:pt x="1066292" y="444334"/>
                  </a:lnTo>
                  <a:lnTo>
                    <a:pt x="1059312" y="478922"/>
                  </a:lnTo>
                  <a:lnTo>
                    <a:pt x="1040272" y="507168"/>
                  </a:lnTo>
                  <a:lnTo>
                    <a:pt x="1012017" y="526212"/>
                  </a:lnTo>
                  <a:lnTo>
                    <a:pt x="977392" y="533196"/>
                  </a:lnTo>
                  <a:lnTo>
                    <a:pt x="88900" y="533196"/>
                  </a:lnTo>
                  <a:lnTo>
                    <a:pt x="54274" y="526212"/>
                  </a:lnTo>
                  <a:lnTo>
                    <a:pt x="26019" y="507168"/>
                  </a:lnTo>
                  <a:lnTo>
                    <a:pt x="6979" y="478922"/>
                  </a:lnTo>
                  <a:lnTo>
                    <a:pt x="0" y="444334"/>
                  </a:lnTo>
                  <a:lnTo>
                    <a:pt x="0" y="88900"/>
                  </a:lnTo>
                  <a:close/>
                </a:path>
                <a:path w="1066800" h="762635">
                  <a:moveTo>
                    <a:pt x="533146" y="533552"/>
                  </a:moveTo>
                  <a:lnTo>
                    <a:pt x="533146" y="762152"/>
                  </a:lnTo>
                </a:path>
                <a:path w="1066800" h="762635">
                  <a:moveTo>
                    <a:pt x="62611" y="762152"/>
                  </a:moveTo>
                  <a:lnTo>
                    <a:pt x="1042924" y="762152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38957" y="2773807"/>
              <a:ext cx="1066800" cy="533400"/>
            </a:xfrm>
            <a:custGeom>
              <a:avLst/>
              <a:gdLst/>
              <a:ahLst/>
              <a:cxnLst/>
              <a:rect l="l" t="t" r="r" b="b"/>
              <a:pathLst>
                <a:path w="1066800" h="533400">
                  <a:moveTo>
                    <a:pt x="977519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444245"/>
                  </a:lnTo>
                  <a:lnTo>
                    <a:pt x="6979" y="478871"/>
                  </a:lnTo>
                  <a:lnTo>
                    <a:pt x="26019" y="507126"/>
                  </a:lnTo>
                  <a:lnTo>
                    <a:pt x="54274" y="526166"/>
                  </a:lnTo>
                  <a:lnTo>
                    <a:pt x="88900" y="533145"/>
                  </a:lnTo>
                  <a:lnTo>
                    <a:pt x="977519" y="533145"/>
                  </a:lnTo>
                  <a:lnTo>
                    <a:pt x="1012070" y="526166"/>
                  </a:lnTo>
                  <a:lnTo>
                    <a:pt x="1040288" y="507126"/>
                  </a:lnTo>
                  <a:lnTo>
                    <a:pt x="1059314" y="478871"/>
                  </a:lnTo>
                  <a:lnTo>
                    <a:pt x="1066292" y="444245"/>
                  </a:lnTo>
                  <a:lnTo>
                    <a:pt x="1066292" y="88900"/>
                  </a:lnTo>
                  <a:lnTo>
                    <a:pt x="1059314" y="54274"/>
                  </a:lnTo>
                  <a:lnTo>
                    <a:pt x="1040288" y="26019"/>
                  </a:lnTo>
                  <a:lnTo>
                    <a:pt x="1012070" y="6979"/>
                  </a:lnTo>
                  <a:lnTo>
                    <a:pt x="97751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38957" y="2773807"/>
              <a:ext cx="1066800" cy="762000"/>
            </a:xfrm>
            <a:custGeom>
              <a:avLst/>
              <a:gdLst/>
              <a:ahLst/>
              <a:cxnLst/>
              <a:rect l="l" t="t" r="r" b="b"/>
              <a:pathLst>
                <a:path w="1066800" h="7620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977519" y="0"/>
                  </a:lnTo>
                  <a:lnTo>
                    <a:pt x="1012070" y="6979"/>
                  </a:lnTo>
                  <a:lnTo>
                    <a:pt x="1040288" y="26019"/>
                  </a:lnTo>
                  <a:lnTo>
                    <a:pt x="1059314" y="54274"/>
                  </a:lnTo>
                  <a:lnTo>
                    <a:pt x="1066292" y="88900"/>
                  </a:lnTo>
                  <a:lnTo>
                    <a:pt x="1066292" y="444245"/>
                  </a:lnTo>
                  <a:lnTo>
                    <a:pt x="1059314" y="478871"/>
                  </a:lnTo>
                  <a:lnTo>
                    <a:pt x="1040288" y="507126"/>
                  </a:lnTo>
                  <a:lnTo>
                    <a:pt x="1012070" y="526166"/>
                  </a:lnTo>
                  <a:lnTo>
                    <a:pt x="977519" y="533145"/>
                  </a:lnTo>
                  <a:lnTo>
                    <a:pt x="88900" y="533145"/>
                  </a:lnTo>
                  <a:lnTo>
                    <a:pt x="54274" y="526166"/>
                  </a:lnTo>
                  <a:lnTo>
                    <a:pt x="26019" y="507126"/>
                  </a:lnTo>
                  <a:lnTo>
                    <a:pt x="6979" y="478871"/>
                  </a:lnTo>
                  <a:lnTo>
                    <a:pt x="0" y="444245"/>
                  </a:lnTo>
                  <a:lnTo>
                    <a:pt x="0" y="88900"/>
                  </a:lnTo>
                  <a:close/>
                </a:path>
                <a:path w="1066800" h="762000">
                  <a:moveTo>
                    <a:pt x="533145" y="533145"/>
                  </a:moveTo>
                  <a:lnTo>
                    <a:pt x="533145" y="761746"/>
                  </a:lnTo>
                </a:path>
                <a:path w="1066800" h="762000">
                  <a:moveTo>
                    <a:pt x="62992" y="761746"/>
                  </a:moveTo>
                  <a:lnTo>
                    <a:pt x="1042924" y="76174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44064" y="4050004"/>
              <a:ext cx="1066800" cy="533400"/>
            </a:xfrm>
            <a:custGeom>
              <a:avLst/>
              <a:gdLst/>
              <a:ahLst/>
              <a:cxnLst/>
              <a:rect l="l" t="t" r="r" b="b"/>
              <a:pathLst>
                <a:path w="1066800" h="533400">
                  <a:moveTo>
                    <a:pt x="977519" y="0"/>
                  </a:moveTo>
                  <a:lnTo>
                    <a:pt x="88900" y="0"/>
                  </a:lnTo>
                  <a:lnTo>
                    <a:pt x="54274" y="6982"/>
                  </a:lnTo>
                  <a:lnTo>
                    <a:pt x="26019" y="26023"/>
                  </a:lnTo>
                  <a:lnTo>
                    <a:pt x="6979" y="54269"/>
                  </a:lnTo>
                  <a:lnTo>
                    <a:pt x="0" y="88861"/>
                  </a:lnTo>
                  <a:lnTo>
                    <a:pt x="0" y="444296"/>
                  </a:lnTo>
                  <a:lnTo>
                    <a:pt x="6979" y="478884"/>
                  </a:lnTo>
                  <a:lnTo>
                    <a:pt x="26019" y="507130"/>
                  </a:lnTo>
                  <a:lnTo>
                    <a:pt x="54274" y="526174"/>
                  </a:lnTo>
                  <a:lnTo>
                    <a:pt x="88900" y="533158"/>
                  </a:lnTo>
                  <a:lnTo>
                    <a:pt x="977519" y="533158"/>
                  </a:lnTo>
                  <a:lnTo>
                    <a:pt x="1012070" y="526174"/>
                  </a:lnTo>
                  <a:lnTo>
                    <a:pt x="1040288" y="507130"/>
                  </a:lnTo>
                  <a:lnTo>
                    <a:pt x="1059314" y="478884"/>
                  </a:lnTo>
                  <a:lnTo>
                    <a:pt x="1066292" y="444296"/>
                  </a:lnTo>
                  <a:lnTo>
                    <a:pt x="1066292" y="88861"/>
                  </a:lnTo>
                  <a:lnTo>
                    <a:pt x="1059314" y="54269"/>
                  </a:lnTo>
                  <a:lnTo>
                    <a:pt x="1040288" y="26023"/>
                  </a:lnTo>
                  <a:lnTo>
                    <a:pt x="1012070" y="6982"/>
                  </a:lnTo>
                  <a:lnTo>
                    <a:pt x="97751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44064" y="4050004"/>
              <a:ext cx="1066800" cy="762635"/>
            </a:xfrm>
            <a:custGeom>
              <a:avLst/>
              <a:gdLst/>
              <a:ahLst/>
              <a:cxnLst/>
              <a:rect l="l" t="t" r="r" b="b"/>
              <a:pathLst>
                <a:path w="1066800" h="762635">
                  <a:moveTo>
                    <a:pt x="0" y="88861"/>
                  </a:moveTo>
                  <a:lnTo>
                    <a:pt x="6979" y="54269"/>
                  </a:lnTo>
                  <a:lnTo>
                    <a:pt x="26019" y="26023"/>
                  </a:lnTo>
                  <a:lnTo>
                    <a:pt x="54274" y="6982"/>
                  </a:lnTo>
                  <a:lnTo>
                    <a:pt x="88900" y="0"/>
                  </a:lnTo>
                  <a:lnTo>
                    <a:pt x="977519" y="0"/>
                  </a:lnTo>
                  <a:lnTo>
                    <a:pt x="1012070" y="6982"/>
                  </a:lnTo>
                  <a:lnTo>
                    <a:pt x="1040288" y="26023"/>
                  </a:lnTo>
                  <a:lnTo>
                    <a:pt x="1059314" y="54269"/>
                  </a:lnTo>
                  <a:lnTo>
                    <a:pt x="1066292" y="88861"/>
                  </a:lnTo>
                  <a:lnTo>
                    <a:pt x="1066292" y="444296"/>
                  </a:lnTo>
                  <a:lnTo>
                    <a:pt x="1059314" y="478884"/>
                  </a:lnTo>
                  <a:lnTo>
                    <a:pt x="1040288" y="507130"/>
                  </a:lnTo>
                  <a:lnTo>
                    <a:pt x="1012070" y="526174"/>
                  </a:lnTo>
                  <a:lnTo>
                    <a:pt x="977519" y="533158"/>
                  </a:lnTo>
                  <a:lnTo>
                    <a:pt x="88900" y="533158"/>
                  </a:lnTo>
                  <a:lnTo>
                    <a:pt x="54274" y="526174"/>
                  </a:lnTo>
                  <a:lnTo>
                    <a:pt x="26019" y="507130"/>
                  </a:lnTo>
                  <a:lnTo>
                    <a:pt x="6979" y="478884"/>
                  </a:lnTo>
                  <a:lnTo>
                    <a:pt x="0" y="444296"/>
                  </a:lnTo>
                  <a:lnTo>
                    <a:pt x="0" y="88861"/>
                  </a:lnTo>
                  <a:close/>
                </a:path>
                <a:path w="1066800" h="762635">
                  <a:moveTo>
                    <a:pt x="533527" y="533514"/>
                  </a:moveTo>
                  <a:lnTo>
                    <a:pt x="533527" y="762114"/>
                  </a:lnTo>
                </a:path>
                <a:path w="1066800" h="762635">
                  <a:moveTo>
                    <a:pt x="62992" y="762114"/>
                  </a:moveTo>
                  <a:lnTo>
                    <a:pt x="1042924" y="76211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10737" y="3040253"/>
              <a:ext cx="3823335" cy="1276985"/>
            </a:xfrm>
            <a:custGeom>
              <a:avLst/>
              <a:gdLst/>
              <a:ahLst/>
              <a:cxnLst/>
              <a:rect l="l" t="t" r="r" b="b"/>
              <a:pathLst>
                <a:path w="3823334" h="1276985">
                  <a:moveTo>
                    <a:pt x="0" y="1276502"/>
                  </a:moveTo>
                  <a:lnTo>
                    <a:pt x="1563497" y="533527"/>
                  </a:lnTo>
                </a:path>
                <a:path w="3823334" h="1276985">
                  <a:moveTo>
                    <a:pt x="794892" y="0"/>
                  </a:moveTo>
                  <a:lnTo>
                    <a:pt x="1563497" y="533527"/>
                  </a:lnTo>
                </a:path>
                <a:path w="3823334" h="1276985">
                  <a:moveTo>
                    <a:pt x="2630170" y="533527"/>
                  </a:moveTo>
                  <a:lnTo>
                    <a:pt x="3823208" y="863942"/>
                  </a:lnTo>
                </a:path>
              </a:pathLst>
            </a:custGeom>
            <a:ln w="284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188846"/>
            <a:ext cx="1548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Advantages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586865"/>
            <a:ext cx="2588260" cy="694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2635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backup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easy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ts val="2635"/>
              </a:lnSpc>
              <a:buFont typeface="Arial MT"/>
              <a:buChar char="•"/>
              <a:tabLst>
                <a:tab pos="354965" algn="l"/>
                <a:tab pos="2013585" algn="l"/>
              </a:tabLst>
            </a:pPr>
            <a:r>
              <a:rPr sz="2200" spc="-10" dirty="0">
                <a:latin typeface="Times New Roman"/>
                <a:cs typeface="Times New Roman"/>
              </a:rPr>
              <a:t>Performance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is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24657" y="1920697"/>
            <a:ext cx="1694814" cy="628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2375"/>
              </a:lnSpc>
              <a:spcBef>
                <a:spcPts val="95"/>
              </a:spcBef>
              <a:tabLst>
                <a:tab pos="865505" algn="l"/>
                <a:tab pos="1327150" algn="l"/>
              </a:tabLst>
            </a:pPr>
            <a:r>
              <a:rPr sz="2200" spc="-10" dirty="0">
                <a:latin typeface="Times New Roman"/>
                <a:cs typeface="Times New Roman"/>
              </a:rPr>
              <a:t>better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the</a:t>
            </a:r>
            <a:endParaRPr sz="2200">
              <a:latin typeface="Times New Roman"/>
              <a:cs typeface="Times New Roman"/>
            </a:endParaRPr>
          </a:p>
          <a:p>
            <a:pPr marR="6985" algn="r">
              <a:lnSpc>
                <a:spcPts val="2375"/>
              </a:lnSpc>
              <a:tabLst>
                <a:tab pos="621665" algn="l"/>
              </a:tabLst>
            </a:pPr>
            <a:r>
              <a:rPr sz="2200" spc="-2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greatly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0240" y="2189225"/>
            <a:ext cx="1932305" cy="62738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 marR="5080">
              <a:lnSpc>
                <a:spcPct val="79500"/>
              </a:lnSpc>
              <a:spcBef>
                <a:spcPts val="635"/>
              </a:spcBef>
              <a:tabLst>
                <a:tab pos="1425575" algn="l"/>
              </a:tabLst>
            </a:pPr>
            <a:r>
              <a:rPr sz="2200" spc="-10" dirty="0">
                <a:latin typeface="Times New Roman"/>
                <a:cs typeface="Times New Roman"/>
              </a:rPr>
              <a:t>response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time </a:t>
            </a:r>
            <a:r>
              <a:rPr sz="2200" spc="-10" dirty="0">
                <a:latin typeface="Times New Roman"/>
                <a:cs typeface="Times New Roman"/>
              </a:rPr>
              <a:t>improves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340" y="2788157"/>
            <a:ext cx="4112260" cy="1764664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355600" marR="5715" indent="-342900" algn="just">
              <a:lnSpc>
                <a:spcPct val="79600"/>
              </a:lnSpc>
              <a:spcBef>
                <a:spcPts val="63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Security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better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unauthorized </a:t>
            </a:r>
            <a:r>
              <a:rPr sz="2200" dirty="0">
                <a:latin typeface="Times New Roman"/>
                <a:cs typeface="Times New Roman"/>
              </a:rPr>
              <a:t>access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denied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server</a:t>
            </a:r>
            <a:endParaRPr sz="2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79900"/>
              </a:lnSpc>
              <a:spcBef>
                <a:spcPts val="51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Scalability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1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issue</a:t>
            </a:r>
            <a:r>
              <a:rPr sz="2200" spc="1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this </a:t>
            </a:r>
            <a:r>
              <a:rPr sz="2200" dirty="0">
                <a:latin typeface="Times New Roman"/>
                <a:cs typeface="Times New Roman"/>
              </a:rPr>
              <a:t>architecture</a:t>
            </a:r>
            <a:r>
              <a:rPr sz="2200" spc="4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4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large</a:t>
            </a:r>
            <a:r>
              <a:rPr sz="2200" spc="4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number</a:t>
            </a:r>
            <a:r>
              <a:rPr sz="2200" spc="48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of </a:t>
            </a:r>
            <a:r>
              <a:rPr sz="2200" dirty="0">
                <a:latin typeface="Times New Roman"/>
                <a:cs typeface="Times New Roman"/>
              </a:rPr>
              <a:t>computers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connected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with </a:t>
            </a:r>
            <a:r>
              <a:rPr sz="2200" spc="-10" dirty="0">
                <a:latin typeface="Times New Roman"/>
                <a:cs typeface="Times New Roman"/>
              </a:rPr>
              <a:t>server.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24527" y="1078641"/>
            <a:ext cx="4113529" cy="2037714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2400" b="1" spc="-10" dirty="0">
                <a:latin typeface="Times New Roman"/>
                <a:cs typeface="Times New Roman"/>
              </a:rPr>
              <a:t>Disadvantages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ts val="2615"/>
              </a:lnSpc>
              <a:spcBef>
                <a:spcPts val="790"/>
              </a:spcBef>
              <a:buFont typeface="Arial MT"/>
              <a:buChar char="•"/>
              <a:tabLst>
                <a:tab pos="354965" algn="l"/>
                <a:tab pos="783590" algn="l"/>
                <a:tab pos="1457325" algn="l"/>
                <a:tab pos="1887220" algn="l"/>
                <a:tab pos="2763520" algn="l"/>
                <a:tab pos="3759200" algn="l"/>
              </a:tabLst>
            </a:pPr>
            <a:r>
              <a:rPr sz="2200" spc="-2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case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of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server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failure,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the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ts val="2615"/>
              </a:lnSpc>
            </a:pPr>
            <a:r>
              <a:rPr sz="2200" dirty="0">
                <a:latin typeface="Times New Roman"/>
                <a:cs typeface="Times New Roman"/>
              </a:rPr>
              <a:t>entire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network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down.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Server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maintenance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cost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high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Cost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high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Client-Server</a:t>
            </a:r>
            <a:r>
              <a:rPr spc="-50" dirty="0"/>
              <a:t> </a:t>
            </a:r>
            <a:r>
              <a:rPr spc="-10" dirty="0"/>
              <a:t>architecture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</a:t>
            </a:r>
            <a:r>
              <a:rPr spc="-50" dirty="0"/>
              <a:t> </a:t>
            </a:r>
            <a:r>
              <a:rPr spc="-10" dirty="0"/>
              <a:t>topology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8589"/>
            <a:ext cx="8378825" cy="309689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topology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nodes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connected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also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defines 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 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another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five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topologies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defines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Mesh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topology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Star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topology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Bus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topology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Ring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topology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Hybrid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topology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</a:t>
            </a:r>
            <a:r>
              <a:rPr spc="-50" dirty="0"/>
              <a:t> </a:t>
            </a:r>
            <a:r>
              <a:rPr spc="-10" dirty="0"/>
              <a:t>topology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3752"/>
            <a:ext cx="8531225" cy="342963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2400" dirty="0">
                <a:latin typeface="Times New Roman"/>
                <a:cs typeface="Times New Roman"/>
              </a:rPr>
              <a:t>Mesh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topology</a:t>
            </a:r>
            <a:endParaRPr sz="2400" dirty="0">
              <a:latin typeface="Times New Roman"/>
              <a:cs typeface="Times New Roman"/>
            </a:endParaRPr>
          </a:p>
          <a:p>
            <a:pPr marL="353695" marR="5080" indent="-341630">
              <a:lnSpc>
                <a:spcPts val="2640"/>
              </a:lnSpc>
              <a:spcBef>
                <a:spcPts val="650"/>
              </a:spcBef>
              <a:buFont typeface="Arial MT"/>
              <a:buChar char="•"/>
              <a:tabLst>
                <a:tab pos="353695" algn="l"/>
              </a:tabLst>
            </a:pP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this</a:t>
            </a:r>
            <a:r>
              <a:rPr sz="2500" spc="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topology,</a:t>
            </a:r>
            <a:r>
              <a:rPr sz="2500" spc="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each</a:t>
            </a:r>
            <a:r>
              <a:rPr sz="2500" spc="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node</a:t>
            </a:r>
            <a:r>
              <a:rPr sz="2500" spc="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connected</a:t>
            </a:r>
            <a:r>
              <a:rPr sz="2500" spc="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every</a:t>
            </a:r>
            <a:r>
              <a:rPr sz="2500" spc="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other</a:t>
            </a:r>
            <a:r>
              <a:rPr sz="2500" spc="10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node</a:t>
            </a:r>
            <a:r>
              <a:rPr sz="2500" spc="7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in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-10" dirty="0" smtClean="0">
                <a:latin typeface="Times New Roman"/>
                <a:cs typeface="Times New Roman"/>
              </a:rPr>
              <a:t>network</a:t>
            </a:r>
            <a:endParaRPr sz="25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354965" algn="l"/>
              </a:tabLst>
            </a:pPr>
            <a:r>
              <a:rPr sz="2500" dirty="0">
                <a:latin typeface="Times New Roman"/>
                <a:cs typeface="Times New Roman"/>
              </a:rPr>
              <a:t>Implementing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mesh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topology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expensive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difficult</a:t>
            </a:r>
            <a:endParaRPr sz="2500" dirty="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ts val="2700"/>
              </a:lnSpc>
              <a:spcBef>
                <a:spcPts val="535"/>
              </a:spcBef>
              <a:buFont typeface="Arial MT"/>
              <a:buChar char="•"/>
              <a:tabLst>
                <a:tab pos="355600" algn="l"/>
                <a:tab pos="356870" algn="l"/>
              </a:tabLst>
            </a:pPr>
            <a:r>
              <a:rPr sz="2500" dirty="0">
                <a:latin typeface="Times New Roman"/>
                <a:cs typeface="Times New Roman"/>
              </a:rPr>
              <a:t>	In</a:t>
            </a:r>
            <a:r>
              <a:rPr sz="2500" spc="40" dirty="0">
                <a:latin typeface="Times New Roman"/>
                <a:cs typeface="Times New Roman"/>
              </a:rPr>
              <a:t>  </a:t>
            </a:r>
            <a:r>
              <a:rPr sz="2500" dirty="0">
                <a:latin typeface="Times New Roman"/>
                <a:cs typeface="Times New Roman"/>
              </a:rPr>
              <a:t>this</a:t>
            </a:r>
            <a:r>
              <a:rPr sz="2500" spc="50" dirty="0">
                <a:latin typeface="Times New Roman"/>
                <a:cs typeface="Times New Roman"/>
              </a:rPr>
              <a:t>  </a:t>
            </a:r>
            <a:r>
              <a:rPr sz="2500" dirty="0">
                <a:latin typeface="Times New Roman"/>
                <a:cs typeface="Times New Roman"/>
              </a:rPr>
              <a:t>type</a:t>
            </a:r>
            <a:r>
              <a:rPr sz="2500" spc="40" dirty="0">
                <a:latin typeface="Times New Roman"/>
                <a:cs typeface="Times New Roman"/>
              </a:rPr>
              <a:t> 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50" dirty="0">
                <a:latin typeface="Times New Roman"/>
                <a:cs typeface="Times New Roman"/>
              </a:rPr>
              <a:t>  </a:t>
            </a:r>
            <a:r>
              <a:rPr sz="2500" dirty="0">
                <a:latin typeface="Times New Roman"/>
                <a:cs typeface="Times New Roman"/>
              </a:rPr>
              <a:t>topology,</a:t>
            </a:r>
            <a:r>
              <a:rPr sz="2500" spc="40" dirty="0">
                <a:latin typeface="Times New Roman"/>
                <a:cs typeface="Times New Roman"/>
              </a:rPr>
              <a:t>  </a:t>
            </a:r>
            <a:r>
              <a:rPr sz="2500" dirty="0">
                <a:latin typeface="Times New Roman"/>
                <a:cs typeface="Times New Roman"/>
              </a:rPr>
              <a:t>each</a:t>
            </a:r>
            <a:r>
              <a:rPr sz="2500" spc="50" dirty="0">
                <a:latin typeface="Times New Roman"/>
                <a:cs typeface="Times New Roman"/>
              </a:rPr>
              <a:t>  </a:t>
            </a:r>
            <a:r>
              <a:rPr sz="2500" dirty="0">
                <a:latin typeface="Times New Roman"/>
                <a:cs typeface="Times New Roman"/>
              </a:rPr>
              <a:t>node</a:t>
            </a:r>
            <a:r>
              <a:rPr sz="2500" spc="45" dirty="0">
                <a:latin typeface="Times New Roman"/>
                <a:cs typeface="Times New Roman"/>
              </a:rPr>
              <a:t>  </a:t>
            </a:r>
            <a:r>
              <a:rPr sz="2500" dirty="0">
                <a:latin typeface="Times New Roman"/>
                <a:cs typeface="Times New Roman"/>
              </a:rPr>
              <a:t>may</a:t>
            </a:r>
            <a:r>
              <a:rPr sz="2500" spc="50" dirty="0">
                <a:latin typeface="Times New Roman"/>
                <a:cs typeface="Times New Roman"/>
              </a:rPr>
              <a:t>  </a:t>
            </a:r>
            <a:r>
              <a:rPr sz="2500" dirty="0">
                <a:latin typeface="Times New Roman"/>
                <a:cs typeface="Times New Roman"/>
              </a:rPr>
              <a:t>send</a:t>
            </a:r>
            <a:r>
              <a:rPr sz="2500" spc="45" dirty="0">
                <a:latin typeface="Times New Roman"/>
                <a:cs typeface="Times New Roman"/>
              </a:rPr>
              <a:t>  </a:t>
            </a:r>
            <a:r>
              <a:rPr sz="2500" dirty="0">
                <a:latin typeface="Times New Roman"/>
                <a:cs typeface="Times New Roman"/>
              </a:rPr>
              <a:t>message</a:t>
            </a:r>
            <a:r>
              <a:rPr sz="2500" spc="45" dirty="0">
                <a:latin typeface="Times New Roman"/>
                <a:cs typeface="Times New Roman"/>
              </a:rPr>
              <a:t>  </a:t>
            </a:r>
            <a:r>
              <a:rPr sz="2500" spc="-25" dirty="0">
                <a:latin typeface="Times New Roman"/>
                <a:cs typeface="Times New Roman"/>
              </a:rPr>
              <a:t>to </a:t>
            </a:r>
            <a:r>
              <a:rPr sz="2500" dirty="0">
                <a:latin typeface="Times New Roman"/>
                <a:cs typeface="Times New Roman"/>
              </a:rPr>
              <a:t>destination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through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multiple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paths</a:t>
            </a:r>
            <a:endParaRPr sz="2500" dirty="0">
              <a:latin typeface="Times New Roman"/>
              <a:cs typeface="Times New Roman"/>
            </a:endParaRPr>
          </a:p>
          <a:p>
            <a:pPr marL="355600" marR="7620" indent="-342900" algn="just">
              <a:lnSpc>
                <a:spcPct val="90000"/>
              </a:lnSpc>
              <a:spcBef>
                <a:spcPts val="464"/>
              </a:spcBef>
              <a:buFont typeface="Arial MT"/>
              <a:buChar char="•"/>
              <a:tabLst>
                <a:tab pos="355600" algn="l"/>
                <a:tab pos="356870" algn="l"/>
              </a:tabLst>
            </a:pPr>
            <a:r>
              <a:rPr sz="2500" dirty="0">
                <a:latin typeface="Times New Roman"/>
                <a:cs typeface="Times New Roman"/>
              </a:rPr>
              <a:t>	While</a:t>
            </a:r>
            <a:r>
              <a:rPr sz="2500" spc="3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3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data</a:t>
            </a:r>
            <a:r>
              <a:rPr sz="2500" spc="3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3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travelling,</a:t>
            </a:r>
            <a:r>
              <a:rPr sz="2500" spc="3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it</a:t>
            </a:r>
            <a:r>
              <a:rPr sz="2500" spc="3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3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automatically</a:t>
            </a:r>
            <a:r>
              <a:rPr sz="2500" spc="40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configured</a:t>
            </a:r>
            <a:r>
              <a:rPr sz="2500" spc="38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to </a:t>
            </a:r>
            <a:r>
              <a:rPr sz="2500" dirty="0">
                <a:latin typeface="Times New Roman"/>
                <a:cs typeface="Times New Roman"/>
              </a:rPr>
              <a:t>reach</a:t>
            </a:r>
            <a:r>
              <a:rPr sz="2500" spc="1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1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destination</a:t>
            </a:r>
            <a:r>
              <a:rPr sz="2500" spc="1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by</a:t>
            </a:r>
            <a:r>
              <a:rPr sz="2500" spc="1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taking</a:t>
            </a:r>
            <a:r>
              <a:rPr sz="2500" spc="1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1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shortest</a:t>
            </a:r>
            <a:r>
              <a:rPr sz="2500" spc="1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route</a:t>
            </a:r>
            <a:r>
              <a:rPr sz="2500" spc="1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which</a:t>
            </a:r>
            <a:r>
              <a:rPr sz="2500" spc="17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means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least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number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hops</a:t>
            </a:r>
            <a:endParaRPr sz="25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</a:t>
            </a:r>
            <a:r>
              <a:rPr spc="-50" dirty="0"/>
              <a:t> </a:t>
            </a:r>
            <a:r>
              <a:rPr spc="-10" dirty="0"/>
              <a:t>topology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8552"/>
            <a:ext cx="8531225" cy="370077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400" dirty="0">
                <a:latin typeface="Times New Roman"/>
                <a:cs typeface="Times New Roman"/>
              </a:rPr>
              <a:t>Star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topology</a:t>
            </a:r>
            <a:endParaRPr sz="24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353695" algn="l"/>
              </a:tabLst>
            </a:pP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central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device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25" dirty="0">
                <a:latin typeface="Times New Roman"/>
                <a:cs typeface="Times New Roman"/>
              </a:rPr>
              <a:t>hub</a:t>
            </a:r>
            <a:endParaRPr sz="2400">
              <a:latin typeface="Times New Roman"/>
              <a:cs typeface="Times New Roman"/>
            </a:endParaRPr>
          </a:p>
          <a:p>
            <a:pPr marL="353695" marR="5715" indent="-341630">
              <a:lnSpc>
                <a:spcPts val="2540"/>
              </a:lnSpc>
              <a:spcBef>
                <a:spcPts val="630"/>
              </a:spcBef>
              <a:buFont typeface="Arial MT"/>
              <a:buChar char="•"/>
              <a:tabLst>
                <a:tab pos="35369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hub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takes</a:t>
            </a:r>
            <a:r>
              <a:rPr sz="2400" spc="3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request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3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node</a:t>
            </a:r>
            <a:r>
              <a:rPr sz="2400" spc="3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pass</a:t>
            </a:r>
            <a:r>
              <a:rPr sz="2400" spc="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3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other </a:t>
            </a:r>
            <a:r>
              <a:rPr sz="2400" spc="-20" dirty="0">
                <a:latin typeface="Times New Roman"/>
                <a:cs typeface="Times New Roman"/>
              </a:rPr>
              <a:t>node</a:t>
            </a:r>
            <a:endParaRPr sz="2400">
              <a:latin typeface="Times New Roman"/>
              <a:cs typeface="Times New Roman"/>
            </a:endParaRPr>
          </a:p>
          <a:p>
            <a:pPr marL="353695" indent="-340995">
              <a:lnSpc>
                <a:spcPts val="2705"/>
              </a:lnSpc>
              <a:spcBef>
                <a:spcPts val="244"/>
              </a:spcBef>
              <a:buFont typeface="Arial MT"/>
              <a:buChar char="•"/>
              <a:tabLst>
                <a:tab pos="353695" algn="l"/>
                <a:tab pos="1117600" algn="l"/>
                <a:tab pos="1608455" algn="l"/>
                <a:tab pos="1929764" algn="l"/>
                <a:tab pos="2555875" algn="l"/>
                <a:tab pos="3825875" algn="l"/>
                <a:tab pos="4792345" algn="l"/>
                <a:tab pos="5926455" algn="l"/>
                <a:tab pos="6485890" algn="l"/>
                <a:tab pos="7206615" algn="l"/>
                <a:tab pos="8264525" algn="l"/>
              </a:tabLst>
            </a:pPr>
            <a:r>
              <a:rPr sz="2400" spc="-20" dirty="0">
                <a:latin typeface="Times New Roman"/>
                <a:cs typeface="Times New Roman"/>
              </a:rPr>
              <a:t>Data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star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topology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passes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through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hub,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switch,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or</a:t>
            </a:r>
            <a:endParaRPr sz="2400">
              <a:latin typeface="Times New Roman"/>
              <a:cs typeface="Times New Roman"/>
            </a:endParaRPr>
          </a:p>
          <a:p>
            <a:pPr marL="353695">
              <a:lnSpc>
                <a:spcPts val="2705"/>
              </a:lnSpc>
            </a:pPr>
            <a:r>
              <a:rPr sz="2400" dirty="0">
                <a:latin typeface="Times New Roman"/>
                <a:cs typeface="Times New Roman"/>
              </a:rPr>
              <a:t>concentrator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before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continuing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destination</a:t>
            </a:r>
            <a:endParaRPr sz="2400">
              <a:latin typeface="Times New Roman"/>
              <a:cs typeface="Times New Roman"/>
            </a:endParaRPr>
          </a:p>
          <a:p>
            <a:pPr marL="353695" marR="5080" indent="-341630">
              <a:lnSpc>
                <a:spcPts val="2530"/>
              </a:lnSpc>
              <a:spcBef>
                <a:spcPts val="650"/>
              </a:spcBef>
              <a:buFont typeface="Arial MT"/>
              <a:buChar char="•"/>
              <a:tabLst>
                <a:tab pos="353695" algn="l"/>
                <a:tab pos="1044575" algn="l"/>
                <a:tab pos="1792605" algn="l"/>
                <a:tab pos="2879725" algn="l"/>
                <a:tab pos="3347720" algn="l"/>
                <a:tab pos="5083810" algn="l"/>
                <a:tab pos="6362065" algn="l"/>
                <a:tab pos="7018020" algn="l"/>
                <a:tab pos="8214359" algn="l"/>
              </a:tabLst>
            </a:pP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hub,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switch,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concentrator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manages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controls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all </a:t>
            </a:r>
            <a:r>
              <a:rPr sz="2400" dirty="0">
                <a:latin typeface="Times New Roman"/>
                <a:cs typeface="Times New Roman"/>
              </a:rPr>
              <a:t>functions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network</a:t>
            </a:r>
            <a:endParaRPr sz="2400">
              <a:latin typeface="Times New Roman"/>
              <a:cs typeface="Times New Roman"/>
            </a:endParaRPr>
          </a:p>
          <a:p>
            <a:pPr marL="353695" marR="6350" indent="-329565">
              <a:lnSpc>
                <a:spcPts val="2540"/>
              </a:lnSpc>
              <a:spcBef>
                <a:spcPts val="610"/>
              </a:spcBef>
              <a:buFont typeface="Arial MT"/>
              <a:buChar char="•"/>
              <a:tabLst>
                <a:tab pos="353695" algn="l"/>
                <a:tab pos="1014094" algn="l"/>
                <a:tab pos="1638935" algn="l"/>
                <a:tab pos="2907030" algn="l"/>
                <a:tab pos="4022725" algn="l"/>
                <a:tab pos="4580255" algn="l"/>
                <a:tab pos="5610860" algn="l"/>
                <a:tab pos="6049645" algn="l"/>
                <a:tab pos="7235825" algn="l"/>
                <a:tab pos="8214359" algn="l"/>
              </a:tabLst>
            </a:pP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star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topology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reduces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chance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network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failure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35" dirty="0">
                <a:latin typeface="Times New Roman"/>
                <a:cs typeface="Times New Roman"/>
              </a:rPr>
              <a:t>by </a:t>
            </a:r>
            <a:r>
              <a:rPr sz="2400" dirty="0">
                <a:latin typeface="Times New Roman"/>
                <a:cs typeface="Times New Roman"/>
              </a:rPr>
              <a:t>connecting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central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node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</a:t>
            </a:r>
            <a:r>
              <a:rPr spc="-50" dirty="0"/>
              <a:t> </a:t>
            </a:r>
            <a:r>
              <a:rPr spc="-10" dirty="0"/>
              <a:t>topology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8589"/>
            <a:ext cx="8529955" cy="247523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latin typeface="Times New Roman"/>
                <a:cs typeface="Times New Roman"/>
              </a:rPr>
              <a:t>Bus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topology</a:t>
            </a:r>
            <a:endParaRPr sz="2400">
              <a:latin typeface="Times New Roman"/>
              <a:cs typeface="Times New Roman"/>
            </a:endParaRPr>
          </a:p>
          <a:p>
            <a:pPr marL="351790" indent="-339090" algn="just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1790" algn="l"/>
              </a:tabLst>
            </a:pP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nodes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topology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 one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single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cable</a:t>
            </a:r>
            <a:endParaRPr sz="2400">
              <a:latin typeface="Times New Roman"/>
              <a:cs typeface="Times New Roman"/>
            </a:endParaRPr>
          </a:p>
          <a:p>
            <a:pPr marL="353695" marR="5080" indent="-341630" algn="just">
              <a:lnSpc>
                <a:spcPct val="99200"/>
              </a:lnSpc>
              <a:spcBef>
                <a:spcPts val="575"/>
              </a:spcBef>
              <a:buFont typeface="Arial MT"/>
              <a:buChar char="•"/>
              <a:tabLst>
                <a:tab pos="353695" algn="l"/>
                <a:tab pos="410845" algn="l"/>
              </a:tabLst>
            </a:pPr>
            <a:r>
              <a:rPr sz="2400" dirty="0">
                <a:latin typeface="Times New Roman"/>
                <a:cs typeface="Times New Roman"/>
              </a:rPr>
              <a:t>	A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bus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topology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consists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run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cable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terminator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end.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nodes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(file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server,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workstations,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peripherals)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linear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cable</a:t>
            </a:r>
            <a:endParaRPr sz="2400">
              <a:latin typeface="Times New Roman"/>
              <a:cs typeface="Times New Roman"/>
            </a:endParaRPr>
          </a:p>
          <a:p>
            <a:pPr marL="351790" indent="-339090" algn="just">
              <a:lnSpc>
                <a:spcPct val="100000"/>
              </a:lnSpc>
              <a:spcBef>
                <a:spcPts val="490"/>
              </a:spcBef>
              <a:buFont typeface="Arial MT"/>
              <a:buChar char="•"/>
              <a:tabLst>
                <a:tab pos="351790" algn="l"/>
              </a:tabLst>
            </a:pPr>
            <a:r>
              <a:rPr sz="2400" dirty="0">
                <a:latin typeface="Times New Roman"/>
                <a:cs typeface="Times New Roman"/>
              </a:rPr>
              <a:t>Popular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LANs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because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inexpensive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easy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install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</a:t>
            </a:r>
            <a:r>
              <a:rPr spc="-50" dirty="0"/>
              <a:t> </a:t>
            </a:r>
            <a:r>
              <a:rPr spc="-10" dirty="0"/>
              <a:t>topology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4598"/>
            <a:ext cx="8531860" cy="356870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375"/>
              </a:spcBef>
            </a:pPr>
            <a:r>
              <a:rPr sz="2300" dirty="0">
                <a:latin typeface="Times New Roman"/>
                <a:cs typeface="Times New Roman"/>
              </a:rPr>
              <a:t>Ring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topology</a:t>
            </a:r>
            <a:endParaRPr sz="2300">
              <a:latin typeface="Times New Roman"/>
              <a:cs typeface="Times New Roman"/>
            </a:endParaRPr>
          </a:p>
          <a:p>
            <a:pPr marL="353060" indent="-340360" algn="just">
              <a:lnSpc>
                <a:spcPts val="2590"/>
              </a:lnSpc>
              <a:spcBef>
                <a:spcPts val="280"/>
              </a:spcBef>
              <a:buFont typeface="Arial MT"/>
              <a:buChar char="•"/>
              <a:tabLst>
                <a:tab pos="353060" algn="l"/>
              </a:tabLst>
            </a:pPr>
            <a:r>
              <a:rPr sz="2300" dirty="0">
                <a:latin typeface="Times New Roman"/>
                <a:cs typeface="Times New Roman"/>
              </a:rPr>
              <a:t>In</a:t>
            </a:r>
            <a:r>
              <a:rPr sz="2300" spc="60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50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ring</a:t>
            </a:r>
            <a:r>
              <a:rPr sz="2300" spc="55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topology,</a:t>
            </a:r>
            <a:r>
              <a:rPr sz="2300" spc="55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every</a:t>
            </a:r>
            <a:r>
              <a:rPr sz="2300" spc="60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device</a:t>
            </a:r>
            <a:r>
              <a:rPr sz="2300" spc="50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has</a:t>
            </a:r>
            <a:r>
              <a:rPr sz="2300" spc="60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exactly</a:t>
            </a:r>
            <a:r>
              <a:rPr sz="2300" spc="60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two</a:t>
            </a:r>
            <a:r>
              <a:rPr sz="2300" spc="55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neighbors</a:t>
            </a:r>
            <a:r>
              <a:rPr sz="2300" spc="55" dirty="0">
                <a:latin typeface="Times New Roman"/>
                <a:cs typeface="Times New Roman"/>
              </a:rPr>
              <a:t>  </a:t>
            </a:r>
            <a:r>
              <a:rPr sz="2300" spc="-25" dirty="0">
                <a:latin typeface="Times New Roman"/>
                <a:cs typeface="Times New Roman"/>
              </a:rPr>
              <a:t>for</a:t>
            </a:r>
            <a:endParaRPr sz="2300">
              <a:latin typeface="Times New Roman"/>
              <a:cs typeface="Times New Roman"/>
            </a:endParaRPr>
          </a:p>
          <a:p>
            <a:pPr marL="353695" algn="just">
              <a:lnSpc>
                <a:spcPts val="2590"/>
              </a:lnSpc>
            </a:pPr>
            <a:r>
              <a:rPr sz="2300" dirty="0">
                <a:latin typeface="Times New Roman"/>
                <a:cs typeface="Times New Roman"/>
              </a:rPr>
              <a:t>communication</a:t>
            </a:r>
            <a:r>
              <a:rPr sz="2300" spc="-6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purposes.</a:t>
            </a:r>
            <a:endParaRPr sz="2300">
              <a:latin typeface="Times New Roman"/>
              <a:cs typeface="Times New Roman"/>
            </a:endParaRPr>
          </a:p>
          <a:p>
            <a:pPr marL="352425" indent="-339725" algn="just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352425" algn="l"/>
              </a:tabLst>
            </a:pPr>
            <a:r>
              <a:rPr sz="2300" dirty="0">
                <a:latin typeface="Times New Roman"/>
                <a:cs typeface="Times New Roman"/>
              </a:rPr>
              <a:t>All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messages travel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through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ring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same</a:t>
            </a:r>
            <a:r>
              <a:rPr sz="2300" spc="-10" dirty="0">
                <a:latin typeface="Times New Roman"/>
                <a:cs typeface="Times New Roman"/>
              </a:rPr>
              <a:t> direction.</a:t>
            </a:r>
            <a:endParaRPr sz="2300">
              <a:latin typeface="Times New Roman"/>
              <a:cs typeface="Times New Roman"/>
            </a:endParaRPr>
          </a:p>
          <a:p>
            <a:pPr marL="353060" indent="-340360" algn="just">
              <a:lnSpc>
                <a:spcPts val="2600"/>
              </a:lnSpc>
              <a:spcBef>
                <a:spcPts val="280"/>
              </a:spcBef>
              <a:buFont typeface="Arial MT"/>
              <a:buChar char="•"/>
              <a:tabLst>
                <a:tab pos="353060" algn="l"/>
              </a:tabLst>
            </a:pP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failure</a:t>
            </a:r>
            <a:r>
              <a:rPr sz="2300" spc="6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</a:t>
            </a:r>
            <a:r>
              <a:rPr sz="2300" spc="6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any</a:t>
            </a:r>
            <a:r>
              <a:rPr sz="2300" spc="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cable</a:t>
            </a:r>
            <a:r>
              <a:rPr sz="2300" spc="7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or</a:t>
            </a:r>
            <a:r>
              <a:rPr sz="2300" spc="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node</a:t>
            </a:r>
            <a:r>
              <a:rPr sz="2300" spc="7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breaks</a:t>
            </a:r>
            <a:r>
              <a:rPr sz="2300" spc="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6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loop</a:t>
            </a:r>
            <a:r>
              <a:rPr sz="2300" spc="7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can</a:t>
            </a:r>
            <a:r>
              <a:rPr sz="2300" spc="7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take</a:t>
            </a:r>
            <a:r>
              <a:rPr sz="2300" spc="7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down</a:t>
            </a:r>
            <a:r>
              <a:rPr sz="2300" spc="70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the</a:t>
            </a:r>
            <a:endParaRPr sz="2300">
              <a:latin typeface="Times New Roman"/>
              <a:cs typeface="Times New Roman"/>
            </a:endParaRPr>
          </a:p>
          <a:p>
            <a:pPr marL="353695" algn="just">
              <a:lnSpc>
                <a:spcPts val="2600"/>
              </a:lnSpc>
            </a:pPr>
            <a:r>
              <a:rPr sz="2300" dirty="0">
                <a:latin typeface="Times New Roman"/>
                <a:cs typeface="Times New Roman"/>
              </a:rPr>
              <a:t>entire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network</a:t>
            </a:r>
            <a:endParaRPr sz="2300">
              <a:latin typeface="Times New Roman"/>
              <a:cs typeface="Times New Roman"/>
            </a:endParaRPr>
          </a:p>
          <a:p>
            <a:pPr marL="352425" indent="-339725" algn="just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352425" algn="l"/>
              </a:tabLst>
            </a:pPr>
            <a:r>
              <a:rPr sz="2300" spc="-50" dirty="0">
                <a:latin typeface="Times New Roman"/>
                <a:cs typeface="Times New Roman"/>
              </a:rPr>
              <a:t>To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implement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ring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network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we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use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8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Token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Ring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technology</a:t>
            </a:r>
            <a:endParaRPr sz="2300">
              <a:latin typeface="Times New Roman"/>
              <a:cs typeface="Times New Roman"/>
            </a:endParaRPr>
          </a:p>
          <a:p>
            <a:pPr marL="352425" marR="5080" indent="-340360" algn="just">
              <a:lnSpc>
                <a:spcPct val="89100"/>
              </a:lnSpc>
              <a:spcBef>
                <a:spcPts val="580"/>
              </a:spcBef>
              <a:buFont typeface="Arial MT"/>
              <a:buChar char="•"/>
              <a:tabLst>
                <a:tab pos="353695" algn="l"/>
              </a:tabLst>
            </a:pP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37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token,</a:t>
            </a:r>
            <a:r>
              <a:rPr sz="2300" spc="484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or</a:t>
            </a:r>
            <a:r>
              <a:rPr sz="2300" spc="49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small</a:t>
            </a:r>
            <a:r>
              <a:rPr sz="2300" spc="50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data</a:t>
            </a:r>
            <a:r>
              <a:rPr sz="2300" spc="50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packet,</a:t>
            </a:r>
            <a:r>
              <a:rPr sz="2300" spc="50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is</a:t>
            </a:r>
            <a:r>
              <a:rPr sz="2300" spc="50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continuously</a:t>
            </a:r>
            <a:r>
              <a:rPr sz="2300" spc="50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passed</a:t>
            </a:r>
            <a:r>
              <a:rPr sz="2300" spc="50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around</a:t>
            </a:r>
            <a:r>
              <a:rPr sz="2300" spc="500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the 	</a:t>
            </a:r>
            <a:r>
              <a:rPr sz="2300" dirty="0">
                <a:latin typeface="Times New Roman"/>
                <a:cs typeface="Times New Roman"/>
              </a:rPr>
              <a:t>network.</a:t>
            </a:r>
            <a:r>
              <a:rPr sz="2300" spc="2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When</a:t>
            </a:r>
            <a:r>
              <a:rPr sz="2300" spc="2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2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device</a:t>
            </a:r>
            <a:r>
              <a:rPr sz="2300" spc="229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needs</a:t>
            </a:r>
            <a:r>
              <a:rPr sz="2300" spc="2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2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transmit,</a:t>
            </a:r>
            <a:r>
              <a:rPr sz="2300" spc="2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it</a:t>
            </a:r>
            <a:r>
              <a:rPr sz="2300" spc="2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reserves</a:t>
            </a:r>
            <a:r>
              <a:rPr sz="2300" spc="229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2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token</a:t>
            </a:r>
            <a:r>
              <a:rPr sz="2300" spc="220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for 	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next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trip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around,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then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attaches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its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data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packet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it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</a:t>
            </a:r>
            <a:r>
              <a:rPr spc="-50" dirty="0"/>
              <a:t> </a:t>
            </a:r>
            <a:r>
              <a:rPr spc="-10" dirty="0"/>
              <a:t>topology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05"/>
              </a:spcBef>
            </a:pPr>
            <a:r>
              <a:rPr dirty="0"/>
              <a:t>Hybrid</a:t>
            </a:r>
            <a:r>
              <a:rPr spc="509" dirty="0"/>
              <a:t> </a:t>
            </a:r>
            <a:r>
              <a:rPr spc="-10" dirty="0"/>
              <a:t>topology</a:t>
            </a:r>
          </a:p>
          <a:p>
            <a:pPr marL="351790" indent="-339090" algn="just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1790" algn="l"/>
              </a:tabLst>
            </a:pPr>
            <a:r>
              <a:rPr spc="-20" dirty="0"/>
              <a:t>A</a:t>
            </a:r>
            <a:r>
              <a:rPr spc="-140" dirty="0"/>
              <a:t> </a:t>
            </a:r>
            <a:r>
              <a:rPr dirty="0"/>
              <a:t>combination</a:t>
            </a:r>
            <a:r>
              <a:rPr spc="-5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any</a:t>
            </a:r>
            <a:r>
              <a:rPr spc="-20" dirty="0"/>
              <a:t> </a:t>
            </a:r>
            <a:r>
              <a:rPr dirty="0"/>
              <a:t>two</a:t>
            </a:r>
            <a:r>
              <a:rPr spc="-10" dirty="0"/>
              <a:t> </a:t>
            </a:r>
            <a:r>
              <a:rPr dirty="0"/>
              <a:t>or</a:t>
            </a:r>
            <a:r>
              <a:rPr spc="-15" dirty="0"/>
              <a:t> </a:t>
            </a:r>
            <a:r>
              <a:rPr dirty="0"/>
              <a:t>more</a:t>
            </a:r>
            <a:r>
              <a:rPr spc="-5" dirty="0"/>
              <a:t> </a:t>
            </a:r>
            <a:r>
              <a:rPr dirty="0"/>
              <a:t>network</a:t>
            </a:r>
            <a:r>
              <a:rPr spc="-20" dirty="0"/>
              <a:t> </a:t>
            </a:r>
            <a:r>
              <a:rPr spc="-10" dirty="0"/>
              <a:t>topologies</a:t>
            </a:r>
          </a:p>
          <a:p>
            <a:pPr marL="351155" marR="5715" indent="-339090" algn="just">
              <a:lnSpc>
                <a:spcPts val="2830"/>
              </a:lnSpc>
              <a:spcBef>
                <a:spcPts val="690"/>
              </a:spcBef>
              <a:buFont typeface="Arial MT"/>
              <a:buChar char="•"/>
              <a:tabLst>
                <a:tab pos="353695" algn="l"/>
              </a:tabLst>
            </a:pPr>
            <a:r>
              <a:rPr dirty="0"/>
              <a:t>A</a:t>
            </a:r>
            <a:r>
              <a:rPr spc="70" dirty="0"/>
              <a:t>  </a:t>
            </a:r>
            <a:r>
              <a:rPr dirty="0"/>
              <a:t>hybrid</a:t>
            </a:r>
            <a:r>
              <a:rPr spc="145" dirty="0"/>
              <a:t>  </a:t>
            </a:r>
            <a:r>
              <a:rPr dirty="0"/>
              <a:t>topology</a:t>
            </a:r>
            <a:r>
              <a:rPr spc="140" dirty="0"/>
              <a:t>  </a:t>
            </a:r>
            <a:r>
              <a:rPr dirty="0"/>
              <a:t>always</a:t>
            </a:r>
            <a:r>
              <a:rPr spc="140" dirty="0"/>
              <a:t>  </a:t>
            </a:r>
            <a:r>
              <a:rPr dirty="0"/>
              <a:t>accrues</a:t>
            </a:r>
            <a:r>
              <a:rPr spc="145" dirty="0"/>
              <a:t>  </a:t>
            </a:r>
            <a:r>
              <a:rPr dirty="0"/>
              <a:t>when</a:t>
            </a:r>
            <a:r>
              <a:rPr spc="140" dirty="0"/>
              <a:t>  </a:t>
            </a:r>
            <a:r>
              <a:rPr dirty="0"/>
              <a:t>two</a:t>
            </a:r>
            <a:r>
              <a:rPr spc="140" dirty="0"/>
              <a:t>  </a:t>
            </a:r>
            <a:r>
              <a:rPr dirty="0"/>
              <a:t>different</a:t>
            </a:r>
            <a:r>
              <a:rPr spc="145" dirty="0"/>
              <a:t>  </a:t>
            </a:r>
            <a:r>
              <a:rPr spc="-10" dirty="0"/>
              <a:t>basic 	</a:t>
            </a:r>
            <a:r>
              <a:rPr dirty="0"/>
              <a:t>network</a:t>
            </a:r>
            <a:r>
              <a:rPr spc="-40" dirty="0"/>
              <a:t> </a:t>
            </a:r>
            <a:r>
              <a:rPr dirty="0"/>
              <a:t>topologies</a:t>
            </a:r>
            <a:r>
              <a:rPr spc="-60" dirty="0"/>
              <a:t> </a:t>
            </a:r>
            <a:r>
              <a:rPr dirty="0"/>
              <a:t>are</a:t>
            </a:r>
            <a:r>
              <a:rPr spc="-35" dirty="0"/>
              <a:t> </a:t>
            </a:r>
            <a:r>
              <a:rPr spc="-10" dirty="0"/>
              <a:t>connected</a:t>
            </a:r>
          </a:p>
          <a:p>
            <a:pPr marL="351155" marR="5080" indent="-339090" algn="just">
              <a:lnSpc>
                <a:spcPct val="99000"/>
              </a:lnSpc>
              <a:spcBef>
                <a:spcPts val="495"/>
              </a:spcBef>
              <a:buFont typeface="Arial MT"/>
              <a:buChar char="•"/>
              <a:tabLst>
                <a:tab pos="353695" algn="l"/>
              </a:tabLst>
            </a:pPr>
            <a:r>
              <a:rPr dirty="0"/>
              <a:t>It</a:t>
            </a:r>
            <a:r>
              <a:rPr spc="225" dirty="0"/>
              <a:t> </a:t>
            </a:r>
            <a:r>
              <a:rPr dirty="0"/>
              <a:t>is</a:t>
            </a:r>
            <a:r>
              <a:rPr spc="245" dirty="0"/>
              <a:t> </a:t>
            </a:r>
            <a:r>
              <a:rPr dirty="0"/>
              <a:t>a</a:t>
            </a:r>
            <a:r>
              <a:rPr spc="250" dirty="0"/>
              <a:t> </a:t>
            </a:r>
            <a:r>
              <a:rPr dirty="0"/>
              <a:t>mixture</a:t>
            </a:r>
            <a:r>
              <a:rPr spc="245" dirty="0"/>
              <a:t> </a:t>
            </a:r>
            <a:r>
              <a:rPr dirty="0"/>
              <a:t>of</a:t>
            </a:r>
            <a:r>
              <a:rPr spc="240" dirty="0"/>
              <a:t> </a:t>
            </a:r>
            <a:r>
              <a:rPr dirty="0"/>
              <a:t>above</a:t>
            </a:r>
            <a:r>
              <a:rPr spc="254" dirty="0"/>
              <a:t> </a:t>
            </a:r>
            <a:r>
              <a:rPr dirty="0"/>
              <a:t>mentioned</a:t>
            </a:r>
            <a:r>
              <a:rPr spc="240" dirty="0"/>
              <a:t> </a:t>
            </a:r>
            <a:r>
              <a:rPr dirty="0"/>
              <a:t>topologies.</a:t>
            </a:r>
            <a:r>
              <a:rPr spc="240" dirty="0"/>
              <a:t> </a:t>
            </a:r>
            <a:r>
              <a:rPr dirty="0"/>
              <a:t>Usually,</a:t>
            </a:r>
            <a:r>
              <a:rPr spc="240" dirty="0"/>
              <a:t> </a:t>
            </a:r>
            <a:r>
              <a:rPr dirty="0"/>
              <a:t>a</a:t>
            </a:r>
            <a:r>
              <a:rPr spc="235" dirty="0"/>
              <a:t> </a:t>
            </a:r>
            <a:r>
              <a:rPr spc="-10" dirty="0"/>
              <a:t>central 	</a:t>
            </a:r>
            <a:r>
              <a:rPr dirty="0"/>
              <a:t>computer</a:t>
            </a:r>
            <a:r>
              <a:rPr spc="45" dirty="0"/>
              <a:t> </a:t>
            </a:r>
            <a:r>
              <a:rPr dirty="0"/>
              <a:t>is</a:t>
            </a:r>
            <a:r>
              <a:rPr spc="45" dirty="0"/>
              <a:t> </a:t>
            </a:r>
            <a:r>
              <a:rPr dirty="0"/>
              <a:t>attached</a:t>
            </a:r>
            <a:r>
              <a:rPr spc="60" dirty="0"/>
              <a:t> </a:t>
            </a:r>
            <a:r>
              <a:rPr dirty="0"/>
              <a:t>with</a:t>
            </a:r>
            <a:r>
              <a:rPr spc="50" dirty="0"/>
              <a:t> </a:t>
            </a:r>
            <a:r>
              <a:rPr spc="-20" dirty="0"/>
              <a:t>sub-</a:t>
            </a:r>
            <a:r>
              <a:rPr dirty="0"/>
              <a:t>controllers</a:t>
            </a:r>
            <a:r>
              <a:rPr spc="65" dirty="0"/>
              <a:t> </a:t>
            </a:r>
            <a:r>
              <a:rPr dirty="0"/>
              <a:t>which</a:t>
            </a:r>
            <a:r>
              <a:rPr spc="45" dirty="0"/>
              <a:t> </a:t>
            </a:r>
            <a:r>
              <a:rPr dirty="0"/>
              <a:t>in</a:t>
            </a:r>
            <a:r>
              <a:rPr spc="55" dirty="0"/>
              <a:t> </a:t>
            </a:r>
            <a:r>
              <a:rPr dirty="0"/>
              <a:t>turn</a:t>
            </a:r>
            <a:r>
              <a:rPr spc="65" dirty="0"/>
              <a:t> </a:t>
            </a:r>
            <a:r>
              <a:rPr spc="-10" dirty="0"/>
              <a:t>participate 	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variety</a:t>
            </a:r>
            <a:r>
              <a:rPr spc="-30" dirty="0"/>
              <a:t> </a:t>
            </a:r>
            <a:r>
              <a:rPr dirty="0"/>
              <a:t>of</a:t>
            </a:r>
            <a:r>
              <a:rPr spc="-10" dirty="0"/>
              <a:t> topologies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</a:t>
            </a:r>
            <a:r>
              <a:rPr spc="-105" dirty="0"/>
              <a:t> </a:t>
            </a:r>
            <a:r>
              <a:rPr spc="-20" dirty="0"/>
              <a:t>Technologies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8589"/>
            <a:ext cx="4723765" cy="131572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classified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category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transmission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technology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</a:t>
            </a:r>
            <a:r>
              <a:rPr sz="2400" spc="-10" dirty="0">
                <a:latin typeface="Times New Roman"/>
                <a:cs typeface="Times New Roman"/>
              </a:rPr>
              <a:t>scale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</a:t>
            </a:r>
            <a:r>
              <a:rPr spc="-105" dirty="0"/>
              <a:t> </a:t>
            </a:r>
            <a:r>
              <a:rPr spc="-20" dirty="0"/>
              <a:t>Technologies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8589"/>
            <a:ext cx="8532495" cy="294449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transmission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technology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Broadcast</a:t>
            </a:r>
            <a:endParaRPr sz="2400">
              <a:latin typeface="Times New Roman"/>
              <a:cs typeface="Times New Roman"/>
            </a:endParaRPr>
          </a:p>
          <a:p>
            <a:pPr marL="753745" marR="5080" lvl="1" indent="-284480" algn="just">
              <a:lnSpc>
                <a:spcPts val="2350"/>
              </a:lnSpc>
              <a:spcBef>
                <a:spcPts val="59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Broadcast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single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communication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channel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shared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by 	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nodes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Point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point</a:t>
            </a:r>
            <a:endParaRPr sz="2400">
              <a:latin typeface="Times New Roman"/>
              <a:cs typeface="Times New Roman"/>
            </a:endParaRPr>
          </a:p>
          <a:p>
            <a:pPr marL="753745" marR="6350" lvl="1" indent="-284480" algn="just">
              <a:lnSpc>
                <a:spcPct val="99000"/>
              </a:lnSpc>
              <a:spcBef>
                <a:spcPts val="50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exist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paths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source-</a:t>
            </a:r>
            <a:r>
              <a:rPr sz="2000" dirty="0">
                <a:latin typeface="Times New Roman"/>
                <a:cs typeface="Times New Roman"/>
              </a:rPr>
              <a:t>destination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pair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	</a:t>
            </a:r>
            <a:r>
              <a:rPr sz="2000" dirty="0">
                <a:latin typeface="Times New Roman"/>
                <a:cs typeface="Times New Roman"/>
              </a:rPr>
              <a:t>nodes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route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move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until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it 	</a:t>
            </a:r>
            <a:r>
              <a:rPr sz="2000" dirty="0">
                <a:latin typeface="Times New Roman"/>
                <a:cs typeface="Times New Roman"/>
              </a:rPr>
              <a:t>reach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destination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</a:t>
            </a:r>
            <a:r>
              <a:rPr spc="-105" dirty="0"/>
              <a:t> </a:t>
            </a:r>
            <a:r>
              <a:rPr spc="-20" dirty="0"/>
              <a:t>Technologies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8589"/>
            <a:ext cx="4737735" cy="174371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scale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Local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10" dirty="0">
                <a:latin typeface="Times New Roman"/>
                <a:cs typeface="Times New Roman"/>
              </a:rPr>
              <a:t> (LAN)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Metropolitan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Area Network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(MAN)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35" dirty="0">
                <a:latin typeface="Times New Roman"/>
                <a:cs typeface="Times New Roman"/>
              </a:rPr>
              <a:t>Wide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Area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(WAN)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</a:t>
            </a:r>
            <a:r>
              <a:rPr spc="-105" dirty="0"/>
              <a:t> </a:t>
            </a:r>
            <a:r>
              <a:rPr spc="-20" dirty="0"/>
              <a:t>Technologies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/>
              <a:t>Based</a:t>
            </a:r>
            <a:r>
              <a:rPr spc="-20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10" dirty="0"/>
              <a:t>scale</a:t>
            </a: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pc="-25" dirty="0"/>
              <a:t>LAN</a:t>
            </a:r>
          </a:p>
          <a:p>
            <a:pPr marL="756285" lvl="1" indent="-286385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usually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privately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owned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ts val="2375"/>
              </a:lnSpc>
              <a:spcBef>
                <a:spcPts val="44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links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single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office,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building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campus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few</a:t>
            </a:r>
            <a:endParaRPr sz="2000">
              <a:latin typeface="Times New Roman"/>
              <a:cs typeface="Times New Roman"/>
            </a:endParaRPr>
          </a:p>
          <a:p>
            <a:pPr marL="756285">
              <a:lnSpc>
                <a:spcPts val="2375"/>
              </a:lnSpc>
            </a:pPr>
            <a:r>
              <a:rPr sz="2000" spc="-10" dirty="0"/>
              <a:t>distance</a:t>
            </a:r>
            <a:endParaRPr sz="2000"/>
          </a:p>
          <a:p>
            <a:pPr marL="756285" lvl="1" indent="-286385">
              <a:lnSpc>
                <a:spcPct val="100000"/>
              </a:lnSpc>
              <a:spcBef>
                <a:spcPts val="40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restricted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size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ts val="2375"/>
              </a:lnSpc>
              <a:spcBef>
                <a:spcPts val="44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run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speeds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100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Mbps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(but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now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much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higher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speeds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be</a:t>
            </a:r>
            <a:endParaRPr sz="2000">
              <a:latin typeface="Times New Roman"/>
              <a:cs typeface="Times New Roman"/>
            </a:endParaRPr>
          </a:p>
          <a:p>
            <a:pPr marL="756285">
              <a:lnSpc>
                <a:spcPts val="2375"/>
              </a:lnSpc>
            </a:pPr>
            <a:r>
              <a:rPr sz="2000" spc="-10" dirty="0"/>
              <a:t>achieved)</a:t>
            </a:r>
            <a:endParaRPr sz="2000"/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most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common topologies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bus,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star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</a:t>
            </a:r>
            <a:r>
              <a:rPr spc="-105" dirty="0"/>
              <a:t> </a:t>
            </a:r>
            <a:r>
              <a:rPr spc="-20" dirty="0"/>
              <a:t>Technologies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8589"/>
            <a:ext cx="6942455" cy="159956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scale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5" dirty="0">
                <a:latin typeface="Times New Roman"/>
                <a:cs typeface="Times New Roman"/>
              </a:rPr>
              <a:t>MAN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designed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extend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entire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city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single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LANs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</a:t>
            </a:r>
            <a:r>
              <a:rPr spc="-105" dirty="0"/>
              <a:t> </a:t>
            </a:r>
            <a:r>
              <a:rPr spc="-20" dirty="0"/>
              <a:t>Technologies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/>
              <a:t>Based</a:t>
            </a:r>
            <a:r>
              <a:rPr spc="-20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10" dirty="0"/>
              <a:t>scale</a:t>
            </a: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pc="-25" dirty="0"/>
              <a:t>WAN</a:t>
            </a:r>
          </a:p>
          <a:p>
            <a:pPr marL="756285" marR="5080" lvl="1" indent="-287020">
              <a:lnSpc>
                <a:spcPts val="2350"/>
              </a:lnSpc>
              <a:spcBef>
                <a:spcPts val="59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long-</a:t>
            </a:r>
            <a:r>
              <a:rPr sz="2000" dirty="0">
                <a:latin typeface="Times New Roman"/>
                <a:cs typeface="Times New Roman"/>
              </a:rPr>
              <a:t>distance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transmission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large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geographical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areas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comprise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country,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continent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globe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3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restricted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size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6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10" dirty="0"/>
              <a:t>network?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8589"/>
            <a:ext cx="8528685" cy="253936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latin typeface="Times New Roman"/>
                <a:cs typeface="Times New Roman"/>
              </a:rPr>
              <a:t>Every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includes: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least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nodes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cable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wireless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pathway,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Transmission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Media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820"/>
              </a:lnSpc>
              <a:spcBef>
                <a:spcPts val="695"/>
              </a:spcBef>
              <a:buFont typeface="Arial MT"/>
              <a:buChar char="•"/>
              <a:tabLst>
                <a:tab pos="355600" algn="l"/>
                <a:tab pos="1278890" algn="l"/>
                <a:tab pos="2157095" algn="l"/>
                <a:tab pos="3536315" algn="l"/>
                <a:tab pos="3961765" algn="l"/>
                <a:tab pos="4571365" algn="l"/>
                <a:tab pos="5993130" algn="l"/>
                <a:tab pos="6567805" algn="l"/>
                <a:tab pos="7129145" algn="l"/>
                <a:tab pos="7654925" algn="l"/>
              </a:tabLst>
            </a:pPr>
            <a:r>
              <a:rPr sz="2400" spc="-10" dirty="0">
                <a:latin typeface="Times New Roman"/>
                <a:cs typeface="Times New Roman"/>
              </a:rPr>
              <a:t>Rules,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called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Protocols,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so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that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computers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can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use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unified </a:t>
            </a:r>
            <a:r>
              <a:rPr sz="2400" dirty="0">
                <a:latin typeface="Times New Roman"/>
                <a:cs typeface="Times New Roman"/>
              </a:rPr>
              <a:t>principle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communication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Networking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Interface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Cards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(NIC)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Why</a:t>
            </a:r>
            <a:r>
              <a:rPr spc="-5" dirty="0"/>
              <a:t> </a:t>
            </a:r>
            <a:r>
              <a:rPr spc="-10" dirty="0"/>
              <a:t>Layered</a:t>
            </a:r>
            <a:r>
              <a:rPr spc="-200" dirty="0"/>
              <a:t> </a:t>
            </a:r>
            <a:r>
              <a:rPr spc="-10" dirty="0"/>
              <a:t>Architecture?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1070228"/>
            <a:ext cx="8531225" cy="3501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3060" marR="5715" indent="-340360" algn="just">
              <a:lnSpc>
                <a:spcPct val="99000"/>
              </a:lnSpc>
              <a:spcBef>
                <a:spcPts val="12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make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design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easy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by</a:t>
            </a:r>
            <a:r>
              <a:rPr sz="2400" u="heavy" spc="7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breaking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unmanageable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tasks 	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several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smaller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manageable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tasks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(by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divide-and-conquer 	approach)</a:t>
            </a:r>
            <a:endParaRPr sz="2400" dirty="0">
              <a:latin typeface="Times New Roman"/>
              <a:cs typeface="Times New Roman"/>
            </a:endParaRPr>
          </a:p>
          <a:p>
            <a:pPr marL="355600" marR="8255" indent="-342900">
              <a:lnSpc>
                <a:spcPts val="2820"/>
              </a:lnSpc>
              <a:spcBef>
                <a:spcPts val="710"/>
              </a:spcBef>
              <a:buFont typeface="Arial MT"/>
              <a:buChar char="•"/>
              <a:tabLst>
                <a:tab pos="355600" algn="l"/>
                <a:tab pos="1864360" algn="l"/>
                <a:tab pos="2444750" algn="l"/>
                <a:tab pos="3175000" algn="l"/>
                <a:tab pos="4574540" algn="l"/>
                <a:tab pos="4984750" algn="l"/>
                <a:tab pos="5379085" algn="l"/>
                <a:tab pos="5756910" algn="l"/>
                <a:tab pos="6826884" algn="l"/>
              </a:tabLst>
            </a:pPr>
            <a:r>
              <a:rPr sz="2400" spc="-10" dirty="0">
                <a:latin typeface="Times New Roman"/>
                <a:cs typeface="Times New Roman"/>
              </a:rPr>
              <a:t>Modularity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clear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interfaces,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so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provide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comparability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providers'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components</a:t>
            </a:r>
            <a:endParaRPr sz="24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830"/>
              </a:lnSpc>
              <a:spcBef>
                <a:spcPts val="605"/>
              </a:spcBef>
              <a:buFont typeface="Arial MT"/>
              <a:buChar char="•"/>
              <a:tabLst>
                <a:tab pos="355600" algn="l"/>
                <a:tab pos="1344295" algn="l"/>
                <a:tab pos="3159760" algn="l"/>
                <a:tab pos="3556000" algn="l"/>
                <a:tab pos="4502785" algn="l"/>
                <a:tab pos="4916170" algn="l"/>
                <a:tab pos="5514975" algn="l"/>
                <a:tab pos="7564755" algn="l"/>
                <a:tab pos="7959725" algn="l"/>
              </a:tabLst>
            </a:pPr>
            <a:r>
              <a:rPr sz="2400" spc="-10" dirty="0">
                <a:latin typeface="Times New Roman"/>
                <a:cs typeface="Times New Roman"/>
              </a:rPr>
              <a:t>Ensure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independence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layers,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so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that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implementation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each </a:t>
            </a:r>
            <a:r>
              <a:rPr sz="2400" dirty="0">
                <a:latin typeface="Times New Roman"/>
                <a:cs typeface="Times New Roman"/>
              </a:rPr>
              <a:t>layer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modified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without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affecting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layers</a:t>
            </a:r>
            <a:endParaRPr sz="2400" dirty="0">
              <a:latin typeface="Times New Roman"/>
              <a:cs typeface="Times New Roman"/>
            </a:endParaRPr>
          </a:p>
          <a:p>
            <a:pPr marL="355600" marR="6350" indent="-342900">
              <a:lnSpc>
                <a:spcPts val="2820"/>
              </a:lnSpc>
              <a:spcBef>
                <a:spcPts val="61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layer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analyzed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tested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independently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other layers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1758" y="2647823"/>
            <a:ext cx="6351905" cy="1602105"/>
          </a:xfrm>
          <a:custGeom>
            <a:avLst/>
            <a:gdLst/>
            <a:ahLst/>
            <a:cxnLst/>
            <a:rect l="l" t="t" r="r" b="b"/>
            <a:pathLst>
              <a:path w="6351905" h="1602104">
                <a:moveTo>
                  <a:pt x="0" y="0"/>
                </a:moveTo>
                <a:lnTo>
                  <a:pt x="3913619" y="1524"/>
                </a:lnTo>
              </a:path>
              <a:path w="6351905" h="1602104">
                <a:moveTo>
                  <a:pt x="1064501" y="827658"/>
                </a:moveTo>
                <a:lnTo>
                  <a:pt x="3737216" y="829182"/>
                </a:lnTo>
              </a:path>
              <a:path w="6351905" h="1602104">
                <a:moveTo>
                  <a:pt x="2438641" y="1600174"/>
                </a:moveTo>
                <a:lnTo>
                  <a:pt x="6351892" y="1601762"/>
                </a:lnTo>
              </a:path>
            </a:pathLst>
          </a:custGeom>
          <a:ln w="2844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45" dirty="0"/>
              <a:t> </a:t>
            </a:r>
            <a:r>
              <a:rPr dirty="0"/>
              <a:t>reference</a:t>
            </a:r>
            <a:r>
              <a:rPr spc="-50" dirty="0"/>
              <a:t> </a:t>
            </a:r>
            <a:r>
              <a:rPr spc="-10" dirty="0"/>
              <a:t>model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0976"/>
            <a:ext cx="8531225" cy="327914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OSI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stands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Interconnection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ts val="2850"/>
              </a:lnSpc>
              <a:spcBef>
                <a:spcPts val="565"/>
              </a:spcBef>
              <a:buFont typeface="Arial MT"/>
              <a:buChar char="•"/>
              <a:tabLst>
                <a:tab pos="354965" algn="l"/>
                <a:tab pos="682625" algn="l"/>
                <a:tab pos="1231900" algn="l"/>
                <a:tab pos="1945005" algn="l"/>
                <a:tab pos="3336925" algn="l"/>
                <a:tab pos="3783329" algn="l"/>
                <a:tab pos="4415790" algn="l"/>
                <a:tab pos="4709795" algn="l"/>
                <a:tab pos="6539230" algn="l"/>
                <a:tab pos="8263255" algn="l"/>
              </a:tabLst>
            </a:pPr>
            <a:r>
              <a:rPr sz="2400" spc="-25" dirty="0">
                <a:latin typeface="Times New Roman"/>
                <a:cs typeface="Times New Roman"/>
              </a:rPr>
              <a:t>It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has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been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developed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by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ISO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–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“International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Organization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ts val="2850"/>
              </a:lnSpc>
            </a:pPr>
            <a:r>
              <a:rPr sz="2400" spc="-10" dirty="0">
                <a:latin typeface="Times New Roman"/>
                <a:cs typeface="Times New Roman"/>
              </a:rPr>
              <a:t>Standardization”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7 layer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architecture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layer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responsible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functionality</a:t>
            </a:r>
            <a:endParaRPr sz="2400">
              <a:latin typeface="Times New Roman"/>
              <a:cs typeface="Times New Roman"/>
            </a:endParaRPr>
          </a:p>
          <a:p>
            <a:pPr marL="353060" marR="5080" indent="-340360" algn="just">
              <a:lnSpc>
                <a:spcPct val="99000"/>
              </a:lnSpc>
              <a:spcBef>
                <a:spcPts val="59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7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layers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collaboratively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transmit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from 	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end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(top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bottom)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receive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end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(bottom 	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top)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50" dirty="0"/>
              <a:t> </a:t>
            </a:r>
            <a:r>
              <a:rPr dirty="0"/>
              <a:t>reference</a:t>
            </a:r>
            <a:r>
              <a:rPr spc="-50" dirty="0"/>
              <a:t> </a:t>
            </a:r>
            <a:r>
              <a:rPr dirty="0"/>
              <a:t>model</a:t>
            </a:r>
            <a:r>
              <a:rPr spc="-40" dirty="0"/>
              <a:t> </a:t>
            </a:r>
            <a:r>
              <a:rPr spc="-10" dirty="0"/>
              <a:t>(terminology)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54965" algn="l"/>
              </a:tabLst>
            </a:pPr>
            <a:r>
              <a:rPr spc="-10" dirty="0"/>
              <a:t>Protocol</a:t>
            </a:r>
          </a:p>
          <a:p>
            <a:pPr marL="469900">
              <a:lnSpc>
                <a:spcPts val="2375"/>
              </a:lnSpc>
              <a:spcBef>
                <a:spcPts val="475"/>
              </a:spcBef>
              <a:tabLst>
                <a:tab pos="756285" algn="l"/>
                <a:tab pos="1067435" algn="l"/>
                <a:tab pos="1320165" algn="l"/>
                <a:tab pos="2136775" algn="l"/>
                <a:tab pos="2559050" algn="l"/>
                <a:tab pos="2911475" algn="l"/>
                <a:tab pos="3545840" algn="l"/>
                <a:tab pos="4053204" algn="l"/>
                <a:tab pos="5417185" algn="l"/>
                <a:tab pos="5938520" algn="l"/>
                <a:tab pos="6882130" algn="l"/>
                <a:tab pos="746315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/>
              <a:t>is</a:t>
            </a:r>
            <a:r>
              <a:rPr sz="2000" dirty="0"/>
              <a:t>	</a:t>
            </a:r>
            <a:r>
              <a:rPr sz="2000" spc="-50" dirty="0"/>
              <a:t>a</a:t>
            </a:r>
            <a:r>
              <a:rPr sz="2000" dirty="0"/>
              <a:t>	</a:t>
            </a:r>
            <a:r>
              <a:rPr sz="2000" u="heavy" spc="-10" dirty="0">
                <a:uFill>
                  <a:solidFill>
                    <a:srgbClr val="C00000"/>
                  </a:solidFill>
                </a:uFill>
              </a:rPr>
              <a:t>formal</a:t>
            </a:r>
            <a:r>
              <a:rPr sz="2000" u="heavy" dirty="0">
                <a:uFill>
                  <a:solidFill>
                    <a:srgbClr val="C00000"/>
                  </a:solidFill>
                </a:uFill>
              </a:rPr>
              <a:t>	</a:t>
            </a:r>
            <a:r>
              <a:rPr sz="2000" u="heavy" spc="-25" dirty="0">
                <a:uFill>
                  <a:solidFill>
                    <a:srgbClr val="C00000"/>
                  </a:solidFill>
                </a:uFill>
              </a:rPr>
              <a:t>set</a:t>
            </a:r>
            <a:r>
              <a:rPr sz="2000" u="heavy" dirty="0">
                <a:uFill>
                  <a:solidFill>
                    <a:srgbClr val="C00000"/>
                  </a:solidFill>
                </a:uFill>
              </a:rPr>
              <a:t>	</a:t>
            </a:r>
            <a:r>
              <a:rPr sz="2000" u="heavy" spc="-25" dirty="0">
                <a:uFill>
                  <a:solidFill>
                    <a:srgbClr val="C00000"/>
                  </a:solidFill>
                </a:uFill>
              </a:rPr>
              <a:t>of</a:t>
            </a:r>
            <a:r>
              <a:rPr sz="2000" u="heavy" dirty="0">
                <a:uFill>
                  <a:solidFill>
                    <a:srgbClr val="C00000"/>
                  </a:solidFill>
                </a:uFill>
              </a:rPr>
              <a:t>	</a:t>
            </a:r>
            <a:r>
              <a:rPr sz="2000" u="heavy" spc="-20" dirty="0">
                <a:uFill>
                  <a:solidFill>
                    <a:srgbClr val="C00000"/>
                  </a:solidFill>
                </a:uFill>
              </a:rPr>
              <a:t>rules</a:t>
            </a:r>
            <a:r>
              <a:rPr sz="2000" dirty="0"/>
              <a:t>	</a:t>
            </a:r>
            <a:r>
              <a:rPr sz="2000" spc="-25" dirty="0"/>
              <a:t>and</a:t>
            </a:r>
            <a:r>
              <a:rPr sz="2000" dirty="0"/>
              <a:t>	</a:t>
            </a:r>
            <a:r>
              <a:rPr sz="2000" spc="-10" dirty="0"/>
              <a:t>conventions</a:t>
            </a:r>
            <a:r>
              <a:rPr sz="2000" dirty="0"/>
              <a:t>	</a:t>
            </a:r>
            <a:r>
              <a:rPr sz="2000" spc="-20" dirty="0"/>
              <a:t>that</a:t>
            </a:r>
            <a:r>
              <a:rPr sz="2000" dirty="0"/>
              <a:t>	</a:t>
            </a:r>
            <a:r>
              <a:rPr sz="2000" spc="-10" dirty="0"/>
              <a:t>governs</a:t>
            </a:r>
            <a:r>
              <a:rPr sz="2000" dirty="0"/>
              <a:t>	</a:t>
            </a:r>
            <a:r>
              <a:rPr sz="2000" spc="-25" dirty="0"/>
              <a:t>how</a:t>
            </a:r>
            <a:r>
              <a:rPr sz="2000" dirty="0"/>
              <a:t>	</a:t>
            </a:r>
            <a:r>
              <a:rPr sz="2000" spc="-10" dirty="0"/>
              <a:t>computers</a:t>
            </a:r>
            <a:endParaRPr sz="2000">
              <a:latin typeface="Arial MT"/>
              <a:cs typeface="Arial MT"/>
            </a:endParaRPr>
          </a:p>
          <a:p>
            <a:pPr marL="756285">
              <a:lnSpc>
                <a:spcPts val="2375"/>
              </a:lnSpc>
            </a:pPr>
            <a:r>
              <a:rPr sz="2000" dirty="0"/>
              <a:t>exchange</a:t>
            </a:r>
            <a:r>
              <a:rPr sz="2000" spc="-60" dirty="0"/>
              <a:t> </a:t>
            </a:r>
            <a:r>
              <a:rPr sz="2000" dirty="0"/>
              <a:t>information</a:t>
            </a:r>
            <a:r>
              <a:rPr sz="2000" spc="-45" dirty="0"/>
              <a:t> </a:t>
            </a:r>
            <a:r>
              <a:rPr sz="2000" dirty="0"/>
              <a:t>over</a:t>
            </a:r>
            <a:r>
              <a:rPr sz="2000" spc="-30" dirty="0"/>
              <a:t> </a:t>
            </a:r>
            <a:r>
              <a:rPr sz="2000" dirty="0"/>
              <a:t>a network</a:t>
            </a:r>
            <a:r>
              <a:rPr sz="2000" spc="-30" dirty="0"/>
              <a:t> </a:t>
            </a:r>
            <a:r>
              <a:rPr sz="2000" spc="-10" dirty="0"/>
              <a:t>medium.</a:t>
            </a: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958977"/>
            <a:ext cx="9155430" cy="4182110"/>
            <a:chOff x="-6350" y="958977"/>
            <a:chExt cx="9155430" cy="41821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6602" y="971677"/>
              <a:ext cx="2141855" cy="3938270"/>
            </a:xfrm>
            <a:custGeom>
              <a:avLst/>
              <a:gdLst/>
              <a:ahLst/>
              <a:cxnLst/>
              <a:rect l="l" t="t" r="r" b="b"/>
              <a:pathLst>
                <a:path w="2141855" h="3938270">
                  <a:moveTo>
                    <a:pt x="2882" y="63373"/>
                  </a:moveTo>
                  <a:lnTo>
                    <a:pt x="7865" y="38683"/>
                  </a:lnTo>
                  <a:lnTo>
                    <a:pt x="21453" y="18542"/>
                  </a:lnTo>
                  <a:lnTo>
                    <a:pt x="41609" y="4972"/>
                  </a:lnTo>
                  <a:lnTo>
                    <a:pt x="66293" y="0"/>
                  </a:lnTo>
                  <a:lnTo>
                    <a:pt x="2072843" y="0"/>
                  </a:lnTo>
                  <a:lnTo>
                    <a:pt x="2097532" y="4972"/>
                  </a:lnTo>
                  <a:lnTo>
                    <a:pt x="2117674" y="18542"/>
                  </a:lnTo>
                  <a:lnTo>
                    <a:pt x="2131243" y="38683"/>
                  </a:lnTo>
                  <a:lnTo>
                    <a:pt x="2136216" y="63373"/>
                  </a:lnTo>
                  <a:lnTo>
                    <a:pt x="2136216" y="317119"/>
                  </a:lnTo>
                  <a:lnTo>
                    <a:pt x="2131243" y="341755"/>
                  </a:lnTo>
                  <a:lnTo>
                    <a:pt x="2117674" y="361902"/>
                  </a:lnTo>
                  <a:lnTo>
                    <a:pt x="2097532" y="375501"/>
                  </a:lnTo>
                  <a:lnTo>
                    <a:pt x="2072843" y="380492"/>
                  </a:lnTo>
                  <a:lnTo>
                    <a:pt x="66293" y="380492"/>
                  </a:lnTo>
                  <a:lnTo>
                    <a:pt x="41609" y="375501"/>
                  </a:lnTo>
                  <a:lnTo>
                    <a:pt x="21453" y="361902"/>
                  </a:lnTo>
                  <a:lnTo>
                    <a:pt x="7865" y="341755"/>
                  </a:lnTo>
                  <a:lnTo>
                    <a:pt x="2882" y="317119"/>
                  </a:lnTo>
                  <a:lnTo>
                    <a:pt x="2882" y="63373"/>
                  </a:lnTo>
                  <a:close/>
                </a:path>
                <a:path w="2141855" h="3938270">
                  <a:moveTo>
                    <a:pt x="5041" y="656336"/>
                  </a:moveTo>
                  <a:lnTo>
                    <a:pt x="10024" y="631626"/>
                  </a:lnTo>
                  <a:lnTo>
                    <a:pt x="23612" y="611441"/>
                  </a:lnTo>
                  <a:lnTo>
                    <a:pt x="43768" y="597828"/>
                  </a:lnTo>
                  <a:lnTo>
                    <a:pt x="68453" y="592836"/>
                  </a:lnTo>
                  <a:lnTo>
                    <a:pt x="2075002" y="592836"/>
                  </a:lnTo>
                  <a:lnTo>
                    <a:pt x="2099691" y="597828"/>
                  </a:lnTo>
                  <a:lnTo>
                    <a:pt x="2119833" y="611441"/>
                  </a:lnTo>
                  <a:lnTo>
                    <a:pt x="2133402" y="631626"/>
                  </a:lnTo>
                  <a:lnTo>
                    <a:pt x="2138375" y="656336"/>
                  </a:lnTo>
                  <a:lnTo>
                    <a:pt x="2138375" y="909955"/>
                  </a:lnTo>
                  <a:lnTo>
                    <a:pt x="2133402" y="934664"/>
                  </a:lnTo>
                  <a:lnTo>
                    <a:pt x="2119833" y="954849"/>
                  </a:lnTo>
                  <a:lnTo>
                    <a:pt x="2099691" y="968462"/>
                  </a:lnTo>
                  <a:lnTo>
                    <a:pt x="2075002" y="973455"/>
                  </a:lnTo>
                  <a:lnTo>
                    <a:pt x="68453" y="973455"/>
                  </a:lnTo>
                  <a:lnTo>
                    <a:pt x="43768" y="968462"/>
                  </a:lnTo>
                  <a:lnTo>
                    <a:pt x="23612" y="954849"/>
                  </a:lnTo>
                  <a:lnTo>
                    <a:pt x="10024" y="934664"/>
                  </a:lnTo>
                  <a:lnTo>
                    <a:pt x="5041" y="909955"/>
                  </a:lnTo>
                  <a:lnTo>
                    <a:pt x="5041" y="656336"/>
                  </a:lnTo>
                  <a:close/>
                </a:path>
                <a:path w="2141855" h="3938270">
                  <a:moveTo>
                    <a:pt x="6121" y="1249172"/>
                  </a:moveTo>
                  <a:lnTo>
                    <a:pt x="11103" y="1224535"/>
                  </a:lnTo>
                  <a:lnTo>
                    <a:pt x="24691" y="1204388"/>
                  </a:lnTo>
                  <a:lnTo>
                    <a:pt x="44847" y="1190789"/>
                  </a:lnTo>
                  <a:lnTo>
                    <a:pt x="69532" y="1185799"/>
                  </a:lnTo>
                  <a:lnTo>
                    <a:pt x="2076018" y="1185799"/>
                  </a:lnTo>
                  <a:lnTo>
                    <a:pt x="2100727" y="1190789"/>
                  </a:lnTo>
                  <a:lnTo>
                    <a:pt x="2120912" y="1204388"/>
                  </a:lnTo>
                  <a:lnTo>
                    <a:pt x="2134525" y="1224535"/>
                  </a:lnTo>
                  <a:lnTo>
                    <a:pt x="2139518" y="1249172"/>
                  </a:lnTo>
                  <a:lnTo>
                    <a:pt x="2139518" y="1502918"/>
                  </a:lnTo>
                  <a:lnTo>
                    <a:pt x="2134525" y="1527607"/>
                  </a:lnTo>
                  <a:lnTo>
                    <a:pt x="2120912" y="1547749"/>
                  </a:lnTo>
                  <a:lnTo>
                    <a:pt x="2100727" y="1561318"/>
                  </a:lnTo>
                  <a:lnTo>
                    <a:pt x="2076018" y="1566291"/>
                  </a:lnTo>
                  <a:lnTo>
                    <a:pt x="69532" y="1566291"/>
                  </a:lnTo>
                  <a:lnTo>
                    <a:pt x="44847" y="1561318"/>
                  </a:lnTo>
                  <a:lnTo>
                    <a:pt x="24691" y="1547749"/>
                  </a:lnTo>
                  <a:lnTo>
                    <a:pt x="11103" y="1527607"/>
                  </a:lnTo>
                  <a:lnTo>
                    <a:pt x="6121" y="1502918"/>
                  </a:lnTo>
                  <a:lnTo>
                    <a:pt x="6121" y="1249172"/>
                  </a:lnTo>
                  <a:close/>
                </a:path>
                <a:path w="2141855" h="3938270">
                  <a:moveTo>
                    <a:pt x="7912" y="1842135"/>
                  </a:moveTo>
                  <a:lnTo>
                    <a:pt x="12896" y="1817445"/>
                  </a:lnTo>
                  <a:lnTo>
                    <a:pt x="26489" y="1797304"/>
                  </a:lnTo>
                  <a:lnTo>
                    <a:pt x="46649" y="1783734"/>
                  </a:lnTo>
                  <a:lnTo>
                    <a:pt x="71335" y="1778762"/>
                  </a:lnTo>
                  <a:lnTo>
                    <a:pt x="2077796" y="1778762"/>
                  </a:lnTo>
                  <a:lnTo>
                    <a:pt x="2102505" y="1783734"/>
                  </a:lnTo>
                  <a:lnTo>
                    <a:pt x="2122690" y="1797304"/>
                  </a:lnTo>
                  <a:lnTo>
                    <a:pt x="2136303" y="1817445"/>
                  </a:lnTo>
                  <a:lnTo>
                    <a:pt x="2141296" y="1842135"/>
                  </a:lnTo>
                  <a:lnTo>
                    <a:pt x="2141296" y="2095881"/>
                  </a:lnTo>
                  <a:lnTo>
                    <a:pt x="2136303" y="2120517"/>
                  </a:lnTo>
                  <a:lnTo>
                    <a:pt x="2122690" y="2140664"/>
                  </a:lnTo>
                  <a:lnTo>
                    <a:pt x="2102505" y="2154263"/>
                  </a:lnTo>
                  <a:lnTo>
                    <a:pt x="2077796" y="2159254"/>
                  </a:lnTo>
                  <a:lnTo>
                    <a:pt x="71335" y="2159254"/>
                  </a:lnTo>
                  <a:lnTo>
                    <a:pt x="46649" y="2154263"/>
                  </a:lnTo>
                  <a:lnTo>
                    <a:pt x="26489" y="2140664"/>
                  </a:lnTo>
                  <a:lnTo>
                    <a:pt x="12896" y="2120517"/>
                  </a:lnTo>
                  <a:lnTo>
                    <a:pt x="7912" y="2095881"/>
                  </a:lnTo>
                  <a:lnTo>
                    <a:pt x="7912" y="1842135"/>
                  </a:lnTo>
                  <a:close/>
                </a:path>
                <a:path w="2141855" h="3938270">
                  <a:moveTo>
                    <a:pt x="0" y="2435098"/>
                  </a:moveTo>
                  <a:lnTo>
                    <a:pt x="4984" y="2410388"/>
                  </a:lnTo>
                  <a:lnTo>
                    <a:pt x="18576" y="2390203"/>
                  </a:lnTo>
                  <a:lnTo>
                    <a:pt x="38736" y="2376590"/>
                  </a:lnTo>
                  <a:lnTo>
                    <a:pt x="63423" y="2371598"/>
                  </a:lnTo>
                  <a:lnTo>
                    <a:pt x="2069922" y="2371598"/>
                  </a:lnTo>
                  <a:lnTo>
                    <a:pt x="2094611" y="2376590"/>
                  </a:lnTo>
                  <a:lnTo>
                    <a:pt x="2114753" y="2390203"/>
                  </a:lnTo>
                  <a:lnTo>
                    <a:pt x="2128322" y="2410388"/>
                  </a:lnTo>
                  <a:lnTo>
                    <a:pt x="2133295" y="2435098"/>
                  </a:lnTo>
                  <a:lnTo>
                    <a:pt x="2133295" y="2688717"/>
                  </a:lnTo>
                  <a:lnTo>
                    <a:pt x="2128322" y="2713426"/>
                  </a:lnTo>
                  <a:lnTo>
                    <a:pt x="2114753" y="2733611"/>
                  </a:lnTo>
                  <a:lnTo>
                    <a:pt x="2094611" y="2747224"/>
                  </a:lnTo>
                  <a:lnTo>
                    <a:pt x="2069922" y="2752217"/>
                  </a:lnTo>
                  <a:lnTo>
                    <a:pt x="63423" y="2752217"/>
                  </a:lnTo>
                  <a:lnTo>
                    <a:pt x="38736" y="2747224"/>
                  </a:lnTo>
                  <a:lnTo>
                    <a:pt x="18576" y="2733611"/>
                  </a:lnTo>
                  <a:lnTo>
                    <a:pt x="4984" y="2713426"/>
                  </a:lnTo>
                  <a:lnTo>
                    <a:pt x="0" y="2688717"/>
                  </a:lnTo>
                  <a:lnTo>
                    <a:pt x="0" y="2435098"/>
                  </a:lnTo>
                  <a:close/>
                </a:path>
                <a:path w="2141855" h="3938270">
                  <a:moveTo>
                    <a:pt x="1079" y="3027984"/>
                  </a:moveTo>
                  <a:lnTo>
                    <a:pt x="6063" y="3003297"/>
                  </a:lnTo>
                  <a:lnTo>
                    <a:pt x="19656" y="2983137"/>
                  </a:lnTo>
                  <a:lnTo>
                    <a:pt x="39816" y="2969545"/>
                  </a:lnTo>
                  <a:lnTo>
                    <a:pt x="64503" y="2964561"/>
                  </a:lnTo>
                  <a:lnTo>
                    <a:pt x="2071065" y="2964561"/>
                  </a:lnTo>
                  <a:lnTo>
                    <a:pt x="2095701" y="2969545"/>
                  </a:lnTo>
                  <a:lnTo>
                    <a:pt x="2115848" y="2983137"/>
                  </a:lnTo>
                  <a:lnTo>
                    <a:pt x="2129447" y="3003297"/>
                  </a:lnTo>
                  <a:lnTo>
                    <a:pt x="2134438" y="3027984"/>
                  </a:lnTo>
                  <a:lnTo>
                    <a:pt x="2134438" y="3281667"/>
                  </a:lnTo>
                  <a:lnTo>
                    <a:pt x="2129447" y="3306352"/>
                  </a:lnTo>
                  <a:lnTo>
                    <a:pt x="2115848" y="3326507"/>
                  </a:lnTo>
                  <a:lnTo>
                    <a:pt x="2095701" y="3340096"/>
                  </a:lnTo>
                  <a:lnTo>
                    <a:pt x="2071065" y="3345078"/>
                  </a:lnTo>
                  <a:lnTo>
                    <a:pt x="64503" y="3345078"/>
                  </a:lnTo>
                  <a:lnTo>
                    <a:pt x="39816" y="3340096"/>
                  </a:lnTo>
                  <a:lnTo>
                    <a:pt x="19656" y="3326507"/>
                  </a:lnTo>
                  <a:lnTo>
                    <a:pt x="6063" y="3306352"/>
                  </a:lnTo>
                  <a:lnTo>
                    <a:pt x="1079" y="3281667"/>
                  </a:lnTo>
                  <a:lnTo>
                    <a:pt x="1079" y="3027984"/>
                  </a:lnTo>
                  <a:close/>
                </a:path>
                <a:path w="2141855" h="3938270">
                  <a:moveTo>
                    <a:pt x="2882" y="3620909"/>
                  </a:moveTo>
                  <a:lnTo>
                    <a:pt x="7865" y="3596222"/>
                  </a:lnTo>
                  <a:lnTo>
                    <a:pt x="21453" y="3576062"/>
                  </a:lnTo>
                  <a:lnTo>
                    <a:pt x="41609" y="3562470"/>
                  </a:lnTo>
                  <a:lnTo>
                    <a:pt x="66293" y="3557485"/>
                  </a:lnTo>
                  <a:lnTo>
                    <a:pt x="2072843" y="3557485"/>
                  </a:lnTo>
                  <a:lnTo>
                    <a:pt x="2097532" y="3562470"/>
                  </a:lnTo>
                  <a:lnTo>
                    <a:pt x="2117674" y="3576062"/>
                  </a:lnTo>
                  <a:lnTo>
                    <a:pt x="2131243" y="3596222"/>
                  </a:lnTo>
                  <a:lnTo>
                    <a:pt x="2136216" y="3620909"/>
                  </a:lnTo>
                  <a:lnTo>
                    <a:pt x="2136216" y="3874579"/>
                  </a:lnTo>
                  <a:lnTo>
                    <a:pt x="2131243" y="3899266"/>
                  </a:lnTo>
                  <a:lnTo>
                    <a:pt x="2117674" y="3919426"/>
                  </a:lnTo>
                  <a:lnTo>
                    <a:pt x="2097532" y="3933018"/>
                  </a:lnTo>
                  <a:lnTo>
                    <a:pt x="2072843" y="3938003"/>
                  </a:lnTo>
                  <a:lnTo>
                    <a:pt x="66293" y="3938003"/>
                  </a:lnTo>
                  <a:lnTo>
                    <a:pt x="41609" y="3933018"/>
                  </a:lnTo>
                  <a:lnTo>
                    <a:pt x="21453" y="3919426"/>
                  </a:lnTo>
                  <a:lnTo>
                    <a:pt x="7865" y="3899266"/>
                  </a:lnTo>
                  <a:lnTo>
                    <a:pt x="2882" y="3874579"/>
                  </a:lnTo>
                  <a:lnTo>
                    <a:pt x="2882" y="362090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45" dirty="0"/>
              <a:t> </a:t>
            </a:r>
            <a:r>
              <a:rPr dirty="0"/>
              <a:t>reference</a:t>
            </a:r>
            <a:r>
              <a:rPr spc="-50" dirty="0"/>
              <a:t> </a:t>
            </a:r>
            <a:r>
              <a:rPr spc="-10" dirty="0"/>
              <a:t>model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03554" y="1004696"/>
            <a:ext cx="1745614" cy="3858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Application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  <a:p>
            <a:pPr marL="12065" marR="5080" algn="ctr">
              <a:lnSpc>
                <a:spcPct val="216200"/>
              </a:lnSpc>
            </a:pPr>
            <a:r>
              <a:rPr sz="1800" dirty="0">
                <a:latin typeface="Times New Roman"/>
                <a:cs typeface="Times New Roman"/>
              </a:rPr>
              <a:t>Presentation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 </a:t>
            </a:r>
            <a:r>
              <a:rPr sz="1800" dirty="0">
                <a:latin typeface="Times New Roman"/>
                <a:cs typeface="Times New Roman"/>
              </a:rPr>
              <a:t>Session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 </a:t>
            </a:r>
            <a:r>
              <a:rPr sz="1800" dirty="0">
                <a:latin typeface="Times New Roman"/>
                <a:cs typeface="Times New Roman"/>
              </a:rPr>
              <a:t>Transport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 </a:t>
            </a:r>
            <a:r>
              <a:rPr sz="1800" dirty="0">
                <a:latin typeface="Times New Roman"/>
                <a:cs typeface="Times New Roman"/>
              </a:rPr>
              <a:t>Network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link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 </a:t>
            </a:r>
            <a:r>
              <a:rPr sz="1800" dirty="0">
                <a:latin typeface="Times New Roman"/>
                <a:cs typeface="Times New Roman"/>
              </a:rPr>
              <a:t>Physical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36141" y="1352422"/>
            <a:ext cx="82550" cy="3176905"/>
            <a:chOff x="1636141" y="1352422"/>
            <a:chExt cx="82550" cy="317690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9570" y="1352422"/>
              <a:ext cx="76200" cy="21183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1221" y="1945385"/>
              <a:ext cx="76200" cy="21170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42491" y="2538222"/>
              <a:ext cx="76200" cy="2118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37157" y="3130803"/>
              <a:ext cx="76200" cy="21221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36141" y="3724147"/>
              <a:ext cx="76200" cy="21173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37411" y="4317009"/>
              <a:ext cx="76200" cy="211785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958977"/>
            <a:ext cx="9155430" cy="4182110"/>
            <a:chOff x="-6350" y="958977"/>
            <a:chExt cx="9155430" cy="41821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3902" y="958977"/>
              <a:ext cx="2166696" cy="3963403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50" dirty="0"/>
              <a:t> </a:t>
            </a:r>
            <a:r>
              <a:rPr dirty="0"/>
              <a:t>reference</a:t>
            </a:r>
            <a:r>
              <a:rPr spc="-50" dirty="0"/>
              <a:t> </a:t>
            </a:r>
            <a:r>
              <a:rPr dirty="0"/>
              <a:t>model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its</a:t>
            </a:r>
            <a:r>
              <a:rPr spc="-25" dirty="0"/>
              <a:t> </a:t>
            </a:r>
            <a:r>
              <a:rPr spc="-10" dirty="0"/>
              <a:t>services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27328" y="1004696"/>
            <a:ext cx="1696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Application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55975" y="1070228"/>
            <a:ext cx="5481955" cy="1553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marR="5080" indent="-3403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3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layer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3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responsible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generate</a:t>
            </a:r>
            <a:r>
              <a:rPr sz="2400" spc="3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	</a:t>
            </a:r>
            <a:r>
              <a:rPr sz="2400" dirty="0">
                <a:latin typeface="Times New Roman"/>
                <a:cs typeface="Times New Roman"/>
              </a:rPr>
              <a:t>data,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transferred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	</a:t>
            </a:r>
            <a:r>
              <a:rPr sz="2400" spc="-10" dirty="0">
                <a:latin typeface="Times New Roman"/>
                <a:cs typeface="Times New Roman"/>
              </a:rPr>
              <a:t>network</a:t>
            </a:r>
            <a:endParaRPr sz="2400">
              <a:latin typeface="Times New Roman"/>
              <a:cs typeface="Times New Roman"/>
            </a:endParaRPr>
          </a:p>
          <a:p>
            <a:pPr marL="353060" indent="-340360" algn="just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dirty="0">
                <a:latin typeface="Times New Roman"/>
                <a:cs typeface="Times New Roman"/>
              </a:rPr>
              <a:t>Eg: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browser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958977"/>
            <a:ext cx="9155430" cy="4182110"/>
            <a:chOff x="-6350" y="958977"/>
            <a:chExt cx="9155430" cy="41821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3902" y="958977"/>
              <a:ext cx="2166696" cy="3963403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50" dirty="0"/>
              <a:t> </a:t>
            </a:r>
            <a:r>
              <a:rPr dirty="0"/>
              <a:t>reference</a:t>
            </a:r>
            <a:r>
              <a:rPr spc="-50" dirty="0"/>
              <a:t> </a:t>
            </a:r>
            <a:r>
              <a:rPr dirty="0"/>
              <a:t>model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its</a:t>
            </a:r>
            <a:r>
              <a:rPr spc="-25" dirty="0"/>
              <a:t> </a:t>
            </a:r>
            <a:r>
              <a:rPr spc="-10" dirty="0"/>
              <a:t>services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03554" y="1597914"/>
            <a:ext cx="17456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Presentation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55975" y="1070228"/>
            <a:ext cx="5482590" cy="3354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marR="5080" indent="-3403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application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layer</a:t>
            </a:r>
            <a:r>
              <a:rPr sz="2400" spc="55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is 	</a:t>
            </a:r>
            <a:r>
              <a:rPr sz="2400" dirty="0">
                <a:latin typeface="Times New Roman"/>
                <a:cs typeface="Times New Roman"/>
              </a:rPr>
              <a:t>extracted</a:t>
            </a:r>
            <a:r>
              <a:rPr sz="2400" spc="4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here</a:t>
            </a:r>
            <a:r>
              <a:rPr sz="2400" spc="4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45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converted</a:t>
            </a:r>
            <a:r>
              <a:rPr sz="2400" spc="4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4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</a:t>
            </a:r>
            <a:r>
              <a:rPr sz="2400" spc="4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	</a:t>
            </a:r>
            <a:r>
              <a:rPr sz="2400" dirty="0">
                <a:latin typeface="Times New Roman"/>
                <a:cs typeface="Times New Roman"/>
              </a:rPr>
              <a:t>required</a:t>
            </a:r>
            <a:r>
              <a:rPr sz="2400" spc="29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format</a:t>
            </a:r>
            <a:r>
              <a:rPr sz="2400" spc="2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transmit</a:t>
            </a:r>
            <a:r>
              <a:rPr sz="2400" spc="29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290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the 	</a:t>
            </a:r>
            <a:r>
              <a:rPr sz="2400" spc="-10" dirty="0">
                <a:latin typeface="Times New Roman"/>
                <a:cs typeface="Times New Roman"/>
              </a:rPr>
              <a:t>network</a:t>
            </a:r>
            <a:endParaRPr sz="2400">
              <a:latin typeface="Times New Roman"/>
              <a:cs typeface="Times New Roman"/>
            </a:endParaRPr>
          </a:p>
          <a:p>
            <a:pPr marL="353060" indent="-340360" algn="just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functions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presentation  </a:t>
            </a:r>
            <a:r>
              <a:rPr sz="2400" spc="-10" dirty="0">
                <a:latin typeface="Times New Roman"/>
                <a:cs typeface="Times New Roman"/>
              </a:rPr>
              <a:t>layer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latin typeface="Times New Roman"/>
                <a:cs typeface="Times New Roman"/>
              </a:rPr>
              <a:t>Translation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Encryption/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Decryption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latin typeface="Times New Roman"/>
                <a:cs typeface="Times New Roman"/>
              </a:rPr>
              <a:t>Compression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958977"/>
            <a:ext cx="9155430" cy="4182110"/>
            <a:chOff x="-6350" y="958977"/>
            <a:chExt cx="9155430" cy="41821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3902" y="958977"/>
              <a:ext cx="2166696" cy="3963403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50" dirty="0"/>
              <a:t> </a:t>
            </a:r>
            <a:r>
              <a:rPr dirty="0"/>
              <a:t>reference</a:t>
            </a:r>
            <a:r>
              <a:rPr spc="-50" dirty="0"/>
              <a:t> </a:t>
            </a:r>
            <a:r>
              <a:rPr dirty="0"/>
              <a:t>model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its</a:t>
            </a:r>
            <a:r>
              <a:rPr spc="-25" dirty="0"/>
              <a:t> </a:t>
            </a:r>
            <a:r>
              <a:rPr spc="-10" dirty="0"/>
              <a:t>services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21181" y="1070228"/>
            <a:ext cx="7816850" cy="1420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7320" marR="5080" indent="-3403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689860" algn="l"/>
              </a:tabLst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380" dirty="0">
                <a:latin typeface="Times New Roman"/>
                <a:cs typeface="Times New Roman"/>
              </a:rPr>
              <a:t>    </a:t>
            </a:r>
            <a:r>
              <a:rPr sz="2400" dirty="0">
                <a:latin typeface="Times New Roman"/>
                <a:cs typeface="Times New Roman"/>
              </a:rPr>
              <a:t>layer</a:t>
            </a:r>
            <a:r>
              <a:rPr sz="2400" spc="390" dirty="0">
                <a:latin typeface="Times New Roman"/>
                <a:cs typeface="Times New Roman"/>
              </a:rPr>
              <a:t>   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385" dirty="0">
                <a:latin typeface="Times New Roman"/>
                <a:cs typeface="Times New Roman"/>
              </a:rPr>
              <a:t>    </a:t>
            </a:r>
            <a:r>
              <a:rPr sz="2400" dirty="0">
                <a:latin typeface="Times New Roman"/>
                <a:cs typeface="Times New Roman"/>
              </a:rPr>
              <a:t>responsible</a:t>
            </a:r>
            <a:r>
              <a:rPr sz="2400" spc="380" dirty="0">
                <a:latin typeface="Times New Roman"/>
                <a:cs typeface="Times New Roman"/>
              </a:rPr>
              <a:t>    </a:t>
            </a:r>
            <a:r>
              <a:rPr sz="2400" spc="-25" dirty="0">
                <a:latin typeface="Times New Roman"/>
                <a:cs typeface="Times New Roman"/>
              </a:rPr>
              <a:t>for 	</a:t>
            </a:r>
            <a:r>
              <a:rPr sz="2400" dirty="0">
                <a:latin typeface="Times New Roman"/>
                <a:cs typeface="Times New Roman"/>
              </a:rPr>
              <a:t>establishment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connection,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maintenance 	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sessions,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authentication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security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800" dirty="0">
                <a:latin typeface="Times New Roman"/>
                <a:cs typeface="Times New Roman"/>
              </a:rPr>
              <a:t>Session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958977"/>
            <a:ext cx="9155430" cy="4182110"/>
            <a:chOff x="-6350" y="958977"/>
            <a:chExt cx="9155430" cy="41821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3902" y="958977"/>
              <a:ext cx="2166696" cy="3963403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50" dirty="0"/>
              <a:t> </a:t>
            </a:r>
            <a:r>
              <a:rPr dirty="0"/>
              <a:t>reference</a:t>
            </a:r>
            <a:r>
              <a:rPr spc="-50" dirty="0"/>
              <a:t> </a:t>
            </a:r>
            <a:r>
              <a:rPr dirty="0"/>
              <a:t>model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its</a:t>
            </a:r>
            <a:r>
              <a:rPr spc="-25" dirty="0"/>
              <a:t> </a:t>
            </a:r>
            <a:r>
              <a:rPr spc="-10" dirty="0"/>
              <a:t>services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31570" y="2783789"/>
            <a:ext cx="1498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Transport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55975" y="1083690"/>
            <a:ext cx="5481955" cy="1297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transport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layer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referred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as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segments</a:t>
            </a:r>
            <a:endParaRPr sz="2000">
              <a:latin typeface="Times New Roman"/>
              <a:cs typeface="Times New Roman"/>
            </a:endParaRPr>
          </a:p>
          <a:p>
            <a:pPr marL="355600" marR="7620" indent="-342900">
              <a:lnSpc>
                <a:spcPct val="100499"/>
              </a:lnSpc>
              <a:spcBef>
                <a:spcPts val="385"/>
              </a:spcBef>
              <a:buChar char="•"/>
              <a:tabLst>
                <a:tab pos="355600" algn="l"/>
                <a:tab pos="419100" algn="l"/>
              </a:tabLst>
            </a:pP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responsible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End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End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delivery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complete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message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55975" y="2405252"/>
            <a:ext cx="200913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1096010" algn="l"/>
              </a:tabLst>
            </a:pP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transport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98875" y="2710434"/>
            <a:ext cx="18713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imes New Roman"/>
                <a:cs typeface="Times New Roman"/>
              </a:rPr>
              <a:t>acknowledgement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83377" y="2405252"/>
            <a:ext cx="315531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" marR="5080" indent="-181610">
              <a:lnSpc>
                <a:spcPct val="100000"/>
              </a:lnSpc>
              <a:spcBef>
                <a:spcPts val="100"/>
              </a:spcBef>
              <a:tabLst>
                <a:tab pos="727710" algn="l"/>
                <a:tab pos="862965" algn="l"/>
                <a:tab pos="1356995" algn="l"/>
                <a:tab pos="1614170" algn="l"/>
                <a:tab pos="2717800" algn="l"/>
                <a:tab pos="2830830" algn="l"/>
              </a:tabLst>
            </a:pPr>
            <a:r>
              <a:rPr sz="2000" spc="-10" dirty="0">
                <a:latin typeface="Times New Roman"/>
                <a:cs typeface="Times New Roman"/>
              </a:rPr>
              <a:t>layer</a:t>
            </a:r>
            <a:r>
              <a:rPr sz="2000" dirty="0">
                <a:latin typeface="Times New Roman"/>
                <a:cs typeface="Times New Roman"/>
              </a:rPr>
              <a:t>		</a:t>
            </a:r>
            <a:r>
              <a:rPr sz="2000" spc="-20" dirty="0">
                <a:latin typeface="Times New Roman"/>
                <a:cs typeface="Times New Roman"/>
              </a:rPr>
              <a:t>also</a:t>
            </a:r>
            <a:r>
              <a:rPr sz="2000" dirty="0">
                <a:latin typeface="Times New Roman"/>
                <a:cs typeface="Times New Roman"/>
              </a:rPr>
              <a:t>		</a:t>
            </a:r>
            <a:r>
              <a:rPr sz="2000" spc="-10" dirty="0">
                <a:latin typeface="Times New Roman"/>
                <a:cs typeface="Times New Roman"/>
              </a:rPr>
              <a:t>provides</a:t>
            </a:r>
            <a:r>
              <a:rPr sz="2000" dirty="0">
                <a:latin typeface="Times New Roman"/>
                <a:cs typeface="Times New Roman"/>
              </a:rPr>
              <a:t>		</a:t>
            </a:r>
            <a:r>
              <a:rPr sz="2000" spc="-25" dirty="0">
                <a:latin typeface="Times New Roman"/>
                <a:cs typeface="Times New Roman"/>
              </a:rPr>
              <a:t>the of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successful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55975" y="3015234"/>
            <a:ext cx="5481955" cy="1642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transmission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re-</a:t>
            </a:r>
            <a:r>
              <a:rPr sz="2000" dirty="0">
                <a:latin typeface="Times New Roman"/>
                <a:cs typeface="Times New Roman"/>
              </a:rPr>
              <a:t>transmits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error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found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20" dirty="0">
                <a:latin typeface="Times New Roman"/>
                <a:cs typeface="Times New Roman"/>
              </a:rPr>
              <a:t>Two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services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provided: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5"/>
              </a:spcBef>
              <a:buFont typeface="Arial MT"/>
              <a:buChar char="–"/>
              <a:tabLst>
                <a:tab pos="756285" algn="l"/>
              </a:tabLst>
            </a:pPr>
            <a:r>
              <a:rPr sz="1800" dirty="0">
                <a:latin typeface="Times New Roman"/>
                <a:cs typeface="Times New Roman"/>
              </a:rPr>
              <a:t>Connection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oriented</a:t>
            </a:r>
            <a:endParaRPr sz="18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5"/>
              </a:spcBef>
              <a:buFont typeface="Arial MT"/>
              <a:buChar char="–"/>
              <a:tabLst>
                <a:tab pos="756285" algn="l"/>
              </a:tabLst>
            </a:pPr>
            <a:r>
              <a:rPr sz="1800" dirty="0">
                <a:latin typeface="Times New Roman"/>
                <a:cs typeface="Times New Roman"/>
              </a:rPr>
              <a:t>Connection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less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958977"/>
            <a:ext cx="9155430" cy="4182110"/>
            <a:chOff x="-6350" y="958977"/>
            <a:chExt cx="9155430" cy="41821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3902" y="958977"/>
              <a:ext cx="2166696" cy="3963403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50" dirty="0"/>
              <a:t> </a:t>
            </a:r>
            <a:r>
              <a:rPr dirty="0"/>
              <a:t>reference</a:t>
            </a:r>
            <a:r>
              <a:rPr spc="-50" dirty="0"/>
              <a:t> </a:t>
            </a:r>
            <a:r>
              <a:rPr dirty="0"/>
              <a:t>model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its</a:t>
            </a:r>
            <a:r>
              <a:rPr spc="-25" dirty="0"/>
              <a:t> </a:t>
            </a:r>
            <a:r>
              <a:rPr spc="-10" dirty="0"/>
              <a:t>services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63269" y="1070228"/>
            <a:ext cx="7875270" cy="260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48280" marR="571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748280" algn="l"/>
              </a:tabLst>
            </a:pP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layer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works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transmission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  <a:p>
            <a:pPr marL="2748280" marR="5080" indent="-342900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748280" algn="l"/>
                <a:tab pos="3078480" algn="l"/>
                <a:tab pos="3711575" algn="l"/>
                <a:tab pos="4481195" algn="l"/>
                <a:tab pos="5131435" algn="l"/>
                <a:tab pos="5529580" algn="l"/>
                <a:tab pos="6466840" algn="l"/>
                <a:tab pos="7489825" algn="l"/>
              </a:tabLst>
            </a:pPr>
            <a:r>
              <a:rPr sz="2400" spc="-25" dirty="0">
                <a:latin typeface="Times New Roman"/>
                <a:cs typeface="Times New Roman"/>
              </a:rPr>
              <a:t>It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also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takes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care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packet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routing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i.e. </a:t>
            </a:r>
            <a:r>
              <a:rPr sz="2400" dirty="0">
                <a:latin typeface="Times New Roman"/>
                <a:cs typeface="Times New Roman"/>
              </a:rPr>
              <a:t>selection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shortest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path</a:t>
            </a:r>
            <a:endParaRPr sz="2400">
              <a:latin typeface="Times New Roman"/>
              <a:cs typeface="Times New Roman"/>
            </a:endParaRPr>
          </a:p>
          <a:p>
            <a:pPr marL="2747645" indent="-34226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2747645" algn="l"/>
                <a:tab pos="3366770" algn="l"/>
                <a:tab pos="4305935" algn="l"/>
                <a:tab pos="4688205" algn="l"/>
                <a:tab pos="6024880" algn="l"/>
                <a:tab pos="6430645" algn="l"/>
                <a:tab pos="7488555" algn="l"/>
              </a:tabLst>
            </a:pP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sender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&amp;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receiver’s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IP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address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are</a:t>
            </a:r>
            <a:endParaRPr sz="2400">
              <a:latin typeface="Times New Roman"/>
              <a:cs typeface="Times New Roman"/>
            </a:endParaRPr>
          </a:p>
          <a:p>
            <a:pPr marL="2748280">
              <a:lnSpc>
                <a:spcPts val="2815"/>
              </a:lnSpc>
              <a:spcBef>
                <a:spcPts val="10"/>
              </a:spcBef>
            </a:pPr>
            <a:r>
              <a:rPr sz="2400" dirty="0">
                <a:latin typeface="Times New Roman"/>
                <a:cs typeface="Times New Roman"/>
              </a:rPr>
              <a:t>placed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header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layer.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095"/>
              </a:lnSpc>
            </a:pPr>
            <a:r>
              <a:rPr sz="1800" dirty="0">
                <a:latin typeface="Times New Roman"/>
                <a:cs typeface="Times New Roman"/>
              </a:rPr>
              <a:t>Network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958977"/>
            <a:ext cx="9155430" cy="4182110"/>
            <a:chOff x="-6350" y="958977"/>
            <a:chExt cx="9155430" cy="41821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3902" y="958977"/>
              <a:ext cx="2166696" cy="3963403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50" dirty="0"/>
              <a:t> </a:t>
            </a:r>
            <a:r>
              <a:rPr dirty="0"/>
              <a:t>reference</a:t>
            </a:r>
            <a:r>
              <a:rPr spc="-50" dirty="0"/>
              <a:t> </a:t>
            </a:r>
            <a:r>
              <a:rPr dirty="0"/>
              <a:t>model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its</a:t>
            </a:r>
            <a:r>
              <a:rPr spc="-25" dirty="0"/>
              <a:t> </a:t>
            </a:r>
            <a:r>
              <a:rPr spc="-10" dirty="0"/>
              <a:t>services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42847" y="3970121"/>
            <a:ext cx="1461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link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55975" y="1070228"/>
            <a:ext cx="5480685" cy="1553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marR="5080" indent="-3403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layer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make 	</a:t>
            </a:r>
            <a:r>
              <a:rPr sz="2400" dirty="0">
                <a:latin typeface="Times New Roman"/>
                <a:cs typeface="Times New Roman"/>
              </a:rPr>
              <a:t>sure</a:t>
            </a:r>
            <a:r>
              <a:rPr sz="2400" spc="4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4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transfer</a:t>
            </a:r>
            <a:r>
              <a:rPr sz="2400" spc="4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40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error-</a:t>
            </a:r>
            <a:r>
              <a:rPr sz="2400" dirty="0">
                <a:latin typeface="Times New Roman"/>
                <a:cs typeface="Times New Roman"/>
              </a:rPr>
              <a:t>free</a:t>
            </a:r>
            <a:r>
              <a:rPr sz="2400" spc="4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one 	</a:t>
            </a:r>
            <a:r>
              <a:rPr sz="2400" dirty="0">
                <a:latin typeface="Times New Roman"/>
                <a:cs typeface="Times New Roman"/>
              </a:rPr>
              <a:t>node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another,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physical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layer</a:t>
            </a:r>
            <a:endParaRPr sz="2400">
              <a:latin typeface="Times New Roman"/>
              <a:cs typeface="Times New Roman"/>
            </a:endParaRPr>
          </a:p>
          <a:p>
            <a:pPr marL="353060" indent="-340360" algn="just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5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packet</a:t>
            </a:r>
            <a:r>
              <a:rPr sz="2400" spc="5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arrives,</a:t>
            </a:r>
            <a:r>
              <a:rPr sz="2400" spc="5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5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75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55975" y="2597607"/>
            <a:ext cx="5481955" cy="1553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responsibility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transmit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Host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address.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499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Link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Layer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divided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sub </a:t>
            </a:r>
            <a:r>
              <a:rPr sz="2400" dirty="0">
                <a:latin typeface="Times New Roman"/>
                <a:cs typeface="Times New Roman"/>
              </a:rPr>
              <a:t>layers</a:t>
            </a:r>
            <a:r>
              <a:rPr sz="2400" spc="-50" dirty="0">
                <a:latin typeface="Times New Roman"/>
                <a:cs typeface="Times New Roman"/>
              </a:rPr>
              <a:t> 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13175" y="4128312"/>
            <a:ext cx="3069590" cy="67500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495"/>
              </a:spcBef>
              <a:buFont typeface="Arial MT"/>
              <a:buChar char="–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Logical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Link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Control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(LLC)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299085" algn="l"/>
              </a:tabLst>
            </a:pPr>
            <a:r>
              <a:rPr sz="1800" spc="-10" dirty="0">
                <a:latin typeface="Times New Roman"/>
                <a:cs typeface="Times New Roman"/>
              </a:rPr>
              <a:t>Media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Access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Control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(MAC)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958977"/>
            <a:ext cx="9155430" cy="4182110"/>
            <a:chOff x="-6350" y="958977"/>
            <a:chExt cx="9155430" cy="41821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3902" y="958977"/>
              <a:ext cx="2166696" cy="3963403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50" dirty="0"/>
              <a:t> </a:t>
            </a:r>
            <a:r>
              <a:rPr dirty="0"/>
              <a:t>reference</a:t>
            </a:r>
            <a:r>
              <a:rPr spc="-50" dirty="0"/>
              <a:t> </a:t>
            </a:r>
            <a:r>
              <a:rPr dirty="0"/>
              <a:t>model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its</a:t>
            </a:r>
            <a:r>
              <a:rPr spc="-25" dirty="0"/>
              <a:t> </a:t>
            </a:r>
            <a:r>
              <a:rPr spc="-10" dirty="0"/>
              <a:t>services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79728" y="4563262"/>
            <a:ext cx="1390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Physical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55975" y="1058417"/>
            <a:ext cx="5481955" cy="1553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71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685800" algn="l"/>
                <a:tab pos="1035050" algn="l"/>
                <a:tab pos="2566670" algn="l"/>
                <a:tab pos="3067050" algn="l"/>
                <a:tab pos="3583940" algn="l"/>
                <a:tab pos="4453890" algn="l"/>
              </a:tabLst>
            </a:pPr>
            <a:r>
              <a:rPr sz="2400" spc="-25" dirty="0">
                <a:latin typeface="Times New Roman"/>
                <a:cs typeface="Times New Roman"/>
              </a:rPr>
              <a:t>It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responsible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for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actual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physical </a:t>
            </a:r>
            <a:r>
              <a:rPr sz="2400" dirty="0">
                <a:latin typeface="Times New Roman"/>
                <a:cs typeface="Times New Roman"/>
              </a:rPr>
              <a:t>connection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devices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5600" algn="l"/>
                <a:tab pos="970915" algn="l"/>
                <a:tab pos="2126615" algn="l"/>
                <a:tab pos="2875915" algn="l"/>
                <a:tab pos="4031615" algn="l"/>
              </a:tabLst>
            </a:pP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physical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layer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contains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information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bits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55975" y="2648153"/>
            <a:ext cx="5481955" cy="2285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indent="-3403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385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385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responsible</a:t>
            </a:r>
            <a:r>
              <a:rPr sz="2400" spc="390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385" dirty="0">
                <a:latin typeface="Times New Roman"/>
                <a:cs typeface="Times New Roman"/>
              </a:rPr>
              <a:t>   </a:t>
            </a:r>
            <a:r>
              <a:rPr sz="2400" spc="-10" dirty="0">
                <a:latin typeface="Times New Roman"/>
                <a:cs typeface="Times New Roman"/>
              </a:rPr>
              <a:t>transmitting</a:t>
            </a:r>
            <a:endParaRPr sz="2400">
              <a:latin typeface="Times New Roman"/>
              <a:cs typeface="Times New Roman"/>
            </a:endParaRPr>
          </a:p>
          <a:p>
            <a:pPr marL="355600" algn="just">
              <a:lnSpc>
                <a:spcPct val="100000"/>
              </a:lnSpc>
              <a:spcBef>
                <a:spcPts val="15"/>
              </a:spcBef>
            </a:pPr>
            <a:r>
              <a:rPr sz="2400" dirty="0">
                <a:latin typeface="Times New Roman"/>
                <a:cs typeface="Times New Roman"/>
              </a:rPr>
              <a:t>individual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bits</a:t>
            </a:r>
            <a:endParaRPr sz="2400">
              <a:latin typeface="Times New Roman"/>
              <a:cs typeface="Times New Roman"/>
            </a:endParaRPr>
          </a:p>
          <a:p>
            <a:pPr marL="353060" marR="5080" indent="-340360" algn="just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4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receiving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data,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layer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409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get 	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4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convert</a:t>
            </a:r>
            <a:r>
              <a:rPr sz="2400" spc="4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0s</a:t>
            </a:r>
            <a:r>
              <a:rPr sz="2400" spc="4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409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1s 	</a:t>
            </a:r>
            <a:r>
              <a:rPr sz="2400" dirty="0">
                <a:latin typeface="Times New Roman"/>
                <a:cs typeface="Times New Roman"/>
              </a:rPr>
              <a:t>and  send</a:t>
            </a:r>
            <a:r>
              <a:rPr sz="2400" spc="5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them</a:t>
            </a:r>
            <a:r>
              <a:rPr sz="2400" spc="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6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 Data  Link  </a:t>
            </a:r>
            <a:r>
              <a:rPr sz="2400" spc="-10" dirty="0">
                <a:latin typeface="Times New Roman"/>
                <a:cs typeface="Times New Roman"/>
              </a:rPr>
              <a:t>layer, 	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frame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back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together.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958977"/>
            <a:ext cx="9155430" cy="4182110"/>
            <a:chOff x="-6350" y="958977"/>
            <a:chExt cx="9155430" cy="41821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23920" y="971677"/>
              <a:ext cx="2133600" cy="381000"/>
            </a:xfrm>
            <a:custGeom>
              <a:avLst/>
              <a:gdLst/>
              <a:ahLst/>
              <a:cxnLst/>
              <a:rect l="l" t="t" r="r" b="b"/>
              <a:pathLst>
                <a:path w="2133600" h="381000">
                  <a:moveTo>
                    <a:pt x="0" y="63373"/>
                  </a:moveTo>
                  <a:lnTo>
                    <a:pt x="4992" y="38683"/>
                  </a:lnTo>
                  <a:lnTo>
                    <a:pt x="18605" y="18542"/>
                  </a:lnTo>
                  <a:lnTo>
                    <a:pt x="38790" y="4972"/>
                  </a:lnTo>
                  <a:lnTo>
                    <a:pt x="63500" y="0"/>
                  </a:lnTo>
                  <a:lnTo>
                    <a:pt x="2069972" y="0"/>
                  </a:lnTo>
                  <a:lnTo>
                    <a:pt x="2094662" y="4972"/>
                  </a:lnTo>
                  <a:lnTo>
                    <a:pt x="2114804" y="18542"/>
                  </a:lnTo>
                  <a:lnTo>
                    <a:pt x="2128373" y="38683"/>
                  </a:lnTo>
                  <a:lnTo>
                    <a:pt x="2133345" y="63373"/>
                  </a:lnTo>
                  <a:lnTo>
                    <a:pt x="2133345" y="317119"/>
                  </a:lnTo>
                  <a:lnTo>
                    <a:pt x="2128373" y="341755"/>
                  </a:lnTo>
                  <a:lnTo>
                    <a:pt x="2114803" y="361902"/>
                  </a:lnTo>
                  <a:lnTo>
                    <a:pt x="2094662" y="375501"/>
                  </a:lnTo>
                  <a:lnTo>
                    <a:pt x="2069972" y="380492"/>
                  </a:lnTo>
                  <a:lnTo>
                    <a:pt x="63500" y="380492"/>
                  </a:lnTo>
                  <a:lnTo>
                    <a:pt x="38790" y="375501"/>
                  </a:lnTo>
                  <a:lnTo>
                    <a:pt x="18605" y="361902"/>
                  </a:lnTo>
                  <a:lnTo>
                    <a:pt x="4992" y="341755"/>
                  </a:lnTo>
                  <a:lnTo>
                    <a:pt x="0" y="317119"/>
                  </a:lnTo>
                  <a:lnTo>
                    <a:pt x="0" y="6337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50" dirty="0"/>
              <a:t> </a:t>
            </a:r>
            <a:r>
              <a:rPr dirty="0"/>
              <a:t>reference</a:t>
            </a:r>
            <a:r>
              <a:rPr spc="-55" dirty="0"/>
              <a:t> </a:t>
            </a:r>
            <a:r>
              <a:rPr dirty="0"/>
              <a:t>model</a:t>
            </a:r>
            <a:r>
              <a:rPr spc="-4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its</a:t>
            </a:r>
            <a:r>
              <a:rPr spc="-30" dirty="0"/>
              <a:t> </a:t>
            </a:r>
            <a:r>
              <a:rPr dirty="0"/>
              <a:t>services</a:t>
            </a:r>
            <a:r>
              <a:rPr spc="-40" dirty="0"/>
              <a:t> </a:t>
            </a:r>
            <a:r>
              <a:rPr dirty="0"/>
              <a:t>(in</a:t>
            </a:r>
            <a:r>
              <a:rPr spc="-15" dirty="0"/>
              <a:t> </a:t>
            </a:r>
            <a:r>
              <a:rPr spc="-10" dirty="0"/>
              <a:t>brief)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642105" y="1004696"/>
            <a:ext cx="1696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Application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426078" y="1564513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500"/>
                </a:moveTo>
                <a:lnTo>
                  <a:pt x="4992" y="38790"/>
                </a:lnTo>
                <a:lnTo>
                  <a:pt x="18605" y="18605"/>
                </a:lnTo>
                <a:lnTo>
                  <a:pt x="38790" y="4992"/>
                </a:lnTo>
                <a:lnTo>
                  <a:pt x="63500" y="0"/>
                </a:lnTo>
                <a:lnTo>
                  <a:pt x="2069973" y="0"/>
                </a:lnTo>
                <a:lnTo>
                  <a:pt x="2094662" y="4992"/>
                </a:lnTo>
                <a:lnTo>
                  <a:pt x="2114804" y="18605"/>
                </a:lnTo>
                <a:lnTo>
                  <a:pt x="2128373" y="38790"/>
                </a:lnTo>
                <a:lnTo>
                  <a:pt x="2133346" y="63500"/>
                </a:lnTo>
                <a:lnTo>
                  <a:pt x="2133346" y="317119"/>
                </a:lnTo>
                <a:lnTo>
                  <a:pt x="2128373" y="341828"/>
                </a:lnTo>
                <a:lnTo>
                  <a:pt x="2114804" y="362013"/>
                </a:lnTo>
                <a:lnTo>
                  <a:pt x="2094662" y="375626"/>
                </a:lnTo>
                <a:lnTo>
                  <a:pt x="2069973" y="380619"/>
                </a:lnTo>
                <a:lnTo>
                  <a:pt x="63500" y="380619"/>
                </a:lnTo>
                <a:lnTo>
                  <a:pt x="38790" y="375626"/>
                </a:lnTo>
                <a:lnTo>
                  <a:pt x="18605" y="362013"/>
                </a:lnTo>
                <a:lnTo>
                  <a:pt x="4992" y="341828"/>
                </a:lnTo>
                <a:lnTo>
                  <a:pt x="0" y="317119"/>
                </a:lnTo>
                <a:lnTo>
                  <a:pt x="0" y="635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618357" y="1597914"/>
            <a:ext cx="17456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Presentation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27221" y="2157476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373"/>
                </a:moveTo>
                <a:lnTo>
                  <a:pt x="4972" y="38736"/>
                </a:lnTo>
                <a:lnTo>
                  <a:pt x="18542" y="18589"/>
                </a:lnTo>
                <a:lnTo>
                  <a:pt x="38683" y="4990"/>
                </a:lnTo>
                <a:lnTo>
                  <a:pt x="63373" y="0"/>
                </a:lnTo>
                <a:lnTo>
                  <a:pt x="2069973" y="0"/>
                </a:lnTo>
                <a:lnTo>
                  <a:pt x="2094609" y="4990"/>
                </a:lnTo>
                <a:lnTo>
                  <a:pt x="2114756" y="18589"/>
                </a:lnTo>
                <a:lnTo>
                  <a:pt x="2128355" y="38736"/>
                </a:lnTo>
                <a:lnTo>
                  <a:pt x="2133345" y="63373"/>
                </a:lnTo>
                <a:lnTo>
                  <a:pt x="2133345" y="317119"/>
                </a:lnTo>
                <a:lnTo>
                  <a:pt x="2128355" y="341808"/>
                </a:lnTo>
                <a:lnTo>
                  <a:pt x="2114756" y="361950"/>
                </a:lnTo>
                <a:lnTo>
                  <a:pt x="2094609" y="375519"/>
                </a:lnTo>
                <a:lnTo>
                  <a:pt x="2069973" y="380492"/>
                </a:lnTo>
                <a:lnTo>
                  <a:pt x="63373" y="380492"/>
                </a:lnTo>
                <a:lnTo>
                  <a:pt x="38683" y="375519"/>
                </a:lnTo>
                <a:lnTo>
                  <a:pt x="18541" y="361950"/>
                </a:lnTo>
                <a:lnTo>
                  <a:pt x="4972" y="341808"/>
                </a:lnTo>
                <a:lnTo>
                  <a:pt x="0" y="317119"/>
                </a:lnTo>
                <a:lnTo>
                  <a:pt x="0" y="6337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836034" y="2191004"/>
            <a:ext cx="1315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Session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429000" y="2750439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373"/>
                </a:moveTo>
                <a:lnTo>
                  <a:pt x="4990" y="38683"/>
                </a:lnTo>
                <a:lnTo>
                  <a:pt x="18589" y="18542"/>
                </a:lnTo>
                <a:lnTo>
                  <a:pt x="38736" y="4972"/>
                </a:lnTo>
                <a:lnTo>
                  <a:pt x="63373" y="0"/>
                </a:lnTo>
                <a:lnTo>
                  <a:pt x="2069973" y="0"/>
                </a:lnTo>
                <a:lnTo>
                  <a:pt x="2094662" y="4972"/>
                </a:lnTo>
                <a:lnTo>
                  <a:pt x="2114804" y="18542"/>
                </a:lnTo>
                <a:lnTo>
                  <a:pt x="2128373" y="38683"/>
                </a:lnTo>
                <a:lnTo>
                  <a:pt x="2133346" y="63373"/>
                </a:lnTo>
                <a:lnTo>
                  <a:pt x="2133346" y="317119"/>
                </a:lnTo>
                <a:lnTo>
                  <a:pt x="2128373" y="341755"/>
                </a:lnTo>
                <a:lnTo>
                  <a:pt x="2114804" y="361902"/>
                </a:lnTo>
                <a:lnTo>
                  <a:pt x="2094662" y="375501"/>
                </a:lnTo>
                <a:lnTo>
                  <a:pt x="2069973" y="380492"/>
                </a:lnTo>
                <a:lnTo>
                  <a:pt x="63373" y="380492"/>
                </a:lnTo>
                <a:lnTo>
                  <a:pt x="38736" y="375501"/>
                </a:lnTo>
                <a:lnTo>
                  <a:pt x="18589" y="361902"/>
                </a:lnTo>
                <a:lnTo>
                  <a:pt x="4990" y="341755"/>
                </a:lnTo>
                <a:lnTo>
                  <a:pt x="0" y="317119"/>
                </a:lnTo>
                <a:lnTo>
                  <a:pt x="0" y="6337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746372" y="2783789"/>
            <a:ext cx="1498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Transport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421126" y="3343275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500"/>
                </a:moveTo>
                <a:lnTo>
                  <a:pt x="4972" y="38790"/>
                </a:lnTo>
                <a:lnTo>
                  <a:pt x="18542" y="18605"/>
                </a:lnTo>
                <a:lnTo>
                  <a:pt x="38683" y="4992"/>
                </a:lnTo>
                <a:lnTo>
                  <a:pt x="63373" y="0"/>
                </a:lnTo>
                <a:lnTo>
                  <a:pt x="2069846" y="0"/>
                </a:lnTo>
                <a:lnTo>
                  <a:pt x="2094555" y="4992"/>
                </a:lnTo>
                <a:lnTo>
                  <a:pt x="2114740" y="18605"/>
                </a:lnTo>
                <a:lnTo>
                  <a:pt x="2128353" y="38790"/>
                </a:lnTo>
                <a:lnTo>
                  <a:pt x="2133346" y="63500"/>
                </a:lnTo>
                <a:lnTo>
                  <a:pt x="2133346" y="317119"/>
                </a:lnTo>
                <a:lnTo>
                  <a:pt x="2128353" y="341828"/>
                </a:lnTo>
                <a:lnTo>
                  <a:pt x="2114740" y="362013"/>
                </a:lnTo>
                <a:lnTo>
                  <a:pt x="2094555" y="375626"/>
                </a:lnTo>
                <a:lnTo>
                  <a:pt x="2069846" y="380619"/>
                </a:lnTo>
                <a:lnTo>
                  <a:pt x="63373" y="380619"/>
                </a:lnTo>
                <a:lnTo>
                  <a:pt x="38683" y="375626"/>
                </a:lnTo>
                <a:lnTo>
                  <a:pt x="18542" y="362013"/>
                </a:lnTo>
                <a:lnTo>
                  <a:pt x="4972" y="341828"/>
                </a:lnTo>
                <a:lnTo>
                  <a:pt x="0" y="317119"/>
                </a:lnTo>
                <a:lnTo>
                  <a:pt x="0" y="635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778122" y="3376929"/>
            <a:ext cx="141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Network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422141" y="3936238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423"/>
                </a:moveTo>
                <a:lnTo>
                  <a:pt x="4992" y="38736"/>
                </a:lnTo>
                <a:lnTo>
                  <a:pt x="18605" y="18576"/>
                </a:lnTo>
                <a:lnTo>
                  <a:pt x="38790" y="4984"/>
                </a:lnTo>
                <a:lnTo>
                  <a:pt x="63500" y="0"/>
                </a:lnTo>
                <a:lnTo>
                  <a:pt x="2069973" y="0"/>
                </a:lnTo>
                <a:lnTo>
                  <a:pt x="2094662" y="4984"/>
                </a:lnTo>
                <a:lnTo>
                  <a:pt x="2114804" y="18576"/>
                </a:lnTo>
                <a:lnTo>
                  <a:pt x="2128373" y="38736"/>
                </a:lnTo>
                <a:lnTo>
                  <a:pt x="2133346" y="63423"/>
                </a:lnTo>
                <a:lnTo>
                  <a:pt x="2133346" y="317106"/>
                </a:lnTo>
                <a:lnTo>
                  <a:pt x="2128373" y="341791"/>
                </a:lnTo>
                <a:lnTo>
                  <a:pt x="2114804" y="361946"/>
                </a:lnTo>
                <a:lnTo>
                  <a:pt x="2094662" y="375535"/>
                </a:lnTo>
                <a:lnTo>
                  <a:pt x="2069973" y="380517"/>
                </a:lnTo>
                <a:lnTo>
                  <a:pt x="63500" y="380517"/>
                </a:lnTo>
                <a:lnTo>
                  <a:pt x="38790" y="375535"/>
                </a:lnTo>
                <a:lnTo>
                  <a:pt x="18605" y="361946"/>
                </a:lnTo>
                <a:lnTo>
                  <a:pt x="4992" y="341791"/>
                </a:lnTo>
                <a:lnTo>
                  <a:pt x="0" y="317106"/>
                </a:lnTo>
                <a:lnTo>
                  <a:pt x="0" y="6342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757676" y="3970121"/>
            <a:ext cx="1461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link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423920" y="4529163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423"/>
                </a:moveTo>
                <a:lnTo>
                  <a:pt x="4992" y="38736"/>
                </a:lnTo>
                <a:lnTo>
                  <a:pt x="18605" y="18576"/>
                </a:lnTo>
                <a:lnTo>
                  <a:pt x="38790" y="4984"/>
                </a:lnTo>
                <a:lnTo>
                  <a:pt x="63500" y="0"/>
                </a:lnTo>
                <a:lnTo>
                  <a:pt x="2069972" y="0"/>
                </a:lnTo>
                <a:lnTo>
                  <a:pt x="2094662" y="4984"/>
                </a:lnTo>
                <a:lnTo>
                  <a:pt x="2114804" y="18576"/>
                </a:lnTo>
                <a:lnTo>
                  <a:pt x="2128373" y="38736"/>
                </a:lnTo>
                <a:lnTo>
                  <a:pt x="2133345" y="63423"/>
                </a:lnTo>
                <a:lnTo>
                  <a:pt x="2133345" y="317093"/>
                </a:lnTo>
                <a:lnTo>
                  <a:pt x="2128373" y="341780"/>
                </a:lnTo>
                <a:lnTo>
                  <a:pt x="2114803" y="361940"/>
                </a:lnTo>
                <a:lnTo>
                  <a:pt x="2094662" y="375533"/>
                </a:lnTo>
                <a:lnTo>
                  <a:pt x="2069972" y="380517"/>
                </a:lnTo>
                <a:lnTo>
                  <a:pt x="63500" y="380517"/>
                </a:lnTo>
                <a:lnTo>
                  <a:pt x="38790" y="375533"/>
                </a:lnTo>
                <a:lnTo>
                  <a:pt x="18605" y="361940"/>
                </a:lnTo>
                <a:lnTo>
                  <a:pt x="4992" y="341780"/>
                </a:lnTo>
                <a:lnTo>
                  <a:pt x="0" y="317093"/>
                </a:lnTo>
                <a:lnTo>
                  <a:pt x="0" y="6342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794505" y="4563262"/>
            <a:ext cx="1390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Physical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450715" y="1055750"/>
            <a:ext cx="4324985" cy="3473450"/>
            <a:chOff x="4450715" y="1055750"/>
            <a:chExt cx="4324985" cy="3473450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54017" y="1352422"/>
              <a:ext cx="76200" cy="21183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55668" y="1945386"/>
              <a:ext cx="76200" cy="21170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56938" y="2538222"/>
              <a:ext cx="76200" cy="21183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51731" y="3130803"/>
              <a:ext cx="76073" cy="21221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50715" y="3724147"/>
              <a:ext cx="76200" cy="21173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51858" y="4317009"/>
              <a:ext cx="76200" cy="21178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567299" y="1068450"/>
              <a:ext cx="3195955" cy="741045"/>
            </a:xfrm>
            <a:custGeom>
              <a:avLst/>
              <a:gdLst/>
              <a:ahLst/>
              <a:cxnLst/>
              <a:rect l="l" t="t" r="r" b="b"/>
              <a:pathLst>
                <a:path w="3195954" h="741044">
                  <a:moveTo>
                    <a:pt x="798576" y="123571"/>
                  </a:moveTo>
                  <a:lnTo>
                    <a:pt x="808273" y="75491"/>
                  </a:lnTo>
                  <a:lnTo>
                    <a:pt x="834723" y="36210"/>
                  </a:lnTo>
                  <a:lnTo>
                    <a:pt x="873960" y="9717"/>
                  </a:lnTo>
                  <a:lnTo>
                    <a:pt x="922020" y="0"/>
                  </a:lnTo>
                  <a:lnTo>
                    <a:pt x="1198118" y="0"/>
                  </a:lnTo>
                  <a:lnTo>
                    <a:pt x="1797303" y="0"/>
                  </a:lnTo>
                  <a:lnTo>
                    <a:pt x="3072003" y="0"/>
                  </a:lnTo>
                  <a:lnTo>
                    <a:pt x="3120062" y="9717"/>
                  </a:lnTo>
                  <a:lnTo>
                    <a:pt x="3159299" y="36210"/>
                  </a:lnTo>
                  <a:lnTo>
                    <a:pt x="3185749" y="75491"/>
                  </a:lnTo>
                  <a:lnTo>
                    <a:pt x="3195447" y="123571"/>
                  </a:lnTo>
                  <a:lnTo>
                    <a:pt x="3195447" y="308737"/>
                  </a:lnTo>
                  <a:lnTo>
                    <a:pt x="3195447" y="617474"/>
                  </a:lnTo>
                  <a:lnTo>
                    <a:pt x="3185749" y="665533"/>
                  </a:lnTo>
                  <a:lnTo>
                    <a:pt x="3159299" y="704770"/>
                  </a:lnTo>
                  <a:lnTo>
                    <a:pt x="3120062" y="731220"/>
                  </a:lnTo>
                  <a:lnTo>
                    <a:pt x="3072003" y="740918"/>
                  </a:lnTo>
                  <a:lnTo>
                    <a:pt x="1797303" y="740918"/>
                  </a:lnTo>
                  <a:lnTo>
                    <a:pt x="1198118" y="740918"/>
                  </a:lnTo>
                  <a:lnTo>
                    <a:pt x="922020" y="740918"/>
                  </a:lnTo>
                  <a:lnTo>
                    <a:pt x="873960" y="731220"/>
                  </a:lnTo>
                  <a:lnTo>
                    <a:pt x="834723" y="704770"/>
                  </a:lnTo>
                  <a:lnTo>
                    <a:pt x="808273" y="665533"/>
                  </a:lnTo>
                  <a:lnTo>
                    <a:pt x="798576" y="617474"/>
                  </a:lnTo>
                  <a:lnTo>
                    <a:pt x="798576" y="308737"/>
                  </a:lnTo>
                  <a:lnTo>
                    <a:pt x="0" y="44831"/>
                  </a:lnTo>
                  <a:lnTo>
                    <a:pt x="798576" y="123571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515227" y="1144651"/>
            <a:ext cx="20986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8519" marR="5080" indent="-845819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Provides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service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the </a:t>
            </a:r>
            <a:r>
              <a:rPr sz="1800" spc="-20" dirty="0">
                <a:latin typeface="Times New Roman"/>
                <a:cs typeface="Times New Roman"/>
              </a:rPr>
              <a:t>user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80885" y="1563116"/>
            <a:ext cx="3001010" cy="897255"/>
          </a:xfrm>
          <a:custGeom>
            <a:avLst/>
            <a:gdLst/>
            <a:ahLst/>
            <a:cxnLst/>
            <a:rect l="l" t="t" r="r" b="b"/>
            <a:pathLst>
              <a:path w="3001010" h="897255">
                <a:moveTo>
                  <a:pt x="0" y="149479"/>
                </a:moveTo>
                <a:lnTo>
                  <a:pt x="7619" y="102233"/>
                </a:lnTo>
                <a:lnTo>
                  <a:pt x="28836" y="61200"/>
                </a:lnTo>
                <a:lnTo>
                  <a:pt x="61189" y="28842"/>
                </a:lnTo>
                <a:lnTo>
                  <a:pt x="102216" y="7621"/>
                </a:lnTo>
                <a:lnTo>
                  <a:pt x="149453" y="0"/>
                </a:lnTo>
                <a:lnTo>
                  <a:pt x="1398130" y="0"/>
                </a:lnTo>
                <a:lnTo>
                  <a:pt x="1997443" y="0"/>
                </a:lnTo>
                <a:lnTo>
                  <a:pt x="2247379" y="0"/>
                </a:lnTo>
                <a:lnTo>
                  <a:pt x="2294624" y="7621"/>
                </a:lnTo>
                <a:lnTo>
                  <a:pt x="2335657" y="28842"/>
                </a:lnTo>
                <a:lnTo>
                  <a:pt x="2368016" y="61200"/>
                </a:lnTo>
                <a:lnTo>
                  <a:pt x="2389237" y="102233"/>
                </a:lnTo>
                <a:lnTo>
                  <a:pt x="2396858" y="149479"/>
                </a:lnTo>
                <a:lnTo>
                  <a:pt x="3000870" y="111760"/>
                </a:lnTo>
                <a:lnTo>
                  <a:pt x="2396858" y="373634"/>
                </a:lnTo>
                <a:lnTo>
                  <a:pt x="2396858" y="747268"/>
                </a:lnTo>
                <a:lnTo>
                  <a:pt x="2389237" y="794513"/>
                </a:lnTo>
                <a:lnTo>
                  <a:pt x="2368016" y="835546"/>
                </a:lnTo>
                <a:lnTo>
                  <a:pt x="2335657" y="867904"/>
                </a:lnTo>
                <a:lnTo>
                  <a:pt x="2294624" y="889125"/>
                </a:lnTo>
                <a:lnTo>
                  <a:pt x="2247379" y="896747"/>
                </a:lnTo>
                <a:lnTo>
                  <a:pt x="1997443" y="896747"/>
                </a:lnTo>
                <a:lnTo>
                  <a:pt x="1398130" y="896747"/>
                </a:lnTo>
                <a:lnTo>
                  <a:pt x="149453" y="896747"/>
                </a:lnTo>
                <a:lnTo>
                  <a:pt x="102216" y="889125"/>
                </a:lnTo>
                <a:lnTo>
                  <a:pt x="61189" y="867904"/>
                </a:lnTo>
                <a:lnTo>
                  <a:pt x="28836" y="835546"/>
                </a:lnTo>
                <a:lnTo>
                  <a:pt x="7619" y="794513"/>
                </a:lnTo>
                <a:lnTo>
                  <a:pt x="0" y="747268"/>
                </a:lnTo>
                <a:lnTo>
                  <a:pt x="0" y="373634"/>
                </a:lnTo>
                <a:lnTo>
                  <a:pt x="0" y="149479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07263" y="1580134"/>
            <a:ext cx="194246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Performs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translation, </a:t>
            </a:r>
            <a:r>
              <a:rPr sz="1800" dirty="0">
                <a:latin typeface="Times New Roman"/>
                <a:cs typeface="Times New Roman"/>
              </a:rPr>
              <a:t>compression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spc="-10" dirty="0">
                <a:latin typeface="Times New Roman"/>
                <a:cs typeface="Times New Roman"/>
              </a:rPr>
              <a:t>encryption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567298" y="2109977"/>
            <a:ext cx="3195955" cy="741045"/>
          </a:xfrm>
          <a:custGeom>
            <a:avLst/>
            <a:gdLst/>
            <a:ahLst/>
            <a:cxnLst/>
            <a:rect l="l" t="t" r="r" b="b"/>
            <a:pathLst>
              <a:path w="3195954" h="741044">
                <a:moveTo>
                  <a:pt x="798576" y="123444"/>
                </a:moveTo>
                <a:lnTo>
                  <a:pt x="808273" y="75384"/>
                </a:lnTo>
                <a:lnTo>
                  <a:pt x="834723" y="36147"/>
                </a:lnTo>
                <a:lnTo>
                  <a:pt x="873960" y="9697"/>
                </a:lnTo>
                <a:lnTo>
                  <a:pt x="922020" y="0"/>
                </a:lnTo>
                <a:lnTo>
                  <a:pt x="1198118" y="0"/>
                </a:lnTo>
                <a:lnTo>
                  <a:pt x="1797303" y="0"/>
                </a:lnTo>
                <a:lnTo>
                  <a:pt x="3072003" y="0"/>
                </a:lnTo>
                <a:lnTo>
                  <a:pt x="3120062" y="9697"/>
                </a:lnTo>
                <a:lnTo>
                  <a:pt x="3159299" y="36147"/>
                </a:lnTo>
                <a:lnTo>
                  <a:pt x="3185749" y="75384"/>
                </a:lnTo>
                <a:lnTo>
                  <a:pt x="3195447" y="123444"/>
                </a:lnTo>
                <a:lnTo>
                  <a:pt x="3195447" y="308737"/>
                </a:lnTo>
                <a:lnTo>
                  <a:pt x="3195447" y="617347"/>
                </a:lnTo>
                <a:lnTo>
                  <a:pt x="3185749" y="665426"/>
                </a:lnTo>
                <a:lnTo>
                  <a:pt x="3159299" y="704707"/>
                </a:lnTo>
                <a:lnTo>
                  <a:pt x="3120062" y="731200"/>
                </a:lnTo>
                <a:lnTo>
                  <a:pt x="3072003" y="740918"/>
                </a:lnTo>
                <a:lnTo>
                  <a:pt x="1797303" y="740918"/>
                </a:lnTo>
                <a:lnTo>
                  <a:pt x="1198118" y="740918"/>
                </a:lnTo>
                <a:lnTo>
                  <a:pt x="922020" y="740918"/>
                </a:lnTo>
                <a:lnTo>
                  <a:pt x="873960" y="731200"/>
                </a:lnTo>
                <a:lnTo>
                  <a:pt x="834723" y="704707"/>
                </a:lnTo>
                <a:lnTo>
                  <a:pt x="808273" y="665426"/>
                </a:lnTo>
                <a:lnTo>
                  <a:pt x="798576" y="617347"/>
                </a:lnTo>
                <a:lnTo>
                  <a:pt x="798576" y="308737"/>
                </a:lnTo>
                <a:lnTo>
                  <a:pt x="0" y="187198"/>
                </a:lnTo>
                <a:lnTo>
                  <a:pt x="798576" y="123444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826122" y="2323592"/>
            <a:ext cx="1475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Manage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session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80885" y="2817748"/>
            <a:ext cx="3001010" cy="897255"/>
          </a:xfrm>
          <a:custGeom>
            <a:avLst/>
            <a:gdLst/>
            <a:ahLst/>
            <a:cxnLst/>
            <a:rect l="l" t="t" r="r" b="b"/>
            <a:pathLst>
              <a:path w="3001010" h="897254">
                <a:moveTo>
                  <a:pt x="0" y="149478"/>
                </a:moveTo>
                <a:lnTo>
                  <a:pt x="7619" y="102233"/>
                </a:lnTo>
                <a:lnTo>
                  <a:pt x="28836" y="61200"/>
                </a:lnTo>
                <a:lnTo>
                  <a:pt x="61189" y="28842"/>
                </a:lnTo>
                <a:lnTo>
                  <a:pt x="102216" y="7621"/>
                </a:lnTo>
                <a:lnTo>
                  <a:pt x="149453" y="0"/>
                </a:lnTo>
                <a:lnTo>
                  <a:pt x="1398130" y="0"/>
                </a:lnTo>
                <a:lnTo>
                  <a:pt x="1997443" y="0"/>
                </a:lnTo>
                <a:lnTo>
                  <a:pt x="2247379" y="0"/>
                </a:lnTo>
                <a:lnTo>
                  <a:pt x="2294624" y="7621"/>
                </a:lnTo>
                <a:lnTo>
                  <a:pt x="2335657" y="28842"/>
                </a:lnTo>
                <a:lnTo>
                  <a:pt x="2368016" y="61200"/>
                </a:lnTo>
                <a:lnTo>
                  <a:pt x="2389237" y="102233"/>
                </a:lnTo>
                <a:lnTo>
                  <a:pt x="2396858" y="149478"/>
                </a:lnTo>
                <a:lnTo>
                  <a:pt x="3000870" y="111632"/>
                </a:lnTo>
                <a:lnTo>
                  <a:pt x="2396858" y="373633"/>
                </a:lnTo>
                <a:lnTo>
                  <a:pt x="2396858" y="747267"/>
                </a:lnTo>
                <a:lnTo>
                  <a:pt x="2389237" y="794513"/>
                </a:lnTo>
                <a:lnTo>
                  <a:pt x="2368016" y="835546"/>
                </a:lnTo>
                <a:lnTo>
                  <a:pt x="2335657" y="867904"/>
                </a:lnTo>
                <a:lnTo>
                  <a:pt x="2294624" y="889125"/>
                </a:lnTo>
                <a:lnTo>
                  <a:pt x="2247379" y="896747"/>
                </a:lnTo>
                <a:lnTo>
                  <a:pt x="1997443" y="896747"/>
                </a:lnTo>
                <a:lnTo>
                  <a:pt x="1398130" y="896747"/>
                </a:lnTo>
                <a:lnTo>
                  <a:pt x="149453" y="896747"/>
                </a:lnTo>
                <a:lnTo>
                  <a:pt x="102216" y="889125"/>
                </a:lnTo>
                <a:lnTo>
                  <a:pt x="61189" y="867904"/>
                </a:lnTo>
                <a:lnTo>
                  <a:pt x="28836" y="835546"/>
                </a:lnTo>
                <a:lnTo>
                  <a:pt x="7619" y="794513"/>
                </a:lnTo>
                <a:lnTo>
                  <a:pt x="0" y="747267"/>
                </a:lnTo>
                <a:lnTo>
                  <a:pt x="0" y="373633"/>
                </a:lnTo>
                <a:lnTo>
                  <a:pt x="0" y="14947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46303" y="2835020"/>
            <a:ext cx="2066289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Responsible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 </a:t>
            </a:r>
            <a:r>
              <a:rPr sz="1800" spc="-20" dirty="0">
                <a:latin typeface="Times New Roman"/>
                <a:cs typeface="Times New Roman"/>
              </a:rPr>
              <a:t>end- </a:t>
            </a:r>
            <a:r>
              <a:rPr sz="1800" spc="-10" dirty="0">
                <a:latin typeface="Times New Roman"/>
                <a:cs typeface="Times New Roman"/>
              </a:rPr>
              <a:t>to-</a:t>
            </a:r>
            <a:r>
              <a:rPr sz="1800" dirty="0">
                <a:latin typeface="Times New Roman"/>
                <a:cs typeface="Times New Roman"/>
              </a:rPr>
              <a:t>end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transmission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of </a:t>
            </a: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555360" y="3151123"/>
            <a:ext cx="3207385" cy="741045"/>
          </a:xfrm>
          <a:custGeom>
            <a:avLst/>
            <a:gdLst/>
            <a:ahLst/>
            <a:cxnLst/>
            <a:rect l="l" t="t" r="r" b="b"/>
            <a:pathLst>
              <a:path w="3207384" h="741045">
                <a:moveTo>
                  <a:pt x="810513" y="123443"/>
                </a:moveTo>
                <a:lnTo>
                  <a:pt x="820211" y="75384"/>
                </a:lnTo>
                <a:lnTo>
                  <a:pt x="846661" y="36147"/>
                </a:lnTo>
                <a:lnTo>
                  <a:pt x="885898" y="9697"/>
                </a:lnTo>
                <a:lnTo>
                  <a:pt x="933958" y="0"/>
                </a:lnTo>
                <a:lnTo>
                  <a:pt x="1210056" y="0"/>
                </a:lnTo>
                <a:lnTo>
                  <a:pt x="1809241" y="0"/>
                </a:lnTo>
                <a:lnTo>
                  <a:pt x="3083941" y="0"/>
                </a:lnTo>
                <a:lnTo>
                  <a:pt x="3132000" y="9697"/>
                </a:lnTo>
                <a:lnTo>
                  <a:pt x="3171237" y="36147"/>
                </a:lnTo>
                <a:lnTo>
                  <a:pt x="3197687" y="75384"/>
                </a:lnTo>
                <a:lnTo>
                  <a:pt x="3207385" y="123443"/>
                </a:lnTo>
                <a:lnTo>
                  <a:pt x="3207385" y="432181"/>
                </a:lnTo>
                <a:lnTo>
                  <a:pt x="3207385" y="617347"/>
                </a:lnTo>
                <a:lnTo>
                  <a:pt x="3197687" y="665414"/>
                </a:lnTo>
                <a:lnTo>
                  <a:pt x="3171237" y="704669"/>
                </a:lnTo>
                <a:lnTo>
                  <a:pt x="3132000" y="731136"/>
                </a:lnTo>
                <a:lnTo>
                  <a:pt x="3083941" y="740841"/>
                </a:lnTo>
                <a:lnTo>
                  <a:pt x="1809241" y="740841"/>
                </a:lnTo>
                <a:lnTo>
                  <a:pt x="1210056" y="740841"/>
                </a:lnTo>
                <a:lnTo>
                  <a:pt x="933958" y="740841"/>
                </a:lnTo>
                <a:lnTo>
                  <a:pt x="885898" y="731136"/>
                </a:lnTo>
                <a:lnTo>
                  <a:pt x="846661" y="704669"/>
                </a:lnTo>
                <a:lnTo>
                  <a:pt x="820211" y="665414"/>
                </a:lnTo>
                <a:lnTo>
                  <a:pt x="810513" y="617347"/>
                </a:lnTo>
                <a:lnTo>
                  <a:pt x="0" y="400812"/>
                </a:lnTo>
                <a:lnTo>
                  <a:pt x="810513" y="432181"/>
                </a:lnTo>
                <a:lnTo>
                  <a:pt x="810513" y="12344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6492366" y="3227958"/>
            <a:ext cx="21424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302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packets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putting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network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header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80885" y="4037038"/>
            <a:ext cx="3001010" cy="897255"/>
          </a:xfrm>
          <a:custGeom>
            <a:avLst/>
            <a:gdLst/>
            <a:ahLst/>
            <a:cxnLst/>
            <a:rect l="l" t="t" r="r" b="b"/>
            <a:pathLst>
              <a:path w="3001010" h="897254">
                <a:moveTo>
                  <a:pt x="0" y="149466"/>
                </a:moveTo>
                <a:lnTo>
                  <a:pt x="7619" y="102222"/>
                </a:lnTo>
                <a:lnTo>
                  <a:pt x="28836" y="61192"/>
                </a:lnTo>
                <a:lnTo>
                  <a:pt x="61189" y="28837"/>
                </a:lnTo>
                <a:lnTo>
                  <a:pt x="102216" y="7619"/>
                </a:lnTo>
                <a:lnTo>
                  <a:pt x="149453" y="0"/>
                </a:lnTo>
                <a:lnTo>
                  <a:pt x="1398130" y="0"/>
                </a:lnTo>
                <a:lnTo>
                  <a:pt x="1997443" y="0"/>
                </a:lnTo>
                <a:lnTo>
                  <a:pt x="2247379" y="0"/>
                </a:lnTo>
                <a:lnTo>
                  <a:pt x="2294624" y="7619"/>
                </a:lnTo>
                <a:lnTo>
                  <a:pt x="2335657" y="28837"/>
                </a:lnTo>
                <a:lnTo>
                  <a:pt x="2368016" y="61192"/>
                </a:lnTo>
                <a:lnTo>
                  <a:pt x="2389237" y="102222"/>
                </a:lnTo>
                <a:lnTo>
                  <a:pt x="2396858" y="149466"/>
                </a:lnTo>
                <a:lnTo>
                  <a:pt x="3000870" y="111721"/>
                </a:lnTo>
                <a:lnTo>
                  <a:pt x="2396858" y="373646"/>
                </a:lnTo>
                <a:lnTo>
                  <a:pt x="2396858" y="747293"/>
                </a:lnTo>
                <a:lnTo>
                  <a:pt x="2389237" y="794537"/>
                </a:lnTo>
                <a:lnTo>
                  <a:pt x="2368016" y="835567"/>
                </a:lnTo>
                <a:lnTo>
                  <a:pt x="2335657" y="867921"/>
                </a:lnTo>
                <a:lnTo>
                  <a:pt x="2294624" y="889140"/>
                </a:lnTo>
                <a:lnTo>
                  <a:pt x="2247379" y="896759"/>
                </a:lnTo>
                <a:lnTo>
                  <a:pt x="1997443" y="896759"/>
                </a:lnTo>
                <a:lnTo>
                  <a:pt x="1398130" y="896759"/>
                </a:lnTo>
                <a:lnTo>
                  <a:pt x="149453" y="896759"/>
                </a:lnTo>
                <a:lnTo>
                  <a:pt x="102216" y="889140"/>
                </a:lnTo>
                <a:lnTo>
                  <a:pt x="61189" y="867921"/>
                </a:lnTo>
                <a:lnTo>
                  <a:pt x="28836" y="835567"/>
                </a:lnTo>
                <a:lnTo>
                  <a:pt x="7619" y="794537"/>
                </a:lnTo>
                <a:lnTo>
                  <a:pt x="0" y="747293"/>
                </a:lnTo>
                <a:lnTo>
                  <a:pt x="0" y="373646"/>
                </a:lnTo>
                <a:lnTo>
                  <a:pt x="0" y="149466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67639" y="4054855"/>
            <a:ext cx="20205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Packets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frames, </a:t>
            </a:r>
            <a:r>
              <a:rPr sz="1800" dirty="0">
                <a:latin typeface="Times New Roman"/>
                <a:cs typeface="Times New Roman"/>
              </a:rPr>
              <a:t>error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free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transfer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spc="-10" dirty="0">
                <a:latin typeface="Times New Roman"/>
                <a:cs typeface="Times New Roman"/>
              </a:rPr>
              <a:t>mapping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555360" y="4192561"/>
            <a:ext cx="3207385" cy="741045"/>
          </a:xfrm>
          <a:custGeom>
            <a:avLst/>
            <a:gdLst/>
            <a:ahLst/>
            <a:cxnLst/>
            <a:rect l="l" t="t" r="r" b="b"/>
            <a:pathLst>
              <a:path w="3207384" h="741045">
                <a:moveTo>
                  <a:pt x="810513" y="123482"/>
                </a:moveTo>
                <a:lnTo>
                  <a:pt x="820211" y="75416"/>
                </a:lnTo>
                <a:lnTo>
                  <a:pt x="846661" y="36166"/>
                </a:lnTo>
                <a:lnTo>
                  <a:pt x="885898" y="9703"/>
                </a:lnTo>
                <a:lnTo>
                  <a:pt x="933958" y="0"/>
                </a:lnTo>
                <a:lnTo>
                  <a:pt x="1210056" y="0"/>
                </a:lnTo>
                <a:lnTo>
                  <a:pt x="1809241" y="0"/>
                </a:lnTo>
                <a:lnTo>
                  <a:pt x="3083941" y="0"/>
                </a:lnTo>
                <a:lnTo>
                  <a:pt x="3132000" y="9703"/>
                </a:lnTo>
                <a:lnTo>
                  <a:pt x="3171237" y="36166"/>
                </a:lnTo>
                <a:lnTo>
                  <a:pt x="3197687" y="75416"/>
                </a:lnTo>
                <a:lnTo>
                  <a:pt x="3207385" y="123482"/>
                </a:lnTo>
                <a:lnTo>
                  <a:pt x="3207385" y="432181"/>
                </a:lnTo>
                <a:lnTo>
                  <a:pt x="3207385" y="617397"/>
                </a:lnTo>
                <a:lnTo>
                  <a:pt x="3197687" y="665463"/>
                </a:lnTo>
                <a:lnTo>
                  <a:pt x="3171237" y="704713"/>
                </a:lnTo>
                <a:lnTo>
                  <a:pt x="3132000" y="731176"/>
                </a:lnTo>
                <a:lnTo>
                  <a:pt x="3083941" y="740879"/>
                </a:lnTo>
                <a:lnTo>
                  <a:pt x="1809241" y="740879"/>
                </a:lnTo>
                <a:lnTo>
                  <a:pt x="1210056" y="740879"/>
                </a:lnTo>
                <a:lnTo>
                  <a:pt x="933958" y="740879"/>
                </a:lnTo>
                <a:lnTo>
                  <a:pt x="885898" y="731176"/>
                </a:lnTo>
                <a:lnTo>
                  <a:pt x="846661" y="704713"/>
                </a:lnTo>
                <a:lnTo>
                  <a:pt x="820211" y="665463"/>
                </a:lnTo>
                <a:lnTo>
                  <a:pt x="810513" y="617397"/>
                </a:lnTo>
                <a:lnTo>
                  <a:pt x="0" y="460222"/>
                </a:lnTo>
                <a:lnTo>
                  <a:pt x="810513" y="432181"/>
                </a:lnTo>
                <a:lnTo>
                  <a:pt x="810513" y="12348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6544182" y="4269435"/>
            <a:ext cx="20421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Frames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bits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medium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transfer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96785" y="958977"/>
            <a:ext cx="6445250" cy="3820160"/>
            <a:chOff x="596785" y="958977"/>
            <a:chExt cx="6445250" cy="382016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09485" y="971677"/>
              <a:ext cx="2133600" cy="381000"/>
            </a:xfrm>
            <a:custGeom>
              <a:avLst/>
              <a:gdLst/>
              <a:ahLst/>
              <a:cxnLst/>
              <a:rect l="l" t="t" r="r" b="b"/>
              <a:pathLst>
                <a:path w="2133600" h="381000">
                  <a:moveTo>
                    <a:pt x="0" y="63373"/>
                  </a:moveTo>
                  <a:lnTo>
                    <a:pt x="4982" y="38683"/>
                  </a:lnTo>
                  <a:lnTo>
                    <a:pt x="18570" y="18542"/>
                  </a:lnTo>
                  <a:lnTo>
                    <a:pt x="38726" y="4972"/>
                  </a:lnTo>
                  <a:lnTo>
                    <a:pt x="63411" y="0"/>
                  </a:lnTo>
                  <a:lnTo>
                    <a:pt x="2069960" y="0"/>
                  </a:lnTo>
                  <a:lnTo>
                    <a:pt x="2094649" y="4972"/>
                  </a:lnTo>
                  <a:lnTo>
                    <a:pt x="2114791" y="18542"/>
                  </a:lnTo>
                  <a:lnTo>
                    <a:pt x="2128360" y="38683"/>
                  </a:lnTo>
                  <a:lnTo>
                    <a:pt x="2133333" y="63373"/>
                  </a:lnTo>
                  <a:lnTo>
                    <a:pt x="2133333" y="317119"/>
                  </a:lnTo>
                  <a:lnTo>
                    <a:pt x="2128360" y="341755"/>
                  </a:lnTo>
                  <a:lnTo>
                    <a:pt x="2114791" y="361902"/>
                  </a:lnTo>
                  <a:lnTo>
                    <a:pt x="2094649" y="375501"/>
                  </a:lnTo>
                  <a:lnTo>
                    <a:pt x="2069960" y="380492"/>
                  </a:lnTo>
                  <a:lnTo>
                    <a:pt x="63411" y="380492"/>
                  </a:lnTo>
                  <a:lnTo>
                    <a:pt x="38726" y="375501"/>
                  </a:lnTo>
                  <a:lnTo>
                    <a:pt x="18570" y="361902"/>
                  </a:lnTo>
                  <a:lnTo>
                    <a:pt x="4982" y="341755"/>
                  </a:lnTo>
                  <a:lnTo>
                    <a:pt x="0" y="317119"/>
                  </a:lnTo>
                  <a:lnTo>
                    <a:pt x="0" y="6337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55" dirty="0"/>
              <a:t> </a:t>
            </a:r>
            <a:r>
              <a:rPr dirty="0"/>
              <a:t>reference</a:t>
            </a:r>
            <a:r>
              <a:rPr spc="-55" dirty="0"/>
              <a:t> </a:t>
            </a:r>
            <a:r>
              <a:rPr dirty="0"/>
              <a:t>model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its</a:t>
            </a:r>
            <a:r>
              <a:rPr spc="-30" dirty="0"/>
              <a:t> </a:t>
            </a:r>
            <a:r>
              <a:rPr dirty="0"/>
              <a:t>services</a:t>
            </a:r>
            <a:r>
              <a:rPr spc="-45" dirty="0"/>
              <a:t> </a:t>
            </a:r>
            <a:r>
              <a:rPr spc="-10" dirty="0"/>
              <a:t>(review)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27328" y="1004696"/>
            <a:ext cx="1696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Application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19438" y="1186165"/>
            <a:ext cx="626425" cy="684504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3623309" y="1123937"/>
            <a:ext cx="2213610" cy="2003425"/>
            <a:chOff x="3623309" y="1123937"/>
            <a:chExt cx="2213610" cy="200342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34001" y="1123937"/>
              <a:ext cx="792365" cy="79236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636009" y="253834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80">
                  <a:moveTo>
                    <a:pt x="0" y="96012"/>
                  </a:moveTo>
                  <a:lnTo>
                    <a:pt x="7536" y="58668"/>
                  </a:lnTo>
                  <a:lnTo>
                    <a:pt x="28098" y="28146"/>
                  </a:lnTo>
                  <a:lnTo>
                    <a:pt x="58614" y="7554"/>
                  </a:lnTo>
                  <a:lnTo>
                    <a:pt x="96012" y="0"/>
                  </a:lnTo>
                  <a:lnTo>
                    <a:pt x="2092070" y="0"/>
                  </a:lnTo>
                  <a:lnTo>
                    <a:pt x="2129414" y="7554"/>
                  </a:lnTo>
                  <a:lnTo>
                    <a:pt x="2159936" y="28146"/>
                  </a:lnTo>
                  <a:lnTo>
                    <a:pt x="2180528" y="58668"/>
                  </a:lnTo>
                  <a:lnTo>
                    <a:pt x="2188082" y="96012"/>
                  </a:lnTo>
                  <a:lnTo>
                    <a:pt x="2188082" y="480059"/>
                  </a:lnTo>
                  <a:lnTo>
                    <a:pt x="2180528" y="517403"/>
                  </a:lnTo>
                  <a:lnTo>
                    <a:pt x="2159936" y="547925"/>
                  </a:lnTo>
                  <a:lnTo>
                    <a:pt x="2129414" y="568517"/>
                  </a:lnTo>
                  <a:lnTo>
                    <a:pt x="2092070" y="576071"/>
                  </a:lnTo>
                  <a:lnTo>
                    <a:pt x="96012" y="576071"/>
                  </a:lnTo>
                  <a:lnTo>
                    <a:pt x="58614" y="568517"/>
                  </a:lnTo>
                  <a:lnTo>
                    <a:pt x="28098" y="547925"/>
                  </a:lnTo>
                  <a:lnTo>
                    <a:pt x="7536" y="517403"/>
                  </a:lnTo>
                  <a:lnTo>
                    <a:pt x="0" y="480059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422140" y="2669489"/>
            <a:ext cx="6165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471665" y="2556382"/>
            <a:ext cx="2188210" cy="575945"/>
          </a:xfrm>
          <a:custGeom>
            <a:avLst/>
            <a:gdLst/>
            <a:ahLst/>
            <a:cxnLst/>
            <a:rect l="l" t="t" r="r" b="b"/>
            <a:pathLst>
              <a:path w="2188209" h="575944">
                <a:moveTo>
                  <a:pt x="0" y="96012"/>
                </a:moveTo>
                <a:lnTo>
                  <a:pt x="7554" y="58614"/>
                </a:lnTo>
                <a:lnTo>
                  <a:pt x="28146" y="28098"/>
                </a:lnTo>
                <a:lnTo>
                  <a:pt x="58668" y="7536"/>
                </a:lnTo>
                <a:lnTo>
                  <a:pt x="96012" y="0"/>
                </a:lnTo>
                <a:lnTo>
                  <a:pt x="2092070" y="0"/>
                </a:lnTo>
                <a:lnTo>
                  <a:pt x="2129468" y="7536"/>
                </a:lnTo>
                <a:lnTo>
                  <a:pt x="2159984" y="28098"/>
                </a:lnTo>
                <a:lnTo>
                  <a:pt x="2180546" y="58614"/>
                </a:lnTo>
                <a:lnTo>
                  <a:pt x="2188083" y="96012"/>
                </a:lnTo>
                <a:lnTo>
                  <a:pt x="2188083" y="479933"/>
                </a:lnTo>
                <a:lnTo>
                  <a:pt x="2180546" y="517330"/>
                </a:lnTo>
                <a:lnTo>
                  <a:pt x="2159984" y="547846"/>
                </a:lnTo>
                <a:lnTo>
                  <a:pt x="2129468" y="568408"/>
                </a:lnTo>
                <a:lnTo>
                  <a:pt x="2092070" y="575944"/>
                </a:lnTo>
                <a:lnTo>
                  <a:pt x="96012" y="575944"/>
                </a:lnTo>
                <a:lnTo>
                  <a:pt x="58668" y="568408"/>
                </a:lnTo>
                <a:lnTo>
                  <a:pt x="28146" y="547846"/>
                </a:lnTo>
                <a:lnTo>
                  <a:pt x="7554" y="517330"/>
                </a:lnTo>
                <a:lnTo>
                  <a:pt x="0" y="479933"/>
                </a:lnTo>
                <a:lnTo>
                  <a:pt x="0" y="9601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258304" y="2687523"/>
            <a:ext cx="6165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623309" y="3423539"/>
            <a:ext cx="2213610" cy="601980"/>
            <a:chOff x="3623309" y="3423539"/>
            <a:chExt cx="2213610" cy="601980"/>
          </a:xfrm>
        </p:grpSpPr>
        <p:sp>
          <p:nvSpPr>
            <p:cNvPr id="19" name="object 19"/>
            <p:cNvSpPr/>
            <p:nvPr/>
          </p:nvSpPr>
          <p:spPr>
            <a:xfrm>
              <a:off x="3636009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79">
                  <a:moveTo>
                    <a:pt x="2092070" y="0"/>
                  </a:moveTo>
                  <a:lnTo>
                    <a:pt x="96012" y="0"/>
                  </a:lnTo>
                  <a:lnTo>
                    <a:pt x="58614" y="7536"/>
                  </a:lnTo>
                  <a:lnTo>
                    <a:pt x="28098" y="28098"/>
                  </a:lnTo>
                  <a:lnTo>
                    <a:pt x="7536" y="58614"/>
                  </a:lnTo>
                  <a:lnTo>
                    <a:pt x="0" y="96012"/>
                  </a:lnTo>
                  <a:lnTo>
                    <a:pt x="0" y="479958"/>
                  </a:lnTo>
                  <a:lnTo>
                    <a:pt x="7536" y="517327"/>
                  </a:lnTo>
                  <a:lnTo>
                    <a:pt x="28098" y="547841"/>
                  </a:lnTo>
                  <a:lnTo>
                    <a:pt x="58614" y="568414"/>
                  </a:lnTo>
                  <a:lnTo>
                    <a:pt x="96012" y="575957"/>
                  </a:lnTo>
                  <a:lnTo>
                    <a:pt x="2092070" y="575957"/>
                  </a:lnTo>
                  <a:lnTo>
                    <a:pt x="2129414" y="568414"/>
                  </a:lnTo>
                  <a:lnTo>
                    <a:pt x="2159936" y="547841"/>
                  </a:lnTo>
                  <a:lnTo>
                    <a:pt x="2180528" y="517327"/>
                  </a:lnTo>
                  <a:lnTo>
                    <a:pt x="2188082" y="479958"/>
                  </a:lnTo>
                  <a:lnTo>
                    <a:pt x="2188082" y="96012"/>
                  </a:lnTo>
                  <a:lnTo>
                    <a:pt x="2180528" y="58614"/>
                  </a:lnTo>
                  <a:lnTo>
                    <a:pt x="2159936" y="28098"/>
                  </a:lnTo>
                  <a:lnTo>
                    <a:pt x="2129414" y="7536"/>
                  </a:lnTo>
                  <a:lnTo>
                    <a:pt x="20920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36009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79">
                  <a:moveTo>
                    <a:pt x="0" y="96012"/>
                  </a:moveTo>
                  <a:lnTo>
                    <a:pt x="7536" y="58614"/>
                  </a:lnTo>
                  <a:lnTo>
                    <a:pt x="28098" y="28098"/>
                  </a:lnTo>
                  <a:lnTo>
                    <a:pt x="58614" y="7536"/>
                  </a:lnTo>
                  <a:lnTo>
                    <a:pt x="96012" y="0"/>
                  </a:lnTo>
                  <a:lnTo>
                    <a:pt x="2092070" y="0"/>
                  </a:lnTo>
                  <a:lnTo>
                    <a:pt x="2129414" y="7536"/>
                  </a:lnTo>
                  <a:lnTo>
                    <a:pt x="2159936" y="28098"/>
                  </a:lnTo>
                  <a:lnTo>
                    <a:pt x="2180528" y="58614"/>
                  </a:lnTo>
                  <a:lnTo>
                    <a:pt x="2188082" y="96012"/>
                  </a:lnTo>
                  <a:lnTo>
                    <a:pt x="2188082" y="479958"/>
                  </a:lnTo>
                  <a:lnTo>
                    <a:pt x="2180528" y="517327"/>
                  </a:lnTo>
                  <a:lnTo>
                    <a:pt x="2159936" y="547841"/>
                  </a:lnTo>
                  <a:lnTo>
                    <a:pt x="2129414" y="568414"/>
                  </a:lnTo>
                  <a:lnTo>
                    <a:pt x="2092070" y="575957"/>
                  </a:lnTo>
                  <a:lnTo>
                    <a:pt x="96012" y="575957"/>
                  </a:lnTo>
                  <a:lnTo>
                    <a:pt x="58614" y="568414"/>
                  </a:lnTo>
                  <a:lnTo>
                    <a:pt x="28098" y="547841"/>
                  </a:lnTo>
                  <a:lnTo>
                    <a:pt x="7536" y="517327"/>
                  </a:lnTo>
                  <a:lnTo>
                    <a:pt x="0" y="479958"/>
                  </a:lnTo>
                  <a:lnTo>
                    <a:pt x="0" y="96012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894835" y="3430651"/>
            <a:ext cx="16700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7056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To: </a:t>
            </a:r>
            <a:r>
              <a:rPr sz="1800" dirty="0">
                <a:latin typeface="Times New Roman"/>
                <a:cs typeface="Times New Roman"/>
              </a:rPr>
              <a:t>Presentation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458965" y="3423539"/>
            <a:ext cx="2213610" cy="601980"/>
            <a:chOff x="6458965" y="3423539"/>
            <a:chExt cx="2213610" cy="601980"/>
          </a:xfrm>
        </p:grpSpPr>
        <p:sp>
          <p:nvSpPr>
            <p:cNvPr id="23" name="object 23"/>
            <p:cNvSpPr/>
            <p:nvPr/>
          </p:nvSpPr>
          <p:spPr>
            <a:xfrm>
              <a:off x="6471665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79">
                  <a:moveTo>
                    <a:pt x="2092070" y="0"/>
                  </a:moveTo>
                  <a:lnTo>
                    <a:pt x="96012" y="0"/>
                  </a:lnTo>
                  <a:lnTo>
                    <a:pt x="58668" y="7536"/>
                  </a:lnTo>
                  <a:lnTo>
                    <a:pt x="28146" y="28098"/>
                  </a:lnTo>
                  <a:lnTo>
                    <a:pt x="7554" y="58614"/>
                  </a:lnTo>
                  <a:lnTo>
                    <a:pt x="0" y="96012"/>
                  </a:lnTo>
                  <a:lnTo>
                    <a:pt x="0" y="479958"/>
                  </a:lnTo>
                  <a:lnTo>
                    <a:pt x="7554" y="517327"/>
                  </a:lnTo>
                  <a:lnTo>
                    <a:pt x="28146" y="547841"/>
                  </a:lnTo>
                  <a:lnTo>
                    <a:pt x="58668" y="568414"/>
                  </a:lnTo>
                  <a:lnTo>
                    <a:pt x="96012" y="575957"/>
                  </a:lnTo>
                  <a:lnTo>
                    <a:pt x="2092070" y="575957"/>
                  </a:lnTo>
                  <a:lnTo>
                    <a:pt x="2129468" y="568414"/>
                  </a:lnTo>
                  <a:lnTo>
                    <a:pt x="2159984" y="547841"/>
                  </a:lnTo>
                  <a:lnTo>
                    <a:pt x="2180546" y="517327"/>
                  </a:lnTo>
                  <a:lnTo>
                    <a:pt x="2188083" y="479958"/>
                  </a:lnTo>
                  <a:lnTo>
                    <a:pt x="2188083" y="96012"/>
                  </a:lnTo>
                  <a:lnTo>
                    <a:pt x="2180546" y="58614"/>
                  </a:lnTo>
                  <a:lnTo>
                    <a:pt x="2159984" y="28098"/>
                  </a:lnTo>
                  <a:lnTo>
                    <a:pt x="2129468" y="7536"/>
                  </a:lnTo>
                  <a:lnTo>
                    <a:pt x="20920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71665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79">
                  <a:moveTo>
                    <a:pt x="0" y="96012"/>
                  </a:moveTo>
                  <a:lnTo>
                    <a:pt x="7554" y="58614"/>
                  </a:lnTo>
                  <a:lnTo>
                    <a:pt x="28146" y="28098"/>
                  </a:lnTo>
                  <a:lnTo>
                    <a:pt x="58668" y="7536"/>
                  </a:lnTo>
                  <a:lnTo>
                    <a:pt x="96012" y="0"/>
                  </a:lnTo>
                  <a:lnTo>
                    <a:pt x="2092070" y="0"/>
                  </a:lnTo>
                  <a:lnTo>
                    <a:pt x="2129468" y="7536"/>
                  </a:lnTo>
                  <a:lnTo>
                    <a:pt x="2159984" y="28098"/>
                  </a:lnTo>
                  <a:lnTo>
                    <a:pt x="2180546" y="58614"/>
                  </a:lnTo>
                  <a:lnTo>
                    <a:pt x="2188083" y="96012"/>
                  </a:lnTo>
                  <a:lnTo>
                    <a:pt x="2188083" y="479958"/>
                  </a:lnTo>
                  <a:lnTo>
                    <a:pt x="2180546" y="517327"/>
                  </a:lnTo>
                  <a:lnTo>
                    <a:pt x="2159984" y="547841"/>
                  </a:lnTo>
                  <a:lnTo>
                    <a:pt x="2129468" y="568414"/>
                  </a:lnTo>
                  <a:lnTo>
                    <a:pt x="2092070" y="575957"/>
                  </a:lnTo>
                  <a:lnTo>
                    <a:pt x="96012" y="575957"/>
                  </a:lnTo>
                  <a:lnTo>
                    <a:pt x="58668" y="568414"/>
                  </a:lnTo>
                  <a:lnTo>
                    <a:pt x="28146" y="547841"/>
                  </a:lnTo>
                  <a:lnTo>
                    <a:pt x="7554" y="517327"/>
                  </a:lnTo>
                  <a:lnTo>
                    <a:pt x="0" y="479958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731000" y="3430651"/>
            <a:ext cx="16700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4356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imes New Roman"/>
                <a:cs typeface="Times New Roman"/>
              </a:rPr>
              <a:t>From: </a:t>
            </a:r>
            <a:r>
              <a:rPr sz="1800" dirty="0">
                <a:latin typeface="Times New Roman"/>
                <a:cs typeface="Times New Roman"/>
              </a:rPr>
              <a:t>Presentation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690618" y="2219197"/>
            <a:ext cx="2915285" cy="1216660"/>
          </a:xfrm>
          <a:custGeom>
            <a:avLst/>
            <a:gdLst/>
            <a:ahLst/>
            <a:cxnLst/>
            <a:rect l="l" t="t" r="r" b="b"/>
            <a:pathLst>
              <a:path w="2915284" h="1216660">
                <a:moveTo>
                  <a:pt x="76073" y="241935"/>
                </a:moveTo>
                <a:lnTo>
                  <a:pt x="50698" y="242404"/>
                </a:lnTo>
                <a:lnTo>
                  <a:pt x="46355" y="0"/>
                </a:lnTo>
                <a:lnTo>
                  <a:pt x="20955" y="381"/>
                </a:lnTo>
                <a:lnTo>
                  <a:pt x="25298" y="242874"/>
                </a:lnTo>
                <a:lnTo>
                  <a:pt x="0" y="243332"/>
                </a:lnTo>
                <a:lnTo>
                  <a:pt x="39370" y="318770"/>
                </a:lnTo>
                <a:lnTo>
                  <a:pt x="69570" y="255524"/>
                </a:lnTo>
                <a:lnTo>
                  <a:pt x="76073" y="241935"/>
                </a:lnTo>
                <a:close/>
              </a:path>
              <a:path w="2915284" h="1216660">
                <a:moveTo>
                  <a:pt x="79121" y="1140206"/>
                </a:moveTo>
                <a:lnTo>
                  <a:pt x="53657" y="1140345"/>
                </a:lnTo>
                <a:lnTo>
                  <a:pt x="52451" y="895477"/>
                </a:lnTo>
                <a:lnTo>
                  <a:pt x="27051" y="895604"/>
                </a:lnTo>
                <a:lnTo>
                  <a:pt x="28257" y="1140472"/>
                </a:lnTo>
                <a:lnTo>
                  <a:pt x="2921" y="1140587"/>
                </a:lnTo>
                <a:lnTo>
                  <a:pt x="41402" y="1216660"/>
                </a:lnTo>
                <a:lnTo>
                  <a:pt x="72720" y="1153160"/>
                </a:lnTo>
                <a:lnTo>
                  <a:pt x="79121" y="1140206"/>
                </a:lnTo>
                <a:close/>
              </a:path>
              <a:path w="2915284" h="1216660">
                <a:moveTo>
                  <a:pt x="2910586" y="108839"/>
                </a:moveTo>
                <a:lnTo>
                  <a:pt x="2904223" y="96393"/>
                </a:lnTo>
                <a:lnTo>
                  <a:pt x="2871851" y="33020"/>
                </a:lnTo>
                <a:lnTo>
                  <a:pt x="2834386" y="109474"/>
                </a:lnTo>
                <a:lnTo>
                  <a:pt x="2859875" y="109270"/>
                </a:lnTo>
                <a:lnTo>
                  <a:pt x="2861691" y="336931"/>
                </a:lnTo>
                <a:lnTo>
                  <a:pt x="2887091" y="336677"/>
                </a:lnTo>
                <a:lnTo>
                  <a:pt x="2885275" y="109054"/>
                </a:lnTo>
                <a:lnTo>
                  <a:pt x="2910586" y="108839"/>
                </a:lnTo>
                <a:close/>
              </a:path>
              <a:path w="2915284" h="1216660">
                <a:moveTo>
                  <a:pt x="2914777" y="989965"/>
                </a:moveTo>
                <a:lnTo>
                  <a:pt x="2908376" y="977011"/>
                </a:lnTo>
                <a:lnTo>
                  <a:pt x="2877058" y="913511"/>
                </a:lnTo>
                <a:lnTo>
                  <a:pt x="2838577" y="989457"/>
                </a:lnTo>
                <a:lnTo>
                  <a:pt x="2864027" y="989634"/>
                </a:lnTo>
                <a:lnTo>
                  <a:pt x="2862834" y="1216533"/>
                </a:lnTo>
                <a:lnTo>
                  <a:pt x="2888234" y="1216660"/>
                </a:lnTo>
                <a:lnTo>
                  <a:pt x="2889427" y="989799"/>
                </a:lnTo>
                <a:lnTo>
                  <a:pt x="2914777" y="9899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423028" y="1906650"/>
            <a:ext cx="6045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Sender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01281" y="1939493"/>
            <a:ext cx="7277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Receiver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55" dirty="0"/>
              <a:t> </a:t>
            </a:r>
            <a:r>
              <a:rPr dirty="0"/>
              <a:t>reference</a:t>
            </a:r>
            <a:r>
              <a:rPr spc="-55" dirty="0"/>
              <a:t> </a:t>
            </a:r>
            <a:r>
              <a:rPr dirty="0"/>
              <a:t>model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its</a:t>
            </a:r>
            <a:r>
              <a:rPr spc="-30" dirty="0"/>
              <a:t> </a:t>
            </a:r>
            <a:r>
              <a:rPr dirty="0"/>
              <a:t>services</a:t>
            </a:r>
            <a:r>
              <a:rPr spc="-45" dirty="0"/>
              <a:t> </a:t>
            </a:r>
            <a:r>
              <a:rPr spc="-10" dirty="0"/>
              <a:t>(review)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889375" y="990976"/>
            <a:ext cx="4948555" cy="232981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responsible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generating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ts val="2850"/>
              </a:lnSpc>
              <a:spcBef>
                <a:spcPts val="565"/>
              </a:spcBef>
              <a:buFont typeface="Arial MT"/>
              <a:buChar char="•"/>
              <a:tabLst>
                <a:tab pos="354965" algn="l"/>
                <a:tab pos="1518285" algn="l"/>
                <a:tab pos="1801495" algn="l"/>
                <a:tab pos="2795270" algn="l"/>
                <a:tab pos="3197860" algn="l"/>
                <a:tab pos="4479925" algn="l"/>
              </a:tabLst>
            </a:pPr>
            <a:r>
              <a:rPr sz="2400" spc="-10" dirty="0">
                <a:latin typeface="Times New Roman"/>
                <a:cs typeface="Times New Roman"/>
              </a:rPr>
              <a:t>contains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variety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protocols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that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ts val="2850"/>
              </a:lnSpc>
            </a:pP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commonly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0" dirty="0">
                <a:latin typeface="Times New Roman"/>
                <a:cs typeface="Times New Roman"/>
              </a:rPr>
              <a:t> users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20" dirty="0">
                <a:latin typeface="Times New Roman"/>
                <a:cs typeface="Times New Roman"/>
              </a:rPr>
              <a:t>HTTP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25" dirty="0">
                <a:latin typeface="Times New Roman"/>
                <a:cs typeface="Times New Roman"/>
              </a:rPr>
              <a:t>FTP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20" dirty="0">
                <a:latin typeface="Times New Roman"/>
                <a:cs typeface="Times New Roman"/>
              </a:rPr>
              <a:t>SMTP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9485" y="971677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373"/>
                </a:moveTo>
                <a:lnTo>
                  <a:pt x="4982" y="38683"/>
                </a:lnTo>
                <a:lnTo>
                  <a:pt x="18570" y="18542"/>
                </a:lnTo>
                <a:lnTo>
                  <a:pt x="38726" y="4972"/>
                </a:lnTo>
                <a:lnTo>
                  <a:pt x="63411" y="0"/>
                </a:lnTo>
                <a:lnTo>
                  <a:pt x="2069960" y="0"/>
                </a:lnTo>
                <a:lnTo>
                  <a:pt x="2094649" y="4972"/>
                </a:lnTo>
                <a:lnTo>
                  <a:pt x="2114791" y="18542"/>
                </a:lnTo>
                <a:lnTo>
                  <a:pt x="2128360" y="38683"/>
                </a:lnTo>
                <a:lnTo>
                  <a:pt x="2133333" y="63373"/>
                </a:lnTo>
                <a:lnTo>
                  <a:pt x="2133333" y="317119"/>
                </a:lnTo>
                <a:lnTo>
                  <a:pt x="2128360" y="341755"/>
                </a:lnTo>
                <a:lnTo>
                  <a:pt x="2114791" y="361902"/>
                </a:lnTo>
                <a:lnTo>
                  <a:pt x="2094649" y="375501"/>
                </a:lnTo>
                <a:lnTo>
                  <a:pt x="2069960" y="380492"/>
                </a:lnTo>
                <a:lnTo>
                  <a:pt x="63411" y="380492"/>
                </a:lnTo>
                <a:lnTo>
                  <a:pt x="38726" y="375501"/>
                </a:lnTo>
                <a:lnTo>
                  <a:pt x="18570" y="361902"/>
                </a:lnTo>
                <a:lnTo>
                  <a:pt x="4982" y="341755"/>
                </a:lnTo>
                <a:lnTo>
                  <a:pt x="0" y="317119"/>
                </a:lnTo>
                <a:lnTo>
                  <a:pt x="0" y="6337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27328" y="1004696"/>
            <a:ext cx="1696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Application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96785" y="958977"/>
            <a:ext cx="6445250" cy="3820160"/>
            <a:chOff x="596785" y="958977"/>
            <a:chExt cx="6445250" cy="382016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09485" y="971677"/>
              <a:ext cx="2133600" cy="381000"/>
            </a:xfrm>
            <a:custGeom>
              <a:avLst/>
              <a:gdLst/>
              <a:ahLst/>
              <a:cxnLst/>
              <a:rect l="l" t="t" r="r" b="b"/>
              <a:pathLst>
                <a:path w="2133600" h="381000">
                  <a:moveTo>
                    <a:pt x="0" y="63373"/>
                  </a:moveTo>
                  <a:lnTo>
                    <a:pt x="4982" y="38683"/>
                  </a:lnTo>
                  <a:lnTo>
                    <a:pt x="18570" y="18542"/>
                  </a:lnTo>
                  <a:lnTo>
                    <a:pt x="38726" y="4972"/>
                  </a:lnTo>
                  <a:lnTo>
                    <a:pt x="63411" y="0"/>
                  </a:lnTo>
                  <a:lnTo>
                    <a:pt x="2069960" y="0"/>
                  </a:lnTo>
                  <a:lnTo>
                    <a:pt x="2094649" y="4972"/>
                  </a:lnTo>
                  <a:lnTo>
                    <a:pt x="2114791" y="18542"/>
                  </a:lnTo>
                  <a:lnTo>
                    <a:pt x="2128360" y="38683"/>
                  </a:lnTo>
                  <a:lnTo>
                    <a:pt x="2133333" y="63373"/>
                  </a:lnTo>
                  <a:lnTo>
                    <a:pt x="2133333" y="317119"/>
                  </a:lnTo>
                  <a:lnTo>
                    <a:pt x="2128360" y="341755"/>
                  </a:lnTo>
                  <a:lnTo>
                    <a:pt x="2114791" y="361902"/>
                  </a:lnTo>
                  <a:lnTo>
                    <a:pt x="2094649" y="375501"/>
                  </a:lnTo>
                  <a:lnTo>
                    <a:pt x="2069960" y="380492"/>
                  </a:lnTo>
                  <a:lnTo>
                    <a:pt x="63411" y="380492"/>
                  </a:lnTo>
                  <a:lnTo>
                    <a:pt x="38726" y="375501"/>
                  </a:lnTo>
                  <a:lnTo>
                    <a:pt x="18570" y="361902"/>
                  </a:lnTo>
                  <a:lnTo>
                    <a:pt x="4982" y="341755"/>
                  </a:lnTo>
                  <a:lnTo>
                    <a:pt x="0" y="317119"/>
                  </a:lnTo>
                  <a:lnTo>
                    <a:pt x="0" y="63373"/>
                  </a:lnTo>
                  <a:close/>
                </a:path>
              </a:pathLst>
            </a:custGeom>
            <a:ln w="254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55" dirty="0"/>
              <a:t> </a:t>
            </a:r>
            <a:r>
              <a:rPr dirty="0"/>
              <a:t>reference</a:t>
            </a:r>
            <a:r>
              <a:rPr spc="-55" dirty="0"/>
              <a:t> </a:t>
            </a:r>
            <a:r>
              <a:rPr dirty="0"/>
              <a:t>model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its</a:t>
            </a:r>
            <a:r>
              <a:rPr spc="-30" dirty="0"/>
              <a:t> </a:t>
            </a:r>
            <a:r>
              <a:rPr dirty="0"/>
              <a:t>services</a:t>
            </a:r>
            <a:r>
              <a:rPr spc="-45" dirty="0"/>
              <a:t> </a:t>
            </a:r>
            <a:r>
              <a:rPr spc="-10" dirty="0"/>
              <a:t>(review)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27328" y="1004696"/>
            <a:ext cx="1696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E7E7E"/>
                </a:solidFill>
                <a:latin typeface="Times New Roman"/>
                <a:cs typeface="Times New Roman"/>
              </a:rPr>
              <a:t>Application</a:t>
            </a:r>
            <a:r>
              <a:rPr sz="1800" spc="-9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1644" y="1564513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500"/>
                </a:moveTo>
                <a:lnTo>
                  <a:pt x="4982" y="38790"/>
                </a:lnTo>
                <a:lnTo>
                  <a:pt x="18570" y="18605"/>
                </a:lnTo>
                <a:lnTo>
                  <a:pt x="38726" y="4992"/>
                </a:lnTo>
                <a:lnTo>
                  <a:pt x="63411" y="0"/>
                </a:lnTo>
                <a:lnTo>
                  <a:pt x="2069960" y="0"/>
                </a:lnTo>
                <a:lnTo>
                  <a:pt x="2094649" y="4992"/>
                </a:lnTo>
                <a:lnTo>
                  <a:pt x="2114791" y="18605"/>
                </a:lnTo>
                <a:lnTo>
                  <a:pt x="2128360" y="38790"/>
                </a:lnTo>
                <a:lnTo>
                  <a:pt x="2133333" y="63500"/>
                </a:lnTo>
                <a:lnTo>
                  <a:pt x="2133333" y="317119"/>
                </a:lnTo>
                <a:lnTo>
                  <a:pt x="2128360" y="341828"/>
                </a:lnTo>
                <a:lnTo>
                  <a:pt x="2114791" y="362013"/>
                </a:lnTo>
                <a:lnTo>
                  <a:pt x="2094649" y="375626"/>
                </a:lnTo>
                <a:lnTo>
                  <a:pt x="2069960" y="380619"/>
                </a:lnTo>
                <a:lnTo>
                  <a:pt x="63411" y="380619"/>
                </a:lnTo>
                <a:lnTo>
                  <a:pt x="38726" y="375626"/>
                </a:lnTo>
                <a:lnTo>
                  <a:pt x="18570" y="362013"/>
                </a:lnTo>
                <a:lnTo>
                  <a:pt x="4982" y="341828"/>
                </a:lnTo>
                <a:lnTo>
                  <a:pt x="0" y="317119"/>
                </a:lnTo>
                <a:lnTo>
                  <a:pt x="0" y="635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03554" y="1597914"/>
            <a:ext cx="17456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Presentation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639570" y="1352422"/>
            <a:ext cx="4197350" cy="1774825"/>
            <a:chOff x="1639570" y="1352422"/>
            <a:chExt cx="4197350" cy="177482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9570" y="1352422"/>
              <a:ext cx="76200" cy="21183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636010" y="2538348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80">
                  <a:moveTo>
                    <a:pt x="0" y="96012"/>
                  </a:moveTo>
                  <a:lnTo>
                    <a:pt x="7536" y="58668"/>
                  </a:lnTo>
                  <a:lnTo>
                    <a:pt x="28098" y="28146"/>
                  </a:lnTo>
                  <a:lnTo>
                    <a:pt x="58614" y="7554"/>
                  </a:lnTo>
                  <a:lnTo>
                    <a:pt x="96012" y="0"/>
                  </a:lnTo>
                  <a:lnTo>
                    <a:pt x="2092070" y="0"/>
                  </a:lnTo>
                  <a:lnTo>
                    <a:pt x="2129414" y="7554"/>
                  </a:lnTo>
                  <a:lnTo>
                    <a:pt x="2159936" y="28146"/>
                  </a:lnTo>
                  <a:lnTo>
                    <a:pt x="2180528" y="58668"/>
                  </a:lnTo>
                  <a:lnTo>
                    <a:pt x="2188082" y="96012"/>
                  </a:lnTo>
                  <a:lnTo>
                    <a:pt x="2188082" y="480059"/>
                  </a:lnTo>
                  <a:lnTo>
                    <a:pt x="2180528" y="517403"/>
                  </a:lnTo>
                  <a:lnTo>
                    <a:pt x="2159936" y="547925"/>
                  </a:lnTo>
                  <a:lnTo>
                    <a:pt x="2129414" y="568517"/>
                  </a:lnTo>
                  <a:lnTo>
                    <a:pt x="2092070" y="576071"/>
                  </a:lnTo>
                  <a:lnTo>
                    <a:pt x="96012" y="576071"/>
                  </a:lnTo>
                  <a:lnTo>
                    <a:pt x="58614" y="568517"/>
                  </a:lnTo>
                  <a:lnTo>
                    <a:pt x="28098" y="547925"/>
                  </a:lnTo>
                  <a:lnTo>
                    <a:pt x="7536" y="517403"/>
                  </a:lnTo>
                  <a:lnTo>
                    <a:pt x="0" y="480059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925315" y="2532379"/>
            <a:ext cx="16071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Encode,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Encrypt,</a:t>
            </a:r>
            <a:endParaRPr sz="18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Compress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71665" y="2556382"/>
            <a:ext cx="2188210" cy="575945"/>
          </a:xfrm>
          <a:custGeom>
            <a:avLst/>
            <a:gdLst/>
            <a:ahLst/>
            <a:cxnLst/>
            <a:rect l="l" t="t" r="r" b="b"/>
            <a:pathLst>
              <a:path w="2188209" h="575944">
                <a:moveTo>
                  <a:pt x="0" y="96012"/>
                </a:moveTo>
                <a:lnTo>
                  <a:pt x="7554" y="58614"/>
                </a:lnTo>
                <a:lnTo>
                  <a:pt x="28146" y="28098"/>
                </a:lnTo>
                <a:lnTo>
                  <a:pt x="58668" y="7536"/>
                </a:lnTo>
                <a:lnTo>
                  <a:pt x="96012" y="0"/>
                </a:lnTo>
                <a:lnTo>
                  <a:pt x="2092070" y="0"/>
                </a:lnTo>
                <a:lnTo>
                  <a:pt x="2129468" y="7536"/>
                </a:lnTo>
                <a:lnTo>
                  <a:pt x="2159984" y="28098"/>
                </a:lnTo>
                <a:lnTo>
                  <a:pt x="2180546" y="58614"/>
                </a:lnTo>
                <a:lnTo>
                  <a:pt x="2188083" y="96012"/>
                </a:lnTo>
                <a:lnTo>
                  <a:pt x="2188083" y="479933"/>
                </a:lnTo>
                <a:lnTo>
                  <a:pt x="2180546" y="517330"/>
                </a:lnTo>
                <a:lnTo>
                  <a:pt x="2159984" y="547846"/>
                </a:lnTo>
                <a:lnTo>
                  <a:pt x="2129468" y="568408"/>
                </a:lnTo>
                <a:lnTo>
                  <a:pt x="2092070" y="575944"/>
                </a:lnTo>
                <a:lnTo>
                  <a:pt x="96012" y="575944"/>
                </a:lnTo>
                <a:lnTo>
                  <a:pt x="58668" y="568408"/>
                </a:lnTo>
                <a:lnTo>
                  <a:pt x="28146" y="547846"/>
                </a:lnTo>
                <a:lnTo>
                  <a:pt x="7554" y="517330"/>
                </a:lnTo>
                <a:lnTo>
                  <a:pt x="0" y="479933"/>
                </a:lnTo>
                <a:lnTo>
                  <a:pt x="0" y="9601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749288" y="2550363"/>
            <a:ext cx="16338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Decode,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Decrypt,</a:t>
            </a:r>
            <a:endParaRPr sz="18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Decompress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623309" y="3423539"/>
            <a:ext cx="2213610" cy="601980"/>
            <a:chOff x="3623309" y="3423539"/>
            <a:chExt cx="2213610" cy="601980"/>
          </a:xfrm>
        </p:grpSpPr>
        <p:sp>
          <p:nvSpPr>
            <p:cNvPr id="20" name="object 20"/>
            <p:cNvSpPr/>
            <p:nvPr/>
          </p:nvSpPr>
          <p:spPr>
            <a:xfrm>
              <a:off x="3636009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79">
                  <a:moveTo>
                    <a:pt x="2092070" y="0"/>
                  </a:moveTo>
                  <a:lnTo>
                    <a:pt x="96012" y="0"/>
                  </a:lnTo>
                  <a:lnTo>
                    <a:pt x="58614" y="7536"/>
                  </a:lnTo>
                  <a:lnTo>
                    <a:pt x="28098" y="28098"/>
                  </a:lnTo>
                  <a:lnTo>
                    <a:pt x="7536" y="58614"/>
                  </a:lnTo>
                  <a:lnTo>
                    <a:pt x="0" y="96012"/>
                  </a:lnTo>
                  <a:lnTo>
                    <a:pt x="0" y="479958"/>
                  </a:lnTo>
                  <a:lnTo>
                    <a:pt x="7536" y="517327"/>
                  </a:lnTo>
                  <a:lnTo>
                    <a:pt x="28098" y="547841"/>
                  </a:lnTo>
                  <a:lnTo>
                    <a:pt x="58614" y="568414"/>
                  </a:lnTo>
                  <a:lnTo>
                    <a:pt x="96012" y="575957"/>
                  </a:lnTo>
                  <a:lnTo>
                    <a:pt x="2092070" y="575957"/>
                  </a:lnTo>
                  <a:lnTo>
                    <a:pt x="2129414" y="568414"/>
                  </a:lnTo>
                  <a:lnTo>
                    <a:pt x="2159936" y="547841"/>
                  </a:lnTo>
                  <a:lnTo>
                    <a:pt x="2180528" y="517327"/>
                  </a:lnTo>
                  <a:lnTo>
                    <a:pt x="2188082" y="479958"/>
                  </a:lnTo>
                  <a:lnTo>
                    <a:pt x="2188082" y="96012"/>
                  </a:lnTo>
                  <a:lnTo>
                    <a:pt x="2180528" y="58614"/>
                  </a:lnTo>
                  <a:lnTo>
                    <a:pt x="2159936" y="28098"/>
                  </a:lnTo>
                  <a:lnTo>
                    <a:pt x="2129414" y="7536"/>
                  </a:lnTo>
                  <a:lnTo>
                    <a:pt x="20920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36009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79">
                  <a:moveTo>
                    <a:pt x="0" y="96012"/>
                  </a:moveTo>
                  <a:lnTo>
                    <a:pt x="7536" y="58614"/>
                  </a:lnTo>
                  <a:lnTo>
                    <a:pt x="28098" y="28098"/>
                  </a:lnTo>
                  <a:lnTo>
                    <a:pt x="58614" y="7536"/>
                  </a:lnTo>
                  <a:lnTo>
                    <a:pt x="96012" y="0"/>
                  </a:lnTo>
                  <a:lnTo>
                    <a:pt x="2092070" y="0"/>
                  </a:lnTo>
                  <a:lnTo>
                    <a:pt x="2129414" y="7536"/>
                  </a:lnTo>
                  <a:lnTo>
                    <a:pt x="2159936" y="28098"/>
                  </a:lnTo>
                  <a:lnTo>
                    <a:pt x="2180528" y="58614"/>
                  </a:lnTo>
                  <a:lnTo>
                    <a:pt x="2188082" y="96012"/>
                  </a:lnTo>
                  <a:lnTo>
                    <a:pt x="2188082" y="479958"/>
                  </a:lnTo>
                  <a:lnTo>
                    <a:pt x="2180528" y="517327"/>
                  </a:lnTo>
                  <a:lnTo>
                    <a:pt x="2159936" y="547841"/>
                  </a:lnTo>
                  <a:lnTo>
                    <a:pt x="2129414" y="568414"/>
                  </a:lnTo>
                  <a:lnTo>
                    <a:pt x="2092070" y="575957"/>
                  </a:lnTo>
                  <a:lnTo>
                    <a:pt x="96012" y="575957"/>
                  </a:lnTo>
                  <a:lnTo>
                    <a:pt x="58614" y="568414"/>
                  </a:lnTo>
                  <a:lnTo>
                    <a:pt x="28098" y="547841"/>
                  </a:lnTo>
                  <a:lnTo>
                    <a:pt x="7536" y="517327"/>
                  </a:lnTo>
                  <a:lnTo>
                    <a:pt x="0" y="479958"/>
                  </a:lnTo>
                  <a:lnTo>
                    <a:pt x="0" y="96012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09720" y="3430651"/>
            <a:ext cx="1238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529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To: </a:t>
            </a:r>
            <a:r>
              <a:rPr sz="1800" dirty="0">
                <a:latin typeface="Times New Roman"/>
                <a:cs typeface="Times New Roman"/>
              </a:rPr>
              <a:t>Session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458965" y="3423539"/>
            <a:ext cx="2213610" cy="601980"/>
            <a:chOff x="6458965" y="3423539"/>
            <a:chExt cx="2213610" cy="601980"/>
          </a:xfrm>
        </p:grpSpPr>
        <p:sp>
          <p:nvSpPr>
            <p:cNvPr id="24" name="object 24"/>
            <p:cNvSpPr/>
            <p:nvPr/>
          </p:nvSpPr>
          <p:spPr>
            <a:xfrm>
              <a:off x="6471665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79">
                  <a:moveTo>
                    <a:pt x="2092070" y="0"/>
                  </a:moveTo>
                  <a:lnTo>
                    <a:pt x="96012" y="0"/>
                  </a:lnTo>
                  <a:lnTo>
                    <a:pt x="58668" y="7536"/>
                  </a:lnTo>
                  <a:lnTo>
                    <a:pt x="28146" y="28098"/>
                  </a:lnTo>
                  <a:lnTo>
                    <a:pt x="7554" y="58614"/>
                  </a:lnTo>
                  <a:lnTo>
                    <a:pt x="0" y="96012"/>
                  </a:lnTo>
                  <a:lnTo>
                    <a:pt x="0" y="479958"/>
                  </a:lnTo>
                  <a:lnTo>
                    <a:pt x="7554" y="517327"/>
                  </a:lnTo>
                  <a:lnTo>
                    <a:pt x="28146" y="547841"/>
                  </a:lnTo>
                  <a:lnTo>
                    <a:pt x="58668" y="568414"/>
                  </a:lnTo>
                  <a:lnTo>
                    <a:pt x="96012" y="575957"/>
                  </a:lnTo>
                  <a:lnTo>
                    <a:pt x="2092070" y="575957"/>
                  </a:lnTo>
                  <a:lnTo>
                    <a:pt x="2129468" y="568414"/>
                  </a:lnTo>
                  <a:lnTo>
                    <a:pt x="2159984" y="547841"/>
                  </a:lnTo>
                  <a:lnTo>
                    <a:pt x="2180546" y="517327"/>
                  </a:lnTo>
                  <a:lnTo>
                    <a:pt x="2188083" y="479958"/>
                  </a:lnTo>
                  <a:lnTo>
                    <a:pt x="2188083" y="96012"/>
                  </a:lnTo>
                  <a:lnTo>
                    <a:pt x="2180546" y="58614"/>
                  </a:lnTo>
                  <a:lnTo>
                    <a:pt x="2159984" y="28098"/>
                  </a:lnTo>
                  <a:lnTo>
                    <a:pt x="2129468" y="7536"/>
                  </a:lnTo>
                  <a:lnTo>
                    <a:pt x="20920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71665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79">
                  <a:moveTo>
                    <a:pt x="0" y="96012"/>
                  </a:moveTo>
                  <a:lnTo>
                    <a:pt x="7554" y="58614"/>
                  </a:lnTo>
                  <a:lnTo>
                    <a:pt x="28146" y="28098"/>
                  </a:lnTo>
                  <a:lnTo>
                    <a:pt x="58668" y="7536"/>
                  </a:lnTo>
                  <a:lnTo>
                    <a:pt x="96012" y="0"/>
                  </a:lnTo>
                  <a:lnTo>
                    <a:pt x="2092070" y="0"/>
                  </a:lnTo>
                  <a:lnTo>
                    <a:pt x="2129468" y="7536"/>
                  </a:lnTo>
                  <a:lnTo>
                    <a:pt x="2159984" y="28098"/>
                  </a:lnTo>
                  <a:lnTo>
                    <a:pt x="2180546" y="58614"/>
                  </a:lnTo>
                  <a:lnTo>
                    <a:pt x="2188083" y="96012"/>
                  </a:lnTo>
                  <a:lnTo>
                    <a:pt x="2188083" y="479958"/>
                  </a:lnTo>
                  <a:lnTo>
                    <a:pt x="2180546" y="517327"/>
                  </a:lnTo>
                  <a:lnTo>
                    <a:pt x="2159984" y="547841"/>
                  </a:lnTo>
                  <a:lnTo>
                    <a:pt x="2129468" y="568414"/>
                  </a:lnTo>
                  <a:lnTo>
                    <a:pt x="2092070" y="575957"/>
                  </a:lnTo>
                  <a:lnTo>
                    <a:pt x="96012" y="575957"/>
                  </a:lnTo>
                  <a:lnTo>
                    <a:pt x="58668" y="568414"/>
                  </a:lnTo>
                  <a:lnTo>
                    <a:pt x="28146" y="547841"/>
                  </a:lnTo>
                  <a:lnTo>
                    <a:pt x="7554" y="517327"/>
                  </a:lnTo>
                  <a:lnTo>
                    <a:pt x="0" y="479958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945883" y="3430651"/>
            <a:ext cx="1238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2893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From: </a:t>
            </a:r>
            <a:r>
              <a:rPr sz="1800" dirty="0">
                <a:latin typeface="Times New Roman"/>
                <a:cs typeface="Times New Roman"/>
              </a:rPr>
              <a:t>Session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617214" y="1601850"/>
            <a:ext cx="3988435" cy="1834514"/>
            <a:chOff x="3617214" y="1601850"/>
            <a:chExt cx="3988435" cy="1834514"/>
          </a:xfrm>
        </p:grpSpPr>
        <p:sp>
          <p:nvSpPr>
            <p:cNvPr id="28" name="object 28"/>
            <p:cNvSpPr/>
            <p:nvPr/>
          </p:nvSpPr>
          <p:spPr>
            <a:xfrm>
              <a:off x="4690618" y="2189860"/>
              <a:ext cx="2915285" cy="1246505"/>
            </a:xfrm>
            <a:custGeom>
              <a:avLst/>
              <a:gdLst/>
              <a:ahLst/>
              <a:cxnLst/>
              <a:rect l="l" t="t" r="r" b="b"/>
              <a:pathLst>
                <a:path w="2915284" h="1246504">
                  <a:moveTo>
                    <a:pt x="76200" y="271272"/>
                  </a:moveTo>
                  <a:lnTo>
                    <a:pt x="50838" y="271703"/>
                  </a:lnTo>
                  <a:lnTo>
                    <a:pt x="46355" y="508"/>
                  </a:lnTo>
                  <a:lnTo>
                    <a:pt x="20955" y="889"/>
                  </a:lnTo>
                  <a:lnTo>
                    <a:pt x="25438" y="272122"/>
                  </a:lnTo>
                  <a:lnTo>
                    <a:pt x="0" y="272542"/>
                  </a:lnTo>
                  <a:lnTo>
                    <a:pt x="39370" y="348107"/>
                  </a:lnTo>
                  <a:lnTo>
                    <a:pt x="69684" y="284861"/>
                  </a:lnTo>
                  <a:lnTo>
                    <a:pt x="76200" y="271272"/>
                  </a:lnTo>
                  <a:close/>
                </a:path>
                <a:path w="2915284" h="1246504">
                  <a:moveTo>
                    <a:pt x="79121" y="1169543"/>
                  </a:moveTo>
                  <a:lnTo>
                    <a:pt x="53657" y="1169682"/>
                  </a:lnTo>
                  <a:lnTo>
                    <a:pt x="52451" y="924814"/>
                  </a:lnTo>
                  <a:lnTo>
                    <a:pt x="27051" y="924941"/>
                  </a:lnTo>
                  <a:lnTo>
                    <a:pt x="28257" y="1169809"/>
                  </a:lnTo>
                  <a:lnTo>
                    <a:pt x="2921" y="1169924"/>
                  </a:lnTo>
                  <a:lnTo>
                    <a:pt x="41402" y="1245997"/>
                  </a:lnTo>
                  <a:lnTo>
                    <a:pt x="72720" y="1182497"/>
                  </a:lnTo>
                  <a:lnTo>
                    <a:pt x="79121" y="1169543"/>
                  </a:lnTo>
                  <a:close/>
                </a:path>
                <a:path w="2915284" h="1246504">
                  <a:moveTo>
                    <a:pt x="2910586" y="75946"/>
                  </a:moveTo>
                  <a:lnTo>
                    <a:pt x="2904172" y="63373"/>
                  </a:lnTo>
                  <a:lnTo>
                    <a:pt x="2871851" y="0"/>
                  </a:lnTo>
                  <a:lnTo>
                    <a:pt x="2834386" y="76454"/>
                  </a:lnTo>
                  <a:lnTo>
                    <a:pt x="2859735" y="76288"/>
                  </a:lnTo>
                  <a:lnTo>
                    <a:pt x="2861691" y="365506"/>
                  </a:lnTo>
                  <a:lnTo>
                    <a:pt x="2887091" y="365379"/>
                  </a:lnTo>
                  <a:lnTo>
                    <a:pt x="2885135" y="76123"/>
                  </a:lnTo>
                  <a:lnTo>
                    <a:pt x="2910586" y="75946"/>
                  </a:lnTo>
                  <a:close/>
                </a:path>
                <a:path w="2915284" h="1246504">
                  <a:moveTo>
                    <a:pt x="2914777" y="1019302"/>
                  </a:moveTo>
                  <a:lnTo>
                    <a:pt x="2908376" y="1006348"/>
                  </a:lnTo>
                  <a:lnTo>
                    <a:pt x="2877058" y="942848"/>
                  </a:lnTo>
                  <a:lnTo>
                    <a:pt x="2838577" y="1018794"/>
                  </a:lnTo>
                  <a:lnTo>
                    <a:pt x="2864027" y="1018971"/>
                  </a:lnTo>
                  <a:lnTo>
                    <a:pt x="2862834" y="1245870"/>
                  </a:lnTo>
                  <a:lnTo>
                    <a:pt x="2888234" y="1245997"/>
                  </a:lnTo>
                  <a:lnTo>
                    <a:pt x="2889427" y="1019136"/>
                  </a:lnTo>
                  <a:lnTo>
                    <a:pt x="2914777" y="10193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629914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80">
                  <a:moveTo>
                    <a:pt x="2092071" y="0"/>
                  </a:moveTo>
                  <a:lnTo>
                    <a:pt x="96012" y="0"/>
                  </a:lnTo>
                  <a:lnTo>
                    <a:pt x="58614" y="7554"/>
                  </a:lnTo>
                  <a:lnTo>
                    <a:pt x="28098" y="28146"/>
                  </a:lnTo>
                  <a:lnTo>
                    <a:pt x="7536" y="58668"/>
                  </a:lnTo>
                  <a:lnTo>
                    <a:pt x="0" y="96012"/>
                  </a:lnTo>
                  <a:lnTo>
                    <a:pt x="0" y="480060"/>
                  </a:lnTo>
                  <a:lnTo>
                    <a:pt x="7536" y="517403"/>
                  </a:lnTo>
                  <a:lnTo>
                    <a:pt x="28098" y="547925"/>
                  </a:lnTo>
                  <a:lnTo>
                    <a:pt x="58614" y="568517"/>
                  </a:lnTo>
                  <a:lnTo>
                    <a:pt x="96012" y="576072"/>
                  </a:lnTo>
                  <a:lnTo>
                    <a:pt x="2092071" y="576072"/>
                  </a:lnTo>
                  <a:lnTo>
                    <a:pt x="2129414" y="568517"/>
                  </a:lnTo>
                  <a:lnTo>
                    <a:pt x="2159936" y="547925"/>
                  </a:lnTo>
                  <a:lnTo>
                    <a:pt x="2180528" y="517403"/>
                  </a:lnTo>
                  <a:lnTo>
                    <a:pt x="2188083" y="480060"/>
                  </a:lnTo>
                  <a:lnTo>
                    <a:pt x="2188083" y="96012"/>
                  </a:lnTo>
                  <a:lnTo>
                    <a:pt x="2180528" y="58668"/>
                  </a:lnTo>
                  <a:lnTo>
                    <a:pt x="2159936" y="28146"/>
                  </a:lnTo>
                  <a:lnTo>
                    <a:pt x="2129414" y="7554"/>
                  </a:lnTo>
                  <a:lnTo>
                    <a:pt x="209207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629914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80">
                  <a:moveTo>
                    <a:pt x="0" y="96012"/>
                  </a:moveTo>
                  <a:lnTo>
                    <a:pt x="7536" y="58668"/>
                  </a:lnTo>
                  <a:lnTo>
                    <a:pt x="28098" y="28146"/>
                  </a:lnTo>
                  <a:lnTo>
                    <a:pt x="58614" y="7554"/>
                  </a:lnTo>
                  <a:lnTo>
                    <a:pt x="96012" y="0"/>
                  </a:lnTo>
                  <a:lnTo>
                    <a:pt x="2092071" y="0"/>
                  </a:lnTo>
                  <a:lnTo>
                    <a:pt x="2129414" y="7554"/>
                  </a:lnTo>
                  <a:lnTo>
                    <a:pt x="2159936" y="28146"/>
                  </a:lnTo>
                  <a:lnTo>
                    <a:pt x="2180528" y="58668"/>
                  </a:lnTo>
                  <a:lnTo>
                    <a:pt x="2188083" y="96012"/>
                  </a:lnTo>
                  <a:lnTo>
                    <a:pt x="2188083" y="480060"/>
                  </a:lnTo>
                  <a:lnTo>
                    <a:pt x="2180528" y="517403"/>
                  </a:lnTo>
                  <a:lnTo>
                    <a:pt x="2159936" y="547925"/>
                  </a:lnTo>
                  <a:lnTo>
                    <a:pt x="2129414" y="568517"/>
                  </a:lnTo>
                  <a:lnTo>
                    <a:pt x="2092071" y="576072"/>
                  </a:lnTo>
                  <a:lnTo>
                    <a:pt x="96012" y="576072"/>
                  </a:lnTo>
                  <a:lnTo>
                    <a:pt x="58614" y="568517"/>
                  </a:lnTo>
                  <a:lnTo>
                    <a:pt x="28098" y="547925"/>
                  </a:lnTo>
                  <a:lnTo>
                    <a:pt x="7536" y="517403"/>
                  </a:lnTo>
                  <a:lnTo>
                    <a:pt x="0" y="480060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423028" y="994410"/>
            <a:ext cx="35058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90825" algn="l"/>
              </a:tabLst>
            </a:pPr>
            <a:r>
              <a:rPr sz="1600" spc="-10" dirty="0">
                <a:latin typeface="Calibri"/>
                <a:cs typeface="Calibri"/>
              </a:rPr>
              <a:t>Sender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Receiver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13123" y="1608582"/>
            <a:ext cx="16192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1943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From: </a:t>
            </a:r>
            <a:r>
              <a:rPr sz="1800" dirty="0">
                <a:latin typeface="Times New Roman"/>
                <a:cs typeface="Times New Roman"/>
              </a:rPr>
              <a:t>Application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456171" y="1601850"/>
            <a:ext cx="2213610" cy="601980"/>
            <a:chOff x="6456171" y="1601850"/>
            <a:chExt cx="2213610" cy="601980"/>
          </a:xfrm>
        </p:grpSpPr>
        <p:sp>
          <p:nvSpPr>
            <p:cNvPr id="34" name="object 34"/>
            <p:cNvSpPr/>
            <p:nvPr/>
          </p:nvSpPr>
          <p:spPr>
            <a:xfrm>
              <a:off x="6468871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80">
                  <a:moveTo>
                    <a:pt x="2092071" y="0"/>
                  </a:moveTo>
                  <a:lnTo>
                    <a:pt x="96011" y="0"/>
                  </a:lnTo>
                  <a:lnTo>
                    <a:pt x="58614" y="7554"/>
                  </a:lnTo>
                  <a:lnTo>
                    <a:pt x="28098" y="28146"/>
                  </a:lnTo>
                  <a:lnTo>
                    <a:pt x="7536" y="58668"/>
                  </a:lnTo>
                  <a:lnTo>
                    <a:pt x="0" y="96012"/>
                  </a:lnTo>
                  <a:lnTo>
                    <a:pt x="0" y="480060"/>
                  </a:lnTo>
                  <a:lnTo>
                    <a:pt x="7536" y="517403"/>
                  </a:lnTo>
                  <a:lnTo>
                    <a:pt x="28098" y="547925"/>
                  </a:lnTo>
                  <a:lnTo>
                    <a:pt x="58614" y="568517"/>
                  </a:lnTo>
                  <a:lnTo>
                    <a:pt x="96011" y="576072"/>
                  </a:lnTo>
                  <a:lnTo>
                    <a:pt x="2092071" y="576072"/>
                  </a:lnTo>
                  <a:lnTo>
                    <a:pt x="2129414" y="568517"/>
                  </a:lnTo>
                  <a:lnTo>
                    <a:pt x="2159936" y="547925"/>
                  </a:lnTo>
                  <a:lnTo>
                    <a:pt x="2180528" y="517403"/>
                  </a:lnTo>
                  <a:lnTo>
                    <a:pt x="2188082" y="480060"/>
                  </a:lnTo>
                  <a:lnTo>
                    <a:pt x="2188082" y="96012"/>
                  </a:lnTo>
                  <a:lnTo>
                    <a:pt x="2180528" y="58668"/>
                  </a:lnTo>
                  <a:lnTo>
                    <a:pt x="2159936" y="28146"/>
                  </a:lnTo>
                  <a:lnTo>
                    <a:pt x="2129414" y="7554"/>
                  </a:lnTo>
                  <a:lnTo>
                    <a:pt x="209207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468871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80">
                  <a:moveTo>
                    <a:pt x="0" y="96012"/>
                  </a:moveTo>
                  <a:lnTo>
                    <a:pt x="7536" y="58668"/>
                  </a:lnTo>
                  <a:lnTo>
                    <a:pt x="28098" y="28146"/>
                  </a:lnTo>
                  <a:lnTo>
                    <a:pt x="58614" y="7554"/>
                  </a:lnTo>
                  <a:lnTo>
                    <a:pt x="96011" y="0"/>
                  </a:lnTo>
                  <a:lnTo>
                    <a:pt x="2092071" y="0"/>
                  </a:lnTo>
                  <a:lnTo>
                    <a:pt x="2129414" y="7554"/>
                  </a:lnTo>
                  <a:lnTo>
                    <a:pt x="2159936" y="28146"/>
                  </a:lnTo>
                  <a:lnTo>
                    <a:pt x="2180528" y="58668"/>
                  </a:lnTo>
                  <a:lnTo>
                    <a:pt x="2188082" y="96012"/>
                  </a:lnTo>
                  <a:lnTo>
                    <a:pt x="2188082" y="480060"/>
                  </a:lnTo>
                  <a:lnTo>
                    <a:pt x="2180528" y="517403"/>
                  </a:lnTo>
                  <a:lnTo>
                    <a:pt x="2159936" y="547925"/>
                  </a:lnTo>
                  <a:lnTo>
                    <a:pt x="2129414" y="568517"/>
                  </a:lnTo>
                  <a:lnTo>
                    <a:pt x="2092071" y="576072"/>
                  </a:lnTo>
                  <a:lnTo>
                    <a:pt x="96011" y="576072"/>
                  </a:lnTo>
                  <a:lnTo>
                    <a:pt x="58614" y="568517"/>
                  </a:lnTo>
                  <a:lnTo>
                    <a:pt x="28098" y="547925"/>
                  </a:lnTo>
                  <a:lnTo>
                    <a:pt x="7536" y="517403"/>
                  </a:lnTo>
                  <a:lnTo>
                    <a:pt x="0" y="480060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752335" y="1608582"/>
            <a:ext cx="1619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4579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To: </a:t>
            </a:r>
            <a:r>
              <a:rPr sz="1800" dirty="0">
                <a:latin typeface="Times New Roman"/>
                <a:cs typeface="Times New Roman"/>
              </a:rPr>
              <a:t>Application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55" dirty="0"/>
              <a:t> </a:t>
            </a:r>
            <a:r>
              <a:rPr dirty="0"/>
              <a:t>reference</a:t>
            </a:r>
            <a:r>
              <a:rPr spc="-55" dirty="0"/>
              <a:t> </a:t>
            </a:r>
            <a:r>
              <a:rPr dirty="0"/>
              <a:t>model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its</a:t>
            </a:r>
            <a:r>
              <a:rPr spc="-30" dirty="0"/>
              <a:t> </a:t>
            </a:r>
            <a:r>
              <a:rPr dirty="0"/>
              <a:t>services</a:t>
            </a:r>
            <a:r>
              <a:rPr spc="-45" dirty="0"/>
              <a:t> </a:t>
            </a:r>
            <a:r>
              <a:rPr spc="-10" dirty="0"/>
              <a:t>(review)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889375" y="991422"/>
            <a:ext cx="1350645" cy="82804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42265" marR="5080" indent="-342265" algn="r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42265" algn="l"/>
              </a:tabLst>
            </a:pPr>
            <a:r>
              <a:rPr sz="2400" spc="-10" dirty="0">
                <a:latin typeface="Times New Roman"/>
                <a:cs typeface="Times New Roman"/>
              </a:rPr>
              <a:t>Purpose</a:t>
            </a:r>
            <a:endParaRPr sz="2400">
              <a:latin typeface="Times New Roman"/>
              <a:cs typeface="Times New Roman"/>
            </a:endParaRPr>
          </a:p>
          <a:p>
            <a:pPr marR="6985" algn="r">
              <a:lnSpc>
                <a:spcPct val="100000"/>
              </a:lnSpc>
              <a:spcBef>
                <a:spcPts val="475"/>
              </a:spcBef>
              <a:tabLst>
                <a:tab pos="2863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Make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33086" y="1792986"/>
            <a:ext cx="362140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66825" algn="l"/>
                <a:tab pos="2075814" algn="l"/>
              </a:tabLst>
            </a:pPr>
            <a:r>
              <a:rPr sz="2000" spc="-10" dirty="0">
                <a:latin typeface="Times New Roman"/>
                <a:cs typeface="Times New Roman"/>
              </a:rPr>
              <a:t>different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data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representations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78322" y="1487881"/>
            <a:ext cx="3459479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  <a:tabLst>
                <a:tab pos="304165" algn="l"/>
                <a:tab pos="1299845" algn="l"/>
                <a:tab pos="1761489" algn="l"/>
                <a:tab pos="2984500" algn="l"/>
              </a:tabLst>
            </a:pPr>
            <a:r>
              <a:rPr sz="2000" spc="-25" dirty="0">
                <a:latin typeface="Times New Roman"/>
                <a:cs typeface="Times New Roman"/>
              </a:rPr>
              <a:t>it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possible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for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computers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with</a:t>
            </a:r>
            <a:endParaRPr sz="2000">
              <a:latin typeface="Times New Roman"/>
              <a:cs typeface="Times New Roman"/>
            </a:endParaRPr>
          </a:p>
          <a:p>
            <a:pPr marR="6985" algn="r">
              <a:lnSpc>
                <a:spcPct val="100000"/>
              </a:lnSpc>
            </a:pPr>
            <a:r>
              <a:rPr sz="2000" spc="-25" dirty="0">
                <a:latin typeface="Times New Roman"/>
                <a:cs typeface="Times New Roman"/>
              </a:rPr>
              <a:t>to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89375" y="2041390"/>
            <a:ext cx="4948555" cy="248793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756285">
              <a:lnSpc>
                <a:spcPct val="100000"/>
              </a:lnSpc>
              <a:spcBef>
                <a:spcPts val="500"/>
              </a:spcBef>
            </a:pPr>
            <a:r>
              <a:rPr sz="2000" spc="-10" dirty="0">
                <a:latin typeface="Times New Roman"/>
                <a:cs typeface="Times New Roman"/>
              </a:rPr>
              <a:t>communicate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Concerns</a:t>
            </a:r>
            <a:endParaRPr sz="240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ts val="2350"/>
              </a:lnSpc>
              <a:spcBef>
                <a:spcPts val="595"/>
              </a:spcBef>
              <a:buFont typeface="Arial MT"/>
              <a:buChar char="–"/>
              <a:tabLst>
                <a:tab pos="756285" algn="l"/>
                <a:tab pos="1638300" algn="l"/>
                <a:tab pos="2179955" algn="l"/>
                <a:tab pos="3353435" algn="l"/>
                <a:tab pos="3742054" algn="l"/>
              </a:tabLst>
            </a:pPr>
            <a:r>
              <a:rPr sz="2000" spc="-10" dirty="0">
                <a:latin typeface="Times New Roman"/>
                <a:cs typeface="Times New Roman"/>
              </a:rPr>
              <a:t>Syntax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semantics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of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information transmitted</a:t>
            </a:r>
            <a:endParaRPr sz="200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ts val="2350"/>
              </a:lnSpc>
              <a:spcBef>
                <a:spcPts val="509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Understands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nature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being transmitted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2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Converts</a:t>
            </a:r>
            <a:r>
              <a:rPr sz="2000" spc="-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ASCII,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EBCDIC,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etc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9485" y="971677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373"/>
                </a:moveTo>
                <a:lnTo>
                  <a:pt x="4982" y="38683"/>
                </a:lnTo>
                <a:lnTo>
                  <a:pt x="18570" y="18542"/>
                </a:lnTo>
                <a:lnTo>
                  <a:pt x="38726" y="4972"/>
                </a:lnTo>
                <a:lnTo>
                  <a:pt x="63411" y="0"/>
                </a:lnTo>
                <a:lnTo>
                  <a:pt x="2069960" y="0"/>
                </a:lnTo>
                <a:lnTo>
                  <a:pt x="2094649" y="4972"/>
                </a:lnTo>
                <a:lnTo>
                  <a:pt x="2114791" y="18542"/>
                </a:lnTo>
                <a:lnTo>
                  <a:pt x="2128360" y="38683"/>
                </a:lnTo>
                <a:lnTo>
                  <a:pt x="2133333" y="63373"/>
                </a:lnTo>
                <a:lnTo>
                  <a:pt x="2133333" y="317119"/>
                </a:lnTo>
                <a:lnTo>
                  <a:pt x="2128360" y="341755"/>
                </a:lnTo>
                <a:lnTo>
                  <a:pt x="2114791" y="361902"/>
                </a:lnTo>
                <a:lnTo>
                  <a:pt x="2094649" y="375501"/>
                </a:lnTo>
                <a:lnTo>
                  <a:pt x="2069960" y="380492"/>
                </a:lnTo>
                <a:lnTo>
                  <a:pt x="63411" y="380492"/>
                </a:lnTo>
                <a:lnTo>
                  <a:pt x="38726" y="375501"/>
                </a:lnTo>
                <a:lnTo>
                  <a:pt x="18570" y="361902"/>
                </a:lnTo>
                <a:lnTo>
                  <a:pt x="4982" y="341755"/>
                </a:lnTo>
                <a:lnTo>
                  <a:pt x="0" y="317119"/>
                </a:lnTo>
                <a:lnTo>
                  <a:pt x="0" y="63373"/>
                </a:lnTo>
                <a:close/>
              </a:path>
            </a:pathLst>
          </a:custGeom>
          <a:ln w="254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27328" y="1004696"/>
            <a:ext cx="1696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E7E7E"/>
                </a:solidFill>
                <a:latin typeface="Times New Roman"/>
                <a:cs typeface="Times New Roman"/>
              </a:rPr>
              <a:t>Application</a:t>
            </a:r>
            <a:r>
              <a:rPr sz="1800" spc="-9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1644" y="1564513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500"/>
                </a:moveTo>
                <a:lnTo>
                  <a:pt x="4982" y="38790"/>
                </a:lnTo>
                <a:lnTo>
                  <a:pt x="18570" y="18605"/>
                </a:lnTo>
                <a:lnTo>
                  <a:pt x="38726" y="4992"/>
                </a:lnTo>
                <a:lnTo>
                  <a:pt x="63411" y="0"/>
                </a:lnTo>
                <a:lnTo>
                  <a:pt x="2069960" y="0"/>
                </a:lnTo>
                <a:lnTo>
                  <a:pt x="2094649" y="4992"/>
                </a:lnTo>
                <a:lnTo>
                  <a:pt x="2114791" y="18605"/>
                </a:lnTo>
                <a:lnTo>
                  <a:pt x="2128360" y="38790"/>
                </a:lnTo>
                <a:lnTo>
                  <a:pt x="2133333" y="63500"/>
                </a:lnTo>
                <a:lnTo>
                  <a:pt x="2133333" y="317119"/>
                </a:lnTo>
                <a:lnTo>
                  <a:pt x="2128360" y="341828"/>
                </a:lnTo>
                <a:lnTo>
                  <a:pt x="2114791" y="362013"/>
                </a:lnTo>
                <a:lnTo>
                  <a:pt x="2094649" y="375626"/>
                </a:lnTo>
                <a:lnTo>
                  <a:pt x="2069960" y="380619"/>
                </a:lnTo>
                <a:lnTo>
                  <a:pt x="63411" y="380619"/>
                </a:lnTo>
                <a:lnTo>
                  <a:pt x="38726" y="375626"/>
                </a:lnTo>
                <a:lnTo>
                  <a:pt x="18570" y="362013"/>
                </a:lnTo>
                <a:lnTo>
                  <a:pt x="4982" y="341828"/>
                </a:lnTo>
                <a:lnTo>
                  <a:pt x="0" y="317119"/>
                </a:lnTo>
                <a:lnTo>
                  <a:pt x="0" y="635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03554" y="1597914"/>
            <a:ext cx="17456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Presentation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9570" y="1352422"/>
            <a:ext cx="76200" cy="2118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96785" y="958977"/>
            <a:ext cx="6445250" cy="3820160"/>
            <a:chOff x="596785" y="958977"/>
            <a:chExt cx="6445250" cy="382016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6785" y="958977"/>
              <a:ext cx="2162035" cy="1591691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55" dirty="0"/>
              <a:t> </a:t>
            </a:r>
            <a:r>
              <a:rPr dirty="0"/>
              <a:t>reference</a:t>
            </a:r>
            <a:r>
              <a:rPr spc="-55" dirty="0"/>
              <a:t> </a:t>
            </a:r>
            <a:r>
              <a:rPr dirty="0"/>
              <a:t>model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its</a:t>
            </a:r>
            <a:r>
              <a:rPr spc="-30" dirty="0"/>
              <a:t> </a:t>
            </a:r>
            <a:r>
              <a:rPr dirty="0"/>
              <a:t>services</a:t>
            </a:r>
            <a:r>
              <a:rPr spc="-45" dirty="0"/>
              <a:t> </a:t>
            </a:r>
            <a:r>
              <a:rPr spc="-10" dirty="0"/>
              <a:t>(review)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21181" y="2191004"/>
            <a:ext cx="1315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Session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36009" y="2538348"/>
            <a:ext cx="2188210" cy="576580"/>
          </a:xfrm>
          <a:custGeom>
            <a:avLst/>
            <a:gdLst/>
            <a:ahLst/>
            <a:cxnLst/>
            <a:rect l="l" t="t" r="r" b="b"/>
            <a:pathLst>
              <a:path w="2188210" h="576580">
                <a:moveTo>
                  <a:pt x="0" y="96012"/>
                </a:moveTo>
                <a:lnTo>
                  <a:pt x="7536" y="58668"/>
                </a:lnTo>
                <a:lnTo>
                  <a:pt x="28098" y="28146"/>
                </a:lnTo>
                <a:lnTo>
                  <a:pt x="58614" y="7554"/>
                </a:lnTo>
                <a:lnTo>
                  <a:pt x="96012" y="0"/>
                </a:lnTo>
                <a:lnTo>
                  <a:pt x="2092070" y="0"/>
                </a:lnTo>
                <a:lnTo>
                  <a:pt x="2129414" y="7554"/>
                </a:lnTo>
                <a:lnTo>
                  <a:pt x="2159936" y="28146"/>
                </a:lnTo>
                <a:lnTo>
                  <a:pt x="2180528" y="58668"/>
                </a:lnTo>
                <a:lnTo>
                  <a:pt x="2188082" y="96012"/>
                </a:lnTo>
                <a:lnTo>
                  <a:pt x="2188082" y="480059"/>
                </a:lnTo>
                <a:lnTo>
                  <a:pt x="2180528" y="517403"/>
                </a:lnTo>
                <a:lnTo>
                  <a:pt x="2159936" y="547925"/>
                </a:lnTo>
                <a:lnTo>
                  <a:pt x="2129414" y="568517"/>
                </a:lnTo>
                <a:lnTo>
                  <a:pt x="2092070" y="576071"/>
                </a:lnTo>
                <a:lnTo>
                  <a:pt x="96012" y="576071"/>
                </a:lnTo>
                <a:lnTo>
                  <a:pt x="58614" y="568517"/>
                </a:lnTo>
                <a:lnTo>
                  <a:pt x="28098" y="547925"/>
                </a:lnTo>
                <a:lnTo>
                  <a:pt x="7536" y="517403"/>
                </a:lnTo>
                <a:lnTo>
                  <a:pt x="0" y="480059"/>
                </a:lnTo>
                <a:lnTo>
                  <a:pt x="0" y="9601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865879" y="2669489"/>
            <a:ext cx="17259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Sync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recovery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71665" y="2556382"/>
            <a:ext cx="2188210" cy="575945"/>
          </a:xfrm>
          <a:custGeom>
            <a:avLst/>
            <a:gdLst/>
            <a:ahLst/>
            <a:cxnLst/>
            <a:rect l="l" t="t" r="r" b="b"/>
            <a:pathLst>
              <a:path w="2188209" h="575944">
                <a:moveTo>
                  <a:pt x="0" y="96012"/>
                </a:moveTo>
                <a:lnTo>
                  <a:pt x="7554" y="58614"/>
                </a:lnTo>
                <a:lnTo>
                  <a:pt x="28146" y="28098"/>
                </a:lnTo>
                <a:lnTo>
                  <a:pt x="58668" y="7536"/>
                </a:lnTo>
                <a:lnTo>
                  <a:pt x="96012" y="0"/>
                </a:lnTo>
                <a:lnTo>
                  <a:pt x="2092070" y="0"/>
                </a:lnTo>
                <a:lnTo>
                  <a:pt x="2129468" y="7536"/>
                </a:lnTo>
                <a:lnTo>
                  <a:pt x="2159984" y="28098"/>
                </a:lnTo>
                <a:lnTo>
                  <a:pt x="2180546" y="58614"/>
                </a:lnTo>
                <a:lnTo>
                  <a:pt x="2188083" y="96012"/>
                </a:lnTo>
                <a:lnTo>
                  <a:pt x="2188083" y="479933"/>
                </a:lnTo>
                <a:lnTo>
                  <a:pt x="2180546" y="517330"/>
                </a:lnTo>
                <a:lnTo>
                  <a:pt x="2159984" y="547846"/>
                </a:lnTo>
                <a:lnTo>
                  <a:pt x="2129468" y="568408"/>
                </a:lnTo>
                <a:lnTo>
                  <a:pt x="2092070" y="575944"/>
                </a:lnTo>
                <a:lnTo>
                  <a:pt x="96012" y="575944"/>
                </a:lnTo>
                <a:lnTo>
                  <a:pt x="58668" y="568408"/>
                </a:lnTo>
                <a:lnTo>
                  <a:pt x="28146" y="547846"/>
                </a:lnTo>
                <a:lnTo>
                  <a:pt x="7554" y="517330"/>
                </a:lnTo>
                <a:lnTo>
                  <a:pt x="0" y="479933"/>
                </a:lnTo>
                <a:lnTo>
                  <a:pt x="0" y="9601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701790" y="2687523"/>
            <a:ext cx="17259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Sync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recovery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623309" y="3423539"/>
            <a:ext cx="2213610" cy="601980"/>
            <a:chOff x="3623309" y="3423539"/>
            <a:chExt cx="2213610" cy="601980"/>
          </a:xfrm>
        </p:grpSpPr>
        <p:sp>
          <p:nvSpPr>
            <p:cNvPr id="16" name="object 16"/>
            <p:cNvSpPr/>
            <p:nvPr/>
          </p:nvSpPr>
          <p:spPr>
            <a:xfrm>
              <a:off x="3636009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79">
                  <a:moveTo>
                    <a:pt x="2092070" y="0"/>
                  </a:moveTo>
                  <a:lnTo>
                    <a:pt x="96012" y="0"/>
                  </a:lnTo>
                  <a:lnTo>
                    <a:pt x="58614" y="7536"/>
                  </a:lnTo>
                  <a:lnTo>
                    <a:pt x="28098" y="28098"/>
                  </a:lnTo>
                  <a:lnTo>
                    <a:pt x="7536" y="58614"/>
                  </a:lnTo>
                  <a:lnTo>
                    <a:pt x="0" y="96012"/>
                  </a:lnTo>
                  <a:lnTo>
                    <a:pt x="0" y="479958"/>
                  </a:lnTo>
                  <a:lnTo>
                    <a:pt x="7536" y="517327"/>
                  </a:lnTo>
                  <a:lnTo>
                    <a:pt x="28098" y="547841"/>
                  </a:lnTo>
                  <a:lnTo>
                    <a:pt x="58614" y="568414"/>
                  </a:lnTo>
                  <a:lnTo>
                    <a:pt x="96012" y="575957"/>
                  </a:lnTo>
                  <a:lnTo>
                    <a:pt x="2092070" y="575957"/>
                  </a:lnTo>
                  <a:lnTo>
                    <a:pt x="2129414" y="568414"/>
                  </a:lnTo>
                  <a:lnTo>
                    <a:pt x="2159936" y="547841"/>
                  </a:lnTo>
                  <a:lnTo>
                    <a:pt x="2180528" y="517327"/>
                  </a:lnTo>
                  <a:lnTo>
                    <a:pt x="2188082" y="479958"/>
                  </a:lnTo>
                  <a:lnTo>
                    <a:pt x="2188082" y="96012"/>
                  </a:lnTo>
                  <a:lnTo>
                    <a:pt x="2180528" y="58614"/>
                  </a:lnTo>
                  <a:lnTo>
                    <a:pt x="2159936" y="28098"/>
                  </a:lnTo>
                  <a:lnTo>
                    <a:pt x="2129414" y="7536"/>
                  </a:lnTo>
                  <a:lnTo>
                    <a:pt x="20920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36009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79">
                  <a:moveTo>
                    <a:pt x="0" y="96012"/>
                  </a:moveTo>
                  <a:lnTo>
                    <a:pt x="7536" y="58614"/>
                  </a:lnTo>
                  <a:lnTo>
                    <a:pt x="28098" y="28098"/>
                  </a:lnTo>
                  <a:lnTo>
                    <a:pt x="58614" y="7536"/>
                  </a:lnTo>
                  <a:lnTo>
                    <a:pt x="96012" y="0"/>
                  </a:lnTo>
                  <a:lnTo>
                    <a:pt x="2092070" y="0"/>
                  </a:lnTo>
                  <a:lnTo>
                    <a:pt x="2129414" y="7536"/>
                  </a:lnTo>
                  <a:lnTo>
                    <a:pt x="2159936" y="28098"/>
                  </a:lnTo>
                  <a:lnTo>
                    <a:pt x="2180528" y="58614"/>
                  </a:lnTo>
                  <a:lnTo>
                    <a:pt x="2188082" y="96012"/>
                  </a:lnTo>
                  <a:lnTo>
                    <a:pt x="2188082" y="479958"/>
                  </a:lnTo>
                  <a:lnTo>
                    <a:pt x="2180528" y="517327"/>
                  </a:lnTo>
                  <a:lnTo>
                    <a:pt x="2159936" y="547841"/>
                  </a:lnTo>
                  <a:lnTo>
                    <a:pt x="2129414" y="568414"/>
                  </a:lnTo>
                  <a:lnTo>
                    <a:pt x="2092070" y="575957"/>
                  </a:lnTo>
                  <a:lnTo>
                    <a:pt x="96012" y="575957"/>
                  </a:lnTo>
                  <a:lnTo>
                    <a:pt x="58614" y="568414"/>
                  </a:lnTo>
                  <a:lnTo>
                    <a:pt x="28098" y="547841"/>
                  </a:lnTo>
                  <a:lnTo>
                    <a:pt x="7536" y="517327"/>
                  </a:lnTo>
                  <a:lnTo>
                    <a:pt x="0" y="479958"/>
                  </a:lnTo>
                  <a:lnTo>
                    <a:pt x="0" y="96012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018279" y="3430651"/>
            <a:ext cx="1421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4673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To: </a:t>
            </a:r>
            <a:r>
              <a:rPr sz="1800" spc="-10" dirty="0">
                <a:latin typeface="Times New Roman"/>
                <a:cs typeface="Times New Roman"/>
              </a:rPr>
              <a:t>Transport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458965" y="3423539"/>
            <a:ext cx="2213610" cy="601980"/>
            <a:chOff x="6458965" y="3423539"/>
            <a:chExt cx="2213610" cy="601980"/>
          </a:xfrm>
        </p:grpSpPr>
        <p:sp>
          <p:nvSpPr>
            <p:cNvPr id="20" name="object 20"/>
            <p:cNvSpPr/>
            <p:nvPr/>
          </p:nvSpPr>
          <p:spPr>
            <a:xfrm>
              <a:off x="6471665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79">
                  <a:moveTo>
                    <a:pt x="2092070" y="0"/>
                  </a:moveTo>
                  <a:lnTo>
                    <a:pt x="96012" y="0"/>
                  </a:lnTo>
                  <a:lnTo>
                    <a:pt x="58668" y="7536"/>
                  </a:lnTo>
                  <a:lnTo>
                    <a:pt x="28146" y="28098"/>
                  </a:lnTo>
                  <a:lnTo>
                    <a:pt x="7554" y="58614"/>
                  </a:lnTo>
                  <a:lnTo>
                    <a:pt x="0" y="96012"/>
                  </a:lnTo>
                  <a:lnTo>
                    <a:pt x="0" y="479958"/>
                  </a:lnTo>
                  <a:lnTo>
                    <a:pt x="7554" y="517327"/>
                  </a:lnTo>
                  <a:lnTo>
                    <a:pt x="28146" y="547841"/>
                  </a:lnTo>
                  <a:lnTo>
                    <a:pt x="58668" y="568414"/>
                  </a:lnTo>
                  <a:lnTo>
                    <a:pt x="96012" y="575957"/>
                  </a:lnTo>
                  <a:lnTo>
                    <a:pt x="2092070" y="575957"/>
                  </a:lnTo>
                  <a:lnTo>
                    <a:pt x="2129468" y="568414"/>
                  </a:lnTo>
                  <a:lnTo>
                    <a:pt x="2159984" y="547841"/>
                  </a:lnTo>
                  <a:lnTo>
                    <a:pt x="2180546" y="517327"/>
                  </a:lnTo>
                  <a:lnTo>
                    <a:pt x="2188083" y="479958"/>
                  </a:lnTo>
                  <a:lnTo>
                    <a:pt x="2188083" y="96012"/>
                  </a:lnTo>
                  <a:lnTo>
                    <a:pt x="2180546" y="58614"/>
                  </a:lnTo>
                  <a:lnTo>
                    <a:pt x="2159984" y="28098"/>
                  </a:lnTo>
                  <a:lnTo>
                    <a:pt x="2129468" y="7536"/>
                  </a:lnTo>
                  <a:lnTo>
                    <a:pt x="20920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71665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79">
                  <a:moveTo>
                    <a:pt x="0" y="96012"/>
                  </a:moveTo>
                  <a:lnTo>
                    <a:pt x="7554" y="58614"/>
                  </a:lnTo>
                  <a:lnTo>
                    <a:pt x="28146" y="28098"/>
                  </a:lnTo>
                  <a:lnTo>
                    <a:pt x="58668" y="7536"/>
                  </a:lnTo>
                  <a:lnTo>
                    <a:pt x="96012" y="0"/>
                  </a:lnTo>
                  <a:lnTo>
                    <a:pt x="2092070" y="0"/>
                  </a:lnTo>
                  <a:lnTo>
                    <a:pt x="2129468" y="7536"/>
                  </a:lnTo>
                  <a:lnTo>
                    <a:pt x="2159984" y="28098"/>
                  </a:lnTo>
                  <a:lnTo>
                    <a:pt x="2180546" y="58614"/>
                  </a:lnTo>
                  <a:lnTo>
                    <a:pt x="2188083" y="96012"/>
                  </a:lnTo>
                  <a:lnTo>
                    <a:pt x="2188083" y="479958"/>
                  </a:lnTo>
                  <a:lnTo>
                    <a:pt x="2180546" y="517327"/>
                  </a:lnTo>
                  <a:lnTo>
                    <a:pt x="2159984" y="547841"/>
                  </a:lnTo>
                  <a:lnTo>
                    <a:pt x="2129468" y="568414"/>
                  </a:lnTo>
                  <a:lnTo>
                    <a:pt x="2092070" y="575957"/>
                  </a:lnTo>
                  <a:lnTo>
                    <a:pt x="96012" y="575957"/>
                  </a:lnTo>
                  <a:lnTo>
                    <a:pt x="58668" y="568414"/>
                  </a:lnTo>
                  <a:lnTo>
                    <a:pt x="28146" y="547841"/>
                  </a:lnTo>
                  <a:lnTo>
                    <a:pt x="7554" y="517327"/>
                  </a:lnTo>
                  <a:lnTo>
                    <a:pt x="0" y="479958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854443" y="3430651"/>
            <a:ext cx="1421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2037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imes New Roman"/>
                <a:cs typeface="Times New Roman"/>
              </a:rPr>
              <a:t>From: </a:t>
            </a:r>
            <a:r>
              <a:rPr sz="1800" spc="-10" dirty="0">
                <a:latin typeface="Times New Roman"/>
                <a:cs typeface="Times New Roman"/>
              </a:rPr>
              <a:t>Transport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617214" y="1601850"/>
            <a:ext cx="3988435" cy="1834514"/>
            <a:chOff x="3617214" y="1601850"/>
            <a:chExt cx="3988435" cy="1834514"/>
          </a:xfrm>
        </p:grpSpPr>
        <p:sp>
          <p:nvSpPr>
            <p:cNvPr id="24" name="object 24"/>
            <p:cNvSpPr/>
            <p:nvPr/>
          </p:nvSpPr>
          <p:spPr>
            <a:xfrm>
              <a:off x="4690618" y="2189860"/>
              <a:ext cx="2915285" cy="1246505"/>
            </a:xfrm>
            <a:custGeom>
              <a:avLst/>
              <a:gdLst/>
              <a:ahLst/>
              <a:cxnLst/>
              <a:rect l="l" t="t" r="r" b="b"/>
              <a:pathLst>
                <a:path w="2915284" h="1246504">
                  <a:moveTo>
                    <a:pt x="76200" y="271272"/>
                  </a:moveTo>
                  <a:lnTo>
                    <a:pt x="50838" y="271703"/>
                  </a:lnTo>
                  <a:lnTo>
                    <a:pt x="46355" y="508"/>
                  </a:lnTo>
                  <a:lnTo>
                    <a:pt x="20955" y="889"/>
                  </a:lnTo>
                  <a:lnTo>
                    <a:pt x="25438" y="272122"/>
                  </a:lnTo>
                  <a:lnTo>
                    <a:pt x="0" y="272542"/>
                  </a:lnTo>
                  <a:lnTo>
                    <a:pt x="39370" y="348107"/>
                  </a:lnTo>
                  <a:lnTo>
                    <a:pt x="69684" y="284861"/>
                  </a:lnTo>
                  <a:lnTo>
                    <a:pt x="76200" y="271272"/>
                  </a:lnTo>
                  <a:close/>
                </a:path>
                <a:path w="2915284" h="1246504">
                  <a:moveTo>
                    <a:pt x="79121" y="1169543"/>
                  </a:moveTo>
                  <a:lnTo>
                    <a:pt x="53657" y="1169682"/>
                  </a:lnTo>
                  <a:lnTo>
                    <a:pt x="52451" y="924814"/>
                  </a:lnTo>
                  <a:lnTo>
                    <a:pt x="27051" y="924941"/>
                  </a:lnTo>
                  <a:lnTo>
                    <a:pt x="28257" y="1169809"/>
                  </a:lnTo>
                  <a:lnTo>
                    <a:pt x="2921" y="1169924"/>
                  </a:lnTo>
                  <a:lnTo>
                    <a:pt x="41402" y="1245997"/>
                  </a:lnTo>
                  <a:lnTo>
                    <a:pt x="72720" y="1182497"/>
                  </a:lnTo>
                  <a:lnTo>
                    <a:pt x="79121" y="1169543"/>
                  </a:lnTo>
                  <a:close/>
                </a:path>
                <a:path w="2915284" h="1246504">
                  <a:moveTo>
                    <a:pt x="2910586" y="75946"/>
                  </a:moveTo>
                  <a:lnTo>
                    <a:pt x="2904172" y="63373"/>
                  </a:lnTo>
                  <a:lnTo>
                    <a:pt x="2871851" y="0"/>
                  </a:lnTo>
                  <a:lnTo>
                    <a:pt x="2834386" y="76454"/>
                  </a:lnTo>
                  <a:lnTo>
                    <a:pt x="2859735" y="76288"/>
                  </a:lnTo>
                  <a:lnTo>
                    <a:pt x="2861691" y="365506"/>
                  </a:lnTo>
                  <a:lnTo>
                    <a:pt x="2887091" y="365379"/>
                  </a:lnTo>
                  <a:lnTo>
                    <a:pt x="2885135" y="76123"/>
                  </a:lnTo>
                  <a:lnTo>
                    <a:pt x="2910586" y="75946"/>
                  </a:lnTo>
                  <a:close/>
                </a:path>
                <a:path w="2915284" h="1246504">
                  <a:moveTo>
                    <a:pt x="2914777" y="1019302"/>
                  </a:moveTo>
                  <a:lnTo>
                    <a:pt x="2908376" y="1006348"/>
                  </a:lnTo>
                  <a:lnTo>
                    <a:pt x="2877058" y="942848"/>
                  </a:lnTo>
                  <a:lnTo>
                    <a:pt x="2838577" y="1018794"/>
                  </a:lnTo>
                  <a:lnTo>
                    <a:pt x="2864027" y="1018971"/>
                  </a:lnTo>
                  <a:lnTo>
                    <a:pt x="2862834" y="1245870"/>
                  </a:lnTo>
                  <a:lnTo>
                    <a:pt x="2888234" y="1245997"/>
                  </a:lnTo>
                  <a:lnTo>
                    <a:pt x="2889427" y="1019136"/>
                  </a:lnTo>
                  <a:lnTo>
                    <a:pt x="2914777" y="10193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29914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80">
                  <a:moveTo>
                    <a:pt x="2092071" y="0"/>
                  </a:moveTo>
                  <a:lnTo>
                    <a:pt x="96012" y="0"/>
                  </a:lnTo>
                  <a:lnTo>
                    <a:pt x="58614" y="7554"/>
                  </a:lnTo>
                  <a:lnTo>
                    <a:pt x="28098" y="28146"/>
                  </a:lnTo>
                  <a:lnTo>
                    <a:pt x="7536" y="58668"/>
                  </a:lnTo>
                  <a:lnTo>
                    <a:pt x="0" y="96012"/>
                  </a:lnTo>
                  <a:lnTo>
                    <a:pt x="0" y="480060"/>
                  </a:lnTo>
                  <a:lnTo>
                    <a:pt x="7536" y="517403"/>
                  </a:lnTo>
                  <a:lnTo>
                    <a:pt x="28098" y="547925"/>
                  </a:lnTo>
                  <a:lnTo>
                    <a:pt x="58614" y="568517"/>
                  </a:lnTo>
                  <a:lnTo>
                    <a:pt x="96012" y="576072"/>
                  </a:lnTo>
                  <a:lnTo>
                    <a:pt x="2092071" y="576072"/>
                  </a:lnTo>
                  <a:lnTo>
                    <a:pt x="2129414" y="568517"/>
                  </a:lnTo>
                  <a:lnTo>
                    <a:pt x="2159936" y="547925"/>
                  </a:lnTo>
                  <a:lnTo>
                    <a:pt x="2180528" y="517403"/>
                  </a:lnTo>
                  <a:lnTo>
                    <a:pt x="2188083" y="480060"/>
                  </a:lnTo>
                  <a:lnTo>
                    <a:pt x="2188083" y="96012"/>
                  </a:lnTo>
                  <a:lnTo>
                    <a:pt x="2180528" y="58668"/>
                  </a:lnTo>
                  <a:lnTo>
                    <a:pt x="2159936" y="28146"/>
                  </a:lnTo>
                  <a:lnTo>
                    <a:pt x="2129414" y="7554"/>
                  </a:lnTo>
                  <a:lnTo>
                    <a:pt x="209207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29914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80">
                  <a:moveTo>
                    <a:pt x="0" y="96012"/>
                  </a:moveTo>
                  <a:lnTo>
                    <a:pt x="7536" y="58668"/>
                  </a:lnTo>
                  <a:lnTo>
                    <a:pt x="28098" y="28146"/>
                  </a:lnTo>
                  <a:lnTo>
                    <a:pt x="58614" y="7554"/>
                  </a:lnTo>
                  <a:lnTo>
                    <a:pt x="96012" y="0"/>
                  </a:lnTo>
                  <a:lnTo>
                    <a:pt x="2092071" y="0"/>
                  </a:lnTo>
                  <a:lnTo>
                    <a:pt x="2129414" y="7554"/>
                  </a:lnTo>
                  <a:lnTo>
                    <a:pt x="2159936" y="28146"/>
                  </a:lnTo>
                  <a:lnTo>
                    <a:pt x="2180528" y="58668"/>
                  </a:lnTo>
                  <a:lnTo>
                    <a:pt x="2188083" y="96012"/>
                  </a:lnTo>
                  <a:lnTo>
                    <a:pt x="2188083" y="480060"/>
                  </a:lnTo>
                  <a:lnTo>
                    <a:pt x="2180528" y="517403"/>
                  </a:lnTo>
                  <a:lnTo>
                    <a:pt x="2159936" y="547925"/>
                  </a:lnTo>
                  <a:lnTo>
                    <a:pt x="2129414" y="568517"/>
                  </a:lnTo>
                  <a:lnTo>
                    <a:pt x="2092071" y="576072"/>
                  </a:lnTo>
                  <a:lnTo>
                    <a:pt x="96012" y="576072"/>
                  </a:lnTo>
                  <a:lnTo>
                    <a:pt x="58614" y="568517"/>
                  </a:lnTo>
                  <a:lnTo>
                    <a:pt x="28098" y="547925"/>
                  </a:lnTo>
                  <a:lnTo>
                    <a:pt x="7536" y="517403"/>
                  </a:lnTo>
                  <a:lnTo>
                    <a:pt x="0" y="480060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423028" y="994410"/>
            <a:ext cx="35058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90825" algn="l"/>
              </a:tabLst>
            </a:pPr>
            <a:r>
              <a:rPr sz="1600" spc="-10" dirty="0">
                <a:latin typeface="Calibri"/>
                <a:cs typeface="Calibri"/>
              </a:rPr>
              <a:t>Sender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Receiver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88740" y="1608582"/>
            <a:ext cx="16700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4356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imes New Roman"/>
                <a:cs typeface="Times New Roman"/>
              </a:rPr>
              <a:t>From: </a:t>
            </a:r>
            <a:r>
              <a:rPr sz="1800" dirty="0">
                <a:latin typeface="Times New Roman"/>
                <a:cs typeface="Times New Roman"/>
              </a:rPr>
              <a:t>Presentation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456171" y="1601850"/>
            <a:ext cx="2213610" cy="601980"/>
            <a:chOff x="6456171" y="1601850"/>
            <a:chExt cx="2213610" cy="601980"/>
          </a:xfrm>
        </p:grpSpPr>
        <p:sp>
          <p:nvSpPr>
            <p:cNvPr id="30" name="object 30"/>
            <p:cNvSpPr/>
            <p:nvPr/>
          </p:nvSpPr>
          <p:spPr>
            <a:xfrm>
              <a:off x="6468871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80">
                  <a:moveTo>
                    <a:pt x="2092071" y="0"/>
                  </a:moveTo>
                  <a:lnTo>
                    <a:pt x="96011" y="0"/>
                  </a:lnTo>
                  <a:lnTo>
                    <a:pt x="58614" y="7554"/>
                  </a:lnTo>
                  <a:lnTo>
                    <a:pt x="28098" y="28146"/>
                  </a:lnTo>
                  <a:lnTo>
                    <a:pt x="7536" y="58668"/>
                  </a:lnTo>
                  <a:lnTo>
                    <a:pt x="0" y="96012"/>
                  </a:lnTo>
                  <a:lnTo>
                    <a:pt x="0" y="480060"/>
                  </a:lnTo>
                  <a:lnTo>
                    <a:pt x="7536" y="517403"/>
                  </a:lnTo>
                  <a:lnTo>
                    <a:pt x="28098" y="547925"/>
                  </a:lnTo>
                  <a:lnTo>
                    <a:pt x="58614" y="568517"/>
                  </a:lnTo>
                  <a:lnTo>
                    <a:pt x="96011" y="576072"/>
                  </a:lnTo>
                  <a:lnTo>
                    <a:pt x="2092071" y="576072"/>
                  </a:lnTo>
                  <a:lnTo>
                    <a:pt x="2129414" y="568517"/>
                  </a:lnTo>
                  <a:lnTo>
                    <a:pt x="2159936" y="547925"/>
                  </a:lnTo>
                  <a:lnTo>
                    <a:pt x="2180528" y="517403"/>
                  </a:lnTo>
                  <a:lnTo>
                    <a:pt x="2188082" y="480060"/>
                  </a:lnTo>
                  <a:lnTo>
                    <a:pt x="2188082" y="96012"/>
                  </a:lnTo>
                  <a:lnTo>
                    <a:pt x="2180528" y="58668"/>
                  </a:lnTo>
                  <a:lnTo>
                    <a:pt x="2159936" y="28146"/>
                  </a:lnTo>
                  <a:lnTo>
                    <a:pt x="2129414" y="7554"/>
                  </a:lnTo>
                  <a:lnTo>
                    <a:pt x="209207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68871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80">
                  <a:moveTo>
                    <a:pt x="0" y="96012"/>
                  </a:moveTo>
                  <a:lnTo>
                    <a:pt x="7536" y="58668"/>
                  </a:lnTo>
                  <a:lnTo>
                    <a:pt x="28098" y="28146"/>
                  </a:lnTo>
                  <a:lnTo>
                    <a:pt x="58614" y="7554"/>
                  </a:lnTo>
                  <a:lnTo>
                    <a:pt x="96011" y="0"/>
                  </a:lnTo>
                  <a:lnTo>
                    <a:pt x="2092071" y="0"/>
                  </a:lnTo>
                  <a:lnTo>
                    <a:pt x="2129414" y="7554"/>
                  </a:lnTo>
                  <a:lnTo>
                    <a:pt x="2159936" y="28146"/>
                  </a:lnTo>
                  <a:lnTo>
                    <a:pt x="2180528" y="58668"/>
                  </a:lnTo>
                  <a:lnTo>
                    <a:pt x="2188082" y="96012"/>
                  </a:lnTo>
                  <a:lnTo>
                    <a:pt x="2188082" y="480060"/>
                  </a:lnTo>
                  <a:lnTo>
                    <a:pt x="2180528" y="517403"/>
                  </a:lnTo>
                  <a:lnTo>
                    <a:pt x="2159936" y="547925"/>
                  </a:lnTo>
                  <a:lnTo>
                    <a:pt x="2129414" y="568517"/>
                  </a:lnTo>
                  <a:lnTo>
                    <a:pt x="2092071" y="576072"/>
                  </a:lnTo>
                  <a:lnTo>
                    <a:pt x="96011" y="576072"/>
                  </a:lnTo>
                  <a:lnTo>
                    <a:pt x="58614" y="568517"/>
                  </a:lnTo>
                  <a:lnTo>
                    <a:pt x="28098" y="547925"/>
                  </a:lnTo>
                  <a:lnTo>
                    <a:pt x="7536" y="517403"/>
                  </a:lnTo>
                  <a:lnTo>
                    <a:pt x="0" y="480060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727952" y="1608582"/>
            <a:ext cx="16700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7056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To: </a:t>
            </a:r>
            <a:r>
              <a:rPr sz="1800" dirty="0">
                <a:latin typeface="Times New Roman"/>
                <a:cs typeface="Times New Roman"/>
              </a:rPr>
              <a:t>Presentation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55" dirty="0"/>
              <a:t> </a:t>
            </a:r>
            <a:r>
              <a:rPr dirty="0"/>
              <a:t>reference</a:t>
            </a:r>
            <a:r>
              <a:rPr spc="-55" dirty="0"/>
              <a:t> </a:t>
            </a:r>
            <a:r>
              <a:rPr dirty="0"/>
              <a:t>model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its</a:t>
            </a:r>
            <a:r>
              <a:rPr spc="-30" dirty="0"/>
              <a:t> </a:t>
            </a:r>
            <a:r>
              <a:rPr dirty="0"/>
              <a:t>services</a:t>
            </a:r>
            <a:r>
              <a:rPr spc="-45" dirty="0"/>
              <a:t> </a:t>
            </a:r>
            <a:r>
              <a:rPr spc="-10" dirty="0"/>
              <a:t>(review)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889375" y="991422"/>
            <a:ext cx="4946015" cy="3335654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Purpose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ts val="2375"/>
              </a:lnSpc>
              <a:spcBef>
                <a:spcPts val="475"/>
              </a:spcBef>
              <a:buFont typeface="Arial MT"/>
              <a:buChar char="–"/>
              <a:tabLst>
                <a:tab pos="756285" algn="l"/>
                <a:tab pos="1541145" algn="l"/>
                <a:tab pos="2211705" algn="l"/>
                <a:tab pos="2615565" algn="l"/>
                <a:tab pos="3632200" algn="l"/>
                <a:tab pos="4739005" algn="l"/>
              </a:tabLst>
            </a:pPr>
            <a:r>
              <a:rPr sz="2000" spc="-10" dirty="0">
                <a:latin typeface="Times New Roman"/>
                <a:cs typeface="Times New Roman"/>
              </a:rPr>
              <a:t>Allow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users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on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different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machines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endParaRPr sz="2000">
              <a:latin typeface="Times New Roman"/>
              <a:cs typeface="Times New Roman"/>
            </a:endParaRPr>
          </a:p>
          <a:p>
            <a:pPr marL="756285">
              <a:lnSpc>
                <a:spcPts val="2375"/>
              </a:lnSpc>
            </a:pPr>
            <a:r>
              <a:rPr sz="2000" dirty="0">
                <a:latin typeface="Times New Roman"/>
                <a:cs typeface="Times New Roman"/>
              </a:rPr>
              <a:t>establish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sessions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them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Concerns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Authentication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authorization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Check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Pointing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Dialog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control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Logical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grouping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operation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latin typeface="Times New Roman"/>
                <a:cs typeface="Times New Roman"/>
              </a:rPr>
              <a:t>Synchronization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9485" y="971677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373"/>
                </a:moveTo>
                <a:lnTo>
                  <a:pt x="4982" y="38683"/>
                </a:lnTo>
                <a:lnTo>
                  <a:pt x="18570" y="18542"/>
                </a:lnTo>
                <a:lnTo>
                  <a:pt x="38726" y="4972"/>
                </a:lnTo>
                <a:lnTo>
                  <a:pt x="63411" y="0"/>
                </a:lnTo>
                <a:lnTo>
                  <a:pt x="2069960" y="0"/>
                </a:lnTo>
                <a:lnTo>
                  <a:pt x="2094649" y="4972"/>
                </a:lnTo>
                <a:lnTo>
                  <a:pt x="2114791" y="18542"/>
                </a:lnTo>
                <a:lnTo>
                  <a:pt x="2128360" y="38683"/>
                </a:lnTo>
                <a:lnTo>
                  <a:pt x="2133333" y="63373"/>
                </a:lnTo>
                <a:lnTo>
                  <a:pt x="2133333" y="317119"/>
                </a:lnTo>
                <a:lnTo>
                  <a:pt x="2128360" y="341755"/>
                </a:lnTo>
                <a:lnTo>
                  <a:pt x="2114791" y="361902"/>
                </a:lnTo>
                <a:lnTo>
                  <a:pt x="2094649" y="375501"/>
                </a:lnTo>
                <a:lnTo>
                  <a:pt x="2069960" y="380492"/>
                </a:lnTo>
                <a:lnTo>
                  <a:pt x="63411" y="380492"/>
                </a:lnTo>
                <a:lnTo>
                  <a:pt x="38726" y="375501"/>
                </a:lnTo>
                <a:lnTo>
                  <a:pt x="18570" y="361902"/>
                </a:lnTo>
                <a:lnTo>
                  <a:pt x="4982" y="341755"/>
                </a:lnTo>
                <a:lnTo>
                  <a:pt x="0" y="317119"/>
                </a:lnTo>
                <a:lnTo>
                  <a:pt x="0" y="63373"/>
                </a:lnTo>
                <a:close/>
              </a:path>
            </a:pathLst>
          </a:custGeom>
          <a:ln w="254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27328" y="1004696"/>
            <a:ext cx="1696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E7E7E"/>
                </a:solidFill>
                <a:latin typeface="Times New Roman"/>
                <a:cs typeface="Times New Roman"/>
              </a:rPr>
              <a:t>Application</a:t>
            </a:r>
            <a:r>
              <a:rPr sz="1800" spc="-9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1644" y="1564513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500"/>
                </a:moveTo>
                <a:lnTo>
                  <a:pt x="4982" y="38790"/>
                </a:lnTo>
                <a:lnTo>
                  <a:pt x="18570" y="18605"/>
                </a:lnTo>
                <a:lnTo>
                  <a:pt x="38726" y="4992"/>
                </a:lnTo>
                <a:lnTo>
                  <a:pt x="63411" y="0"/>
                </a:lnTo>
                <a:lnTo>
                  <a:pt x="2069960" y="0"/>
                </a:lnTo>
                <a:lnTo>
                  <a:pt x="2094649" y="4992"/>
                </a:lnTo>
                <a:lnTo>
                  <a:pt x="2114791" y="18605"/>
                </a:lnTo>
                <a:lnTo>
                  <a:pt x="2128360" y="38790"/>
                </a:lnTo>
                <a:lnTo>
                  <a:pt x="2133333" y="63500"/>
                </a:lnTo>
                <a:lnTo>
                  <a:pt x="2133333" y="317119"/>
                </a:lnTo>
                <a:lnTo>
                  <a:pt x="2128360" y="341828"/>
                </a:lnTo>
                <a:lnTo>
                  <a:pt x="2114791" y="362013"/>
                </a:lnTo>
                <a:lnTo>
                  <a:pt x="2094649" y="375626"/>
                </a:lnTo>
                <a:lnTo>
                  <a:pt x="2069960" y="380619"/>
                </a:lnTo>
                <a:lnTo>
                  <a:pt x="63411" y="380619"/>
                </a:lnTo>
                <a:lnTo>
                  <a:pt x="38726" y="375626"/>
                </a:lnTo>
                <a:lnTo>
                  <a:pt x="18570" y="362013"/>
                </a:lnTo>
                <a:lnTo>
                  <a:pt x="4982" y="341828"/>
                </a:lnTo>
                <a:lnTo>
                  <a:pt x="0" y="317119"/>
                </a:lnTo>
                <a:lnTo>
                  <a:pt x="0" y="63500"/>
                </a:lnTo>
                <a:close/>
              </a:path>
            </a:pathLst>
          </a:custGeom>
          <a:ln w="254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03554" y="1597914"/>
            <a:ext cx="17456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E7E7E"/>
                </a:solidFill>
                <a:latin typeface="Times New Roman"/>
                <a:cs typeface="Times New Roman"/>
              </a:rPr>
              <a:t>Presentation</a:t>
            </a:r>
            <a:r>
              <a:rPr sz="1800" spc="-10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0024" y="1352422"/>
            <a:ext cx="2159000" cy="1198245"/>
            <a:chOff x="600024" y="1352422"/>
            <a:chExt cx="2159000" cy="119824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9569" y="1352422"/>
              <a:ext cx="76200" cy="21183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12724" y="2157475"/>
              <a:ext cx="2133600" cy="381000"/>
            </a:xfrm>
            <a:custGeom>
              <a:avLst/>
              <a:gdLst/>
              <a:ahLst/>
              <a:cxnLst/>
              <a:rect l="l" t="t" r="r" b="b"/>
              <a:pathLst>
                <a:path w="2133600" h="381000">
                  <a:moveTo>
                    <a:pt x="0" y="63373"/>
                  </a:moveTo>
                  <a:lnTo>
                    <a:pt x="4982" y="38736"/>
                  </a:lnTo>
                  <a:lnTo>
                    <a:pt x="18570" y="18589"/>
                  </a:lnTo>
                  <a:lnTo>
                    <a:pt x="38726" y="4990"/>
                  </a:lnTo>
                  <a:lnTo>
                    <a:pt x="63411" y="0"/>
                  </a:lnTo>
                  <a:lnTo>
                    <a:pt x="2069896" y="0"/>
                  </a:lnTo>
                  <a:lnTo>
                    <a:pt x="2094606" y="4990"/>
                  </a:lnTo>
                  <a:lnTo>
                    <a:pt x="2114791" y="18589"/>
                  </a:lnTo>
                  <a:lnTo>
                    <a:pt x="2128404" y="38736"/>
                  </a:lnTo>
                  <a:lnTo>
                    <a:pt x="2133396" y="63373"/>
                  </a:lnTo>
                  <a:lnTo>
                    <a:pt x="2133396" y="317119"/>
                  </a:lnTo>
                  <a:lnTo>
                    <a:pt x="2128404" y="341808"/>
                  </a:lnTo>
                  <a:lnTo>
                    <a:pt x="2114791" y="361950"/>
                  </a:lnTo>
                  <a:lnTo>
                    <a:pt x="2094606" y="375519"/>
                  </a:lnTo>
                  <a:lnTo>
                    <a:pt x="2069896" y="380492"/>
                  </a:lnTo>
                  <a:lnTo>
                    <a:pt x="63411" y="380492"/>
                  </a:lnTo>
                  <a:lnTo>
                    <a:pt x="38726" y="375519"/>
                  </a:lnTo>
                  <a:lnTo>
                    <a:pt x="18570" y="361950"/>
                  </a:lnTo>
                  <a:lnTo>
                    <a:pt x="4982" y="341808"/>
                  </a:lnTo>
                  <a:lnTo>
                    <a:pt x="0" y="317119"/>
                  </a:lnTo>
                  <a:lnTo>
                    <a:pt x="0" y="63373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021181" y="2191004"/>
            <a:ext cx="1315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Session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40713" y="1945385"/>
            <a:ext cx="76200" cy="2117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96785" y="958977"/>
            <a:ext cx="6445250" cy="3820160"/>
            <a:chOff x="596785" y="958977"/>
            <a:chExt cx="6445250" cy="382016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09485" y="971677"/>
              <a:ext cx="2133600" cy="381000"/>
            </a:xfrm>
            <a:custGeom>
              <a:avLst/>
              <a:gdLst/>
              <a:ahLst/>
              <a:cxnLst/>
              <a:rect l="l" t="t" r="r" b="b"/>
              <a:pathLst>
                <a:path w="2133600" h="381000">
                  <a:moveTo>
                    <a:pt x="0" y="63373"/>
                  </a:moveTo>
                  <a:lnTo>
                    <a:pt x="4982" y="38683"/>
                  </a:lnTo>
                  <a:lnTo>
                    <a:pt x="18570" y="18542"/>
                  </a:lnTo>
                  <a:lnTo>
                    <a:pt x="38726" y="4972"/>
                  </a:lnTo>
                  <a:lnTo>
                    <a:pt x="63411" y="0"/>
                  </a:lnTo>
                  <a:lnTo>
                    <a:pt x="2069960" y="0"/>
                  </a:lnTo>
                  <a:lnTo>
                    <a:pt x="2094649" y="4972"/>
                  </a:lnTo>
                  <a:lnTo>
                    <a:pt x="2114791" y="18542"/>
                  </a:lnTo>
                  <a:lnTo>
                    <a:pt x="2128360" y="38683"/>
                  </a:lnTo>
                  <a:lnTo>
                    <a:pt x="2133333" y="63373"/>
                  </a:lnTo>
                  <a:lnTo>
                    <a:pt x="2133333" y="317119"/>
                  </a:lnTo>
                  <a:lnTo>
                    <a:pt x="2128360" y="341755"/>
                  </a:lnTo>
                  <a:lnTo>
                    <a:pt x="2114791" y="361902"/>
                  </a:lnTo>
                  <a:lnTo>
                    <a:pt x="2094649" y="375501"/>
                  </a:lnTo>
                  <a:lnTo>
                    <a:pt x="2069960" y="380492"/>
                  </a:lnTo>
                  <a:lnTo>
                    <a:pt x="63411" y="380492"/>
                  </a:lnTo>
                  <a:lnTo>
                    <a:pt x="38726" y="375501"/>
                  </a:lnTo>
                  <a:lnTo>
                    <a:pt x="18570" y="361902"/>
                  </a:lnTo>
                  <a:lnTo>
                    <a:pt x="4982" y="341755"/>
                  </a:lnTo>
                  <a:lnTo>
                    <a:pt x="0" y="317119"/>
                  </a:lnTo>
                  <a:lnTo>
                    <a:pt x="0" y="63373"/>
                  </a:lnTo>
                  <a:close/>
                </a:path>
              </a:pathLst>
            </a:custGeom>
            <a:ln w="254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55" dirty="0"/>
              <a:t> </a:t>
            </a:r>
            <a:r>
              <a:rPr dirty="0"/>
              <a:t>reference</a:t>
            </a:r>
            <a:r>
              <a:rPr spc="-55" dirty="0"/>
              <a:t> </a:t>
            </a:r>
            <a:r>
              <a:rPr dirty="0"/>
              <a:t>model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its</a:t>
            </a:r>
            <a:r>
              <a:rPr spc="-30" dirty="0"/>
              <a:t> </a:t>
            </a:r>
            <a:r>
              <a:rPr dirty="0"/>
              <a:t>services</a:t>
            </a:r>
            <a:r>
              <a:rPr spc="-45" dirty="0"/>
              <a:t> </a:t>
            </a:r>
            <a:r>
              <a:rPr spc="-10" dirty="0"/>
              <a:t>(review)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27328" y="1004696"/>
            <a:ext cx="1696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E7E7E"/>
                </a:solidFill>
                <a:latin typeface="Times New Roman"/>
                <a:cs typeface="Times New Roman"/>
              </a:rPr>
              <a:t>Application</a:t>
            </a:r>
            <a:r>
              <a:rPr sz="1800" spc="-9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1644" y="1564513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500"/>
                </a:moveTo>
                <a:lnTo>
                  <a:pt x="4982" y="38790"/>
                </a:lnTo>
                <a:lnTo>
                  <a:pt x="18570" y="18605"/>
                </a:lnTo>
                <a:lnTo>
                  <a:pt x="38726" y="4992"/>
                </a:lnTo>
                <a:lnTo>
                  <a:pt x="63411" y="0"/>
                </a:lnTo>
                <a:lnTo>
                  <a:pt x="2069960" y="0"/>
                </a:lnTo>
                <a:lnTo>
                  <a:pt x="2094649" y="4992"/>
                </a:lnTo>
                <a:lnTo>
                  <a:pt x="2114791" y="18605"/>
                </a:lnTo>
                <a:lnTo>
                  <a:pt x="2128360" y="38790"/>
                </a:lnTo>
                <a:lnTo>
                  <a:pt x="2133333" y="63500"/>
                </a:lnTo>
                <a:lnTo>
                  <a:pt x="2133333" y="317119"/>
                </a:lnTo>
                <a:lnTo>
                  <a:pt x="2128360" y="341828"/>
                </a:lnTo>
                <a:lnTo>
                  <a:pt x="2114791" y="362013"/>
                </a:lnTo>
                <a:lnTo>
                  <a:pt x="2094649" y="375626"/>
                </a:lnTo>
                <a:lnTo>
                  <a:pt x="2069960" y="380619"/>
                </a:lnTo>
                <a:lnTo>
                  <a:pt x="63411" y="380619"/>
                </a:lnTo>
                <a:lnTo>
                  <a:pt x="38726" y="375626"/>
                </a:lnTo>
                <a:lnTo>
                  <a:pt x="18570" y="362013"/>
                </a:lnTo>
                <a:lnTo>
                  <a:pt x="4982" y="341828"/>
                </a:lnTo>
                <a:lnTo>
                  <a:pt x="0" y="317119"/>
                </a:lnTo>
                <a:lnTo>
                  <a:pt x="0" y="63500"/>
                </a:lnTo>
                <a:close/>
              </a:path>
            </a:pathLst>
          </a:custGeom>
          <a:ln w="254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03554" y="1597914"/>
            <a:ext cx="17456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E7E7E"/>
                </a:solidFill>
                <a:latin typeface="Times New Roman"/>
                <a:cs typeface="Times New Roman"/>
              </a:rPr>
              <a:t>Presentation</a:t>
            </a:r>
            <a:r>
              <a:rPr sz="1800" spc="-10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12724" y="2157476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373"/>
                </a:moveTo>
                <a:lnTo>
                  <a:pt x="4982" y="38736"/>
                </a:lnTo>
                <a:lnTo>
                  <a:pt x="18570" y="18589"/>
                </a:lnTo>
                <a:lnTo>
                  <a:pt x="38726" y="4990"/>
                </a:lnTo>
                <a:lnTo>
                  <a:pt x="63411" y="0"/>
                </a:lnTo>
                <a:lnTo>
                  <a:pt x="2069896" y="0"/>
                </a:lnTo>
                <a:lnTo>
                  <a:pt x="2094606" y="4990"/>
                </a:lnTo>
                <a:lnTo>
                  <a:pt x="2114791" y="18589"/>
                </a:lnTo>
                <a:lnTo>
                  <a:pt x="2128404" y="38736"/>
                </a:lnTo>
                <a:lnTo>
                  <a:pt x="2133396" y="63373"/>
                </a:lnTo>
                <a:lnTo>
                  <a:pt x="2133396" y="317119"/>
                </a:lnTo>
                <a:lnTo>
                  <a:pt x="2128404" y="341808"/>
                </a:lnTo>
                <a:lnTo>
                  <a:pt x="2114791" y="361950"/>
                </a:lnTo>
                <a:lnTo>
                  <a:pt x="2094606" y="375519"/>
                </a:lnTo>
                <a:lnTo>
                  <a:pt x="2069896" y="380492"/>
                </a:lnTo>
                <a:lnTo>
                  <a:pt x="63411" y="380492"/>
                </a:lnTo>
                <a:lnTo>
                  <a:pt x="38726" y="375519"/>
                </a:lnTo>
                <a:lnTo>
                  <a:pt x="18570" y="361950"/>
                </a:lnTo>
                <a:lnTo>
                  <a:pt x="4982" y="341808"/>
                </a:lnTo>
                <a:lnTo>
                  <a:pt x="0" y="317119"/>
                </a:lnTo>
                <a:lnTo>
                  <a:pt x="0" y="63373"/>
                </a:lnTo>
                <a:close/>
              </a:path>
            </a:pathLst>
          </a:custGeom>
          <a:ln w="25399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21181" y="2191004"/>
            <a:ext cx="1315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E7E7E"/>
                </a:solidFill>
                <a:latin typeface="Times New Roman"/>
                <a:cs typeface="Times New Roman"/>
              </a:rPr>
              <a:t>Session</a:t>
            </a:r>
            <a:r>
              <a:rPr sz="1800" spc="-3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4514" y="2750439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373"/>
                </a:moveTo>
                <a:lnTo>
                  <a:pt x="4984" y="38683"/>
                </a:lnTo>
                <a:lnTo>
                  <a:pt x="18576" y="18542"/>
                </a:lnTo>
                <a:lnTo>
                  <a:pt x="38736" y="4972"/>
                </a:lnTo>
                <a:lnTo>
                  <a:pt x="63423" y="0"/>
                </a:lnTo>
                <a:lnTo>
                  <a:pt x="2069884" y="0"/>
                </a:lnTo>
                <a:lnTo>
                  <a:pt x="2094593" y="4972"/>
                </a:lnTo>
                <a:lnTo>
                  <a:pt x="2114778" y="18542"/>
                </a:lnTo>
                <a:lnTo>
                  <a:pt x="2128391" y="38683"/>
                </a:lnTo>
                <a:lnTo>
                  <a:pt x="2133384" y="63373"/>
                </a:lnTo>
                <a:lnTo>
                  <a:pt x="2133384" y="317119"/>
                </a:lnTo>
                <a:lnTo>
                  <a:pt x="2128391" y="341755"/>
                </a:lnTo>
                <a:lnTo>
                  <a:pt x="2114778" y="361902"/>
                </a:lnTo>
                <a:lnTo>
                  <a:pt x="2094593" y="375501"/>
                </a:lnTo>
                <a:lnTo>
                  <a:pt x="2069884" y="380492"/>
                </a:lnTo>
                <a:lnTo>
                  <a:pt x="63423" y="380492"/>
                </a:lnTo>
                <a:lnTo>
                  <a:pt x="38736" y="375501"/>
                </a:lnTo>
                <a:lnTo>
                  <a:pt x="18576" y="361902"/>
                </a:lnTo>
                <a:lnTo>
                  <a:pt x="4984" y="341755"/>
                </a:lnTo>
                <a:lnTo>
                  <a:pt x="0" y="317119"/>
                </a:lnTo>
                <a:lnTo>
                  <a:pt x="0" y="6337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31570" y="2783789"/>
            <a:ext cx="1498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Transport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639570" y="1352422"/>
            <a:ext cx="4197350" cy="1774825"/>
            <a:chOff x="1639570" y="1352422"/>
            <a:chExt cx="4197350" cy="1774825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9570" y="1352422"/>
              <a:ext cx="76200" cy="21183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1221" y="1945385"/>
              <a:ext cx="76200" cy="21170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42491" y="2538222"/>
              <a:ext cx="76200" cy="21183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636010" y="2538348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80">
                  <a:moveTo>
                    <a:pt x="0" y="96012"/>
                  </a:moveTo>
                  <a:lnTo>
                    <a:pt x="7536" y="58668"/>
                  </a:lnTo>
                  <a:lnTo>
                    <a:pt x="28098" y="28146"/>
                  </a:lnTo>
                  <a:lnTo>
                    <a:pt x="58614" y="7554"/>
                  </a:lnTo>
                  <a:lnTo>
                    <a:pt x="96012" y="0"/>
                  </a:lnTo>
                  <a:lnTo>
                    <a:pt x="2092070" y="0"/>
                  </a:lnTo>
                  <a:lnTo>
                    <a:pt x="2129414" y="7554"/>
                  </a:lnTo>
                  <a:lnTo>
                    <a:pt x="2159936" y="28146"/>
                  </a:lnTo>
                  <a:lnTo>
                    <a:pt x="2180528" y="58668"/>
                  </a:lnTo>
                  <a:lnTo>
                    <a:pt x="2188082" y="96012"/>
                  </a:lnTo>
                  <a:lnTo>
                    <a:pt x="2188082" y="480059"/>
                  </a:lnTo>
                  <a:lnTo>
                    <a:pt x="2180528" y="517403"/>
                  </a:lnTo>
                  <a:lnTo>
                    <a:pt x="2159936" y="547925"/>
                  </a:lnTo>
                  <a:lnTo>
                    <a:pt x="2129414" y="568517"/>
                  </a:lnTo>
                  <a:lnTo>
                    <a:pt x="2092070" y="576071"/>
                  </a:lnTo>
                  <a:lnTo>
                    <a:pt x="96012" y="576071"/>
                  </a:lnTo>
                  <a:lnTo>
                    <a:pt x="58614" y="568517"/>
                  </a:lnTo>
                  <a:lnTo>
                    <a:pt x="28098" y="547925"/>
                  </a:lnTo>
                  <a:lnTo>
                    <a:pt x="7536" y="517403"/>
                  </a:lnTo>
                  <a:lnTo>
                    <a:pt x="0" y="480059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019803" y="2532379"/>
            <a:ext cx="14192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Break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into</a:t>
            </a:r>
            <a:endParaRPr sz="18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segments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471665" y="2556382"/>
            <a:ext cx="2188210" cy="575945"/>
          </a:xfrm>
          <a:custGeom>
            <a:avLst/>
            <a:gdLst/>
            <a:ahLst/>
            <a:cxnLst/>
            <a:rect l="l" t="t" r="r" b="b"/>
            <a:pathLst>
              <a:path w="2188209" h="575944">
                <a:moveTo>
                  <a:pt x="0" y="96012"/>
                </a:moveTo>
                <a:lnTo>
                  <a:pt x="7554" y="58614"/>
                </a:lnTo>
                <a:lnTo>
                  <a:pt x="28146" y="28098"/>
                </a:lnTo>
                <a:lnTo>
                  <a:pt x="58668" y="7536"/>
                </a:lnTo>
                <a:lnTo>
                  <a:pt x="96012" y="0"/>
                </a:lnTo>
                <a:lnTo>
                  <a:pt x="2092070" y="0"/>
                </a:lnTo>
                <a:lnTo>
                  <a:pt x="2129468" y="7536"/>
                </a:lnTo>
                <a:lnTo>
                  <a:pt x="2159984" y="28098"/>
                </a:lnTo>
                <a:lnTo>
                  <a:pt x="2180546" y="58614"/>
                </a:lnTo>
                <a:lnTo>
                  <a:pt x="2188083" y="96012"/>
                </a:lnTo>
                <a:lnTo>
                  <a:pt x="2188083" y="479933"/>
                </a:lnTo>
                <a:lnTo>
                  <a:pt x="2180546" y="517330"/>
                </a:lnTo>
                <a:lnTo>
                  <a:pt x="2159984" y="547846"/>
                </a:lnTo>
                <a:lnTo>
                  <a:pt x="2129468" y="568408"/>
                </a:lnTo>
                <a:lnTo>
                  <a:pt x="2092070" y="575944"/>
                </a:lnTo>
                <a:lnTo>
                  <a:pt x="96012" y="575944"/>
                </a:lnTo>
                <a:lnTo>
                  <a:pt x="58668" y="568408"/>
                </a:lnTo>
                <a:lnTo>
                  <a:pt x="28146" y="547846"/>
                </a:lnTo>
                <a:lnTo>
                  <a:pt x="7554" y="517330"/>
                </a:lnTo>
                <a:lnTo>
                  <a:pt x="0" y="479933"/>
                </a:lnTo>
                <a:lnTo>
                  <a:pt x="0" y="9601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686804" y="2550363"/>
            <a:ext cx="17576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Merge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segments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form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623309" y="3423539"/>
            <a:ext cx="2213610" cy="601980"/>
            <a:chOff x="3623309" y="3423539"/>
            <a:chExt cx="2213610" cy="601980"/>
          </a:xfrm>
        </p:grpSpPr>
        <p:sp>
          <p:nvSpPr>
            <p:cNvPr id="26" name="object 26"/>
            <p:cNvSpPr/>
            <p:nvPr/>
          </p:nvSpPr>
          <p:spPr>
            <a:xfrm>
              <a:off x="3636009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79">
                  <a:moveTo>
                    <a:pt x="2092070" y="0"/>
                  </a:moveTo>
                  <a:lnTo>
                    <a:pt x="96012" y="0"/>
                  </a:lnTo>
                  <a:lnTo>
                    <a:pt x="58614" y="7536"/>
                  </a:lnTo>
                  <a:lnTo>
                    <a:pt x="28098" y="28098"/>
                  </a:lnTo>
                  <a:lnTo>
                    <a:pt x="7536" y="58614"/>
                  </a:lnTo>
                  <a:lnTo>
                    <a:pt x="0" y="96012"/>
                  </a:lnTo>
                  <a:lnTo>
                    <a:pt x="0" y="479958"/>
                  </a:lnTo>
                  <a:lnTo>
                    <a:pt x="7536" y="517327"/>
                  </a:lnTo>
                  <a:lnTo>
                    <a:pt x="28098" y="547841"/>
                  </a:lnTo>
                  <a:lnTo>
                    <a:pt x="58614" y="568414"/>
                  </a:lnTo>
                  <a:lnTo>
                    <a:pt x="96012" y="575957"/>
                  </a:lnTo>
                  <a:lnTo>
                    <a:pt x="2092070" y="575957"/>
                  </a:lnTo>
                  <a:lnTo>
                    <a:pt x="2129414" y="568414"/>
                  </a:lnTo>
                  <a:lnTo>
                    <a:pt x="2159936" y="547841"/>
                  </a:lnTo>
                  <a:lnTo>
                    <a:pt x="2180528" y="517327"/>
                  </a:lnTo>
                  <a:lnTo>
                    <a:pt x="2188082" y="479958"/>
                  </a:lnTo>
                  <a:lnTo>
                    <a:pt x="2188082" y="96012"/>
                  </a:lnTo>
                  <a:lnTo>
                    <a:pt x="2180528" y="58614"/>
                  </a:lnTo>
                  <a:lnTo>
                    <a:pt x="2159936" y="28098"/>
                  </a:lnTo>
                  <a:lnTo>
                    <a:pt x="2129414" y="7536"/>
                  </a:lnTo>
                  <a:lnTo>
                    <a:pt x="20920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36009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79">
                  <a:moveTo>
                    <a:pt x="0" y="96012"/>
                  </a:moveTo>
                  <a:lnTo>
                    <a:pt x="7536" y="58614"/>
                  </a:lnTo>
                  <a:lnTo>
                    <a:pt x="28098" y="28098"/>
                  </a:lnTo>
                  <a:lnTo>
                    <a:pt x="58614" y="7536"/>
                  </a:lnTo>
                  <a:lnTo>
                    <a:pt x="96012" y="0"/>
                  </a:lnTo>
                  <a:lnTo>
                    <a:pt x="2092070" y="0"/>
                  </a:lnTo>
                  <a:lnTo>
                    <a:pt x="2129414" y="7536"/>
                  </a:lnTo>
                  <a:lnTo>
                    <a:pt x="2159936" y="28098"/>
                  </a:lnTo>
                  <a:lnTo>
                    <a:pt x="2180528" y="58614"/>
                  </a:lnTo>
                  <a:lnTo>
                    <a:pt x="2188082" y="96012"/>
                  </a:lnTo>
                  <a:lnTo>
                    <a:pt x="2188082" y="479958"/>
                  </a:lnTo>
                  <a:lnTo>
                    <a:pt x="2180528" y="517327"/>
                  </a:lnTo>
                  <a:lnTo>
                    <a:pt x="2159936" y="547841"/>
                  </a:lnTo>
                  <a:lnTo>
                    <a:pt x="2129414" y="568414"/>
                  </a:lnTo>
                  <a:lnTo>
                    <a:pt x="2092070" y="575957"/>
                  </a:lnTo>
                  <a:lnTo>
                    <a:pt x="96012" y="575957"/>
                  </a:lnTo>
                  <a:lnTo>
                    <a:pt x="58614" y="568414"/>
                  </a:lnTo>
                  <a:lnTo>
                    <a:pt x="28098" y="547841"/>
                  </a:lnTo>
                  <a:lnTo>
                    <a:pt x="7536" y="517327"/>
                  </a:lnTo>
                  <a:lnTo>
                    <a:pt x="0" y="479958"/>
                  </a:lnTo>
                  <a:lnTo>
                    <a:pt x="0" y="96012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059428" y="3430651"/>
            <a:ext cx="13411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05459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To: </a:t>
            </a:r>
            <a:r>
              <a:rPr sz="1800" dirty="0">
                <a:latin typeface="Times New Roman"/>
                <a:cs typeface="Times New Roman"/>
              </a:rPr>
              <a:t>Network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458965" y="3423539"/>
            <a:ext cx="2213610" cy="601980"/>
            <a:chOff x="6458965" y="3423539"/>
            <a:chExt cx="2213610" cy="601980"/>
          </a:xfrm>
        </p:grpSpPr>
        <p:sp>
          <p:nvSpPr>
            <p:cNvPr id="30" name="object 30"/>
            <p:cNvSpPr/>
            <p:nvPr/>
          </p:nvSpPr>
          <p:spPr>
            <a:xfrm>
              <a:off x="6471665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79">
                  <a:moveTo>
                    <a:pt x="2092070" y="0"/>
                  </a:moveTo>
                  <a:lnTo>
                    <a:pt x="96012" y="0"/>
                  </a:lnTo>
                  <a:lnTo>
                    <a:pt x="58668" y="7536"/>
                  </a:lnTo>
                  <a:lnTo>
                    <a:pt x="28146" y="28098"/>
                  </a:lnTo>
                  <a:lnTo>
                    <a:pt x="7554" y="58614"/>
                  </a:lnTo>
                  <a:lnTo>
                    <a:pt x="0" y="96012"/>
                  </a:lnTo>
                  <a:lnTo>
                    <a:pt x="0" y="479958"/>
                  </a:lnTo>
                  <a:lnTo>
                    <a:pt x="7554" y="517327"/>
                  </a:lnTo>
                  <a:lnTo>
                    <a:pt x="28146" y="547841"/>
                  </a:lnTo>
                  <a:lnTo>
                    <a:pt x="58668" y="568414"/>
                  </a:lnTo>
                  <a:lnTo>
                    <a:pt x="96012" y="575957"/>
                  </a:lnTo>
                  <a:lnTo>
                    <a:pt x="2092070" y="575957"/>
                  </a:lnTo>
                  <a:lnTo>
                    <a:pt x="2129468" y="568414"/>
                  </a:lnTo>
                  <a:lnTo>
                    <a:pt x="2159984" y="547841"/>
                  </a:lnTo>
                  <a:lnTo>
                    <a:pt x="2180546" y="517327"/>
                  </a:lnTo>
                  <a:lnTo>
                    <a:pt x="2188083" y="479958"/>
                  </a:lnTo>
                  <a:lnTo>
                    <a:pt x="2188083" y="96012"/>
                  </a:lnTo>
                  <a:lnTo>
                    <a:pt x="2180546" y="58614"/>
                  </a:lnTo>
                  <a:lnTo>
                    <a:pt x="2159984" y="28098"/>
                  </a:lnTo>
                  <a:lnTo>
                    <a:pt x="2129468" y="7536"/>
                  </a:lnTo>
                  <a:lnTo>
                    <a:pt x="20920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71665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79">
                  <a:moveTo>
                    <a:pt x="0" y="96012"/>
                  </a:moveTo>
                  <a:lnTo>
                    <a:pt x="7554" y="58614"/>
                  </a:lnTo>
                  <a:lnTo>
                    <a:pt x="28146" y="28098"/>
                  </a:lnTo>
                  <a:lnTo>
                    <a:pt x="58668" y="7536"/>
                  </a:lnTo>
                  <a:lnTo>
                    <a:pt x="96012" y="0"/>
                  </a:lnTo>
                  <a:lnTo>
                    <a:pt x="2092070" y="0"/>
                  </a:lnTo>
                  <a:lnTo>
                    <a:pt x="2129468" y="7536"/>
                  </a:lnTo>
                  <a:lnTo>
                    <a:pt x="2159984" y="28098"/>
                  </a:lnTo>
                  <a:lnTo>
                    <a:pt x="2180546" y="58614"/>
                  </a:lnTo>
                  <a:lnTo>
                    <a:pt x="2188083" y="96012"/>
                  </a:lnTo>
                  <a:lnTo>
                    <a:pt x="2188083" y="479958"/>
                  </a:lnTo>
                  <a:lnTo>
                    <a:pt x="2180546" y="517327"/>
                  </a:lnTo>
                  <a:lnTo>
                    <a:pt x="2159984" y="547841"/>
                  </a:lnTo>
                  <a:lnTo>
                    <a:pt x="2129468" y="568414"/>
                  </a:lnTo>
                  <a:lnTo>
                    <a:pt x="2092070" y="575957"/>
                  </a:lnTo>
                  <a:lnTo>
                    <a:pt x="96012" y="575957"/>
                  </a:lnTo>
                  <a:lnTo>
                    <a:pt x="58668" y="568414"/>
                  </a:lnTo>
                  <a:lnTo>
                    <a:pt x="28146" y="547841"/>
                  </a:lnTo>
                  <a:lnTo>
                    <a:pt x="7554" y="517327"/>
                  </a:lnTo>
                  <a:lnTo>
                    <a:pt x="0" y="479958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895592" y="3430651"/>
            <a:ext cx="13417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79095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imes New Roman"/>
                <a:cs typeface="Times New Roman"/>
              </a:rPr>
              <a:t>From: </a:t>
            </a:r>
            <a:r>
              <a:rPr sz="1800" dirty="0">
                <a:latin typeface="Times New Roman"/>
                <a:cs typeface="Times New Roman"/>
              </a:rPr>
              <a:t>Network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617214" y="1601850"/>
            <a:ext cx="3988435" cy="1834514"/>
            <a:chOff x="3617214" y="1601850"/>
            <a:chExt cx="3988435" cy="1834514"/>
          </a:xfrm>
        </p:grpSpPr>
        <p:sp>
          <p:nvSpPr>
            <p:cNvPr id="34" name="object 34"/>
            <p:cNvSpPr/>
            <p:nvPr/>
          </p:nvSpPr>
          <p:spPr>
            <a:xfrm>
              <a:off x="4690618" y="2189860"/>
              <a:ext cx="2915285" cy="1246505"/>
            </a:xfrm>
            <a:custGeom>
              <a:avLst/>
              <a:gdLst/>
              <a:ahLst/>
              <a:cxnLst/>
              <a:rect l="l" t="t" r="r" b="b"/>
              <a:pathLst>
                <a:path w="2915284" h="1246504">
                  <a:moveTo>
                    <a:pt x="76200" y="271272"/>
                  </a:moveTo>
                  <a:lnTo>
                    <a:pt x="50838" y="271703"/>
                  </a:lnTo>
                  <a:lnTo>
                    <a:pt x="46355" y="508"/>
                  </a:lnTo>
                  <a:lnTo>
                    <a:pt x="20955" y="889"/>
                  </a:lnTo>
                  <a:lnTo>
                    <a:pt x="25438" y="272122"/>
                  </a:lnTo>
                  <a:lnTo>
                    <a:pt x="0" y="272542"/>
                  </a:lnTo>
                  <a:lnTo>
                    <a:pt x="39370" y="348107"/>
                  </a:lnTo>
                  <a:lnTo>
                    <a:pt x="69684" y="284861"/>
                  </a:lnTo>
                  <a:lnTo>
                    <a:pt x="76200" y="271272"/>
                  </a:lnTo>
                  <a:close/>
                </a:path>
                <a:path w="2915284" h="1246504">
                  <a:moveTo>
                    <a:pt x="79121" y="1169543"/>
                  </a:moveTo>
                  <a:lnTo>
                    <a:pt x="53657" y="1169682"/>
                  </a:lnTo>
                  <a:lnTo>
                    <a:pt x="52451" y="924814"/>
                  </a:lnTo>
                  <a:lnTo>
                    <a:pt x="27051" y="924941"/>
                  </a:lnTo>
                  <a:lnTo>
                    <a:pt x="28257" y="1169809"/>
                  </a:lnTo>
                  <a:lnTo>
                    <a:pt x="2921" y="1169924"/>
                  </a:lnTo>
                  <a:lnTo>
                    <a:pt x="41402" y="1245997"/>
                  </a:lnTo>
                  <a:lnTo>
                    <a:pt x="72720" y="1182497"/>
                  </a:lnTo>
                  <a:lnTo>
                    <a:pt x="79121" y="1169543"/>
                  </a:lnTo>
                  <a:close/>
                </a:path>
                <a:path w="2915284" h="1246504">
                  <a:moveTo>
                    <a:pt x="2910586" y="75946"/>
                  </a:moveTo>
                  <a:lnTo>
                    <a:pt x="2904172" y="63373"/>
                  </a:lnTo>
                  <a:lnTo>
                    <a:pt x="2871851" y="0"/>
                  </a:lnTo>
                  <a:lnTo>
                    <a:pt x="2834386" y="76454"/>
                  </a:lnTo>
                  <a:lnTo>
                    <a:pt x="2859735" y="76288"/>
                  </a:lnTo>
                  <a:lnTo>
                    <a:pt x="2861691" y="365506"/>
                  </a:lnTo>
                  <a:lnTo>
                    <a:pt x="2887091" y="365379"/>
                  </a:lnTo>
                  <a:lnTo>
                    <a:pt x="2885135" y="76123"/>
                  </a:lnTo>
                  <a:lnTo>
                    <a:pt x="2910586" y="75946"/>
                  </a:lnTo>
                  <a:close/>
                </a:path>
                <a:path w="2915284" h="1246504">
                  <a:moveTo>
                    <a:pt x="2914777" y="1019302"/>
                  </a:moveTo>
                  <a:lnTo>
                    <a:pt x="2908376" y="1006348"/>
                  </a:lnTo>
                  <a:lnTo>
                    <a:pt x="2877058" y="942848"/>
                  </a:lnTo>
                  <a:lnTo>
                    <a:pt x="2838577" y="1018794"/>
                  </a:lnTo>
                  <a:lnTo>
                    <a:pt x="2864027" y="1018971"/>
                  </a:lnTo>
                  <a:lnTo>
                    <a:pt x="2862834" y="1245870"/>
                  </a:lnTo>
                  <a:lnTo>
                    <a:pt x="2888234" y="1245997"/>
                  </a:lnTo>
                  <a:lnTo>
                    <a:pt x="2889427" y="1019136"/>
                  </a:lnTo>
                  <a:lnTo>
                    <a:pt x="2914777" y="10193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629914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80">
                  <a:moveTo>
                    <a:pt x="2092071" y="0"/>
                  </a:moveTo>
                  <a:lnTo>
                    <a:pt x="96012" y="0"/>
                  </a:lnTo>
                  <a:lnTo>
                    <a:pt x="58614" y="7554"/>
                  </a:lnTo>
                  <a:lnTo>
                    <a:pt x="28098" y="28146"/>
                  </a:lnTo>
                  <a:lnTo>
                    <a:pt x="7536" y="58668"/>
                  </a:lnTo>
                  <a:lnTo>
                    <a:pt x="0" y="96012"/>
                  </a:lnTo>
                  <a:lnTo>
                    <a:pt x="0" y="480060"/>
                  </a:lnTo>
                  <a:lnTo>
                    <a:pt x="7536" y="517403"/>
                  </a:lnTo>
                  <a:lnTo>
                    <a:pt x="28098" y="547925"/>
                  </a:lnTo>
                  <a:lnTo>
                    <a:pt x="58614" y="568517"/>
                  </a:lnTo>
                  <a:lnTo>
                    <a:pt x="96012" y="576072"/>
                  </a:lnTo>
                  <a:lnTo>
                    <a:pt x="2092071" y="576072"/>
                  </a:lnTo>
                  <a:lnTo>
                    <a:pt x="2129414" y="568517"/>
                  </a:lnTo>
                  <a:lnTo>
                    <a:pt x="2159936" y="547925"/>
                  </a:lnTo>
                  <a:lnTo>
                    <a:pt x="2180528" y="517403"/>
                  </a:lnTo>
                  <a:lnTo>
                    <a:pt x="2188083" y="480060"/>
                  </a:lnTo>
                  <a:lnTo>
                    <a:pt x="2188083" y="96012"/>
                  </a:lnTo>
                  <a:lnTo>
                    <a:pt x="2180528" y="58668"/>
                  </a:lnTo>
                  <a:lnTo>
                    <a:pt x="2159936" y="28146"/>
                  </a:lnTo>
                  <a:lnTo>
                    <a:pt x="2129414" y="7554"/>
                  </a:lnTo>
                  <a:lnTo>
                    <a:pt x="209207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629914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80">
                  <a:moveTo>
                    <a:pt x="0" y="96012"/>
                  </a:moveTo>
                  <a:lnTo>
                    <a:pt x="7536" y="58668"/>
                  </a:lnTo>
                  <a:lnTo>
                    <a:pt x="28098" y="28146"/>
                  </a:lnTo>
                  <a:lnTo>
                    <a:pt x="58614" y="7554"/>
                  </a:lnTo>
                  <a:lnTo>
                    <a:pt x="96012" y="0"/>
                  </a:lnTo>
                  <a:lnTo>
                    <a:pt x="2092071" y="0"/>
                  </a:lnTo>
                  <a:lnTo>
                    <a:pt x="2129414" y="7554"/>
                  </a:lnTo>
                  <a:lnTo>
                    <a:pt x="2159936" y="28146"/>
                  </a:lnTo>
                  <a:lnTo>
                    <a:pt x="2180528" y="58668"/>
                  </a:lnTo>
                  <a:lnTo>
                    <a:pt x="2188083" y="96012"/>
                  </a:lnTo>
                  <a:lnTo>
                    <a:pt x="2188083" y="480060"/>
                  </a:lnTo>
                  <a:lnTo>
                    <a:pt x="2180528" y="517403"/>
                  </a:lnTo>
                  <a:lnTo>
                    <a:pt x="2159936" y="547925"/>
                  </a:lnTo>
                  <a:lnTo>
                    <a:pt x="2129414" y="568517"/>
                  </a:lnTo>
                  <a:lnTo>
                    <a:pt x="2092071" y="576072"/>
                  </a:lnTo>
                  <a:lnTo>
                    <a:pt x="96012" y="576072"/>
                  </a:lnTo>
                  <a:lnTo>
                    <a:pt x="58614" y="568517"/>
                  </a:lnTo>
                  <a:lnTo>
                    <a:pt x="28098" y="547925"/>
                  </a:lnTo>
                  <a:lnTo>
                    <a:pt x="7536" y="517403"/>
                  </a:lnTo>
                  <a:lnTo>
                    <a:pt x="0" y="480060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423028" y="994410"/>
            <a:ext cx="35058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90825" algn="l"/>
              </a:tabLst>
            </a:pPr>
            <a:r>
              <a:rPr sz="1600" spc="-10" dirty="0">
                <a:latin typeface="Calibri"/>
                <a:cs typeface="Calibri"/>
              </a:rPr>
              <a:t>Sender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Receiver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103623" y="1608582"/>
            <a:ext cx="1238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2893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From: </a:t>
            </a:r>
            <a:r>
              <a:rPr sz="1800" dirty="0">
                <a:latin typeface="Times New Roman"/>
                <a:cs typeface="Times New Roman"/>
              </a:rPr>
              <a:t>Session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456171" y="1601850"/>
            <a:ext cx="2213610" cy="601980"/>
            <a:chOff x="6456171" y="1601850"/>
            <a:chExt cx="2213610" cy="601980"/>
          </a:xfrm>
        </p:grpSpPr>
        <p:sp>
          <p:nvSpPr>
            <p:cNvPr id="40" name="object 40"/>
            <p:cNvSpPr/>
            <p:nvPr/>
          </p:nvSpPr>
          <p:spPr>
            <a:xfrm>
              <a:off x="6468871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80">
                  <a:moveTo>
                    <a:pt x="2092071" y="0"/>
                  </a:moveTo>
                  <a:lnTo>
                    <a:pt x="96011" y="0"/>
                  </a:lnTo>
                  <a:lnTo>
                    <a:pt x="58614" y="7554"/>
                  </a:lnTo>
                  <a:lnTo>
                    <a:pt x="28098" y="28146"/>
                  </a:lnTo>
                  <a:lnTo>
                    <a:pt x="7536" y="58668"/>
                  </a:lnTo>
                  <a:lnTo>
                    <a:pt x="0" y="96012"/>
                  </a:lnTo>
                  <a:lnTo>
                    <a:pt x="0" y="480060"/>
                  </a:lnTo>
                  <a:lnTo>
                    <a:pt x="7536" y="517403"/>
                  </a:lnTo>
                  <a:lnTo>
                    <a:pt x="28098" y="547925"/>
                  </a:lnTo>
                  <a:lnTo>
                    <a:pt x="58614" y="568517"/>
                  </a:lnTo>
                  <a:lnTo>
                    <a:pt x="96011" y="576072"/>
                  </a:lnTo>
                  <a:lnTo>
                    <a:pt x="2092071" y="576072"/>
                  </a:lnTo>
                  <a:lnTo>
                    <a:pt x="2129414" y="568517"/>
                  </a:lnTo>
                  <a:lnTo>
                    <a:pt x="2159936" y="547925"/>
                  </a:lnTo>
                  <a:lnTo>
                    <a:pt x="2180528" y="517403"/>
                  </a:lnTo>
                  <a:lnTo>
                    <a:pt x="2188082" y="480060"/>
                  </a:lnTo>
                  <a:lnTo>
                    <a:pt x="2188082" y="96012"/>
                  </a:lnTo>
                  <a:lnTo>
                    <a:pt x="2180528" y="58668"/>
                  </a:lnTo>
                  <a:lnTo>
                    <a:pt x="2159936" y="28146"/>
                  </a:lnTo>
                  <a:lnTo>
                    <a:pt x="2129414" y="7554"/>
                  </a:lnTo>
                  <a:lnTo>
                    <a:pt x="209207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468871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80">
                  <a:moveTo>
                    <a:pt x="0" y="96012"/>
                  </a:moveTo>
                  <a:lnTo>
                    <a:pt x="7536" y="58668"/>
                  </a:lnTo>
                  <a:lnTo>
                    <a:pt x="28098" y="28146"/>
                  </a:lnTo>
                  <a:lnTo>
                    <a:pt x="58614" y="7554"/>
                  </a:lnTo>
                  <a:lnTo>
                    <a:pt x="96011" y="0"/>
                  </a:lnTo>
                  <a:lnTo>
                    <a:pt x="2092071" y="0"/>
                  </a:lnTo>
                  <a:lnTo>
                    <a:pt x="2129414" y="7554"/>
                  </a:lnTo>
                  <a:lnTo>
                    <a:pt x="2159936" y="28146"/>
                  </a:lnTo>
                  <a:lnTo>
                    <a:pt x="2180528" y="58668"/>
                  </a:lnTo>
                  <a:lnTo>
                    <a:pt x="2188082" y="96012"/>
                  </a:lnTo>
                  <a:lnTo>
                    <a:pt x="2188082" y="480060"/>
                  </a:lnTo>
                  <a:lnTo>
                    <a:pt x="2180528" y="517403"/>
                  </a:lnTo>
                  <a:lnTo>
                    <a:pt x="2159936" y="547925"/>
                  </a:lnTo>
                  <a:lnTo>
                    <a:pt x="2129414" y="568517"/>
                  </a:lnTo>
                  <a:lnTo>
                    <a:pt x="2092071" y="576072"/>
                  </a:lnTo>
                  <a:lnTo>
                    <a:pt x="96011" y="576072"/>
                  </a:lnTo>
                  <a:lnTo>
                    <a:pt x="58614" y="568517"/>
                  </a:lnTo>
                  <a:lnTo>
                    <a:pt x="28098" y="547925"/>
                  </a:lnTo>
                  <a:lnTo>
                    <a:pt x="7536" y="517403"/>
                  </a:lnTo>
                  <a:lnTo>
                    <a:pt x="0" y="480060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942835" y="1608582"/>
            <a:ext cx="1238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529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To: </a:t>
            </a:r>
            <a:r>
              <a:rPr sz="1800" dirty="0">
                <a:latin typeface="Times New Roman"/>
                <a:cs typeface="Times New Roman"/>
              </a:rPr>
              <a:t>Session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4926584" y="4287494"/>
          <a:ext cx="3094988" cy="611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03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165">
                <a:tc gridSpan="5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DS1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DS2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DS3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DSn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96785" y="958977"/>
            <a:ext cx="6445250" cy="3820160"/>
            <a:chOff x="596785" y="958977"/>
            <a:chExt cx="6445250" cy="382016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6785" y="958977"/>
              <a:ext cx="2163813" cy="2184654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55" dirty="0"/>
              <a:t> </a:t>
            </a:r>
            <a:r>
              <a:rPr dirty="0"/>
              <a:t>reference</a:t>
            </a:r>
            <a:r>
              <a:rPr spc="-55" dirty="0"/>
              <a:t> </a:t>
            </a:r>
            <a:r>
              <a:rPr dirty="0"/>
              <a:t>model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its</a:t>
            </a:r>
            <a:r>
              <a:rPr spc="-30" dirty="0"/>
              <a:t> </a:t>
            </a:r>
            <a:r>
              <a:rPr dirty="0"/>
              <a:t>services</a:t>
            </a:r>
            <a:r>
              <a:rPr spc="-45" dirty="0"/>
              <a:t> </a:t>
            </a:r>
            <a:r>
              <a:rPr spc="-10" dirty="0"/>
              <a:t>(review)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31570" y="2783789"/>
            <a:ext cx="1498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Transport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36009" y="2538348"/>
            <a:ext cx="2188210" cy="576580"/>
          </a:xfrm>
          <a:custGeom>
            <a:avLst/>
            <a:gdLst/>
            <a:ahLst/>
            <a:cxnLst/>
            <a:rect l="l" t="t" r="r" b="b"/>
            <a:pathLst>
              <a:path w="2188210" h="576580">
                <a:moveTo>
                  <a:pt x="0" y="96012"/>
                </a:moveTo>
                <a:lnTo>
                  <a:pt x="7536" y="58668"/>
                </a:lnTo>
                <a:lnTo>
                  <a:pt x="28098" y="28146"/>
                </a:lnTo>
                <a:lnTo>
                  <a:pt x="58614" y="7554"/>
                </a:lnTo>
                <a:lnTo>
                  <a:pt x="96012" y="0"/>
                </a:lnTo>
                <a:lnTo>
                  <a:pt x="2092070" y="0"/>
                </a:lnTo>
                <a:lnTo>
                  <a:pt x="2129414" y="7554"/>
                </a:lnTo>
                <a:lnTo>
                  <a:pt x="2159936" y="28146"/>
                </a:lnTo>
                <a:lnTo>
                  <a:pt x="2180528" y="58668"/>
                </a:lnTo>
                <a:lnTo>
                  <a:pt x="2188082" y="96012"/>
                </a:lnTo>
                <a:lnTo>
                  <a:pt x="2188082" y="480059"/>
                </a:lnTo>
                <a:lnTo>
                  <a:pt x="2180528" y="517403"/>
                </a:lnTo>
                <a:lnTo>
                  <a:pt x="2159936" y="547925"/>
                </a:lnTo>
                <a:lnTo>
                  <a:pt x="2129414" y="568517"/>
                </a:lnTo>
                <a:lnTo>
                  <a:pt x="2092070" y="576071"/>
                </a:lnTo>
                <a:lnTo>
                  <a:pt x="96012" y="576071"/>
                </a:lnTo>
                <a:lnTo>
                  <a:pt x="58614" y="568517"/>
                </a:lnTo>
                <a:lnTo>
                  <a:pt x="28098" y="547925"/>
                </a:lnTo>
                <a:lnTo>
                  <a:pt x="7536" y="517403"/>
                </a:lnTo>
                <a:lnTo>
                  <a:pt x="0" y="480059"/>
                </a:lnTo>
                <a:lnTo>
                  <a:pt x="0" y="9601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019803" y="2532379"/>
            <a:ext cx="14192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Break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into</a:t>
            </a:r>
            <a:endParaRPr sz="18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segments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71665" y="2556382"/>
            <a:ext cx="2188210" cy="575945"/>
          </a:xfrm>
          <a:custGeom>
            <a:avLst/>
            <a:gdLst/>
            <a:ahLst/>
            <a:cxnLst/>
            <a:rect l="l" t="t" r="r" b="b"/>
            <a:pathLst>
              <a:path w="2188209" h="575944">
                <a:moveTo>
                  <a:pt x="0" y="96012"/>
                </a:moveTo>
                <a:lnTo>
                  <a:pt x="7554" y="58614"/>
                </a:lnTo>
                <a:lnTo>
                  <a:pt x="28146" y="28098"/>
                </a:lnTo>
                <a:lnTo>
                  <a:pt x="58668" y="7536"/>
                </a:lnTo>
                <a:lnTo>
                  <a:pt x="96012" y="0"/>
                </a:lnTo>
                <a:lnTo>
                  <a:pt x="2092070" y="0"/>
                </a:lnTo>
                <a:lnTo>
                  <a:pt x="2129468" y="7536"/>
                </a:lnTo>
                <a:lnTo>
                  <a:pt x="2159984" y="28098"/>
                </a:lnTo>
                <a:lnTo>
                  <a:pt x="2180546" y="58614"/>
                </a:lnTo>
                <a:lnTo>
                  <a:pt x="2188083" y="96012"/>
                </a:lnTo>
                <a:lnTo>
                  <a:pt x="2188083" y="479933"/>
                </a:lnTo>
                <a:lnTo>
                  <a:pt x="2180546" y="517330"/>
                </a:lnTo>
                <a:lnTo>
                  <a:pt x="2159984" y="547846"/>
                </a:lnTo>
                <a:lnTo>
                  <a:pt x="2129468" y="568408"/>
                </a:lnTo>
                <a:lnTo>
                  <a:pt x="2092070" y="575944"/>
                </a:lnTo>
                <a:lnTo>
                  <a:pt x="96012" y="575944"/>
                </a:lnTo>
                <a:lnTo>
                  <a:pt x="58668" y="568408"/>
                </a:lnTo>
                <a:lnTo>
                  <a:pt x="28146" y="547846"/>
                </a:lnTo>
                <a:lnTo>
                  <a:pt x="7554" y="517330"/>
                </a:lnTo>
                <a:lnTo>
                  <a:pt x="0" y="479933"/>
                </a:lnTo>
                <a:lnTo>
                  <a:pt x="0" y="9601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686804" y="2550363"/>
            <a:ext cx="17576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Merge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segments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form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623309" y="3423539"/>
            <a:ext cx="2213610" cy="601980"/>
            <a:chOff x="3623309" y="3423539"/>
            <a:chExt cx="2213610" cy="601980"/>
          </a:xfrm>
        </p:grpSpPr>
        <p:sp>
          <p:nvSpPr>
            <p:cNvPr id="16" name="object 16"/>
            <p:cNvSpPr/>
            <p:nvPr/>
          </p:nvSpPr>
          <p:spPr>
            <a:xfrm>
              <a:off x="3636009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79">
                  <a:moveTo>
                    <a:pt x="2092070" y="0"/>
                  </a:moveTo>
                  <a:lnTo>
                    <a:pt x="96012" y="0"/>
                  </a:lnTo>
                  <a:lnTo>
                    <a:pt x="58614" y="7536"/>
                  </a:lnTo>
                  <a:lnTo>
                    <a:pt x="28098" y="28098"/>
                  </a:lnTo>
                  <a:lnTo>
                    <a:pt x="7536" y="58614"/>
                  </a:lnTo>
                  <a:lnTo>
                    <a:pt x="0" y="96012"/>
                  </a:lnTo>
                  <a:lnTo>
                    <a:pt x="0" y="479958"/>
                  </a:lnTo>
                  <a:lnTo>
                    <a:pt x="7536" y="517327"/>
                  </a:lnTo>
                  <a:lnTo>
                    <a:pt x="28098" y="547841"/>
                  </a:lnTo>
                  <a:lnTo>
                    <a:pt x="58614" y="568414"/>
                  </a:lnTo>
                  <a:lnTo>
                    <a:pt x="96012" y="575957"/>
                  </a:lnTo>
                  <a:lnTo>
                    <a:pt x="2092070" y="575957"/>
                  </a:lnTo>
                  <a:lnTo>
                    <a:pt x="2129414" y="568414"/>
                  </a:lnTo>
                  <a:lnTo>
                    <a:pt x="2159936" y="547841"/>
                  </a:lnTo>
                  <a:lnTo>
                    <a:pt x="2180528" y="517327"/>
                  </a:lnTo>
                  <a:lnTo>
                    <a:pt x="2188082" y="479958"/>
                  </a:lnTo>
                  <a:lnTo>
                    <a:pt x="2188082" y="96012"/>
                  </a:lnTo>
                  <a:lnTo>
                    <a:pt x="2180528" y="58614"/>
                  </a:lnTo>
                  <a:lnTo>
                    <a:pt x="2159936" y="28098"/>
                  </a:lnTo>
                  <a:lnTo>
                    <a:pt x="2129414" y="7536"/>
                  </a:lnTo>
                  <a:lnTo>
                    <a:pt x="20920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36009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79">
                  <a:moveTo>
                    <a:pt x="0" y="96012"/>
                  </a:moveTo>
                  <a:lnTo>
                    <a:pt x="7536" y="58614"/>
                  </a:lnTo>
                  <a:lnTo>
                    <a:pt x="28098" y="28098"/>
                  </a:lnTo>
                  <a:lnTo>
                    <a:pt x="58614" y="7536"/>
                  </a:lnTo>
                  <a:lnTo>
                    <a:pt x="96012" y="0"/>
                  </a:lnTo>
                  <a:lnTo>
                    <a:pt x="2092070" y="0"/>
                  </a:lnTo>
                  <a:lnTo>
                    <a:pt x="2129414" y="7536"/>
                  </a:lnTo>
                  <a:lnTo>
                    <a:pt x="2159936" y="28098"/>
                  </a:lnTo>
                  <a:lnTo>
                    <a:pt x="2180528" y="58614"/>
                  </a:lnTo>
                  <a:lnTo>
                    <a:pt x="2188082" y="96012"/>
                  </a:lnTo>
                  <a:lnTo>
                    <a:pt x="2188082" y="479958"/>
                  </a:lnTo>
                  <a:lnTo>
                    <a:pt x="2180528" y="517327"/>
                  </a:lnTo>
                  <a:lnTo>
                    <a:pt x="2159936" y="547841"/>
                  </a:lnTo>
                  <a:lnTo>
                    <a:pt x="2129414" y="568414"/>
                  </a:lnTo>
                  <a:lnTo>
                    <a:pt x="2092070" y="575957"/>
                  </a:lnTo>
                  <a:lnTo>
                    <a:pt x="96012" y="575957"/>
                  </a:lnTo>
                  <a:lnTo>
                    <a:pt x="58614" y="568414"/>
                  </a:lnTo>
                  <a:lnTo>
                    <a:pt x="28098" y="547841"/>
                  </a:lnTo>
                  <a:lnTo>
                    <a:pt x="7536" y="517327"/>
                  </a:lnTo>
                  <a:lnTo>
                    <a:pt x="0" y="479958"/>
                  </a:lnTo>
                  <a:lnTo>
                    <a:pt x="0" y="96012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059428" y="3430651"/>
            <a:ext cx="13411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05459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To: </a:t>
            </a:r>
            <a:r>
              <a:rPr sz="1800" dirty="0">
                <a:latin typeface="Times New Roman"/>
                <a:cs typeface="Times New Roman"/>
              </a:rPr>
              <a:t>Network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458965" y="3423539"/>
            <a:ext cx="2213610" cy="601980"/>
            <a:chOff x="6458965" y="3423539"/>
            <a:chExt cx="2213610" cy="601980"/>
          </a:xfrm>
        </p:grpSpPr>
        <p:sp>
          <p:nvSpPr>
            <p:cNvPr id="20" name="object 20"/>
            <p:cNvSpPr/>
            <p:nvPr/>
          </p:nvSpPr>
          <p:spPr>
            <a:xfrm>
              <a:off x="6471665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79">
                  <a:moveTo>
                    <a:pt x="2092070" y="0"/>
                  </a:moveTo>
                  <a:lnTo>
                    <a:pt x="96012" y="0"/>
                  </a:lnTo>
                  <a:lnTo>
                    <a:pt x="58668" y="7536"/>
                  </a:lnTo>
                  <a:lnTo>
                    <a:pt x="28146" y="28098"/>
                  </a:lnTo>
                  <a:lnTo>
                    <a:pt x="7554" y="58614"/>
                  </a:lnTo>
                  <a:lnTo>
                    <a:pt x="0" y="96012"/>
                  </a:lnTo>
                  <a:lnTo>
                    <a:pt x="0" y="479958"/>
                  </a:lnTo>
                  <a:lnTo>
                    <a:pt x="7554" y="517327"/>
                  </a:lnTo>
                  <a:lnTo>
                    <a:pt x="28146" y="547841"/>
                  </a:lnTo>
                  <a:lnTo>
                    <a:pt x="58668" y="568414"/>
                  </a:lnTo>
                  <a:lnTo>
                    <a:pt x="96012" y="575957"/>
                  </a:lnTo>
                  <a:lnTo>
                    <a:pt x="2092070" y="575957"/>
                  </a:lnTo>
                  <a:lnTo>
                    <a:pt x="2129468" y="568414"/>
                  </a:lnTo>
                  <a:lnTo>
                    <a:pt x="2159984" y="547841"/>
                  </a:lnTo>
                  <a:lnTo>
                    <a:pt x="2180546" y="517327"/>
                  </a:lnTo>
                  <a:lnTo>
                    <a:pt x="2188083" y="479958"/>
                  </a:lnTo>
                  <a:lnTo>
                    <a:pt x="2188083" y="96012"/>
                  </a:lnTo>
                  <a:lnTo>
                    <a:pt x="2180546" y="58614"/>
                  </a:lnTo>
                  <a:lnTo>
                    <a:pt x="2159984" y="28098"/>
                  </a:lnTo>
                  <a:lnTo>
                    <a:pt x="2129468" y="7536"/>
                  </a:lnTo>
                  <a:lnTo>
                    <a:pt x="20920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71665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79">
                  <a:moveTo>
                    <a:pt x="0" y="96012"/>
                  </a:moveTo>
                  <a:lnTo>
                    <a:pt x="7554" y="58614"/>
                  </a:lnTo>
                  <a:lnTo>
                    <a:pt x="28146" y="28098"/>
                  </a:lnTo>
                  <a:lnTo>
                    <a:pt x="58668" y="7536"/>
                  </a:lnTo>
                  <a:lnTo>
                    <a:pt x="96012" y="0"/>
                  </a:lnTo>
                  <a:lnTo>
                    <a:pt x="2092070" y="0"/>
                  </a:lnTo>
                  <a:lnTo>
                    <a:pt x="2129468" y="7536"/>
                  </a:lnTo>
                  <a:lnTo>
                    <a:pt x="2159984" y="28098"/>
                  </a:lnTo>
                  <a:lnTo>
                    <a:pt x="2180546" y="58614"/>
                  </a:lnTo>
                  <a:lnTo>
                    <a:pt x="2188083" y="96012"/>
                  </a:lnTo>
                  <a:lnTo>
                    <a:pt x="2188083" y="479958"/>
                  </a:lnTo>
                  <a:lnTo>
                    <a:pt x="2180546" y="517327"/>
                  </a:lnTo>
                  <a:lnTo>
                    <a:pt x="2159984" y="547841"/>
                  </a:lnTo>
                  <a:lnTo>
                    <a:pt x="2129468" y="568414"/>
                  </a:lnTo>
                  <a:lnTo>
                    <a:pt x="2092070" y="575957"/>
                  </a:lnTo>
                  <a:lnTo>
                    <a:pt x="96012" y="575957"/>
                  </a:lnTo>
                  <a:lnTo>
                    <a:pt x="58668" y="568414"/>
                  </a:lnTo>
                  <a:lnTo>
                    <a:pt x="28146" y="547841"/>
                  </a:lnTo>
                  <a:lnTo>
                    <a:pt x="7554" y="517327"/>
                  </a:lnTo>
                  <a:lnTo>
                    <a:pt x="0" y="479958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895592" y="3430651"/>
            <a:ext cx="13417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79095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imes New Roman"/>
                <a:cs typeface="Times New Roman"/>
              </a:rPr>
              <a:t>From: </a:t>
            </a:r>
            <a:r>
              <a:rPr sz="1800" dirty="0">
                <a:latin typeface="Times New Roman"/>
                <a:cs typeface="Times New Roman"/>
              </a:rPr>
              <a:t>Network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617214" y="1601850"/>
            <a:ext cx="3988435" cy="1834514"/>
            <a:chOff x="3617214" y="1601850"/>
            <a:chExt cx="3988435" cy="1834514"/>
          </a:xfrm>
        </p:grpSpPr>
        <p:sp>
          <p:nvSpPr>
            <p:cNvPr id="24" name="object 24"/>
            <p:cNvSpPr/>
            <p:nvPr/>
          </p:nvSpPr>
          <p:spPr>
            <a:xfrm>
              <a:off x="4690618" y="2189860"/>
              <a:ext cx="2915285" cy="1246505"/>
            </a:xfrm>
            <a:custGeom>
              <a:avLst/>
              <a:gdLst/>
              <a:ahLst/>
              <a:cxnLst/>
              <a:rect l="l" t="t" r="r" b="b"/>
              <a:pathLst>
                <a:path w="2915284" h="1246504">
                  <a:moveTo>
                    <a:pt x="76200" y="271272"/>
                  </a:moveTo>
                  <a:lnTo>
                    <a:pt x="50838" y="271703"/>
                  </a:lnTo>
                  <a:lnTo>
                    <a:pt x="46355" y="508"/>
                  </a:lnTo>
                  <a:lnTo>
                    <a:pt x="20955" y="889"/>
                  </a:lnTo>
                  <a:lnTo>
                    <a:pt x="25438" y="272122"/>
                  </a:lnTo>
                  <a:lnTo>
                    <a:pt x="0" y="272542"/>
                  </a:lnTo>
                  <a:lnTo>
                    <a:pt x="39370" y="348107"/>
                  </a:lnTo>
                  <a:lnTo>
                    <a:pt x="69684" y="284861"/>
                  </a:lnTo>
                  <a:lnTo>
                    <a:pt x="76200" y="271272"/>
                  </a:lnTo>
                  <a:close/>
                </a:path>
                <a:path w="2915284" h="1246504">
                  <a:moveTo>
                    <a:pt x="79121" y="1169543"/>
                  </a:moveTo>
                  <a:lnTo>
                    <a:pt x="53657" y="1169682"/>
                  </a:lnTo>
                  <a:lnTo>
                    <a:pt x="52451" y="924814"/>
                  </a:lnTo>
                  <a:lnTo>
                    <a:pt x="27051" y="924941"/>
                  </a:lnTo>
                  <a:lnTo>
                    <a:pt x="28257" y="1169809"/>
                  </a:lnTo>
                  <a:lnTo>
                    <a:pt x="2921" y="1169924"/>
                  </a:lnTo>
                  <a:lnTo>
                    <a:pt x="41402" y="1245997"/>
                  </a:lnTo>
                  <a:lnTo>
                    <a:pt x="72720" y="1182497"/>
                  </a:lnTo>
                  <a:lnTo>
                    <a:pt x="79121" y="1169543"/>
                  </a:lnTo>
                  <a:close/>
                </a:path>
                <a:path w="2915284" h="1246504">
                  <a:moveTo>
                    <a:pt x="2910586" y="75946"/>
                  </a:moveTo>
                  <a:lnTo>
                    <a:pt x="2904172" y="63373"/>
                  </a:lnTo>
                  <a:lnTo>
                    <a:pt x="2871851" y="0"/>
                  </a:lnTo>
                  <a:lnTo>
                    <a:pt x="2834386" y="76454"/>
                  </a:lnTo>
                  <a:lnTo>
                    <a:pt x="2859735" y="76288"/>
                  </a:lnTo>
                  <a:lnTo>
                    <a:pt x="2861691" y="365506"/>
                  </a:lnTo>
                  <a:lnTo>
                    <a:pt x="2887091" y="365379"/>
                  </a:lnTo>
                  <a:lnTo>
                    <a:pt x="2885135" y="76123"/>
                  </a:lnTo>
                  <a:lnTo>
                    <a:pt x="2910586" y="75946"/>
                  </a:lnTo>
                  <a:close/>
                </a:path>
                <a:path w="2915284" h="1246504">
                  <a:moveTo>
                    <a:pt x="2914777" y="1019302"/>
                  </a:moveTo>
                  <a:lnTo>
                    <a:pt x="2908376" y="1006348"/>
                  </a:lnTo>
                  <a:lnTo>
                    <a:pt x="2877058" y="942848"/>
                  </a:lnTo>
                  <a:lnTo>
                    <a:pt x="2838577" y="1018794"/>
                  </a:lnTo>
                  <a:lnTo>
                    <a:pt x="2864027" y="1018971"/>
                  </a:lnTo>
                  <a:lnTo>
                    <a:pt x="2862834" y="1245870"/>
                  </a:lnTo>
                  <a:lnTo>
                    <a:pt x="2888234" y="1245997"/>
                  </a:lnTo>
                  <a:lnTo>
                    <a:pt x="2889427" y="1019136"/>
                  </a:lnTo>
                  <a:lnTo>
                    <a:pt x="2914777" y="10193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29914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80">
                  <a:moveTo>
                    <a:pt x="2092071" y="0"/>
                  </a:moveTo>
                  <a:lnTo>
                    <a:pt x="96012" y="0"/>
                  </a:lnTo>
                  <a:lnTo>
                    <a:pt x="58614" y="7554"/>
                  </a:lnTo>
                  <a:lnTo>
                    <a:pt x="28098" y="28146"/>
                  </a:lnTo>
                  <a:lnTo>
                    <a:pt x="7536" y="58668"/>
                  </a:lnTo>
                  <a:lnTo>
                    <a:pt x="0" y="96012"/>
                  </a:lnTo>
                  <a:lnTo>
                    <a:pt x="0" y="480060"/>
                  </a:lnTo>
                  <a:lnTo>
                    <a:pt x="7536" y="517403"/>
                  </a:lnTo>
                  <a:lnTo>
                    <a:pt x="28098" y="547925"/>
                  </a:lnTo>
                  <a:lnTo>
                    <a:pt x="58614" y="568517"/>
                  </a:lnTo>
                  <a:lnTo>
                    <a:pt x="96012" y="576072"/>
                  </a:lnTo>
                  <a:lnTo>
                    <a:pt x="2092071" y="576072"/>
                  </a:lnTo>
                  <a:lnTo>
                    <a:pt x="2129414" y="568517"/>
                  </a:lnTo>
                  <a:lnTo>
                    <a:pt x="2159936" y="547925"/>
                  </a:lnTo>
                  <a:lnTo>
                    <a:pt x="2180528" y="517403"/>
                  </a:lnTo>
                  <a:lnTo>
                    <a:pt x="2188083" y="480060"/>
                  </a:lnTo>
                  <a:lnTo>
                    <a:pt x="2188083" y="96012"/>
                  </a:lnTo>
                  <a:lnTo>
                    <a:pt x="2180528" y="58668"/>
                  </a:lnTo>
                  <a:lnTo>
                    <a:pt x="2159936" y="28146"/>
                  </a:lnTo>
                  <a:lnTo>
                    <a:pt x="2129414" y="7554"/>
                  </a:lnTo>
                  <a:lnTo>
                    <a:pt x="209207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29914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80">
                  <a:moveTo>
                    <a:pt x="0" y="96012"/>
                  </a:moveTo>
                  <a:lnTo>
                    <a:pt x="7536" y="58668"/>
                  </a:lnTo>
                  <a:lnTo>
                    <a:pt x="28098" y="28146"/>
                  </a:lnTo>
                  <a:lnTo>
                    <a:pt x="58614" y="7554"/>
                  </a:lnTo>
                  <a:lnTo>
                    <a:pt x="96012" y="0"/>
                  </a:lnTo>
                  <a:lnTo>
                    <a:pt x="2092071" y="0"/>
                  </a:lnTo>
                  <a:lnTo>
                    <a:pt x="2129414" y="7554"/>
                  </a:lnTo>
                  <a:lnTo>
                    <a:pt x="2159936" y="28146"/>
                  </a:lnTo>
                  <a:lnTo>
                    <a:pt x="2180528" y="58668"/>
                  </a:lnTo>
                  <a:lnTo>
                    <a:pt x="2188083" y="96012"/>
                  </a:lnTo>
                  <a:lnTo>
                    <a:pt x="2188083" y="480060"/>
                  </a:lnTo>
                  <a:lnTo>
                    <a:pt x="2180528" y="517403"/>
                  </a:lnTo>
                  <a:lnTo>
                    <a:pt x="2159936" y="547925"/>
                  </a:lnTo>
                  <a:lnTo>
                    <a:pt x="2129414" y="568517"/>
                  </a:lnTo>
                  <a:lnTo>
                    <a:pt x="2092071" y="576072"/>
                  </a:lnTo>
                  <a:lnTo>
                    <a:pt x="96012" y="576072"/>
                  </a:lnTo>
                  <a:lnTo>
                    <a:pt x="58614" y="568517"/>
                  </a:lnTo>
                  <a:lnTo>
                    <a:pt x="28098" y="547925"/>
                  </a:lnTo>
                  <a:lnTo>
                    <a:pt x="7536" y="517403"/>
                  </a:lnTo>
                  <a:lnTo>
                    <a:pt x="0" y="480060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423028" y="994410"/>
            <a:ext cx="35058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90825" algn="l"/>
              </a:tabLst>
            </a:pPr>
            <a:r>
              <a:rPr sz="1600" spc="-10" dirty="0">
                <a:latin typeface="Calibri"/>
                <a:cs typeface="Calibri"/>
              </a:rPr>
              <a:t>Sender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Receiver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03623" y="1608582"/>
            <a:ext cx="1238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2893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From: </a:t>
            </a:r>
            <a:r>
              <a:rPr sz="1800" dirty="0">
                <a:latin typeface="Times New Roman"/>
                <a:cs typeface="Times New Roman"/>
              </a:rPr>
              <a:t>Session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456171" y="1601850"/>
            <a:ext cx="2213610" cy="601980"/>
            <a:chOff x="6456171" y="1601850"/>
            <a:chExt cx="2213610" cy="601980"/>
          </a:xfrm>
        </p:grpSpPr>
        <p:sp>
          <p:nvSpPr>
            <p:cNvPr id="30" name="object 30"/>
            <p:cNvSpPr/>
            <p:nvPr/>
          </p:nvSpPr>
          <p:spPr>
            <a:xfrm>
              <a:off x="6468871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80">
                  <a:moveTo>
                    <a:pt x="2092071" y="0"/>
                  </a:moveTo>
                  <a:lnTo>
                    <a:pt x="96011" y="0"/>
                  </a:lnTo>
                  <a:lnTo>
                    <a:pt x="58614" y="7554"/>
                  </a:lnTo>
                  <a:lnTo>
                    <a:pt x="28098" y="28146"/>
                  </a:lnTo>
                  <a:lnTo>
                    <a:pt x="7536" y="58668"/>
                  </a:lnTo>
                  <a:lnTo>
                    <a:pt x="0" y="96012"/>
                  </a:lnTo>
                  <a:lnTo>
                    <a:pt x="0" y="480060"/>
                  </a:lnTo>
                  <a:lnTo>
                    <a:pt x="7536" y="517403"/>
                  </a:lnTo>
                  <a:lnTo>
                    <a:pt x="28098" y="547925"/>
                  </a:lnTo>
                  <a:lnTo>
                    <a:pt x="58614" y="568517"/>
                  </a:lnTo>
                  <a:lnTo>
                    <a:pt x="96011" y="576072"/>
                  </a:lnTo>
                  <a:lnTo>
                    <a:pt x="2092071" y="576072"/>
                  </a:lnTo>
                  <a:lnTo>
                    <a:pt x="2129414" y="568517"/>
                  </a:lnTo>
                  <a:lnTo>
                    <a:pt x="2159936" y="547925"/>
                  </a:lnTo>
                  <a:lnTo>
                    <a:pt x="2180528" y="517403"/>
                  </a:lnTo>
                  <a:lnTo>
                    <a:pt x="2188082" y="480060"/>
                  </a:lnTo>
                  <a:lnTo>
                    <a:pt x="2188082" y="96012"/>
                  </a:lnTo>
                  <a:lnTo>
                    <a:pt x="2180528" y="58668"/>
                  </a:lnTo>
                  <a:lnTo>
                    <a:pt x="2159936" y="28146"/>
                  </a:lnTo>
                  <a:lnTo>
                    <a:pt x="2129414" y="7554"/>
                  </a:lnTo>
                  <a:lnTo>
                    <a:pt x="209207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68871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80">
                  <a:moveTo>
                    <a:pt x="0" y="96012"/>
                  </a:moveTo>
                  <a:lnTo>
                    <a:pt x="7536" y="58668"/>
                  </a:lnTo>
                  <a:lnTo>
                    <a:pt x="28098" y="28146"/>
                  </a:lnTo>
                  <a:lnTo>
                    <a:pt x="58614" y="7554"/>
                  </a:lnTo>
                  <a:lnTo>
                    <a:pt x="96011" y="0"/>
                  </a:lnTo>
                  <a:lnTo>
                    <a:pt x="2092071" y="0"/>
                  </a:lnTo>
                  <a:lnTo>
                    <a:pt x="2129414" y="7554"/>
                  </a:lnTo>
                  <a:lnTo>
                    <a:pt x="2159936" y="28146"/>
                  </a:lnTo>
                  <a:lnTo>
                    <a:pt x="2180528" y="58668"/>
                  </a:lnTo>
                  <a:lnTo>
                    <a:pt x="2188082" y="96012"/>
                  </a:lnTo>
                  <a:lnTo>
                    <a:pt x="2188082" y="480060"/>
                  </a:lnTo>
                  <a:lnTo>
                    <a:pt x="2180528" y="517403"/>
                  </a:lnTo>
                  <a:lnTo>
                    <a:pt x="2159936" y="547925"/>
                  </a:lnTo>
                  <a:lnTo>
                    <a:pt x="2129414" y="568517"/>
                  </a:lnTo>
                  <a:lnTo>
                    <a:pt x="2092071" y="576072"/>
                  </a:lnTo>
                  <a:lnTo>
                    <a:pt x="96011" y="576072"/>
                  </a:lnTo>
                  <a:lnTo>
                    <a:pt x="58614" y="568517"/>
                  </a:lnTo>
                  <a:lnTo>
                    <a:pt x="28098" y="547925"/>
                  </a:lnTo>
                  <a:lnTo>
                    <a:pt x="7536" y="517403"/>
                  </a:lnTo>
                  <a:lnTo>
                    <a:pt x="0" y="480060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942835" y="1608582"/>
            <a:ext cx="1238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529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To: </a:t>
            </a:r>
            <a:r>
              <a:rPr sz="1800" dirty="0">
                <a:latin typeface="Times New Roman"/>
                <a:cs typeface="Times New Roman"/>
              </a:rPr>
              <a:t>Session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2184" y="3750361"/>
            <a:ext cx="3002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Two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protocols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layer: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2184" y="4024680"/>
            <a:ext cx="30530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TCP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follow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route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UDP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follow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route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96785" y="958977"/>
            <a:ext cx="6445250" cy="3820160"/>
            <a:chOff x="596785" y="958977"/>
            <a:chExt cx="6445250" cy="382016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6785" y="958977"/>
              <a:ext cx="2163813" cy="2184654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55" dirty="0"/>
              <a:t> </a:t>
            </a:r>
            <a:r>
              <a:rPr dirty="0"/>
              <a:t>reference</a:t>
            </a:r>
            <a:r>
              <a:rPr spc="-55" dirty="0"/>
              <a:t> </a:t>
            </a:r>
            <a:r>
              <a:rPr dirty="0"/>
              <a:t>model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its</a:t>
            </a:r>
            <a:r>
              <a:rPr spc="-30" dirty="0"/>
              <a:t> </a:t>
            </a:r>
            <a:r>
              <a:rPr dirty="0"/>
              <a:t>services</a:t>
            </a:r>
            <a:r>
              <a:rPr spc="-45" dirty="0"/>
              <a:t> </a:t>
            </a:r>
            <a:r>
              <a:rPr spc="-10" dirty="0"/>
              <a:t>(review)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31570" y="2783789"/>
            <a:ext cx="1498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Transport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36009" y="2538348"/>
            <a:ext cx="2188210" cy="576580"/>
          </a:xfrm>
          <a:custGeom>
            <a:avLst/>
            <a:gdLst/>
            <a:ahLst/>
            <a:cxnLst/>
            <a:rect l="l" t="t" r="r" b="b"/>
            <a:pathLst>
              <a:path w="2188210" h="576580">
                <a:moveTo>
                  <a:pt x="0" y="96012"/>
                </a:moveTo>
                <a:lnTo>
                  <a:pt x="7536" y="58668"/>
                </a:lnTo>
                <a:lnTo>
                  <a:pt x="28098" y="28146"/>
                </a:lnTo>
                <a:lnTo>
                  <a:pt x="58614" y="7554"/>
                </a:lnTo>
                <a:lnTo>
                  <a:pt x="96012" y="0"/>
                </a:lnTo>
                <a:lnTo>
                  <a:pt x="2092070" y="0"/>
                </a:lnTo>
                <a:lnTo>
                  <a:pt x="2129414" y="7554"/>
                </a:lnTo>
                <a:lnTo>
                  <a:pt x="2159936" y="28146"/>
                </a:lnTo>
                <a:lnTo>
                  <a:pt x="2180528" y="58668"/>
                </a:lnTo>
                <a:lnTo>
                  <a:pt x="2188082" y="96012"/>
                </a:lnTo>
                <a:lnTo>
                  <a:pt x="2188082" y="480059"/>
                </a:lnTo>
                <a:lnTo>
                  <a:pt x="2180528" y="517403"/>
                </a:lnTo>
                <a:lnTo>
                  <a:pt x="2159936" y="547925"/>
                </a:lnTo>
                <a:lnTo>
                  <a:pt x="2129414" y="568517"/>
                </a:lnTo>
                <a:lnTo>
                  <a:pt x="2092070" y="576071"/>
                </a:lnTo>
                <a:lnTo>
                  <a:pt x="96012" y="576071"/>
                </a:lnTo>
                <a:lnTo>
                  <a:pt x="58614" y="568517"/>
                </a:lnTo>
                <a:lnTo>
                  <a:pt x="28098" y="547925"/>
                </a:lnTo>
                <a:lnTo>
                  <a:pt x="7536" y="517403"/>
                </a:lnTo>
                <a:lnTo>
                  <a:pt x="0" y="480059"/>
                </a:lnTo>
                <a:lnTo>
                  <a:pt x="0" y="9601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019803" y="2532379"/>
            <a:ext cx="14192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Break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into</a:t>
            </a:r>
            <a:endParaRPr sz="18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segments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71665" y="2556382"/>
            <a:ext cx="2188210" cy="575945"/>
          </a:xfrm>
          <a:custGeom>
            <a:avLst/>
            <a:gdLst/>
            <a:ahLst/>
            <a:cxnLst/>
            <a:rect l="l" t="t" r="r" b="b"/>
            <a:pathLst>
              <a:path w="2188209" h="575944">
                <a:moveTo>
                  <a:pt x="0" y="96012"/>
                </a:moveTo>
                <a:lnTo>
                  <a:pt x="7554" y="58614"/>
                </a:lnTo>
                <a:lnTo>
                  <a:pt x="28146" y="28098"/>
                </a:lnTo>
                <a:lnTo>
                  <a:pt x="58668" y="7536"/>
                </a:lnTo>
                <a:lnTo>
                  <a:pt x="96012" y="0"/>
                </a:lnTo>
                <a:lnTo>
                  <a:pt x="2092070" y="0"/>
                </a:lnTo>
                <a:lnTo>
                  <a:pt x="2129468" y="7536"/>
                </a:lnTo>
                <a:lnTo>
                  <a:pt x="2159984" y="28098"/>
                </a:lnTo>
                <a:lnTo>
                  <a:pt x="2180546" y="58614"/>
                </a:lnTo>
                <a:lnTo>
                  <a:pt x="2188083" y="96012"/>
                </a:lnTo>
                <a:lnTo>
                  <a:pt x="2188083" y="479933"/>
                </a:lnTo>
                <a:lnTo>
                  <a:pt x="2180546" y="517330"/>
                </a:lnTo>
                <a:lnTo>
                  <a:pt x="2159984" y="547846"/>
                </a:lnTo>
                <a:lnTo>
                  <a:pt x="2129468" y="568408"/>
                </a:lnTo>
                <a:lnTo>
                  <a:pt x="2092070" y="575944"/>
                </a:lnTo>
                <a:lnTo>
                  <a:pt x="96012" y="575944"/>
                </a:lnTo>
                <a:lnTo>
                  <a:pt x="58668" y="568408"/>
                </a:lnTo>
                <a:lnTo>
                  <a:pt x="28146" y="547846"/>
                </a:lnTo>
                <a:lnTo>
                  <a:pt x="7554" y="517330"/>
                </a:lnTo>
                <a:lnTo>
                  <a:pt x="0" y="479933"/>
                </a:lnTo>
                <a:lnTo>
                  <a:pt x="0" y="9601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686804" y="2550363"/>
            <a:ext cx="17576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Merge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segments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form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623309" y="3423539"/>
            <a:ext cx="2213610" cy="601980"/>
            <a:chOff x="3623309" y="3423539"/>
            <a:chExt cx="2213610" cy="601980"/>
          </a:xfrm>
        </p:grpSpPr>
        <p:sp>
          <p:nvSpPr>
            <p:cNvPr id="16" name="object 16"/>
            <p:cNvSpPr/>
            <p:nvPr/>
          </p:nvSpPr>
          <p:spPr>
            <a:xfrm>
              <a:off x="3636009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79">
                  <a:moveTo>
                    <a:pt x="2092070" y="0"/>
                  </a:moveTo>
                  <a:lnTo>
                    <a:pt x="96012" y="0"/>
                  </a:lnTo>
                  <a:lnTo>
                    <a:pt x="58614" y="7536"/>
                  </a:lnTo>
                  <a:lnTo>
                    <a:pt x="28098" y="28098"/>
                  </a:lnTo>
                  <a:lnTo>
                    <a:pt x="7536" y="58614"/>
                  </a:lnTo>
                  <a:lnTo>
                    <a:pt x="0" y="96012"/>
                  </a:lnTo>
                  <a:lnTo>
                    <a:pt x="0" y="479958"/>
                  </a:lnTo>
                  <a:lnTo>
                    <a:pt x="7536" y="517327"/>
                  </a:lnTo>
                  <a:lnTo>
                    <a:pt x="28098" y="547841"/>
                  </a:lnTo>
                  <a:lnTo>
                    <a:pt x="58614" y="568414"/>
                  </a:lnTo>
                  <a:lnTo>
                    <a:pt x="96012" y="575957"/>
                  </a:lnTo>
                  <a:lnTo>
                    <a:pt x="2092070" y="575957"/>
                  </a:lnTo>
                  <a:lnTo>
                    <a:pt x="2129414" y="568414"/>
                  </a:lnTo>
                  <a:lnTo>
                    <a:pt x="2159936" y="547841"/>
                  </a:lnTo>
                  <a:lnTo>
                    <a:pt x="2180528" y="517327"/>
                  </a:lnTo>
                  <a:lnTo>
                    <a:pt x="2188082" y="479958"/>
                  </a:lnTo>
                  <a:lnTo>
                    <a:pt x="2188082" y="96012"/>
                  </a:lnTo>
                  <a:lnTo>
                    <a:pt x="2180528" y="58614"/>
                  </a:lnTo>
                  <a:lnTo>
                    <a:pt x="2159936" y="28098"/>
                  </a:lnTo>
                  <a:lnTo>
                    <a:pt x="2129414" y="7536"/>
                  </a:lnTo>
                  <a:lnTo>
                    <a:pt x="20920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36009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79">
                  <a:moveTo>
                    <a:pt x="0" y="96012"/>
                  </a:moveTo>
                  <a:lnTo>
                    <a:pt x="7536" y="58614"/>
                  </a:lnTo>
                  <a:lnTo>
                    <a:pt x="28098" y="28098"/>
                  </a:lnTo>
                  <a:lnTo>
                    <a:pt x="58614" y="7536"/>
                  </a:lnTo>
                  <a:lnTo>
                    <a:pt x="96012" y="0"/>
                  </a:lnTo>
                  <a:lnTo>
                    <a:pt x="2092070" y="0"/>
                  </a:lnTo>
                  <a:lnTo>
                    <a:pt x="2129414" y="7536"/>
                  </a:lnTo>
                  <a:lnTo>
                    <a:pt x="2159936" y="28098"/>
                  </a:lnTo>
                  <a:lnTo>
                    <a:pt x="2180528" y="58614"/>
                  </a:lnTo>
                  <a:lnTo>
                    <a:pt x="2188082" y="96012"/>
                  </a:lnTo>
                  <a:lnTo>
                    <a:pt x="2188082" y="479958"/>
                  </a:lnTo>
                  <a:lnTo>
                    <a:pt x="2180528" y="517327"/>
                  </a:lnTo>
                  <a:lnTo>
                    <a:pt x="2159936" y="547841"/>
                  </a:lnTo>
                  <a:lnTo>
                    <a:pt x="2129414" y="568414"/>
                  </a:lnTo>
                  <a:lnTo>
                    <a:pt x="2092070" y="575957"/>
                  </a:lnTo>
                  <a:lnTo>
                    <a:pt x="96012" y="575957"/>
                  </a:lnTo>
                  <a:lnTo>
                    <a:pt x="58614" y="568414"/>
                  </a:lnTo>
                  <a:lnTo>
                    <a:pt x="28098" y="547841"/>
                  </a:lnTo>
                  <a:lnTo>
                    <a:pt x="7536" y="517327"/>
                  </a:lnTo>
                  <a:lnTo>
                    <a:pt x="0" y="479958"/>
                  </a:lnTo>
                  <a:lnTo>
                    <a:pt x="0" y="96012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059428" y="3430651"/>
            <a:ext cx="13411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05459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To: </a:t>
            </a:r>
            <a:r>
              <a:rPr sz="1800" dirty="0">
                <a:latin typeface="Times New Roman"/>
                <a:cs typeface="Times New Roman"/>
              </a:rPr>
              <a:t>Network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458965" y="3423539"/>
            <a:ext cx="2213610" cy="601980"/>
            <a:chOff x="6458965" y="3423539"/>
            <a:chExt cx="2213610" cy="601980"/>
          </a:xfrm>
        </p:grpSpPr>
        <p:sp>
          <p:nvSpPr>
            <p:cNvPr id="20" name="object 20"/>
            <p:cNvSpPr/>
            <p:nvPr/>
          </p:nvSpPr>
          <p:spPr>
            <a:xfrm>
              <a:off x="6471665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79">
                  <a:moveTo>
                    <a:pt x="2092070" y="0"/>
                  </a:moveTo>
                  <a:lnTo>
                    <a:pt x="96012" y="0"/>
                  </a:lnTo>
                  <a:lnTo>
                    <a:pt x="58668" y="7536"/>
                  </a:lnTo>
                  <a:lnTo>
                    <a:pt x="28146" y="28098"/>
                  </a:lnTo>
                  <a:lnTo>
                    <a:pt x="7554" y="58614"/>
                  </a:lnTo>
                  <a:lnTo>
                    <a:pt x="0" y="96012"/>
                  </a:lnTo>
                  <a:lnTo>
                    <a:pt x="0" y="479958"/>
                  </a:lnTo>
                  <a:lnTo>
                    <a:pt x="7554" y="517327"/>
                  </a:lnTo>
                  <a:lnTo>
                    <a:pt x="28146" y="547841"/>
                  </a:lnTo>
                  <a:lnTo>
                    <a:pt x="58668" y="568414"/>
                  </a:lnTo>
                  <a:lnTo>
                    <a:pt x="96012" y="575957"/>
                  </a:lnTo>
                  <a:lnTo>
                    <a:pt x="2092070" y="575957"/>
                  </a:lnTo>
                  <a:lnTo>
                    <a:pt x="2129468" y="568414"/>
                  </a:lnTo>
                  <a:lnTo>
                    <a:pt x="2159984" y="547841"/>
                  </a:lnTo>
                  <a:lnTo>
                    <a:pt x="2180546" y="517327"/>
                  </a:lnTo>
                  <a:lnTo>
                    <a:pt x="2188083" y="479958"/>
                  </a:lnTo>
                  <a:lnTo>
                    <a:pt x="2188083" y="96012"/>
                  </a:lnTo>
                  <a:lnTo>
                    <a:pt x="2180546" y="58614"/>
                  </a:lnTo>
                  <a:lnTo>
                    <a:pt x="2159984" y="28098"/>
                  </a:lnTo>
                  <a:lnTo>
                    <a:pt x="2129468" y="7536"/>
                  </a:lnTo>
                  <a:lnTo>
                    <a:pt x="20920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71665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79">
                  <a:moveTo>
                    <a:pt x="0" y="96012"/>
                  </a:moveTo>
                  <a:lnTo>
                    <a:pt x="7554" y="58614"/>
                  </a:lnTo>
                  <a:lnTo>
                    <a:pt x="28146" y="28098"/>
                  </a:lnTo>
                  <a:lnTo>
                    <a:pt x="58668" y="7536"/>
                  </a:lnTo>
                  <a:lnTo>
                    <a:pt x="96012" y="0"/>
                  </a:lnTo>
                  <a:lnTo>
                    <a:pt x="2092070" y="0"/>
                  </a:lnTo>
                  <a:lnTo>
                    <a:pt x="2129468" y="7536"/>
                  </a:lnTo>
                  <a:lnTo>
                    <a:pt x="2159984" y="28098"/>
                  </a:lnTo>
                  <a:lnTo>
                    <a:pt x="2180546" y="58614"/>
                  </a:lnTo>
                  <a:lnTo>
                    <a:pt x="2188083" y="96012"/>
                  </a:lnTo>
                  <a:lnTo>
                    <a:pt x="2188083" y="479958"/>
                  </a:lnTo>
                  <a:lnTo>
                    <a:pt x="2180546" y="517327"/>
                  </a:lnTo>
                  <a:lnTo>
                    <a:pt x="2159984" y="547841"/>
                  </a:lnTo>
                  <a:lnTo>
                    <a:pt x="2129468" y="568414"/>
                  </a:lnTo>
                  <a:lnTo>
                    <a:pt x="2092070" y="575957"/>
                  </a:lnTo>
                  <a:lnTo>
                    <a:pt x="96012" y="575957"/>
                  </a:lnTo>
                  <a:lnTo>
                    <a:pt x="58668" y="568414"/>
                  </a:lnTo>
                  <a:lnTo>
                    <a:pt x="28146" y="547841"/>
                  </a:lnTo>
                  <a:lnTo>
                    <a:pt x="7554" y="517327"/>
                  </a:lnTo>
                  <a:lnTo>
                    <a:pt x="0" y="479958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895592" y="3430651"/>
            <a:ext cx="13417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79095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imes New Roman"/>
                <a:cs typeface="Times New Roman"/>
              </a:rPr>
              <a:t>From: </a:t>
            </a:r>
            <a:r>
              <a:rPr sz="1800" dirty="0">
                <a:latin typeface="Times New Roman"/>
                <a:cs typeface="Times New Roman"/>
              </a:rPr>
              <a:t>Network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617214" y="1601850"/>
            <a:ext cx="3988435" cy="1834514"/>
            <a:chOff x="3617214" y="1601850"/>
            <a:chExt cx="3988435" cy="1834514"/>
          </a:xfrm>
        </p:grpSpPr>
        <p:sp>
          <p:nvSpPr>
            <p:cNvPr id="24" name="object 24"/>
            <p:cNvSpPr/>
            <p:nvPr/>
          </p:nvSpPr>
          <p:spPr>
            <a:xfrm>
              <a:off x="4690618" y="2189860"/>
              <a:ext cx="2915285" cy="1246505"/>
            </a:xfrm>
            <a:custGeom>
              <a:avLst/>
              <a:gdLst/>
              <a:ahLst/>
              <a:cxnLst/>
              <a:rect l="l" t="t" r="r" b="b"/>
              <a:pathLst>
                <a:path w="2915284" h="1246504">
                  <a:moveTo>
                    <a:pt x="76200" y="271272"/>
                  </a:moveTo>
                  <a:lnTo>
                    <a:pt x="50838" y="271703"/>
                  </a:lnTo>
                  <a:lnTo>
                    <a:pt x="46355" y="508"/>
                  </a:lnTo>
                  <a:lnTo>
                    <a:pt x="20955" y="889"/>
                  </a:lnTo>
                  <a:lnTo>
                    <a:pt x="25438" y="272122"/>
                  </a:lnTo>
                  <a:lnTo>
                    <a:pt x="0" y="272542"/>
                  </a:lnTo>
                  <a:lnTo>
                    <a:pt x="39370" y="348107"/>
                  </a:lnTo>
                  <a:lnTo>
                    <a:pt x="69684" y="284861"/>
                  </a:lnTo>
                  <a:lnTo>
                    <a:pt x="76200" y="271272"/>
                  </a:lnTo>
                  <a:close/>
                </a:path>
                <a:path w="2915284" h="1246504">
                  <a:moveTo>
                    <a:pt x="79121" y="1169543"/>
                  </a:moveTo>
                  <a:lnTo>
                    <a:pt x="53657" y="1169682"/>
                  </a:lnTo>
                  <a:lnTo>
                    <a:pt x="52451" y="924814"/>
                  </a:lnTo>
                  <a:lnTo>
                    <a:pt x="27051" y="924941"/>
                  </a:lnTo>
                  <a:lnTo>
                    <a:pt x="28257" y="1169809"/>
                  </a:lnTo>
                  <a:lnTo>
                    <a:pt x="2921" y="1169924"/>
                  </a:lnTo>
                  <a:lnTo>
                    <a:pt x="41402" y="1245997"/>
                  </a:lnTo>
                  <a:lnTo>
                    <a:pt x="72720" y="1182497"/>
                  </a:lnTo>
                  <a:lnTo>
                    <a:pt x="79121" y="1169543"/>
                  </a:lnTo>
                  <a:close/>
                </a:path>
                <a:path w="2915284" h="1246504">
                  <a:moveTo>
                    <a:pt x="2910586" y="75946"/>
                  </a:moveTo>
                  <a:lnTo>
                    <a:pt x="2904172" y="63373"/>
                  </a:lnTo>
                  <a:lnTo>
                    <a:pt x="2871851" y="0"/>
                  </a:lnTo>
                  <a:lnTo>
                    <a:pt x="2834386" y="76454"/>
                  </a:lnTo>
                  <a:lnTo>
                    <a:pt x="2859735" y="76288"/>
                  </a:lnTo>
                  <a:lnTo>
                    <a:pt x="2861691" y="365506"/>
                  </a:lnTo>
                  <a:lnTo>
                    <a:pt x="2887091" y="365379"/>
                  </a:lnTo>
                  <a:lnTo>
                    <a:pt x="2885135" y="76123"/>
                  </a:lnTo>
                  <a:lnTo>
                    <a:pt x="2910586" y="75946"/>
                  </a:lnTo>
                  <a:close/>
                </a:path>
                <a:path w="2915284" h="1246504">
                  <a:moveTo>
                    <a:pt x="2914777" y="1019302"/>
                  </a:moveTo>
                  <a:lnTo>
                    <a:pt x="2908376" y="1006348"/>
                  </a:lnTo>
                  <a:lnTo>
                    <a:pt x="2877058" y="942848"/>
                  </a:lnTo>
                  <a:lnTo>
                    <a:pt x="2838577" y="1018794"/>
                  </a:lnTo>
                  <a:lnTo>
                    <a:pt x="2864027" y="1018971"/>
                  </a:lnTo>
                  <a:lnTo>
                    <a:pt x="2862834" y="1245870"/>
                  </a:lnTo>
                  <a:lnTo>
                    <a:pt x="2888234" y="1245997"/>
                  </a:lnTo>
                  <a:lnTo>
                    <a:pt x="2889427" y="1019136"/>
                  </a:lnTo>
                  <a:lnTo>
                    <a:pt x="2914777" y="10193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29914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80">
                  <a:moveTo>
                    <a:pt x="2092071" y="0"/>
                  </a:moveTo>
                  <a:lnTo>
                    <a:pt x="96012" y="0"/>
                  </a:lnTo>
                  <a:lnTo>
                    <a:pt x="58614" y="7554"/>
                  </a:lnTo>
                  <a:lnTo>
                    <a:pt x="28098" y="28146"/>
                  </a:lnTo>
                  <a:lnTo>
                    <a:pt x="7536" y="58668"/>
                  </a:lnTo>
                  <a:lnTo>
                    <a:pt x="0" y="96012"/>
                  </a:lnTo>
                  <a:lnTo>
                    <a:pt x="0" y="480060"/>
                  </a:lnTo>
                  <a:lnTo>
                    <a:pt x="7536" y="517403"/>
                  </a:lnTo>
                  <a:lnTo>
                    <a:pt x="28098" y="547925"/>
                  </a:lnTo>
                  <a:lnTo>
                    <a:pt x="58614" y="568517"/>
                  </a:lnTo>
                  <a:lnTo>
                    <a:pt x="96012" y="576072"/>
                  </a:lnTo>
                  <a:lnTo>
                    <a:pt x="2092071" y="576072"/>
                  </a:lnTo>
                  <a:lnTo>
                    <a:pt x="2129414" y="568517"/>
                  </a:lnTo>
                  <a:lnTo>
                    <a:pt x="2159936" y="547925"/>
                  </a:lnTo>
                  <a:lnTo>
                    <a:pt x="2180528" y="517403"/>
                  </a:lnTo>
                  <a:lnTo>
                    <a:pt x="2188083" y="480060"/>
                  </a:lnTo>
                  <a:lnTo>
                    <a:pt x="2188083" y="96012"/>
                  </a:lnTo>
                  <a:lnTo>
                    <a:pt x="2180528" y="58668"/>
                  </a:lnTo>
                  <a:lnTo>
                    <a:pt x="2159936" y="28146"/>
                  </a:lnTo>
                  <a:lnTo>
                    <a:pt x="2129414" y="7554"/>
                  </a:lnTo>
                  <a:lnTo>
                    <a:pt x="209207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29914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80">
                  <a:moveTo>
                    <a:pt x="0" y="96012"/>
                  </a:moveTo>
                  <a:lnTo>
                    <a:pt x="7536" y="58668"/>
                  </a:lnTo>
                  <a:lnTo>
                    <a:pt x="28098" y="28146"/>
                  </a:lnTo>
                  <a:lnTo>
                    <a:pt x="58614" y="7554"/>
                  </a:lnTo>
                  <a:lnTo>
                    <a:pt x="96012" y="0"/>
                  </a:lnTo>
                  <a:lnTo>
                    <a:pt x="2092071" y="0"/>
                  </a:lnTo>
                  <a:lnTo>
                    <a:pt x="2129414" y="7554"/>
                  </a:lnTo>
                  <a:lnTo>
                    <a:pt x="2159936" y="28146"/>
                  </a:lnTo>
                  <a:lnTo>
                    <a:pt x="2180528" y="58668"/>
                  </a:lnTo>
                  <a:lnTo>
                    <a:pt x="2188083" y="96012"/>
                  </a:lnTo>
                  <a:lnTo>
                    <a:pt x="2188083" y="480060"/>
                  </a:lnTo>
                  <a:lnTo>
                    <a:pt x="2180528" y="517403"/>
                  </a:lnTo>
                  <a:lnTo>
                    <a:pt x="2159936" y="547925"/>
                  </a:lnTo>
                  <a:lnTo>
                    <a:pt x="2129414" y="568517"/>
                  </a:lnTo>
                  <a:lnTo>
                    <a:pt x="2092071" y="576072"/>
                  </a:lnTo>
                  <a:lnTo>
                    <a:pt x="96012" y="576072"/>
                  </a:lnTo>
                  <a:lnTo>
                    <a:pt x="58614" y="568517"/>
                  </a:lnTo>
                  <a:lnTo>
                    <a:pt x="28098" y="547925"/>
                  </a:lnTo>
                  <a:lnTo>
                    <a:pt x="7536" y="517403"/>
                  </a:lnTo>
                  <a:lnTo>
                    <a:pt x="0" y="480060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423028" y="994410"/>
            <a:ext cx="35058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90825" algn="l"/>
              </a:tabLst>
            </a:pPr>
            <a:r>
              <a:rPr sz="1600" spc="-10" dirty="0">
                <a:latin typeface="Calibri"/>
                <a:cs typeface="Calibri"/>
              </a:rPr>
              <a:t>Sender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Receiver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03623" y="1608582"/>
            <a:ext cx="1238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2893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From: </a:t>
            </a:r>
            <a:r>
              <a:rPr sz="1800" dirty="0">
                <a:latin typeface="Times New Roman"/>
                <a:cs typeface="Times New Roman"/>
              </a:rPr>
              <a:t>Session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456171" y="1601850"/>
            <a:ext cx="2213610" cy="601980"/>
            <a:chOff x="6456171" y="1601850"/>
            <a:chExt cx="2213610" cy="601980"/>
          </a:xfrm>
        </p:grpSpPr>
        <p:sp>
          <p:nvSpPr>
            <p:cNvPr id="30" name="object 30"/>
            <p:cNvSpPr/>
            <p:nvPr/>
          </p:nvSpPr>
          <p:spPr>
            <a:xfrm>
              <a:off x="6468871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80">
                  <a:moveTo>
                    <a:pt x="2092071" y="0"/>
                  </a:moveTo>
                  <a:lnTo>
                    <a:pt x="96011" y="0"/>
                  </a:lnTo>
                  <a:lnTo>
                    <a:pt x="58614" y="7554"/>
                  </a:lnTo>
                  <a:lnTo>
                    <a:pt x="28098" y="28146"/>
                  </a:lnTo>
                  <a:lnTo>
                    <a:pt x="7536" y="58668"/>
                  </a:lnTo>
                  <a:lnTo>
                    <a:pt x="0" y="96012"/>
                  </a:lnTo>
                  <a:lnTo>
                    <a:pt x="0" y="480060"/>
                  </a:lnTo>
                  <a:lnTo>
                    <a:pt x="7536" y="517403"/>
                  </a:lnTo>
                  <a:lnTo>
                    <a:pt x="28098" y="547925"/>
                  </a:lnTo>
                  <a:lnTo>
                    <a:pt x="58614" y="568517"/>
                  </a:lnTo>
                  <a:lnTo>
                    <a:pt x="96011" y="576072"/>
                  </a:lnTo>
                  <a:lnTo>
                    <a:pt x="2092071" y="576072"/>
                  </a:lnTo>
                  <a:lnTo>
                    <a:pt x="2129414" y="568517"/>
                  </a:lnTo>
                  <a:lnTo>
                    <a:pt x="2159936" y="547925"/>
                  </a:lnTo>
                  <a:lnTo>
                    <a:pt x="2180528" y="517403"/>
                  </a:lnTo>
                  <a:lnTo>
                    <a:pt x="2188082" y="480060"/>
                  </a:lnTo>
                  <a:lnTo>
                    <a:pt x="2188082" y="96012"/>
                  </a:lnTo>
                  <a:lnTo>
                    <a:pt x="2180528" y="58668"/>
                  </a:lnTo>
                  <a:lnTo>
                    <a:pt x="2159936" y="28146"/>
                  </a:lnTo>
                  <a:lnTo>
                    <a:pt x="2129414" y="7554"/>
                  </a:lnTo>
                  <a:lnTo>
                    <a:pt x="209207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68871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80">
                  <a:moveTo>
                    <a:pt x="0" y="96012"/>
                  </a:moveTo>
                  <a:lnTo>
                    <a:pt x="7536" y="58668"/>
                  </a:lnTo>
                  <a:lnTo>
                    <a:pt x="28098" y="28146"/>
                  </a:lnTo>
                  <a:lnTo>
                    <a:pt x="58614" y="7554"/>
                  </a:lnTo>
                  <a:lnTo>
                    <a:pt x="96011" y="0"/>
                  </a:lnTo>
                  <a:lnTo>
                    <a:pt x="2092071" y="0"/>
                  </a:lnTo>
                  <a:lnTo>
                    <a:pt x="2129414" y="7554"/>
                  </a:lnTo>
                  <a:lnTo>
                    <a:pt x="2159936" y="28146"/>
                  </a:lnTo>
                  <a:lnTo>
                    <a:pt x="2180528" y="58668"/>
                  </a:lnTo>
                  <a:lnTo>
                    <a:pt x="2188082" y="96012"/>
                  </a:lnTo>
                  <a:lnTo>
                    <a:pt x="2188082" y="480060"/>
                  </a:lnTo>
                  <a:lnTo>
                    <a:pt x="2180528" y="517403"/>
                  </a:lnTo>
                  <a:lnTo>
                    <a:pt x="2159936" y="547925"/>
                  </a:lnTo>
                  <a:lnTo>
                    <a:pt x="2129414" y="568517"/>
                  </a:lnTo>
                  <a:lnTo>
                    <a:pt x="2092071" y="576072"/>
                  </a:lnTo>
                  <a:lnTo>
                    <a:pt x="96011" y="576072"/>
                  </a:lnTo>
                  <a:lnTo>
                    <a:pt x="58614" y="568517"/>
                  </a:lnTo>
                  <a:lnTo>
                    <a:pt x="28098" y="547925"/>
                  </a:lnTo>
                  <a:lnTo>
                    <a:pt x="7536" y="517403"/>
                  </a:lnTo>
                  <a:lnTo>
                    <a:pt x="0" y="480060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942835" y="1608582"/>
            <a:ext cx="1238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529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To: </a:t>
            </a:r>
            <a:r>
              <a:rPr sz="1800" dirty="0">
                <a:latin typeface="Times New Roman"/>
                <a:cs typeface="Times New Roman"/>
              </a:rPr>
              <a:t>Session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2184" y="3299205"/>
            <a:ext cx="2084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Function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3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layer: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2184" y="3574745"/>
            <a:ext cx="2945765" cy="124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dirty="0">
                <a:latin typeface="Calibri"/>
                <a:cs typeface="Calibri"/>
              </a:rPr>
              <a:t>Service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point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addressing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spc="-10" dirty="0">
                <a:latin typeface="Calibri"/>
                <a:cs typeface="Calibri"/>
              </a:rPr>
              <a:t>Segmentation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reassembling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dirty="0">
                <a:latin typeface="Calibri"/>
                <a:cs typeface="Calibri"/>
              </a:rPr>
              <a:t>Connection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control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dirty="0">
                <a:latin typeface="Calibri"/>
                <a:cs typeface="Calibri"/>
              </a:rPr>
              <a:t>Flow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control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dirty="0">
                <a:latin typeface="Calibri"/>
                <a:cs typeface="Calibri"/>
              </a:rPr>
              <a:t>Error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control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55" dirty="0"/>
              <a:t> </a:t>
            </a:r>
            <a:r>
              <a:rPr dirty="0"/>
              <a:t>reference</a:t>
            </a:r>
            <a:r>
              <a:rPr spc="-55" dirty="0"/>
              <a:t> </a:t>
            </a:r>
            <a:r>
              <a:rPr dirty="0"/>
              <a:t>model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its</a:t>
            </a:r>
            <a:r>
              <a:rPr spc="-30" dirty="0"/>
              <a:t> </a:t>
            </a:r>
            <a:r>
              <a:rPr dirty="0"/>
              <a:t>services</a:t>
            </a:r>
            <a:r>
              <a:rPr spc="-45" dirty="0"/>
              <a:t> </a:t>
            </a:r>
            <a:r>
              <a:rPr spc="-10" dirty="0"/>
              <a:t>(review)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346575" y="2181605"/>
            <a:ext cx="4491990" cy="126936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99085" marR="5715" indent="-287020">
              <a:lnSpc>
                <a:spcPct val="79300"/>
              </a:lnSpc>
              <a:spcBef>
                <a:spcPts val="470"/>
              </a:spcBef>
              <a:buFont typeface="Arial MT"/>
              <a:buChar char="–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Service</a:t>
            </a:r>
            <a:r>
              <a:rPr sz="1500" spc="2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Decisions:</a:t>
            </a:r>
            <a:r>
              <a:rPr sz="1500" spc="2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What</a:t>
            </a:r>
            <a:r>
              <a:rPr sz="1500" spc="2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type</a:t>
            </a:r>
            <a:r>
              <a:rPr sz="1500" spc="2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2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service</a:t>
            </a:r>
            <a:r>
              <a:rPr sz="1500" spc="2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26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provide; error-</a:t>
            </a:r>
            <a:r>
              <a:rPr sz="1500" dirty="0">
                <a:latin typeface="Times New Roman"/>
                <a:cs typeface="Times New Roman"/>
              </a:rPr>
              <a:t>free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point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point,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datagram,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etc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spcBef>
                <a:spcPts val="50"/>
              </a:spcBef>
              <a:buFont typeface="Arial MT"/>
              <a:buChar char="–"/>
              <a:tabLst>
                <a:tab pos="299085" algn="l"/>
              </a:tabLst>
            </a:pPr>
            <a:r>
              <a:rPr sz="1500" spc="-10" dirty="0">
                <a:latin typeface="Times New Roman"/>
                <a:cs typeface="Times New Roman"/>
              </a:rPr>
              <a:t>End-to-</a:t>
            </a:r>
            <a:r>
              <a:rPr sz="1500" dirty="0">
                <a:latin typeface="Times New Roman"/>
                <a:cs typeface="Times New Roman"/>
              </a:rPr>
              <a:t>end: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carries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data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way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source</a:t>
            </a:r>
            <a:endParaRPr sz="1500">
              <a:latin typeface="Times New Roman"/>
              <a:cs typeface="Times New Roman"/>
            </a:endParaRPr>
          </a:p>
          <a:p>
            <a:pPr marL="299085">
              <a:lnSpc>
                <a:spcPts val="1620"/>
              </a:lnSpc>
            </a:pP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destination</a:t>
            </a:r>
            <a:endParaRPr sz="1500">
              <a:latin typeface="Times New Roman"/>
              <a:cs typeface="Times New Roman"/>
            </a:endParaRPr>
          </a:p>
          <a:p>
            <a:pPr marL="299085" marR="6350" indent="-287020">
              <a:lnSpc>
                <a:spcPct val="79300"/>
              </a:lnSpc>
              <a:spcBef>
                <a:spcPts val="420"/>
              </a:spcBef>
              <a:buFont typeface="Arial MT"/>
              <a:buChar char="–"/>
              <a:tabLst>
                <a:tab pos="299085" algn="l"/>
                <a:tab pos="1307465" algn="l"/>
                <a:tab pos="2066925" algn="l"/>
                <a:tab pos="2508885" algn="l"/>
                <a:tab pos="3235960" algn="l"/>
                <a:tab pos="3836670" algn="l"/>
                <a:tab pos="4130675" algn="l"/>
              </a:tabLst>
            </a:pPr>
            <a:r>
              <a:rPr sz="1500" spc="-10" dirty="0">
                <a:latin typeface="Times New Roman"/>
                <a:cs typeface="Times New Roman"/>
              </a:rPr>
              <a:t>Reliability: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10" dirty="0">
                <a:latin typeface="Times New Roman"/>
                <a:cs typeface="Times New Roman"/>
              </a:rPr>
              <a:t>Ensures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20" dirty="0">
                <a:latin typeface="Times New Roman"/>
                <a:cs typeface="Times New Roman"/>
              </a:rPr>
              <a:t>that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10" dirty="0">
                <a:latin typeface="Times New Roman"/>
                <a:cs typeface="Times New Roman"/>
              </a:rPr>
              <a:t>packets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10" dirty="0">
                <a:latin typeface="Times New Roman"/>
                <a:cs typeface="Times New Roman"/>
              </a:rPr>
              <a:t>arrive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25" dirty="0">
                <a:latin typeface="Times New Roman"/>
                <a:cs typeface="Times New Roman"/>
              </a:rPr>
              <a:t>at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10" dirty="0">
                <a:latin typeface="Times New Roman"/>
                <a:cs typeface="Times New Roman"/>
              </a:rPr>
              <a:t>their destination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46575" y="3431540"/>
            <a:ext cx="4492625" cy="1269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ts val="1614"/>
              </a:lnSpc>
              <a:spcBef>
                <a:spcPts val="100"/>
              </a:spcBef>
              <a:buFont typeface="Arial MT"/>
              <a:buChar char="–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Hides</a:t>
            </a:r>
            <a:r>
              <a:rPr sz="1500" spc="2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network:</a:t>
            </a:r>
            <a:r>
              <a:rPr sz="1500" spc="2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Allows</a:t>
            </a:r>
            <a:r>
              <a:rPr sz="1500" spc="2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details</a:t>
            </a:r>
            <a:r>
              <a:rPr sz="1500" spc="2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2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2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network</a:t>
            </a:r>
            <a:r>
              <a:rPr sz="1500" spc="2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27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be</a:t>
            </a:r>
            <a:endParaRPr sz="1500">
              <a:latin typeface="Times New Roman"/>
              <a:cs typeface="Times New Roman"/>
            </a:endParaRPr>
          </a:p>
          <a:p>
            <a:pPr marL="299085">
              <a:lnSpc>
                <a:spcPts val="1614"/>
              </a:lnSpc>
            </a:pPr>
            <a:r>
              <a:rPr sz="1500" dirty="0">
                <a:latin typeface="Times New Roman"/>
                <a:cs typeface="Times New Roman"/>
              </a:rPr>
              <a:t>hidden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higher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level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layers</a:t>
            </a:r>
            <a:endParaRPr sz="1500">
              <a:latin typeface="Times New Roman"/>
              <a:cs typeface="Times New Roman"/>
            </a:endParaRPr>
          </a:p>
          <a:p>
            <a:pPr marL="299085" marR="7620" indent="-287020">
              <a:lnSpc>
                <a:spcPts val="1440"/>
              </a:lnSpc>
              <a:spcBef>
                <a:spcPts val="395"/>
              </a:spcBef>
              <a:buFont typeface="Arial MT"/>
              <a:buChar char="–"/>
              <a:tabLst>
                <a:tab pos="299085" algn="l"/>
                <a:tab pos="1183005" algn="l"/>
                <a:tab pos="2200910" algn="l"/>
                <a:tab pos="2809240" algn="l"/>
                <a:tab pos="3670300" algn="l"/>
                <a:tab pos="4330700" algn="l"/>
              </a:tabLst>
            </a:pPr>
            <a:r>
              <a:rPr sz="1500" spc="-10" dirty="0">
                <a:latin typeface="Times New Roman"/>
                <a:cs typeface="Times New Roman"/>
              </a:rPr>
              <a:t>Mapping: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10" dirty="0">
                <a:latin typeface="Times New Roman"/>
                <a:cs typeface="Times New Roman"/>
              </a:rPr>
              <a:t>Determines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10" dirty="0">
                <a:latin typeface="Times New Roman"/>
                <a:cs typeface="Times New Roman"/>
              </a:rPr>
              <a:t>which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10" dirty="0">
                <a:latin typeface="Times New Roman"/>
                <a:cs typeface="Times New Roman"/>
              </a:rPr>
              <a:t>messages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10" dirty="0">
                <a:latin typeface="Times New Roman"/>
                <a:cs typeface="Times New Roman"/>
              </a:rPr>
              <a:t>belong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25" dirty="0">
                <a:latin typeface="Times New Roman"/>
                <a:cs typeface="Times New Roman"/>
              </a:rPr>
              <a:t>to </a:t>
            </a:r>
            <a:r>
              <a:rPr sz="1500" dirty="0">
                <a:latin typeface="Times New Roman"/>
                <a:cs typeface="Times New Roman"/>
              </a:rPr>
              <a:t>which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connection</a:t>
            </a:r>
            <a:endParaRPr sz="15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79300"/>
              </a:lnSpc>
              <a:spcBef>
                <a:spcPts val="430"/>
              </a:spcBef>
              <a:buFont typeface="Arial MT"/>
              <a:buChar char="–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Flow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control: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keeps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fast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transmitter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flooding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a </a:t>
            </a:r>
            <a:r>
              <a:rPr sz="1500" dirty="0">
                <a:latin typeface="Times New Roman"/>
                <a:cs typeface="Times New Roman"/>
              </a:rPr>
              <a:t>slow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receiver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9485" y="971677"/>
            <a:ext cx="2135505" cy="973455"/>
          </a:xfrm>
          <a:custGeom>
            <a:avLst/>
            <a:gdLst/>
            <a:ahLst/>
            <a:cxnLst/>
            <a:rect l="l" t="t" r="r" b="b"/>
            <a:pathLst>
              <a:path w="2135505" h="973455">
                <a:moveTo>
                  <a:pt x="0" y="63373"/>
                </a:moveTo>
                <a:lnTo>
                  <a:pt x="4982" y="38683"/>
                </a:lnTo>
                <a:lnTo>
                  <a:pt x="18570" y="18542"/>
                </a:lnTo>
                <a:lnTo>
                  <a:pt x="38726" y="4972"/>
                </a:lnTo>
                <a:lnTo>
                  <a:pt x="63411" y="0"/>
                </a:lnTo>
                <a:lnTo>
                  <a:pt x="2069960" y="0"/>
                </a:lnTo>
                <a:lnTo>
                  <a:pt x="2094649" y="4972"/>
                </a:lnTo>
                <a:lnTo>
                  <a:pt x="2114791" y="18542"/>
                </a:lnTo>
                <a:lnTo>
                  <a:pt x="2128360" y="38683"/>
                </a:lnTo>
                <a:lnTo>
                  <a:pt x="2133333" y="63373"/>
                </a:lnTo>
                <a:lnTo>
                  <a:pt x="2133333" y="317119"/>
                </a:lnTo>
                <a:lnTo>
                  <a:pt x="2128360" y="341755"/>
                </a:lnTo>
                <a:lnTo>
                  <a:pt x="2114791" y="361902"/>
                </a:lnTo>
                <a:lnTo>
                  <a:pt x="2094649" y="375501"/>
                </a:lnTo>
                <a:lnTo>
                  <a:pt x="2069960" y="380492"/>
                </a:lnTo>
                <a:lnTo>
                  <a:pt x="63411" y="380492"/>
                </a:lnTo>
                <a:lnTo>
                  <a:pt x="38726" y="375501"/>
                </a:lnTo>
                <a:lnTo>
                  <a:pt x="18570" y="361902"/>
                </a:lnTo>
                <a:lnTo>
                  <a:pt x="4982" y="341755"/>
                </a:lnTo>
                <a:lnTo>
                  <a:pt x="0" y="317119"/>
                </a:lnTo>
                <a:lnTo>
                  <a:pt x="0" y="63373"/>
                </a:lnTo>
                <a:close/>
              </a:path>
              <a:path w="2135505" h="973455">
                <a:moveTo>
                  <a:pt x="2159" y="656336"/>
                </a:moveTo>
                <a:lnTo>
                  <a:pt x="7141" y="631626"/>
                </a:lnTo>
                <a:lnTo>
                  <a:pt x="20729" y="611441"/>
                </a:lnTo>
                <a:lnTo>
                  <a:pt x="40885" y="597828"/>
                </a:lnTo>
                <a:lnTo>
                  <a:pt x="65570" y="592836"/>
                </a:lnTo>
                <a:lnTo>
                  <a:pt x="2072119" y="592836"/>
                </a:lnTo>
                <a:lnTo>
                  <a:pt x="2096808" y="597828"/>
                </a:lnTo>
                <a:lnTo>
                  <a:pt x="2116950" y="611441"/>
                </a:lnTo>
                <a:lnTo>
                  <a:pt x="2130519" y="631626"/>
                </a:lnTo>
                <a:lnTo>
                  <a:pt x="2135492" y="656336"/>
                </a:lnTo>
                <a:lnTo>
                  <a:pt x="2135492" y="909955"/>
                </a:lnTo>
                <a:lnTo>
                  <a:pt x="2130519" y="934664"/>
                </a:lnTo>
                <a:lnTo>
                  <a:pt x="2116950" y="954849"/>
                </a:lnTo>
                <a:lnTo>
                  <a:pt x="2096808" y="968462"/>
                </a:lnTo>
                <a:lnTo>
                  <a:pt x="2072119" y="973455"/>
                </a:lnTo>
                <a:lnTo>
                  <a:pt x="65570" y="973455"/>
                </a:lnTo>
                <a:lnTo>
                  <a:pt x="40885" y="968462"/>
                </a:lnTo>
                <a:lnTo>
                  <a:pt x="20729" y="954849"/>
                </a:lnTo>
                <a:lnTo>
                  <a:pt x="7141" y="934664"/>
                </a:lnTo>
                <a:lnTo>
                  <a:pt x="2159" y="909955"/>
                </a:lnTo>
                <a:lnTo>
                  <a:pt x="2159" y="656336"/>
                </a:lnTo>
                <a:close/>
              </a:path>
            </a:pathLst>
          </a:custGeom>
          <a:ln w="254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65454" y="1016889"/>
            <a:ext cx="8111490" cy="1183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00"/>
              </a:spcBef>
              <a:tabLst>
                <a:tab pos="3136265" algn="l"/>
                <a:tab pos="3479165" algn="l"/>
              </a:tabLst>
            </a:pPr>
            <a:r>
              <a:rPr sz="2700" baseline="3086" dirty="0">
                <a:solidFill>
                  <a:srgbClr val="7E7E7E"/>
                </a:solidFill>
                <a:latin typeface="Times New Roman"/>
                <a:cs typeface="Times New Roman"/>
              </a:rPr>
              <a:t>Application</a:t>
            </a:r>
            <a:r>
              <a:rPr sz="2700" spc="-142" baseline="3086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700" spc="-30" baseline="3086" dirty="0">
                <a:solidFill>
                  <a:srgbClr val="7E7E7E"/>
                </a:solidFill>
                <a:latin typeface="Times New Roman"/>
                <a:cs typeface="Times New Roman"/>
              </a:rPr>
              <a:t>Layer</a:t>
            </a:r>
            <a:r>
              <a:rPr sz="2700" baseline="3086" dirty="0">
                <a:solidFill>
                  <a:srgbClr val="7E7E7E"/>
                </a:solidFill>
                <a:latin typeface="Times New Roman"/>
                <a:cs typeface="Times New Roman"/>
              </a:rPr>
              <a:t>	</a:t>
            </a:r>
            <a:r>
              <a:rPr sz="1800" spc="-50" dirty="0">
                <a:latin typeface="Arial MT"/>
                <a:cs typeface="Arial MT"/>
              </a:rPr>
              <a:t>•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Purpose</a:t>
            </a:r>
            <a:endParaRPr sz="1800">
              <a:latin typeface="Times New Roman"/>
              <a:cs typeface="Times New Roman"/>
            </a:endParaRPr>
          </a:p>
          <a:p>
            <a:pPr marL="3593465">
              <a:lnSpc>
                <a:spcPts val="1470"/>
              </a:lnSpc>
              <a:spcBef>
                <a:spcPts val="60"/>
              </a:spcBef>
              <a:tabLst>
                <a:tab pos="3879850" algn="l"/>
              </a:tabLst>
            </a:pPr>
            <a:r>
              <a:rPr sz="1500" spc="-50" dirty="0">
                <a:latin typeface="Arial MT"/>
                <a:cs typeface="Arial MT"/>
              </a:rPr>
              <a:t>–</a:t>
            </a:r>
            <a:r>
              <a:rPr sz="1500" dirty="0">
                <a:latin typeface="Arial MT"/>
                <a:cs typeface="Arial MT"/>
              </a:rPr>
              <a:t>	</a:t>
            </a:r>
            <a:r>
              <a:rPr sz="1500" dirty="0">
                <a:latin typeface="Times New Roman"/>
                <a:cs typeface="Times New Roman"/>
              </a:rPr>
              <a:t>Accept</a:t>
            </a:r>
            <a:r>
              <a:rPr sz="1500" spc="3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data</a:t>
            </a:r>
            <a:r>
              <a:rPr sz="1500" spc="3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above</a:t>
            </a:r>
            <a:r>
              <a:rPr sz="1500" spc="3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it,</a:t>
            </a:r>
            <a:r>
              <a:rPr sz="1500" spc="3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split</a:t>
            </a:r>
            <a:r>
              <a:rPr sz="1500" spc="3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up</a:t>
            </a:r>
            <a:r>
              <a:rPr sz="1500" spc="3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into</a:t>
            </a:r>
            <a:r>
              <a:rPr sz="1500" spc="3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smaller</a:t>
            </a:r>
            <a:endParaRPr sz="1500">
              <a:latin typeface="Times New Roman"/>
              <a:cs typeface="Times New Roman"/>
            </a:endParaRPr>
          </a:p>
          <a:p>
            <a:pPr marL="50800">
              <a:lnSpc>
                <a:spcPts val="1614"/>
              </a:lnSpc>
              <a:tabLst>
                <a:tab pos="3879850" algn="l"/>
              </a:tabLst>
            </a:pPr>
            <a:r>
              <a:rPr sz="2700" baseline="-37037" dirty="0">
                <a:solidFill>
                  <a:srgbClr val="7E7E7E"/>
                </a:solidFill>
                <a:latin typeface="Times New Roman"/>
                <a:cs typeface="Times New Roman"/>
              </a:rPr>
              <a:t>Presentation</a:t>
            </a:r>
            <a:r>
              <a:rPr sz="2700" spc="-150" baseline="-37037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2700" spc="-30" baseline="-37037" dirty="0">
                <a:solidFill>
                  <a:srgbClr val="7E7E7E"/>
                </a:solidFill>
                <a:latin typeface="Times New Roman"/>
                <a:cs typeface="Times New Roman"/>
              </a:rPr>
              <a:t>Layer</a:t>
            </a:r>
            <a:r>
              <a:rPr sz="2700" baseline="-37037" dirty="0">
                <a:solidFill>
                  <a:srgbClr val="7E7E7E"/>
                </a:solidFill>
                <a:latin typeface="Times New Roman"/>
                <a:cs typeface="Times New Roman"/>
              </a:rPr>
              <a:t>	</a:t>
            </a:r>
            <a:r>
              <a:rPr sz="1500" dirty="0">
                <a:latin typeface="Times New Roman"/>
                <a:cs typeface="Times New Roman"/>
              </a:rPr>
              <a:t>units,</a:t>
            </a:r>
            <a:r>
              <a:rPr sz="1500" spc="1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pass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them</a:t>
            </a:r>
            <a:r>
              <a:rPr sz="1500" spc="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1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network</a:t>
            </a:r>
            <a:r>
              <a:rPr sz="1500" spc="1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layer,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1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the</a:t>
            </a:r>
            <a:endParaRPr sz="1500">
              <a:latin typeface="Times New Roman"/>
              <a:cs typeface="Times New Roman"/>
            </a:endParaRPr>
          </a:p>
          <a:p>
            <a:pPr marL="3879850">
              <a:lnSpc>
                <a:spcPts val="1585"/>
              </a:lnSpc>
            </a:pPr>
            <a:r>
              <a:rPr sz="1500" dirty="0">
                <a:latin typeface="Times New Roman"/>
                <a:cs typeface="Times New Roman"/>
              </a:rPr>
              <a:t>pieces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arrive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correctly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other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end</a:t>
            </a:r>
            <a:endParaRPr sz="1500">
              <a:latin typeface="Times New Roman"/>
              <a:cs typeface="Times New Roman"/>
            </a:endParaRPr>
          </a:p>
          <a:p>
            <a:pPr marL="3479165" indent="-3429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3479165" algn="l"/>
              </a:tabLst>
            </a:pPr>
            <a:r>
              <a:rPr sz="1800" spc="-10" dirty="0">
                <a:latin typeface="Times New Roman"/>
                <a:cs typeface="Times New Roman"/>
              </a:rPr>
              <a:t>Concerns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0024" y="1352422"/>
            <a:ext cx="2159000" cy="1198245"/>
            <a:chOff x="600024" y="1352422"/>
            <a:chExt cx="2159000" cy="1198245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9569" y="1352422"/>
              <a:ext cx="76200" cy="21183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12724" y="2157475"/>
              <a:ext cx="2133600" cy="381000"/>
            </a:xfrm>
            <a:custGeom>
              <a:avLst/>
              <a:gdLst/>
              <a:ahLst/>
              <a:cxnLst/>
              <a:rect l="l" t="t" r="r" b="b"/>
              <a:pathLst>
                <a:path w="2133600" h="381000">
                  <a:moveTo>
                    <a:pt x="0" y="63373"/>
                  </a:moveTo>
                  <a:lnTo>
                    <a:pt x="4982" y="38736"/>
                  </a:lnTo>
                  <a:lnTo>
                    <a:pt x="18570" y="18589"/>
                  </a:lnTo>
                  <a:lnTo>
                    <a:pt x="38726" y="4990"/>
                  </a:lnTo>
                  <a:lnTo>
                    <a:pt x="63411" y="0"/>
                  </a:lnTo>
                  <a:lnTo>
                    <a:pt x="2069896" y="0"/>
                  </a:lnTo>
                  <a:lnTo>
                    <a:pt x="2094606" y="4990"/>
                  </a:lnTo>
                  <a:lnTo>
                    <a:pt x="2114791" y="18589"/>
                  </a:lnTo>
                  <a:lnTo>
                    <a:pt x="2128404" y="38736"/>
                  </a:lnTo>
                  <a:lnTo>
                    <a:pt x="2133396" y="63373"/>
                  </a:lnTo>
                  <a:lnTo>
                    <a:pt x="2133396" y="317119"/>
                  </a:lnTo>
                  <a:lnTo>
                    <a:pt x="2128404" y="341808"/>
                  </a:lnTo>
                  <a:lnTo>
                    <a:pt x="2114791" y="361950"/>
                  </a:lnTo>
                  <a:lnTo>
                    <a:pt x="2094606" y="375519"/>
                  </a:lnTo>
                  <a:lnTo>
                    <a:pt x="2069896" y="380492"/>
                  </a:lnTo>
                  <a:lnTo>
                    <a:pt x="63411" y="380492"/>
                  </a:lnTo>
                  <a:lnTo>
                    <a:pt x="38726" y="375519"/>
                  </a:lnTo>
                  <a:lnTo>
                    <a:pt x="18570" y="361950"/>
                  </a:lnTo>
                  <a:lnTo>
                    <a:pt x="4982" y="341808"/>
                  </a:lnTo>
                  <a:lnTo>
                    <a:pt x="0" y="317119"/>
                  </a:lnTo>
                  <a:lnTo>
                    <a:pt x="0" y="63373"/>
                  </a:lnTo>
                  <a:close/>
                </a:path>
              </a:pathLst>
            </a:custGeom>
            <a:ln w="25399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21181" y="2191004"/>
            <a:ext cx="1315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E7E7E"/>
                </a:solidFill>
                <a:latin typeface="Times New Roman"/>
                <a:cs typeface="Times New Roman"/>
              </a:rPr>
              <a:t>Session</a:t>
            </a:r>
            <a:r>
              <a:rPr sz="1800" spc="-3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1814" y="1945385"/>
            <a:ext cx="2159000" cy="1198245"/>
            <a:chOff x="601814" y="1945385"/>
            <a:chExt cx="2159000" cy="1198245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0713" y="1945385"/>
              <a:ext cx="76200" cy="21170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14514" y="2750438"/>
              <a:ext cx="2133600" cy="381000"/>
            </a:xfrm>
            <a:custGeom>
              <a:avLst/>
              <a:gdLst/>
              <a:ahLst/>
              <a:cxnLst/>
              <a:rect l="l" t="t" r="r" b="b"/>
              <a:pathLst>
                <a:path w="2133600" h="381000">
                  <a:moveTo>
                    <a:pt x="0" y="63373"/>
                  </a:moveTo>
                  <a:lnTo>
                    <a:pt x="4984" y="38683"/>
                  </a:lnTo>
                  <a:lnTo>
                    <a:pt x="18576" y="18542"/>
                  </a:lnTo>
                  <a:lnTo>
                    <a:pt x="38736" y="4972"/>
                  </a:lnTo>
                  <a:lnTo>
                    <a:pt x="63423" y="0"/>
                  </a:lnTo>
                  <a:lnTo>
                    <a:pt x="2069884" y="0"/>
                  </a:lnTo>
                  <a:lnTo>
                    <a:pt x="2094593" y="4972"/>
                  </a:lnTo>
                  <a:lnTo>
                    <a:pt x="2114778" y="18542"/>
                  </a:lnTo>
                  <a:lnTo>
                    <a:pt x="2128391" y="38683"/>
                  </a:lnTo>
                  <a:lnTo>
                    <a:pt x="2133384" y="63373"/>
                  </a:lnTo>
                  <a:lnTo>
                    <a:pt x="2133384" y="317119"/>
                  </a:lnTo>
                  <a:lnTo>
                    <a:pt x="2128391" y="341755"/>
                  </a:lnTo>
                  <a:lnTo>
                    <a:pt x="2114778" y="361902"/>
                  </a:lnTo>
                  <a:lnTo>
                    <a:pt x="2094593" y="375501"/>
                  </a:lnTo>
                  <a:lnTo>
                    <a:pt x="2069884" y="380492"/>
                  </a:lnTo>
                  <a:lnTo>
                    <a:pt x="63423" y="380492"/>
                  </a:lnTo>
                  <a:lnTo>
                    <a:pt x="38736" y="375501"/>
                  </a:lnTo>
                  <a:lnTo>
                    <a:pt x="18576" y="361902"/>
                  </a:lnTo>
                  <a:lnTo>
                    <a:pt x="4984" y="341755"/>
                  </a:lnTo>
                  <a:lnTo>
                    <a:pt x="0" y="317119"/>
                  </a:lnTo>
                  <a:lnTo>
                    <a:pt x="0" y="6337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31570" y="2783789"/>
            <a:ext cx="1498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Transport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42491" y="2538222"/>
            <a:ext cx="76200" cy="2118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93902" y="958977"/>
            <a:ext cx="6447790" cy="3820160"/>
            <a:chOff x="593902" y="958977"/>
            <a:chExt cx="6447790" cy="382016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3902" y="958977"/>
              <a:ext cx="2166696" cy="2777617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55" dirty="0"/>
              <a:t> </a:t>
            </a:r>
            <a:r>
              <a:rPr dirty="0"/>
              <a:t>reference</a:t>
            </a:r>
            <a:r>
              <a:rPr spc="-55" dirty="0"/>
              <a:t> </a:t>
            </a:r>
            <a:r>
              <a:rPr dirty="0"/>
              <a:t>model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its</a:t>
            </a:r>
            <a:r>
              <a:rPr spc="-30" dirty="0"/>
              <a:t> </a:t>
            </a:r>
            <a:r>
              <a:rPr dirty="0"/>
              <a:t>services</a:t>
            </a:r>
            <a:r>
              <a:rPr spc="-45" dirty="0"/>
              <a:t> </a:t>
            </a:r>
            <a:r>
              <a:rPr spc="-10" dirty="0"/>
              <a:t>(review)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63269" y="3376929"/>
            <a:ext cx="141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Network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36009" y="2538348"/>
            <a:ext cx="2188210" cy="576580"/>
          </a:xfrm>
          <a:custGeom>
            <a:avLst/>
            <a:gdLst/>
            <a:ahLst/>
            <a:cxnLst/>
            <a:rect l="l" t="t" r="r" b="b"/>
            <a:pathLst>
              <a:path w="2188210" h="576580">
                <a:moveTo>
                  <a:pt x="0" y="96012"/>
                </a:moveTo>
                <a:lnTo>
                  <a:pt x="7536" y="58668"/>
                </a:lnTo>
                <a:lnTo>
                  <a:pt x="28098" y="28146"/>
                </a:lnTo>
                <a:lnTo>
                  <a:pt x="58614" y="7554"/>
                </a:lnTo>
                <a:lnTo>
                  <a:pt x="96012" y="0"/>
                </a:lnTo>
                <a:lnTo>
                  <a:pt x="2092070" y="0"/>
                </a:lnTo>
                <a:lnTo>
                  <a:pt x="2129414" y="7554"/>
                </a:lnTo>
                <a:lnTo>
                  <a:pt x="2159936" y="28146"/>
                </a:lnTo>
                <a:lnTo>
                  <a:pt x="2180528" y="58668"/>
                </a:lnTo>
                <a:lnTo>
                  <a:pt x="2188082" y="96012"/>
                </a:lnTo>
                <a:lnTo>
                  <a:pt x="2188082" y="480059"/>
                </a:lnTo>
                <a:lnTo>
                  <a:pt x="2180528" y="517403"/>
                </a:lnTo>
                <a:lnTo>
                  <a:pt x="2159936" y="547925"/>
                </a:lnTo>
                <a:lnTo>
                  <a:pt x="2129414" y="568517"/>
                </a:lnTo>
                <a:lnTo>
                  <a:pt x="2092070" y="576071"/>
                </a:lnTo>
                <a:lnTo>
                  <a:pt x="96012" y="576071"/>
                </a:lnTo>
                <a:lnTo>
                  <a:pt x="58614" y="568517"/>
                </a:lnTo>
                <a:lnTo>
                  <a:pt x="28098" y="547925"/>
                </a:lnTo>
                <a:lnTo>
                  <a:pt x="7536" y="517403"/>
                </a:lnTo>
                <a:lnTo>
                  <a:pt x="0" y="480059"/>
                </a:lnTo>
                <a:lnTo>
                  <a:pt x="0" y="9601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785108" y="2532379"/>
            <a:ext cx="188848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Break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segments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into</a:t>
            </a:r>
            <a:endParaRPr sz="18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packets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71665" y="2556382"/>
            <a:ext cx="2188210" cy="575945"/>
          </a:xfrm>
          <a:custGeom>
            <a:avLst/>
            <a:gdLst/>
            <a:ahLst/>
            <a:cxnLst/>
            <a:rect l="l" t="t" r="r" b="b"/>
            <a:pathLst>
              <a:path w="2188209" h="575944">
                <a:moveTo>
                  <a:pt x="0" y="96012"/>
                </a:moveTo>
                <a:lnTo>
                  <a:pt x="7554" y="58614"/>
                </a:lnTo>
                <a:lnTo>
                  <a:pt x="28146" y="28098"/>
                </a:lnTo>
                <a:lnTo>
                  <a:pt x="58668" y="7536"/>
                </a:lnTo>
                <a:lnTo>
                  <a:pt x="96012" y="0"/>
                </a:lnTo>
                <a:lnTo>
                  <a:pt x="2092070" y="0"/>
                </a:lnTo>
                <a:lnTo>
                  <a:pt x="2129468" y="7536"/>
                </a:lnTo>
                <a:lnTo>
                  <a:pt x="2159984" y="28098"/>
                </a:lnTo>
                <a:lnTo>
                  <a:pt x="2180546" y="58614"/>
                </a:lnTo>
                <a:lnTo>
                  <a:pt x="2188083" y="96012"/>
                </a:lnTo>
                <a:lnTo>
                  <a:pt x="2188083" y="479933"/>
                </a:lnTo>
                <a:lnTo>
                  <a:pt x="2180546" y="517330"/>
                </a:lnTo>
                <a:lnTo>
                  <a:pt x="2159984" y="547846"/>
                </a:lnTo>
                <a:lnTo>
                  <a:pt x="2129468" y="568408"/>
                </a:lnTo>
                <a:lnTo>
                  <a:pt x="2092070" y="575944"/>
                </a:lnTo>
                <a:lnTo>
                  <a:pt x="96012" y="575944"/>
                </a:lnTo>
                <a:lnTo>
                  <a:pt x="58668" y="568408"/>
                </a:lnTo>
                <a:lnTo>
                  <a:pt x="28146" y="547846"/>
                </a:lnTo>
                <a:lnTo>
                  <a:pt x="7554" y="517330"/>
                </a:lnTo>
                <a:lnTo>
                  <a:pt x="0" y="479933"/>
                </a:lnTo>
                <a:lnTo>
                  <a:pt x="0" y="9601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769100" y="2550363"/>
            <a:ext cx="15925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Merge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packets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</a:t>
            </a:r>
            <a:endParaRPr sz="1800">
              <a:latin typeface="Times New Roman"/>
              <a:cs typeface="Times New Roman"/>
            </a:endParaRPr>
          </a:p>
          <a:p>
            <a:pPr marL="12192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form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segments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623309" y="3423539"/>
            <a:ext cx="2213610" cy="601980"/>
            <a:chOff x="3623309" y="3423539"/>
            <a:chExt cx="2213610" cy="601980"/>
          </a:xfrm>
        </p:grpSpPr>
        <p:sp>
          <p:nvSpPr>
            <p:cNvPr id="16" name="object 16"/>
            <p:cNvSpPr/>
            <p:nvPr/>
          </p:nvSpPr>
          <p:spPr>
            <a:xfrm>
              <a:off x="3636009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79">
                  <a:moveTo>
                    <a:pt x="2092070" y="0"/>
                  </a:moveTo>
                  <a:lnTo>
                    <a:pt x="96012" y="0"/>
                  </a:lnTo>
                  <a:lnTo>
                    <a:pt x="58614" y="7536"/>
                  </a:lnTo>
                  <a:lnTo>
                    <a:pt x="28098" y="28098"/>
                  </a:lnTo>
                  <a:lnTo>
                    <a:pt x="7536" y="58614"/>
                  </a:lnTo>
                  <a:lnTo>
                    <a:pt x="0" y="96012"/>
                  </a:lnTo>
                  <a:lnTo>
                    <a:pt x="0" y="479958"/>
                  </a:lnTo>
                  <a:lnTo>
                    <a:pt x="7536" y="517327"/>
                  </a:lnTo>
                  <a:lnTo>
                    <a:pt x="28098" y="547841"/>
                  </a:lnTo>
                  <a:lnTo>
                    <a:pt x="58614" y="568414"/>
                  </a:lnTo>
                  <a:lnTo>
                    <a:pt x="96012" y="575957"/>
                  </a:lnTo>
                  <a:lnTo>
                    <a:pt x="2092070" y="575957"/>
                  </a:lnTo>
                  <a:lnTo>
                    <a:pt x="2129414" y="568414"/>
                  </a:lnTo>
                  <a:lnTo>
                    <a:pt x="2159936" y="547841"/>
                  </a:lnTo>
                  <a:lnTo>
                    <a:pt x="2180528" y="517327"/>
                  </a:lnTo>
                  <a:lnTo>
                    <a:pt x="2188082" y="479958"/>
                  </a:lnTo>
                  <a:lnTo>
                    <a:pt x="2188082" y="96012"/>
                  </a:lnTo>
                  <a:lnTo>
                    <a:pt x="2180528" y="58614"/>
                  </a:lnTo>
                  <a:lnTo>
                    <a:pt x="2159936" y="28098"/>
                  </a:lnTo>
                  <a:lnTo>
                    <a:pt x="2129414" y="7536"/>
                  </a:lnTo>
                  <a:lnTo>
                    <a:pt x="20920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36009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79">
                  <a:moveTo>
                    <a:pt x="0" y="96012"/>
                  </a:moveTo>
                  <a:lnTo>
                    <a:pt x="7536" y="58614"/>
                  </a:lnTo>
                  <a:lnTo>
                    <a:pt x="28098" y="28098"/>
                  </a:lnTo>
                  <a:lnTo>
                    <a:pt x="58614" y="7536"/>
                  </a:lnTo>
                  <a:lnTo>
                    <a:pt x="96012" y="0"/>
                  </a:lnTo>
                  <a:lnTo>
                    <a:pt x="2092070" y="0"/>
                  </a:lnTo>
                  <a:lnTo>
                    <a:pt x="2129414" y="7536"/>
                  </a:lnTo>
                  <a:lnTo>
                    <a:pt x="2159936" y="28098"/>
                  </a:lnTo>
                  <a:lnTo>
                    <a:pt x="2180528" y="58614"/>
                  </a:lnTo>
                  <a:lnTo>
                    <a:pt x="2188082" y="96012"/>
                  </a:lnTo>
                  <a:lnTo>
                    <a:pt x="2188082" y="479958"/>
                  </a:lnTo>
                  <a:lnTo>
                    <a:pt x="2180528" y="517327"/>
                  </a:lnTo>
                  <a:lnTo>
                    <a:pt x="2159936" y="547841"/>
                  </a:lnTo>
                  <a:lnTo>
                    <a:pt x="2129414" y="568414"/>
                  </a:lnTo>
                  <a:lnTo>
                    <a:pt x="2092070" y="575957"/>
                  </a:lnTo>
                  <a:lnTo>
                    <a:pt x="96012" y="575957"/>
                  </a:lnTo>
                  <a:lnTo>
                    <a:pt x="58614" y="568414"/>
                  </a:lnTo>
                  <a:lnTo>
                    <a:pt x="28098" y="547841"/>
                  </a:lnTo>
                  <a:lnTo>
                    <a:pt x="7536" y="517327"/>
                  </a:lnTo>
                  <a:lnTo>
                    <a:pt x="0" y="479958"/>
                  </a:lnTo>
                  <a:lnTo>
                    <a:pt x="0" y="96012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495291" y="3430651"/>
            <a:ext cx="469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985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To: DLL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458965" y="3423539"/>
            <a:ext cx="2213610" cy="601980"/>
            <a:chOff x="6458965" y="3423539"/>
            <a:chExt cx="2213610" cy="601980"/>
          </a:xfrm>
        </p:grpSpPr>
        <p:sp>
          <p:nvSpPr>
            <p:cNvPr id="20" name="object 20"/>
            <p:cNvSpPr/>
            <p:nvPr/>
          </p:nvSpPr>
          <p:spPr>
            <a:xfrm>
              <a:off x="6471665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79">
                  <a:moveTo>
                    <a:pt x="2092070" y="0"/>
                  </a:moveTo>
                  <a:lnTo>
                    <a:pt x="96012" y="0"/>
                  </a:lnTo>
                  <a:lnTo>
                    <a:pt x="58668" y="7536"/>
                  </a:lnTo>
                  <a:lnTo>
                    <a:pt x="28146" y="28098"/>
                  </a:lnTo>
                  <a:lnTo>
                    <a:pt x="7554" y="58614"/>
                  </a:lnTo>
                  <a:lnTo>
                    <a:pt x="0" y="96012"/>
                  </a:lnTo>
                  <a:lnTo>
                    <a:pt x="0" y="479958"/>
                  </a:lnTo>
                  <a:lnTo>
                    <a:pt x="7554" y="517327"/>
                  </a:lnTo>
                  <a:lnTo>
                    <a:pt x="28146" y="547841"/>
                  </a:lnTo>
                  <a:lnTo>
                    <a:pt x="58668" y="568414"/>
                  </a:lnTo>
                  <a:lnTo>
                    <a:pt x="96012" y="575957"/>
                  </a:lnTo>
                  <a:lnTo>
                    <a:pt x="2092070" y="575957"/>
                  </a:lnTo>
                  <a:lnTo>
                    <a:pt x="2129468" y="568414"/>
                  </a:lnTo>
                  <a:lnTo>
                    <a:pt x="2159984" y="547841"/>
                  </a:lnTo>
                  <a:lnTo>
                    <a:pt x="2180546" y="517327"/>
                  </a:lnTo>
                  <a:lnTo>
                    <a:pt x="2188083" y="479958"/>
                  </a:lnTo>
                  <a:lnTo>
                    <a:pt x="2188083" y="96012"/>
                  </a:lnTo>
                  <a:lnTo>
                    <a:pt x="2180546" y="58614"/>
                  </a:lnTo>
                  <a:lnTo>
                    <a:pt x="2159984" y="28098"/>
                  </a:lnTo>
                  <a:lnTo>
                    <a:pt x="2129468" y="7536"/>
                  </a:lnTo>
                  <a:lnTo>
                    <a:pt x="20920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71665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79">
                  <a:moveTo>
                    <a:pt x="0" y="96012"/>
                  </a:moveTo>
                  <a:lnTo>
                    <a:pt x="7554" y="58614"/>
                  </a:lnTo>
                  <a:lnTo>
                    <a:pt x="28146" y="28098"/>
                  </a:lnTo>
                  <a:lnTo>
                    <a:pt x="58668" y="7536"/>
                  </a:lnTo>
                  <a:lnTo>
                    <a:pt x="96012" y="0"/>
                  </a:lnTo>
                  <a:lnTo>
                    <a:pt x="2092070" y="0"/>
                  </a:lnTo>
                  <a:lnTo>
                    <a:pt x="2129468" y="7536"/>
                  </a:lnTo>
                  <a:lnTo>
                    <a:pt x="2159984" y="28098"/>
                  </a:lnTo>
                  <a:lnTo>
                    <a:pt x="2180546" y="58614"/>
                  </a:lnTo>
                  <a:lnTo>
                    <a:pt x="2188083" y="96012"/>
                  </a:lnTo>
                  <a:lnTo>
                    <a:pt x="2188083" y="479958"/>
                  </a:lnTo>
                  <a:lnTo>
                    <a:pt x="2180546" y="517327"/>
                  </a:lnTo>
                  <a:lnTo>
                    <a:pt x="2159984" y="547841"/>
                  </a:lnTo>
                  <a:lnTo>
                    <a:pt x="2129468" y="568414"/>
                  </a:lnTo>
                  <a:lnTo>
                    <a:pt x="2092070" y="575957"/>
                  </a:lnTo>
                  <a:lnTo>
                    <a:pt x="96012" y="575957"/>
                  </a:lnTo>
                  <a:lnTo>
                    <a:pt x="58668" y="568414"/>
                  </a:lnTo>
                  <a:lnTo>
                    <a:pt x="28146" y="547841"/>
                  </a:lnTo>
                  <a:lnTo>
                    <a:pt x="7554" y="517327"/>
                  </a:lnTo>
                  <a:lnTo>
                    <a:pt x="0" y="479958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275068" y="3430651"/>
            <a:ext cx="5829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580" marR="5080" indent="-5651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From: </a:t>
            </a:r>
            <a:r>
              <a:rPr sz="1800" spc="-25" dirty="0">
                <a:latin typeface="Times New Roman"/>
                <a:cs typeface="Times New Roman"/>
              </a:rPr>
              <a:t>DLL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617214" y="1601850"/>
            <a:ext cx="3988435" cy="1834514"/>
            <a:chOff x="3617214" y="1601850"/>
            <a:chExt cx="3988435" cy="1834514"/>
          </a:xfrm>
        </p:grpSpPr>
        <p:sp>
          <p:nvSpPr>
            <p:cNvPr id="24" name="object 24"/>
            <p:cNvSpPr/>
            <p:nvPr/>
          </p:nvSpPr>
          <p:spPr>
            <a:xfrm>
              <a:off x="4690618" y="2189860"/>
              <a:ext cx="2915285" cy="1246505"/>
            </a:xfrm>
            <a:custGeom>
              <a:avLst/>
              <a:gdLst/>
              <a:ahLst/>
              <a:cxnLst/>
              <a:rect l="l" t="t" r="r" b="b"/>
              <a:pathLst>
                <a:path w="2915284" h="1246504">
                  <a:moveTo>
                    <a:pt x="76200" y="271272"/>
                  </a:moveTo>
                  <a:lnTo>
                    <a:pt x="50838" y="271703"/>
                  </a:lnTo>
                  <a:lnTo>
                    <a:pt x="46355" y="508"/>
                  </a:lnTo>
                  <a:lnTo>
                    <a:pt x="20955" y="889"/>
                  </a:lnTo>
                  <a:lnTo>
                    <a:pt x="25438" y="272122"/>
                  </a:lnTo>
                  <a:lnTo>
                    <a:pt x="0" y="272542"/>
                  </a:lnTo>
                  <a:lnTo>
                    <a:pt x="39370" y="348107"/>
                  </a:lnTo>
                  <a:lnTo>
                    <a:pt x="69684" y="284861"/>
                  </a:lnTo>
                  <a:lnTo>
                    <a:pt x="76200" y="271272"/>
                  </a:lnTo>
                  <a:close/>
                </a:path>
                <a:path w="2915284" h="1246504">
                  <a:moveTo>
                    <a:pt x="79121" y="1169543"/>
                  </a:moveTo>
                  <a:lnTo>
                    <a:pt x="53657" y="1169682"/>
                  </a:lnTo>
                  <a:lnTo>
                    <a:pt x="52451" y="924814"/>
                  </a:lnTo>
                  <a:lnTo>
                    <a:pt x="27051" y="924941"/>
                  </a:lnTo>
                  <a:lnTo>
                    <a:pt x="28257" y="1169809"/>
                  </a:lnTo>
                  <a:lnTo>
                    <a:pt x="2921" y="1169924"/>
                  </a:lnTo>
                  <a:lnTo>
                    <a:pt x="41402" y="1245997"/>
                  </a:lnTo>
                  <a:lnTo>
                    <a:pt x="72720" y="1182497"/>
                  </a:lnTo>
                  <a:lnTo>
                    <a:pt x="79121" y="1169543"/>
                  </a:lnTo>
                  <a:close/>
                </a:path>
                <a:path w="2915284" h="1246504">
                  <a:moveTo>
                    <a:pt x="2910586" y="75946"/>
                  </a:moveTo>
                  <a:lnTo>
                    <a:pt x="2904172" y="63373"/>
                  </a:lnTo>
                  <a:lnTo>
                    <a:pt x="2871851" y="0"/>
                  </a:lnTo>
                  <a:lnTo>
                    <a:pt x="2834386" y="76454"/>
                  </a:lnTo>
                  <a:lnTo>
                    <a:pt x="2859735" y="76288"/>
                  </a:lnTo>
                  <a:lnTo>
                    <a:pt x="2861691" y="365506"/>
                  </a:lnTo>
                  <a:lnTo>
                    <a:pt x="2887091" y="365379"/>
                  </a:lnTo>
                  <a:lnTo>
                    <a:pt x="2885135" y="76123"/>
                  </a:lnTo>
                  <a:lnTo>
                    <a:pt x="2910586" y="75946"/>
                  </a:lnTo>
                  <a:close/>
                </a:path>
                <a:path w="2915284" h="1246504">
                  <a:moveTo>
                    <a:pt x="2914777" y="1019302"/>
                  </a:moveTo>
                  <a:lnTo>
                    <a:pt x="2908376" y="1006348"/>
                  </a:lnTo>
                  <a:lnTo>
                    <a:pt x="2877058" y="942848"/>
                  </a:lnTo>
                  <a:lnTo>
                    <a:pt x="2838577" y="1018794"/>
                  </a:lnTo>
                  <a:lnTo>
                    <a:pt x="2864027" y="1018971"/>
                  </a:lnTo>
                  <a:lnTo>
                    <a:pt x="2862834" y="1245870"/>
                  </a:lnTo>
                  <a:lnTo>
                    <a:pt x="2888234" y="1245997"/>
                  </a:lnTo>
                  <a:lnTo>
                    <a:pt x="2889427" y="1019136"/>
                  </a:lnTo>
                  <a:lnTo>
                    <a:pt x="2914777" y="10193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29914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80">
                  <a:moveTo>
                    <a:pt x="2092071" y="0"/>
                  </a:moveTo>
                  <a:lnTo>
                    <a:pt x="96012" y="0"/>
                  </a:lnTo>
                  <a:lnTo>
                    <a:pt x="58614" y="7554"/>
                  </a:lnTo>
                  <a:lnTo>
                    <a:pt x="28098" y="28146"/>
                  </a:lnTo>
                  <a:lnTo>
                    <a:pt x="7536" y="58668"/>
                  </a:lnTo>
                  <a:lnTo>
                    <a:pt x="0" y="96012"/>
                  </a:lnTo>
                  <a:lnTo>
                    <a:pt x="0" y="480060"/>
                  </a:lnTo>
                  <a:lnTo>
                    <a:pt x="7536" y="517403"/>
                  </a:lnTo>
                  <a:lnTo>
                    <a:pt x="28098" y="547925"/>
                  </a:lnTo>
                  <a:lnTo>
                    <a:pt x="58614" y="568517"/>
                  </a:lnTo>
                  <a:lnTo>
                    <a:pt x="96012" y="576072"/>
                  </a:lnTo>
                  <a:lnTo>
                    <a:pt x="2092071" y="576072"/>
                  </a:lnTo>
                  <a:lnTo>
                    <a:pt x="2129414" y="568517"/>
                  </a:lnTo>
                  <a:lnTo>
                    <a:pt x="2159936" y="547925"/>
                  </a:lnTo>
                  <a:lnTo>
                    <a:pt x="2180528" y="517403"/>
                  </a:lnTo>
                  <a:lnTo>
                    <a:pt x="2188083" y="480060"/>
                  </a:lnTo>
                  <a:lnTo>
                    <a:pt x="2188083" y="96012"/>
                  </a:lnTo>
                  <a:lnTo>
                    <a:pt x="2180528" y="58668"/>
                  </a:lnTo>
                  <a:lnTo>
                    <a:pt x="2159936" y="28146"/>
                  </a:lnTo>
                  <a:lnTo>
                    <a:pt x="2129414" y="7554"/>
                  </a:lnTo>
                  <a:lnTo>
                    <a:pt x="209207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29914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80">
                  <a:moveTo>
                    <a:pt x="0" y="96012"/>
                  </a:moveTo>
                  <a:lnTo>
                    <a:pt x="7536" y="58668"/>
                  </a:lnTo>
                  <a:lnTo>
                    <a:pt x="28098" y="28146"/>
                  </a:lnTo>
                  <a:lnTo>
                    <a:pt x="58614" y="7554"/>
                  </a:lnTo>
                  <a:lnTo>
                    <a:pt x="96012" y="0"/>
                  </a:lnTo>
                  <a:lnTo>
                    <a:pt x="2092071" y="0"/>
                  </a:lnTo>
                  <a:lnTo>
                    <a:pt x="2129414" y="7554"/>
                  </a:lnTo>
                  <a:lnTo>
                    <a:pt x="2159936" y="28146"/>
                  </a:lnTo>
                  <a:lnTo>
                    <a:pt x="2180528" y="58668"/>
                  </a:lnTo>
                  <a:lnTo>
                    <a:pt x="2188083" y="96012"/>
                  </a:lnTo>
                  <a:lnTo>
                    <a:pt x="2188083" y="480060"/>
                  </a:lnTo>
                  <a:lnTo>
                    <a:pt x="2180528" y="517403"/>
                  </a:lnTo>
                  <a:lnTo>
                    <a:pt x="2159936" y="547925"/>
                  </a:lnTo>
                  <a:lnTo>
                    <a:pt x="2129414" y="568517"/>
                  </a:lnTo>
                  <a:lnTo>
                    <a:pt x="2092071" y="576072"/>
                  </a:lnTo>
                  <a:lnTo>
                    <a:pt x="96012" y="576072"/>
                  </a:lnTo>
                  <a:lnTo>
                    <a:pt x="58614" y="568517"/>
                  </a:lnTo>
                  <a:lnTo>
                    <a:pt x="28098" y="547925"/>
                  </a:lnTo>
                  <a:lnTo>
                    <a:pt x="7536" y="517403"/>
                  </a:lnTo>
                  <a:lnTo>
                    <a:pt x="0" y="480060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423028" y="994410"/>
            <a:ext cx="35058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90825" algn="l"/>
              </a:tabLst>
            </a:pPr>
            <a:r>
              <a:rPr sz="1600" spc="-10" dirty="0">
                <a:latin typeface="Calibri"/>
                <a:cs typeface="Calibri"/>
              </a:rPr>
              <a:t>Sender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Receiver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012184" y="1608582"/>
            <a:ext cx="1421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2037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imes New Roman"/>
                <a:cs typeface="Times New Roman"/>
              </a:rPr>
              <a:t>From: </a:t>
            </a:r>
            <a:r>
              <a:rPr sz="1800" spc="-10" dirty="0">
                <a:latin typeface="Times New Roman"/>
                <a:cs typeface="Times New Roman"/>
              </a:rPr>
              <a:t>Transport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456171" y="1601850"/>
            <a:ext cx="2213610" cy="601980"/>
            <a:chOff x="6456171" y="1601850"/>
            <a:chExt cx="2213610" cy="601980"/>
          </a:xfrm>
        </p:grpSpPr>
        <p:sp>
          <p:nvSpPr>
            <p:cNvPr id="30" name="object 30"/>
            <p:cNvSpPr/>
            <p:nvPr/>
          </p:nvSpPr>
          <p:spPr>
            <a:xfrm>
              <a:off x="6468871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80">
                  <a:moveTo>
                    <a:pt x="2092071" y="0"/>
                  </a:moveTo>
                  <a:lnTo>
                    <a:pt x="96011" y="0"/>
                  </a:lnTo>
                  <a:lnTo>
                    <a:pt x="58614" y="7554"/>
                  </a:lnTo>
                  <a:lnTo>
                    <a:pt x="28098" y="28146"/>
                  </a:lnTo>
                  <a:lnTo>
                    <a:pt x="7536" y="58668"/>
                  </a:lnTo>
                  <a:lnTo>
                    <a:pt x="0" y="96012"/>
                  </a:lnTo>
                  <a:lnTo>
                    <a:pt x="0" y="480060"/>
                  </a:lnTo>
                  <a:lnTo>
                    <a:pt x="7536" y="517403"/>
                  </a:lnTo>
                  <a:lnTo>
                    <a:pt x="28098" y="547925"/>
                  </a:lnTo>
                  <a:lnTo>
                    <a:pt x="58614" y="568517"/>
                  </a:lnTo>
                  <a:lnTo>
                    <a:pt x="96011" y="576072"/>
                  </a:lnTo>
                  <a:lnTo>
                    <a:pt x="2092071" y="576072"/>
                  </a:lnTo>
                  <a:lnTo>
                    <a:pt x="2129414" y="568517"/>
                  </a:lnTo>
                  <a:lnTo>
                    <a:pt x="2159936" y="547925"/>
                  </a:lnTo>
                  <a:lnTo>
                    <a:pt x="2180528" y="517403"/>
                  </a:lnTo>
                  <a:lnTo>
                    <a:pt x="2188082" y="480060"/>
                  </a:lnTo>
                  <a:lnTo>
                    <a:pt x="2188082" y="96012"/>
                  </a:lnTo>
                  <a:lnTo>
                    <a:pt x="2180528" y="58668"/>
                  </a:lnTo>
                  <a:lnTo>
                    <a:pt x="2159936" y="28146"/>
                  </a:lnTo>
                  <a:lnTo>
                    <a:pt x="2129414" y="7554"/>
                  </a:lnTo>
                  <a:lnTo>
                    <a:pt x="209207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68871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80">
                  <a:moveTo>
                    <a:pt x="0" y="96012"/>
                  </a:moveTo>
                  <a:lnTo>
                    <a:pt x="7536" y="58668"/>
                  </a:lnTo>
                  <a:lnTo>
                    <a:pt x="28098" y="28146"/>
                  </a:lnTo>
                  <a:lnTo>
                    <a:pt x="58614" y="7554"/>
                  </a:lnTo>
                  <a:lnTo>
                    <a:pt x="96011" y="0"/>
                  </a:lnTo>
                  <a:lnTo>
                    <a:pt x="2092071" y="0"/>
                  </a:lnTo>
                  <a:lnTo>
                    <a:pt x="2129414" y="7554"/>
                  </a:lnTo>
                  <a:lnTo>
                    <a:pt x="2159936" y="28146"/>
                  </a:lnTo>
                  <a:lnTo>
                    <a:pt x="2180528" y="58668"/>
                  </a:lnTo>
                  <a:lnTo>
                    <a:pt x="2188082" y="96012"/>
                  </a:lnTo>
                  <a:lnTo>
                    <a:pt x="2188082" y="480060"/>
                  </a:lnTo>
                  <a:lnTo>
                    <a:pt x="2180528" y="517403"/>
                  </a:lnTo>
                  <a:lnTo>
                    <a:pt x="2159936" y="547925"/>
                  </a:lnTo>
                  <a:lnTo>
                    <a:pt x="2129414" y="568517"/>
                  </a:lnTo>
                  <a:lnTo>
                    <a:pt x="2092071" y="576072"/>
                  </a:lnTo>
                  <a:lnTo>
                    <a:pt x="96011" y="576072"/>
                  </a:lnTo>
                  <a:lnTo>
                    <a:pt x="58614" y="568517"/>
                  </a:lnTo>
                  <a:lnTo>
                    <a:pt x="28098" y="547925"/>
                  </a:lnTo>
                  <a:lnTo>
                    <a:pt x="7536" y="517403"/>
                  </a:lnTo>
                  <a:lnTo>
                    <a:pt x="0" y="480060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851395" y="1608582"/>
            <a:ext cx="1421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4673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To: </a:t>
            </a:r>
            <a:r>
              <a:rPr sz="1800" spc="-10" dirty="0">
                <a:latin typeface="Times New Roman"/>
                <a:cs typeface="Times New Roman"/>
              </a:rPr>
              <a:t>Transport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4926584" y="4287494"/>
          <a:ext cx="3103878" cy="611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61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165">
                <a:tc gridSpan="5"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DS1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DSP1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DSP2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DSP3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DSPn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" name="object 34"/>
          <p:cNvSpPr txBox="1"/>
          <p:nvPr/>
        </p:nvSpPr>
        <p:spPr>
          <a:xfrm>
            <a:off x="688340" y="4196892"/>
            <a:ext cx="13576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Protocol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used: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25" dirty="0">
                <a:latin typeface="Calibri"/>
                <a:cs typeface="Calibri"/>
              </a:rPr>
              <a:t>IP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55" dirty="0"/>
              <a:t> </a:t>
            </a:r>
            <a:r>
              <a:rPr dirty="0"/>
              <a:t>reference</a:t>
            </a:r>
            <a:r>
              <a:rPr spc="-55" dirty="0"/>
              <a:t> </a:t>
            </a:r>
            <a:r>
              <a:rPr dirty="0"/>
              <a:t>model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its</a:t>
            </a:r>
            <a:r>
              <a:rPr spc="-30" dirty="0"/>
              <a:t> </a:t>
            </a:r>
            <a:r>
              <a:rPr dirty="0"/>
              <a:t>services</a:t>
            </a:r>
            <a:r>
              <a:rPr spc="-45" dirty="0"/>
              <a:t> </a:t>
            </a:r>
            <a:r>
              <a:rPr spc="-10" dirty="0"/>
              <a:t>(review)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889375" y="1013841"/>
            <a:ext cx="4095115" cy="855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sz="1900" spc="-10" dirty="0">
                <a:latin typeface="Times New Roman"/>
                <a:cs typeface="Times New Roman"/>
              </a:rPr>
              <a:t>Purpose</a:t>
            </a:r>
            <a:endParaRPr sz="19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25"/>
              </a:spcBef>
              <a:tabLst>
                <a:tab pos="756285" algn="l"/>
              </a:tabLst>
            </a:pPr>
            <a:r>
              <a:rPr sz="1600" spc="-50" dirty="0">
                <a:latin typeface="Arial MT"/>
                <a:cs typeface="Arial MT"/>
              </a:rPr>
              <a:t>–</a:t>
            </a:r>
            <a:r>
              <a:rPr sz="1600" dirty="0">
                <a:latin typeface="Arial MT"/>
                <a:cs typeface="Arial MT"/>
              </a:rPr>
              <a:t>	</a:t>
            </a:r>
            <a:r>
              <a:rPr sz="1600" dirty="0">
                <a:latin typeface="Times New Roman"/>
                <a:cs typeface="Times New Roman"/>
              </a:rPr>
              <a:t>Route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packets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source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destination</a:t>
            </a:r>
            <a:endParaRPr sz="16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1900" spc="-10" dirty="0">
                <a:latin typeface="Times New Roman"/>
                <a:cs typeface="Times New Roman"/>
              </a:rPr>
              <a:t>Concerns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46575" y="1849373"/>
            <a:ext cx="4491990" cy="286321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99085" marR="5080" indent="-287020" algn="just">
              <a:lnSpc>
                <a:spcPct val="79900"/>
              </a:lnSpc>
              <a:spcBef>
                <a:spcPts val="480"/>
              </a:spcBef>
              <a:buFont typeface="Arial MT"/>
              <a:buChar char="–"/>
              <a:tabLst>
                <a:tab pos="299085" algn="l"/>
              </a:tabLst>
            </a:pPr>
            <a:r>
              <a:rPr sz="1600" dirty="0">
                <a:latin typeface="Times New Roman"/>
                <a:cs typeface="Times New Roman"/>
              </a:rPr>
              <a:t>Routing: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What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path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followed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packets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from </a:t>
            </a:r>
            <a:r>
              <a:rPr sz="1600" dirty="0">
                <a:latin typeface="Times New Roman"/>
                <a:cs typeface="Times New Roman"/>
              </a:rPr>
              <a:t>source</a:t>
            </a:r>
            <a:r>
              <a:rPr sz="1600" spc="4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4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destination.</a:t>
            </a:r>
            <a:r>
              <a:rPr sz="1600" spc="4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4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3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based</a:t>
            </a:r>
            <a:r>
              <a:rPr sz="1600" spc="4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4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39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static </a:t>
            </a:r>
            <a:r>
              <a:rPr sz="1600" dirty="0">
                <a:latin typeface="Times New Roman"/>
                <a:cs typeface="Times New Roman"/>
              </a:rPr>
              <a:t>table,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determined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when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connection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 </a:t>
            </a:r>
            <a:r>
              <a:rPr sz="1600" dirty="0">
                <a:latin typeface="Times New Roman"/>
                <a:cs typeface="Times New Roman"/>
              </a:rPr>
              <a:t>created,</a:t>
            </a:r>
            <a:r>
              <a:rPr sz="1600" spc="345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350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360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345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Times New Roman"/>
                <a:cs typeface="Times New Roman"/>
              </a:rPr>
              <a:t>highly</a:t>
            </a:r>
            <a:r>
              <a:rPr sz="1600" spc="350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Times New Roman"/>
                <a:cs typeface="Times New Roman"/>
              </a:rPr>
              <a:t>dynamic,</a:t>
            </a:r>
            <a:r>
              <a:rPr sz="1600" spc="350" dirty="0">
                <a:latin typeface="Times New Roman"/>
                <a:cs typeface="Times New Roman"/>
              </a:rPr>
              <a:t>  </a:t>
            </a:r>
            <a:r>
              <a:rPr sz="1600" spc="-10" dirty="0">
                <a:latin typeface="Times New Roman"/>
                <a:cs typeface="Times New Roman"/>
              </a:rPr>
              <a:t>being </a:t>
            </a:r>
            <a:r>
              <a:rPr sz="1600" dirty="0">
                <a:latin typeface="Times New Roman"/>
                <a:cs typeface="Times New Roman"/>
              </a:rPr>
              <a:t>determined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new</a:t>
            </a:r>
            <a:r>
              <a:rPr sz="1600" spc="2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each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packet,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reflect</a:t>
            </a:r>
            <a:r>
              <a:rPr sz="1600" spc="29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current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network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load</a:t>
            </a:r>
            <a:endParaRPr sz="1600">
              <a:latin typeface="Times New Roman"/>
              <a:cs typeface="Times New Roman"/>
            </a:endParaRPr>
          </a:p>
          <a:p>
            <a:pPr marL="299085" marR="6350" indent="-287020" algn="just">
              <a:lnSpc>
                <a:spcPts val="1540"/>
              </a:lnSpc>
              <a:spcBef>
                <a:spcPts val="390"/>
              </a:spcBef>
              <a:buFont typeface="Arial MT"/>
              <a:buChar char="–"/>
              <a:tabLst>
                <a:tab pos="299085" algn="l"/>
              </a:tabLst>
            </a:pPr>
            <a:r>
              <a:rPr sz="1600" dirty="0">
                <a:latin typeface="Times New Roman"/>
                <a:cs typeface="Times New Roman"/>
              </a:rPr>
              <a:t>Congestion:</a:t>
            </a:r>
            <a:r>
              <a:rPr sz="1600" spc="3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Controls</a:t>
            </a:r>
            <a:r>
              <a:rPr sz="1600" spc="3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3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number</a:t>
            </a:r>
            <a:r>
              <a:rPr sz="1600" spc="3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packets</a:t>
            </a:r>
            <a:r>
              <a:rPr sz="1600" spc="3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36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the </a:t>
            </a:r>
            <a:r>
              <a:rPr sz="1600" spc="-10" dirty="0">
                <a:latin typeface="Times New Roman"/>
                <a:cs typeface="Times New Roman"/>
              </a:rPr>
              <a:t>subnet</a:t>
            </a:r>
            <a:endParaRPr sz="1600">
              <a:latin typeface="Times New Roman"/>
              <a:cs typeface="Times New Roman"/>
            </a:endParaRPr>
          </a:p>
          <a:p>
            <a:pPr marL="300355" indent="-287655" algn="just">
              <a:lnSpc>
                <a:spcPct val="100000"/>
              </a:lnSpc>
              <a:spcBef>
                <a:spcPts val="20"/>
              </a:spcBef>
              <a:buFont typeface="Arial MT"/>
              <a:buChar char="–"/>
              <a:tabLst>
                <a:tab pos="300355" algn="l"/>
              </a:tabLst>
            </a:pPr>
            <a:r>
              <a:rPr sz="1600" dirty="0">
                <a:latin typeface="Times New Roman"/>
                <a:cs typeface="Times New Roman"/>
              </a:rPr>
              <a:t>QoS: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Quality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Service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provided</a:t>
            </a:r>
            <a:endParaRPr sz="1600">
              <a:latin typeface="Times New Roman"/>
              <a:cs typeface="Times New Roman"/>
            </a:endParaRPr>
          </a:p>
          <a:p>
            <a:pPr marL="300355" indent="-287655" algn="just">
              <a:lnSpc>
                <a:spcPct val="100000"/>
              </a:lnSpc>
              <a:spcBef>
                <a:spcPts val="15"/>
              </a:spcBef>
              <a:buFont typeface="Arial MT"/>
              <a:buChar char="–"/>
              <a:tabLst>
                <a:tab pos="300355" algn="l"/>
              </a:tabLst>
            </a:pPr>
            <a:r>
              <a:rPr sz="1600" spc="-10" dirty="0">
                <a:latin typeface="Times New Roman"/>
                <a:cs typeface="Times New Roman"/>
              </a:rPr>
              <a:t>Fragmentation</a:t>
            </a:r>
            <a:endParaRPr sz="160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ts val="1540"/>
              </a:lnSpc>
              <a:spcBef>
                <a:spcPts val="395"/>
              </a:spcBef>
              <a:buFont typeface="Arial MT"/>
              <a:buChar char="–"/>
              <a:tabLst>
                <a:tab pos="299085" algn="l"/>
              </a:tabLst>
            </a:pPr>
            <a:r>
              <a:rPr sz="1600" dirty="0">
                <a:latin typeface="Times New Roman"/>
                <a:cs typeface="Times New Roman"/>
              </a:rPr>
              <a:t>Heterogeneity:</a:t>
            </a:r>
            <a:r>
              <a:rPr sz="1600" spc="90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Times New Roman"/>
                <a:cs typeface="Times New Roman"/>
              </a:rPr>
              <a:t>Interfacing</a:t>
            </a:r>
            <a:r>
              <a:rPr sz="1600" spc="90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Times New Roman"/>
                <a:cs typeface="Times New Roman"/>
              </a:rPr>
              <a:t>so</a:t>
            </a:r>
            <a:r>
              <a:rPr sz="1600" spc="95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90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Times New Roman"/>
                <a:cs typeface="Times New Roman"/>
              </a:rPr>
              <a:t>one</a:t>
            </a:r>
            <a:r>
              <a:rPr sz="1600" spc="90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Times New Roman"/>
                <a:cs typeface="Times New Roman"/>
              </a:rPr>
              <a:t>type</a:t>
            </a:r>
            <a:r>
              <a:rPr sz="1600" spc="90" dirty="0">
                <a:latin typeface="Times New Roman"/>
                <a:cs typeface="Times New Roman"/>
              </a:rPr>
              <a:t>  </a:t>
            </a:r>
            <a:r>
              <a:rPr sz="1600" spc="-25" dirty="0">
                <a:latin typeface="Times New Roman"/>
                <a:cs typeface="Times New Roman"/>
              </a:rPr>
              <a:t>of </a:t>
            </a:r>
            <a:r>
              <a:rPr sz="1600" dirty="0">
                <a:latin typeface="Times New Roman"/>
                <a:cs typeface="Times New Roman"/>
              </a:rPr>
              <a:t>network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talk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another</a:t>
            </a:r>
            <a:endParaRPr sz="1600">
              <a:latin typeface="Times New Roman"/>
              <a:cs typeface="Times New Roman"/>
            </a:endParaRPr>
          </a:p>
          <a:p>
            <a:pPr marL="300355" indent="-287655" algn="just">
              <a:lnSpc>
                <a:spcPct val="100000"/>
              </a:lnSpc>
              <a:spcBef>
                <a:spcPts val="20"/>
              </a:spcBef>
              <a:buFont typeface="Arial MT"/>
              <a:buChar char="–"/>
              <a:tabLst>
                <a:tab pos="300355" algn="l"/>
              </a:tabLst>
            </a:pPr>
            <a:r>
              <a:rPr sz="1600" dirty="0">
                <a:latin typeface="Times New Roman"/>
                <a:cs typeface="Times New Roman"/>
              </a:rPr>
              <a:t>Addressing,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packet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size,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protocols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9485" y="971677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373"/>
                </a:moveTo>
                <a:lnTo>
                  <a:pt x="4982" y="38683"/>
                </a:lnTo>
                <a:lnTo>
                  <a:pt x="18570" y="18542"/>
                </a:lnTo>
                <a:lnTo>
                  <a:pt x="38726" y="4972"/>
                </a:lnTo>
                <a:lnTo>
                  <a:pt x="63411" y="0"/>
                </a:lnTo>
                <a:lnTo>
                  <a:pt x="2069960" y="0"/>
                </a:lnTo>
                <a:lnTo>
                  <a:pt x="2094649" y="4972"/>
                </a:lnTo>
                <a:lnTo>
                  <a:pt x="2114791" y="18542"/>
                </a:lnTo>
                <a:lnTo>
                  <a:pt x="2128360" y="38683"/>
                </a:lnTo>
                <a:lnTo>
                  <a:pt x="2133333" y="63373"/>
                </a:lnTo>
                <a:lnTo>
                  <a:pt x="2133333" y="317119"/>
                </a:lnTo>
                <a:lnTo>
                  <a:pt x="2128360" y="341755"/>
                </a:lnTo>
                <a:lnTo>
                  <a:pt x="2114791" y="361902"/>
                </a:lnTo>
                <a:lnTo>
                  <a:pt x="2094649" y="375501"/>
                </a:lnTo>
                <a:lnTo>
                  <a:pt x="2069960" y="380492"/>
                </a:lnTo>
                <a:lnTo>
                  <a:pt x="63411" y="380492"/>
                </a:lnTo>
                <a:lnTo>
                  <a:pt x="38726" y="375501"/>
                </a:lnTo>
                <a:lnTo>
                  <a:pt x="18570" y="361902"/>
                </a:lnTo>
                <a:lnTo>
                  <a:pt x="4982" y="341755"/>
                </a:lnTo>
                <a:lnTo>
                  <a:pt x="0" y="317119"/>
                </a:lnTo>
                <a:lnTo>
                  <a:pt x="0" y="63373"/>
                </a:lnTo>
                <a:close/>
              </a:path>
            </a:pathLst>
          </a:custGeom>
          <a:ln w="254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27328" y="1004696"/>
            <a:ext cx="1696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E7E7E"/>
                </a:solidFill>
                <a:latin typeface="Times New Roman"/>
                <a:cs typeface="Times New Roman"/>
              </a:rPr>
              <a:t>Application</a:t>
            </a:r>
            <a:r>
              <a:rPr sz="1800" spc="-9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11644" y="1564513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500"/>
                </a:moveTo>
                <a:lnTo>
                  <a:pt x="4982" y="38790"/>
                </a:lnTo>
                <a:lnTo>
                  <a:pt x="18570" y="18605"/>
                </a:lnTo>
                <a:lnTo>
                  <a:pt x="38726" y="4992"/>
                </a:lnTo>
                <a:lnTo>
                  <a:pt x="63411" y="0"/>
                </a:lnTo>
                <a:lnTo>
                  <a:pt x="2069960" y="0"/>
                </a:lnTo>
                <a:lnTo>
                  <a:pt x="2094649" y="4992"/>
                </a:lnTo>
                <a:lnTo>
                  <a:pt x="2114791" y="18605"/>
                </a:lnTo>
                <a:lnTo>
                  <a:pt x="2128360" y="38790"/>
                </a:lnTo>
                <a:lnTo>
                  <a:pt x="2133333" y="63500"/>
                </a:lnTo>
                <a:lnTo>
                  <a:pt x="2133333" y="317119"/>
                </a:lnTo>
                <a:lnTo>
                  <a:pt x="2128360" y="341828"/>
                </a:lnTo>
                <a:lnTo>
                  <a:pt x="2114791" y="362013"/>
                </a:lnTo>
                <a:lnTo>
                  <a:pt x="2094649" y="375626"/>
                </a:lnTo>
                <a:lnTo>
                  <a:pt x="2069960" y="380619"/>
                </a:lnTo>
                <a:lnTo>
                  <a:pt x="63411" y="380619"/>
                </a:lnTo>
                <a:lnTo>
                  <a:pt x="38726" y="375626"/>
                </a:lnTo>
                <a:lnTo>
                  <a:pt x="18570" y="362013"/>
                </a:lnTo>
                <a:lnTo>
                  <a:pt x="4982" y="341828"/>
                </a:lnTo>
                <a:lnTo>
                  <a:pt x="0" y="317119"/>
                </a:lnTo>
                <a:lnTo>
                  <a:pt x="0" y="63500"/>
                </a:lnTo>
                <a:close/>
              </a:path>
            </a:pathLst>
          </a:custGeom>
          <a:ln w="254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03554" y="1597914"/>
            <a:ext cx="17456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E7E7E"/>
                </a:solidFill>
                <a:latin typeface="Times New Roman"/>
                <a:cs typeface="Times New Roman"/>
              </a:rPr>
              <a:t>Presentation</a:t>
            </a:r>
            <a:r>
              <a:rPr sz="1800" spc="-10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0024" y="1352422"/>
            <a:ext cx="2159000" cy="1198245"/>
            <a:chOff x="600024" y="1352422"/>
            <a:chExt cx="2159000" cy="119824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9569" y="1352422"/>
              <a:ext cx="76200" cy="21183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12724" y="2157475"/>
              <a:ext cx="2133600" cy="381000"/>
            </a:xfrm>
            <a:custGeom>
              <a:avLst/>
              <a:gdLst/>
              <a:ahLst/>
              <a:cxnLst/>
              <a:rect l="l" t="t" r="r" b="b"/>
              <a:pathLst>
                <a:path w="2133600" h="381000">
                  <a:moveTo>
                    <a:pt x="0" y="63373"/>
                  </a:moveTo>
                  <a:lnTo>
                    <a:pt x="4982" y="38736"/>
                  </a:lnTo>
                  <a:lnTo>
                    <a:pt x="18570" y="18589"/>
                  </a:lnTo>
                  <a:lnTo>
                    <a:pt x="38726" y="4990"/>
                  </a:lnTo>
                  <a:lnTo>
                    <a:pt x="63411" y="0"/>
                  </a:lnTo>
                  <a:lnTo>
                    <a:pt x="2069896" y="0"/>
                  </a:lnTo>
                  <a:lnTo>
                    <a:pt x="2094606" y="4990"/>
                  </a:lnTo>
                  <a:lnTo>
                    <a:pt x="2114791" y="18589"/>
                  </a:lnTo>
                  <a:lnTo>
                    <a:pt x="2128404" y="38736"/>
                  </a:lnTo>
                  <a:lnTo>
                    <a:pt x="2133396" y="63373"/>
                  </a:lnTo>
                  <a:lnTo>
                    <a:pt x="2133396" y="317119"/>
                  </a:lnTo>
                  <a:lnTo>
                    <a:pt x="2128404" y="341808"/>
                  </a:lnTo>
                  <a:lnTo>
                    <a:pt x="2114791" y="361950"/>
                  </a:lnTo>
                  <a:lnTo>
                    <a:pt x="2094606" y="375519"/>
                  </a:lnTo>
                  <a:lnTo>
                    <a:pt x="2069896" y="380492"/>
                  </a:lnTo>
                  <a:lnTo>
                    <a:pt x="63411" y="380492"/>
                  </a:lnTo>
                  <a:lnTo>
                    <a:pt x="38726" y="375519"/>
                  </a:lnTo>
                  <a:lnTo>
                    <a:pt x="18570" y="361950"/>
                  </a:lnTo>
                  <a:lnTo>
                    <a:pt x="4982" y="341808"/>
                  </a:lnTo>
                  <a:lnTo>
                    <a:pt x="0" y="317119"/>
                  </a:lnTo>
                  <a:lnTo>
                    <a:pt x="0" y="63373"/>
                  </a:lnTo>
                  <a:close/>
                </a:path>
              </a:pathLst>
            </a:custGeom>
            <a:ln w="25399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021181" y="2191004"/>
            <a:ext cx="1315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E7E7E"/>
                </a:solidFill>
                <a:latin typeface="Times New Roman"/>
                <a:cs typeface="Times New Roman"/>
              </a:rPr>
              <a:t>Session</a:t>
            </a:r>
            <a:r>
              <a:rPr sz="1800" spc="-3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01814" y="1945385"/>
            <a:ext cx="2159000" cy="1198245"/>
            <a:chOff x="601814" y="1945385"/>
            <a:chExt cx="2159000" cy="119824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0713" y="1945385"/>
              <a:ext cx="76200" cy="21170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14514" y="2750438"/>
              <a:ext cx="2133600" cy="381000"/>
            </a:xfrm>
            <a:custGeom>
              <a:avLst/>
              <a:gdLst/>
              <a:ahLst/>
              <a:cxnLst/>
              <a:rect l="l" t="t" r="r" b="b"/>
              <a:pathLst>
                <a:path w="2133600" h="381000">
                  <a:moveTo>
                    <a:pt x="0" y="63373"/>
                  </a:moveTo>
                  <a:lnTo>
                    <a:pt x="4984" y="38683"/>
                  </a:lnTo>
                  <a:lnTo>
                    <a:pt x="18576" y="18542"/>
                  </a:lnTo>
                  <a:lnTo>
                    <a:pt x="38736" y="4972"/>
                  </a:lnTo>
                  <a:lnTo>
                    <a:pt x="63423" y="0"/>
                  </a:lnTo>
                  <a:lnTo>
                    <a:pt x="2069884" y="0"/>
                  </a:lnTo>
                  <a:lnTo>
                    <a:pt x="2094593" y="4972"/>
                  </a:lnTo>
                  <a:lnTo>
                    <a:pt x="2114778" y="18542"/>
                  </a:lnTo>
                  <a:lnTo>
                    <a:pt x="2128391" y="38683"/>
                  </a:lnTo>
                  <a:lnTo>
                    <a:pt x="2133384" y="63373"/>
                  </a:lnTo>
                  <a:lnTo>
                    <a:pt x="2133384" y="317119"/>
                  </a:lnTo>
                  <a:lnTo>
                    <a:pt x="2128391" y="341755"/>
                  </a:lnTo>
                  <a:lnTo>
                    <a:pt x="2114778" y="361902"/>
                  </a:lnTo>
                  <a:lnTo>
                    <a:pt x="2094593" y="375501"/>
                  </a:lnTo>
                  <a:lnTo>
                    <a:pt x="2069884" y="380492"/>
                  </a:lnTo>
                  <a:lnTo>
                    <a:pt x="63423" y="380492"/>
                  </a:lnTo>
                  <a:lnTo>
                    <a:pt x="38736" y="375501"/>
                  </a:lnTo>
                  <a:lnTo>
                    <a:pt x="18576" y="361902"/>
                  </a:lnTo>
                  <a:lnTo>
                    <a:pt x="4984" y="341755"/>
                  </a:lnTo>
                  <a:lnTo>
                    <a:pt x="0" y="317119"/>
                  </a:lnTo>
                  <a:lnTo>
                    <a:pt x="0" y="63373"/>
                  </a:lnTo>
                  <a:close/>
                </a:path>
              </a:pathLst>
            </a:custGeom>
            <a:ln w="254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31570" y="2783789"/>
            <a:ext cx="1498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E7E7E"/>
                </a:solidFill>
                <a:latin typeface="Times New Roman"/>
                <a:cs typeface="Times New Roman"/>
              </a:rPr>
              <a:t>Transport</a:t>
            </a:r>
            <a:r>
              <a:rPr sz="1800" spc="-9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93902" y="2538222"/>
            <a:ext cx="2159000" cy="1198880"/>
            <a:chOff x="593902" y="2538222"/>
            <a:chExt cx="2159000" cy="1198880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42491" y="2538222"/>
              <a:ext cx="76200" cy="21183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06602" y="3343275"/>
              <a:ext cx="2133600" cy="381000"/>
            </a:xfrm>
            <a:custGeom>
              <a:avLst/>
              <a:gdLst/>
              <a:ahLst/>
              <a:cxnLst/>
              <a:rect l="l" t="t" r="r" b="b"/>
              <a:pathLst>
                <a:path w="2133600" h="381000">
                  <a:moveTo>
                    <a:pt x="0" y="63500"/>
                  </a:moveTo>
                  <a:lnTo>
                    <a:pt x="4984" y="38790"/>
                  </a:lnTo>
                  <a:lnTo>
                    <a:pt x="18576" y="18605"/>
                  </a:lnTo>
                  <a:lnTo>
                    <a:pt x="38736" y="4992"/>
                  </a:lnTo>
                  <a:lnTo>
                    <a:pt x="63423" y="0"/>
                  </a:lnTo>
                  <a:lnTo>
                    <a:pt x="2069922" y="0"/>
                  </a:lnTo>
                  <a:lnTo>
                    <a:pt x="2094611" y="4992"/>
                  </a:lnTo>
                  <a:lnTo>
                    <a:pt x="2114753" y="18605"/>
                  </a:lnTo>
                  <a:lnTo>
                    <a:pt x="2128322" y="38790"/>
                  </a:lnTo>
                  <a:lnTo>
                    <a:pt x="2133295" y="63500"/>
                  </a:lnTo>
                  <a:lnTo>
                    <a:pt x="2133295" y="317119"/>
                  </a:lnTo>
                  <a:lnTo>
                    <a:pt x="2128322" y="341828"/>
                  </a:lnTo>
                  <a:lnTo>
                    <a:pt x="2114753" y="362013"/>
                  </a:lnTo>
                  <a:lnTo>
                    <a:pt x="2094611" y="375626"/>
                  </a:lnTo>
                  <a:lnTo>
                    <a:pt x="2069922" y="380619"/>
                  </a:lnTo>
                  <a:lnTo>
                    <a:pt x="63423" y="380619"/>
                  </a:lnTo>
                  <a:lnTo>
                    <a:pt x="38736" y="375626"/>
                  </a:lnTo>
                  <a:lnTo>
                    <a:pt x="18576" y="362013"/>
                  </a:lnTo>
                  <a:lnTo>
                    <a:pt x="4984" y="341828"/>
                  </a:lnTo>
                  <a:lnTo>
                    <a:pt x="0" y="317119"/>
                  </a:lnTo>
                  <a:lnTo>
                    <a:pt x="0" y="635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63269" y="3376929"/>
            <a:ext cx="141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Network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37157" y="3130804"/>
            <a:ext cx="76200" cy="2122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93902" y="958977"/>
            <a:ext cx="6447790" cy="3820160"/>
            <a:chOff x="593902" y="958977"/>
            <a:chExt cx="6447790" cy="382016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3902" y="958977"/>
              <a:ext cx="2166696" cy="3370478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55" dirty="0"/>
              <a:t> </a:t>
            </a:r>
            <a:r>
              <a:rPr dirty="0"/>
              <a:t>reference</a:t>
            </a:r>
            <a:r>
              <a:rPr spc="-55" dirty="0"/>
              <a:t> </a:t>
            </a:r>
            <a:r>
              <a:rPr dirty="0"/>
              <a:t>model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its</a:t>
            </a:r>
            <a:r>
              <a:rPr spc="-30" dirty="0"/>
              <a:t> </a:t>
            </a:r>
            <a:r>
              <a:rPr dirty="0"/>
              <a:t>services</a:t>
            </a:r>
            <a:r>
              <a:rPr spc="-45" dirty="0"/>
              <a:t> </a:t>
            </a:r>
            <a:r>
              <a:rPr spc="-10" dirty="0"/>
              <a:t>(review)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42847" y="3970121"/>
            <a:ext cx="1461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link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36009" y="2538348"/>
            <a:ext cx="2188210" cy="576580"/>
          </a:xfrm>
          <a:custGeom>
            <a:avLst/>
            <a:gdLst/>
            <a:ahLst/>
            <a:cxnLst/>
            <a:rect l="l" t="t" r="r" b="b"/>
            <a:pathLst>
              <a:path w="2188210" h="576580">
                <a:moveTo>
                  <a:pt x="0" y="96012"/>
                </a:moveTo>
                <a:lnTo>
                  <a:pt x="7536" y="58668"/>
                </a:lnTo>
                <a:lnTo>
                  <a:pt x="28098" y="28146"/>
                </a:lnTo>
                <a:lnTo>
                  <a:pt x="58614" y="7554"/>
                </a:lnTo>
                <a:lnTo>
                  <a:pt x="96012" y="0"/>
                </a:lnTo>
                <a:lnTo>
                  <a:pt x="2092070" y="0"/>
                </a:lnTo>
                <a:lnTo>
                  <a:pt x="2129414" y="7554"/>
                </a:lnTo>
                <a:lnTo>
                  <a:pt x="2159936" y="28146"/>
                </a:lnTo>
                <a:lnTo>
                  <a:pt x="2180528" y="58668"/>
                </a:lnTo>
                <a:lnTo>
                  <a:pt x="2188082" y="96012"/>
                </a:lnTo>
                <a:lnTo>
                  <a:pt x="2188082" y="480059"/>
                </a:lnTo>
                <a:lnTo>
                  <a:pt x="2180528" y="517403"/>
                </a:lnTo>
                <a:lnTo>
                  <a:pt x="2159936" y="547925"/>
                </a:lnTo>
                <a:lnTo>
                  <a:pt x="2129414" y="568517"/>
                </a:lnTo>
                <a:lnTo>
                  <a:pt x="2092070" y="576071"/>
                </a:lnTo>
                <a:lnTo>
                  <a:pt x="96012" y="576071"/>
                </a:lnTo>
                <a:lnTo>
                  <a:pt x="58614" y="568517"/>
                </a:lnTo>
                <a:lnTo>
                  <a:pt x="28098" y="547925"/>
                </a:lnTo>
                <a:lnTo>
                  <a:pt x="7536" y="517403"/>
                </a:lnTo>
                <a:lnTo>
                  <a:pt x="0" y="480059"/>
                </a:lnTo>
                <a:lnTo>
                  <a:pt x="0" y="9601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867403" y="2532379"/>
            <a:ext cx="17240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Break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packets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into</a:t>
            </a:r>
            <a:endParaRPr sz="18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frames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71665" y="2556382"/>
            <a:ext cx="2188210" cy="575945"/>
          </a:xfrm>
          <a:custGeom>
            <a:avLst/>
            <a:gdLst/>
            <a:ahLst/>
            <a:cxnLst/>
            <a:rect l="l" t="t" r="r" b="b"/>
            <a:pathLst>
              <a:path w="2188209" h="575944">
                <a:moveTo>
                  <a:pt x="0" y="96012"/>
                </a:moveTo>
                <a:lnTo>
                  <a:pt x="7554" y="58614"/>
                </a:lnTo>
                <a:lnTo>
                  <a:pt x="28146" y="28098"/>
                </a:lnTo>
                <a:lnTo>
                  <a:pt x="58668" y="7536"/>
                </a:lnTo>
                <a:lnTo>
                  <a:pt x="96012" y="0"/>
                </a:lnTo>
                <a:lnTo>
                  <a:pt x="2092070" y="0"/>
                </a:lnTo>
                <a:lnTo>
                  <a:pt x="2129468" y="7536"/>
                </a:lnTo>
                <a:lnTo>
                  <a:pt x="2159984" y="28098"/>
                </a:lnTo>
                <a:lnTo>
                  <a:pt x="2180546" y="58614"/>
                </a:lnTo>
                <a:lnTo>
                  <a:pt x="2188083" y="96012"/>
                </a:lnTo>
                <a:lnTo>
                  <a:pt x="2188083" y="479933"/>
                </a:lnTo>
                <a:lnTo>
                  <a:pt x="2180546" y="517330"/>
                </a:lnTo>
                <a:lnTo>
                  <a:pt x="2159984" y="547846"/>
                </a:lnTo>
                <a:lnTo>
                  <a:pt x="2129468" y="568408"/>
                </a:lnTo>
                <a:lnTo>
                  <a:pt x="2092070" y="575944"/>
                </a:lnTo>
                <a:lnTo>
                  <a:pt x="96012" y="575944"/>
                </a:lnTo>
                <a:lnTo>
                  <a:pt x="58668" y="568408"/>
                </a:lnTo>
                <a:lnTo>
                  <a:pt x="28146" y="547846"/>
                </a:lnTo>
                <a:lnTo>
                  <a:pt x="7554" y="517330"/>
                </a:lnTo>
                <a:lnTo>
                  <a:pt x="0" y="479933"/>
                </a:lnTo>
                <a:lnTo>
                  <a:pt x="0" y="9601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801104" y="2550363"/>
            <a:ext cx="15297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Merge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form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packets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623309" y="3423539"/>
            <a:ext cx="2213610" cy="601980"/>
            <a:chOff x="3623309" y="3423539"/>
            <a:chExt cx="2213610" cy="601980"/>
          </a:xfrm>
        </p:grpSpPr>
        <p:sp>
          <p:nvSpPr>
            <p:cNvPr id="16" name="object 16"/>
            <p:cNvSpPr/>
            <p:nvPr/>
          </p:nvSpPr>
          <p:spPr>
            <a:xfrm>
              <a:off x="3636009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79">
                  <a:moveTo>
                    <a:pt x="2092070" y="0"/>
                  </a:moveTo>
                  <a:lnTo>
                    <a:pt x="96012" y="0"/>
                  </a:lnTo>
                  <a:lnTo>
                    <a:pt x="58614" y="7536"/>
                  </a:lnTo>
                  <a:lnTo>
                    <a:pt x="28098" y="28098"/>
                  </a:lnTo>
                  <a:lnTo>
                    <a:pt x="7536" y="58614"/>
                  </a:lnTo>
                  <a:lnTo>
                    <a:pt x="0" y="96012"/>
                  </a:lnTo>
                  <a:lnTo>
                    <a:pt x="0" y="479958"/>
                  </a:lnTo>
                  <a:lnTo>
                    <a:pt x="7536" y="517327"/>
                  </a:lnTo>
                  <a:lnTo>
                    <a:pt x="28098" y="547841"/>
                  </a:lnTo>
                  <a:lnTo>
                    <a:pt x="58614" y="568414"/>
                  </a:lnTo>
                  <a:lnTo>
                    <a:pt x="96012" y="575957"/>
                  </a:lnTo>
                  <a:lnTo>
                    <a:pt x="2092070" y="575957"/>
                  </a:lnTo>
                  <a:lnTo>
                    <a:pt x="2129414" y="568414"/>
                  </a:lnTo>
                  <a:lnTo>
                    <a:pt x="2159936" y="547841"/>
                  </a:lnTo>
                  <a:lnTo>
                    <a:pt x="2180528" y="517327"/>
                  </a:lnTo>
                  <a:lnTo>
                    <a:pt x="2188082" y="479958"/>
                  </a:lnTo>
                  <a:lnTo>
                    <a:pt x="2188082" y="96012"/>
                  </a:lnTo>
                  <a:lnTo>
                    <a:pt x="2180528" y="58614"/>
                  </a:lnTo>
                  <a:lnTo>
                    <a:pt x="2159936" y="28098"/>
                  </a:lnTo>
                  <a:lnTo>
                    <a:pt x="2129414" y="7536"/>
                  </a:lnTo>
                  <a:lnTo>
                    <a:pt x="20920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36009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79">
                  <a:moveTo>
                    <a:pt x="0" y="96012"/>
                  </a:moveTo>
                  <a:lnTo>
                    <a:pt x="7536" y="58614"/>
                  </a:lnTo>
                  <a:lnTo>
                    <a:pt x="28098" y="28098"/>
                  </a:lnTo>
                  <a:lnTo>
                    <a:pt x="58614" y="7536"/>
                  </a:lnTo>
                  <a:lnTo>
                    <a:pt x="96012" y="0"/>
                  </a:lnTo>
                  <a:lnTo>
                    <a:pt x="2092070" y="0"/>
                  </a:lnTo>
                  <a:lnTo>
                    <a:pt x="2129414" y="7536"/>
                  </a:lnTo>
                  <a:lnTo>
                    <a:pt x="2159936" y="28098"/>
                  </a:lnTo>
                  <a:lnTo>
                    <a:pt x="2180528" y="58614"/>
                  </a:lnTo>
                  <a:lnTo>
                    <a:pt x="2188082" y="96012"/>
                  </a:lnTo>
                  <a:lnTo>
                    <a:pt x="2188082" y="479958"/>
                  </a:lnTo>
                  <a:lnTo>
                    <a:pt x="2180528" y="517327"/>
                  </a:lnTo>
                  <a:lnTo>
                    <a:pt x="2159936" y="547841"/>
                  </a:lnTo>
                  <a:lnTo>
                    <a:pt x="2129414" y="568414"/>
                  </a:lnTo>
                  <a:lnTo>
                    <a:pt x="2092070" y="575957"/>
                  </a:lnTo>
                  <a:lnTo>
                    <a:pt x="96012" y="575957"/>
                  </a:lnTo>
                  <a:lnTo>
                    <a:pt x="58614" y="568414"/>
                  </a:lnTo>
                  <a:lnTo>
                    <a:pt x="28098" y="547841"/>
                  </a:lnTo>
                  <a:lnTo>
                    <a:pt x="7536" y="517327"/>
                  </a:lnTo>
                  <a:lnTo>
                    <a:pt x="0" y="479958"/>
                  </a:lnTo>
                  <a:lnTo>
                    <a:pt x="0" y="96012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071620" y="3430651"/>
            <a:ext cx="13150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9339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To: </a:t>
            </a:r>
            <a:r>
              <a:rPr sz="1800" dirty="0">
                <a:latin typeface="Times New Roman"/>
                <a:cs typeface="Times New Roman"/>
              </a:rPr>
              <a:t>Physical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458965" y="3423539"/>
            <a:ext cx="2213610" cy="601980"/>
            <a:chOff x="6458965" y="3423539"/>
            <a:chExt cx="2213610" cy="601980"/>
          </a:xfrm>
        </p:grpSpPr>
        <p:sp>
          <p:nvSpPr>
            <p:cNvPr id="20" name="object 20"/>
            <p:cNvSpPr/>
            <p:nvPr/>
          </p:nvSpPr>
          <p:spPr>
            <a:xfrm>
              <a:off x="6471665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79">
                  <a:moveTo>
                    <a:pt x="2092070" y="0"/>
                  </a:moveTo>
                  <a:lnTo>
                    <a:pt x="96012" y="0"/>
                  </a:lnTo>
                  <a:lnTo>
                    <a:pt x="58668" y="7536"/>
                  </a:lnTo>
                  <a:lnTo>
                    <a:pt x="28146" y="28098"/>
                  </a:lnTo>
                  <a:lnTo>
                    <a:pt x="7554" y="58614"/>
                  </a:lnTo>
                  <a:lnTo>
                    <a:pt x="0" y="96012"/>
                  </a:lnTo>
                  <a:lnTo>
                    <a:pt x="0" y="479958"/>
                  </a:lnTo>
                  <a:lnTo>
                    <a:pt x="7554" y="517327"/>
                  </a:lnTo>
                  <a:lnTo>
                    <a:pt x="28146" y="547841"/>
                  </a:lnTo>
                  <a:lnTo>
                    <a:pt x="58668" y="568414"/>
                  </a:lnTo>
                  <a:lnTo>
                    <a:pt x="96012" y="575957"/>
                  </a:lnTo>
                  <a:lnTo>
                    <a:pt x="2092070" y="575957"/>
                  </a:lnTo>
                  <a:lnTo>
                    <a:pt x="2129468" y="568414"/>
                  </a:lnTo>
                  <a:lnTo>
                    <a:pt x="2159984" y="547841"/>
                  </a:lnTo>
                  <a:lnTo>
                    <a:pt x="2180546" y="517327"/>
                  </a:lnTo>
                  <a:lnTo>
                    <a:pt x="2188083" y="479958"/>
                  </a:lnTo>
                  <a:lnTo>
                    <a:pt x="2188083" y="96012"/>
                  </a:lnTo>
                  <a:lnTo>
                    <a:pt x="2180546" y="58614"/>
                  </a:lnTo>
                  <a:lnTo>
                    <a:pt x="2159984" y="28098"/>
                  </a:lnTo>
                  <a:lnTo>
                    <a:pt x="2129468" y="7536"/>
                  </a:lnTo>
                  <a:lnTo>
                    <a:pt x="209207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71665" y="343623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79">
                  <a:moveTo>
                    <a:pt x="0" y="96012"/>
                  </a:moveTo>
                  <a:lnTo>
                    <a:pt x="7554" y="58614"/>
                  </a:lnTo>
                  <a:lnTo>
                    <a:pt x="28146" y="28098"/>
                  </a:lnTo>
                  <a:lnTo>
                    <a:pt x="58668" y="7536"/>
                  </a:lnTo>
                  <a:lnTo>
                    <a:pt x="96012" y="0"/>
                  </a:lnTo>
                  <a:lnTo>
                    <a:pt x="2092070" y="0"/>
                  </a:lnTo>
                  <a:lnTo>
                    <a:pt x="2129468" y="7536"/>
                  </a:lnTo>
                  <a:lnTo>
                    <a:pt x="2159984" y="28098"/>
                  </a:lnTo>
                  <a:lnTo>
                    <a:pt x="2180546" y="58614"/>
                  </a:lnTo>
                  <a:lnTo>
                    <a:pt x="2188083" y="96012"/>
                  </a:lnTo>
                  <a:lnTo>
                    <a:pt x="2188083" y="479958"/>
                  </a:lnTo>
                  <a:lnTo>
                    <a:pt x="2180546" y="517327"/>
                  </a:lnTo>
                  <a:lnTo>
                    <a:pt x="2159984" y="547841"/>
                  </a:lnTo>
                  <a:lnTo>
                    <a:pt x="2129468" y="568414"/>
                  </a:lnTo>
                  <a:lnTo>
                    <a:pt x="2092070" y="575957"/>
                  </a:lnTo>
                  <a:lnTo>
                    <a:pt x="96012" y="575957"/>
                  </a:lnTo>
                  <a:lnTo>
                    <a:pt x="58668" y="568414"/>
                  </a:lnTo>
                  <a:lnTo>
                    <a:pt x="28146" y="547841"/>
                  </a:lnTo>
                  <a:lnTo>
                    <a:pt x="7554" y="517327"/>
                  </a:lnTo>
                  <a:lnTo>
                    <a:pt x="0" y="479958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907783" y="3430651"/>
            <a:ext cx="13150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6703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From: </a:t>
            </a:r>
            <a:r>
              <a:rPr sz="1800" dirty="0">
                <a:latin typeface="Times New Roman"/>
                <a:cs typeface="Times New Roman"/>
              </a:rPr>
              <a:t>Physical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617214" y="1601850"/>
            <a:ext cx="3988435" cy="1834514"/>
            <a:chOff x="3617214" y="1601850"/>
            <a:chExt cx="3988435" cy="1834514"/>
          </a:xfrm>
        </p:grpSpPr>
        <p:sp>
          <p:nvSpPr>
            <p:cNvPr id="24" name="object 24"/>
            <p:cNvSpPr/>
            <p:nvPr/>
          </p:nvSpPr>
          <p:spPr>
            <a:xfrm>
              <a:off x="4690618" y="2189860"/>
              <a:ext cx="2915285" cy="1246505"/>
            </a:xfrm>
            <a:custGeom>
              <a:avLst/>
              <a:gdLst/>
              <a:ahLst/>
              <a:cxnLst/>
              <a:rect l="l" t="t" r="r" b="b"/>
              <a:pathLst>
                <a:path w="2915284" h="1246504">
                  <a:moveTo>
                    <a:pt x="76200" y="271272"/>
                  </a:moveTo>
                  <a:lnTo>
                    <a:pt x="50838" y="271703"/>
                  </a:lnTo>
                  <a:lnTo>
                    <a:pt x="46355" y="508"/>
                  </a:lnTo>
                  <a:lnTo>
                    <a:pt x="20955" y="889"/>
                  </a:lnTo>
                  <a:lnTo>
                    <a:pt x="25438" y="272122"/>
                  </a:lnTo>
                  <a:lnTo>
                    <a:pt x="0" y="272542"/>
                  </a:lnTo>
                  <a:lnTo>
                    <a:pt x="39370" y="348107"/>
                  </a:lnTo>
                  <a:lnTo>
                    <a:pt x="69684" y="284861"/>
                  </a:lnTo>
                  <a:lnTo>
                    <a:pt x="76200" y="271272"/>
                  </a:lnTo>
                  <a:close/>
                </a:path>
                <a:path w="2915284" h="1246504">
                  <a:moveTo>
                    <a:pt x="79121" y="1169543"/>
                  </a:moveTo>
                  <a:lnTo>
                    <a:pt x="53657" y="1169682"/>
                  </a:lnTo>
                  <a:lnTo>
                    <a:pt x="52451" y="924814"/>
                  </a:lnTo>
                  <a:lnTo>
                    <a:pt x="27051" y="924941"/>
                  </a:lnTo>
                  <a:lnTo>
                    <a:pt x="28257" y="1169809"/>
                  </a:lnTo>
                  <a:lnTo>
                    <a:pt x="2921" y="1169924"/>
                  </a:lnTo>
                  <a:lnTo>
                    <a:pt x="41402" y="1245997"/>
                  </a:lnTo>
                  <a:lnTo>
                    <a:pt x="72720" y="1182497"/>
                  </a:lnTo>
                  <a:lnTo>
                    <a:pt x="79121" y="1169543"/>
                  </a:lnTo>
                  <a:close/>
                </a:path>
                <a:path w="2915284" h="1246504">
                  <a:moveTo>
                    <a:pt x="2910586" y="75946"/>
                  </a:moveTo>
                  <a:lnTo>
                    <a:pt x="2904172" y="63373"/>
                  </a:lnTo>
                  <a:lnTo>
                    <a:pt x="2871851" y="0"/>
                  </a:lnTo>
                  <a:lnTo>
                    <a:pt x="2834386" y="76454"/>
                  </a:lnTo>
                  <a:lnTo>
                    <a:pt x="2859735" y="76288"/>
                  </a:lnTo>
                  <a:lnTo>
                    <a:pt x="2861691" y="365506"/>
                  </a:lnTo>
                  <a:lnTo>
                    <a:pt x="2887091" y="365379"/>
                  </a:lnTo>
                  <a:lnTo>
                    <a:pt x="2885135" y="76123"/>
                  </a:lnTo>
                  <a:lnTo>
                    <a:pt x="2910586" y="75946"/>
                  </a:lnTo>
                  <a:close/>
                </a:path>
                <a:path w="2915284" h="1246504">
                  <a:moveTo>
                    <a:pt x="2914777" y="1019302"/>
                  </a:moveTo>
                  <a:lnTo>
                    <a:pt x="2908376" y="1006348"/>
                  </a:lnTo>
                  <a:lnTo>
                    <a:pt x="2877058" y="942848"/>
                  </a:lnTo>
                  <a:lnTo>
                    <a:pt x="2838577" y="1018794"/>
                  </a:lnTo>
                  <a:lnTo>
                    <a:pt x="2864027" y="1018971"/>
                  </a:lnTo>
                  <a:lnTo>
                    <a:pt x="2862834" y="1245870"/>
                  </a:lnTo>
                  <a:lnTo>
                    <a:pt x="2888234" y="1245997"/>
                  </a:lnTo>
                  <a:lnTo>
                    <a:pt x="2889427" y="1019136"/>
                  </a:lnTo>
                  <a:lnTo>
                    <a:pt x="2914777" y="10193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29914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80">
                  <a:moveTo>
                    <a:pt x="2092071" y="0"/>
                  </a:moveTo>
                  <a:lnTo>
                    <a:pt x="96012" y="0"/>
                  </a:lnTo>
                  <a:lnTo>
                    <a:pt x="58614" y="7554"/>
                  </a:lnTo>
                  <a:lnTo>
                    <a:pt x="28098" y="28146"/>
                  </a:lnTo>
                  <a:lnTo>
                    <a:pt x="7536" y="58668"/>
                  </a:lnTo>
                  <a:lnTo>
                    <a:pt x="0" y="96012"/>
                  </a:lnTo>
                  <a:lnTo>
                    <a:pt x="0" y="480060"/>
                  </a:lnTo>
                  <a:lnTo>
                    <a:pt x="7536" y="517403"/>
                  </a:lnTo>
                  <a:lnTo>
                    <a:pt x="28098" y="547925"/>
                  </a:lnTo>
                  <a:lnTo>
                    <a:pt x="58614" y="568517"/>
                  </a:lnTo>
                  <a:lnTo>
                    <a:pt x="96012" y="576072"/>
                  </a:lnTo>
                  <a:lnTo>
                    <a:pt x="2092071" y="576072"/>
                  </a:lnTo>
                  <a:lnTo>
                    <a:pt x="2129414" y="568517"/>
                  </a:lnTo>
                  <a:lnTo>
                    <a:pt x="2159936" y="547925"/>
                  </a:lnTo>
                  <a:lnTo>
                    <a:pt x="2180528" y="517403"/>
                  </a:lnTo>
                  <a:lnTo>
                    <a:pt x="2188083" y="480060"/>
                  </a:lnTo>
                  <a:lnTo>
                    <a:pt x="2188083" y="96012"/>
                  </a:lnTo>
                  <a:lnTo>
                    <a:pt x="2180528" y="58668"/>
                  </a:lnTo>
                  <a:lnTo>
                    <a:pt x="2159936" y="28146"/>
                  </a:lnTo>
                  <a:lnTo>
                    <a:pt x="2129414" y="7554"/>
                  </a:lnTo>
                  <a:lnTo>
                    <a:pt x="209207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29914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80">
                  <a:moveTo>
                    <a:pt x="0" y="96012"/>
                  </a:moveTo>
                  <a:lnTo>
                    <a:pt x="7536" y="58668"/>
                  </a:lnTo>
                  <a:lnTo>
                    <a:pt x="28098" y="28146"/>
                  </a:lnTo>
                  <a:lnTo>
                    <a:pt x="58614" y="7554"/>
                  </a:lnTo>
                  <a:lnTo>
                    <a:pt x="96012" y="0"/>
                  </a:lnTo>
                  <a:lnTo>
                    <a:pt x="2092071" y="0"/>
                  </a:lnTo>
                  <a:lnTo>
                    <a:pt x="2129414" y="7554"/>
                  </a:lnTo>
                  <a:lnTo>
                    <a:pt x="2159936" y="28146"/>
                  </a:lnTo>
                  <a:lnTo>
                    <a:pt x="2180528" y="58668"/>
                  </a:lnTo>
                  <a:lnTo>
                    <a:pt x="2188083" y="96012"/>
                  </a:lnTo>
                  <a:lnTo>
                    <a:pt x="2188083" y="480060"/>
                  </a:lnTo>
                  <a:lnTo>
                    <a:pt x="2180528" y="517403"/>
                  </a:lnTo>
                  <a:lnTo>
                    <a:pt x="2159936" y="547925"/>
                  </a:lnTo>
                  <a:lnTo>
                    <a:pt x="2129414" y="568517"/>
                  </a:lnTo>
                  <a:lnTo>
                    <a:pt x="2092071" y="576072"/>
                  </a:lnTo>
                  <a:lnTo>
                    <a:pt x="96012" y="576072"/>
                  </a:lnTo>
                  <a:lnTo>
                    <a:pt x="58614" y="568517"/>
                  </a:lnTo>
                  <a:lnTo>
                    <a:pt x="28098" y="547925"/>
                  </a:lnTo>
                  <a:lnTo>
                    <a:pt x="7536" y="517403"/>
                  </a:lnTo>
                  <a:lnTo>
                    <a:pt x="0" y="480060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423028" y="994410"/>
            <a:ext cx="35058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90825" algn="l"/>
              </a:tabLst>
            </a:pPr>
            <a:r>
              <a:rPr sz="1600" spc="-10" dirty="0">
                <a:latin typeface="Calibri"/>
                <a:cs typeface="Calibri"/>
              </a:rPr>
              <a:t>Sender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Receiver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053332" y="1608582"/>
            <a:ext cx="13417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79095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imes New Roman"/>
                <a:cs typeface="Times New Roman"/>
              </a:rPr>
              <a:t>From: </a:t>
            </a:r>
            <a:r>
              <a:rPr sz="1800" dirty="0">
                <a:latin typeface="Times New Roman"/>
                <a:cs typeface="Times New Roman"/>
              </a:rPr>
              <a:t>Network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456171" y="1601850"/>
            <a:ext cx="2213610" cy="601980"/>
            <a:chOff x="6456171" y="1601850"/>
            <a:chExt cx="2213610" cy="601980"/>
          </a:xfrm>
        </p:grpSpPr>
        <p:sp>
          <p:nvSpPr>
            <p:cNvPr id="30" name="object 30"/>
            <p:cNvSpPr/>
            <p:nvPr/>
          </p:nvSpPr>
          <p:spPr>
            <a:xfrm>
              <a:off x="6468871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80">
                  <a:moveTo>
                    <a:pt x="2092071" y="0"/>
                  </a:moveTo>
                  <a:lnTo>
                    <a:pt x="96011" y="0"/>
                  </a:lnTo>
                  <a:lnTo>
                    <a:pt x="58614" y="7554"/>
                  </a:lnTo>
                  <a:lnTo>
                    <a:pt x="28098" y="28146"/>
                  </a:lnTo>
                  <a:lnTo>
                    <a:pt x="7536" y="58668"/>
                  </a:lnTo>
                  <a:lnTo>
                    <a:pt x="0" y="96012"/>
                  </a:lnTo>
                  <a:lnTo>
                    <a:pt x="0" y="480060"/>
                  </a:lnTo>
                  <a:lnTo>
                    <a:pt x="7536" y="517403"/>
                  </a:lnTo>
                  <a:lnTo>
                    <a:pt x="28098" y="547925"/>
                  </a:lnTo>
                  <a:lnTo>
                    <a:pt x="58614" y="568517"/>
                  </a:lnTo>
                  <a:lnTo>
                    <a:pt x="96011" y="576072"/>
                  </a:lnTo>
                  <a:lnTo>
                    <a:pt x="2092071" y="576072"/>
                  </a:lnTo>
                  <a:lnTo>
                    <a:pt x="2129414" y="568517"/>
                  </a:lnTo>
                  <a:lnTo>
                    <a:pt x="2159936" y="547925"/>
                  </a:lnTo>
                  <a:lnTo>
                    <a:pt x="2180528" y="517403"/>
                  </a:lnTo>
                  <a:lnTo>
                    <a:pt x="2188082" y="480060"/>
                  </a:lnTo>
                  <a:lnTo>
                    <a:pt x="2188082" y="96012"/>
                  </a:lnTo>
                  <a:lnTo>
                    <a:pt x="2180528" y="58668"/>
                  </a:lnTo>
                  <a:lnTo>
                    <a:pt x="2159936" y="28146"/>
                  </a:lnTo>
                  <a:lnTo>
                    <a:pt x="2129414" y="7554"/>
                  </a:lnTo>
                  <a:lnTo>
                    <a:pt x="209207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68871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80">
                  <a:moveTo>
                    <a:pt x="0" y="96012"/>
                  </a:moveTo>
                  <a:lnTo>
                    <a:pt x="7536" y="58668"/>
                  </a:lnTo>
                  <a:lnTo>
                    <a:pt x="28098" y="28146"/>
                  </a:lnTo>
                  <a:lnTo>
                    <a:pt x="58614" y="7554"/>
                  </a:lnTo>
                  <a:lnTo>
                    <a:pt x="96011" y="0"/>
                  </a:lnTo>
                  <a:lnTo>
                    <a:pt x="2092071" y="0"/>
                  </a:lnTo>
                  <a:lnTo>
                    <a:pt x="2129414" y="7554"/>
                  </a:lnTo>
                  <a:lnTo>
                    <a:pt x="2159936" y="28146"/>
                  </a:lnTo>
                  <a:lnTo>
                    <a:pt x="2180528" y="58668"/>
                  </a:lnTo>
                  <a:lnTo>
                    <a:pt x="2188082" y="96012"/>
                  </a:lnTo>
                  <a:lnTo>
                    <a:pt x="2188082" y="480060"/>
                  </a:lnTo>
                  <a:lnTo>
                    <a:pt x="2180528" y="517403"/>
                  </a:lnTo>
                  <a:lnTo>
                    <a:pt x="2159936" y="547925"/>
                  </a:lnTo>
                  <a:lnTo>
                    <a:pt x="2129414" y="568517"/>
                  </a:lnTo>
                  <a:lnTo>
                    <a:pt x="2092071" y="576072"/>
                  </a:lnTo>
                  <a:lnTo>
                    <a:pt x="96011" y="576072"/>
                  </a:lnTo>
                  <a:lnTo>
                    <a:pt x="58614" y="568517"/>
                  </a:lnTo>
                  <a:lnTo>
                    <a:pt x="28098" y="547925"/>
                  </a:lnTo>
                  <a:lnTo>
                    <a:pt x="7536" y="517403"/>
                  </a:lnTo>
                  <a:lnTo>
                    <a:pt x="0" y="480060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892543" y="1608582"/>
            <a:ext cx="13411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05459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To: </a:t>
            </a:r>
            <a:r>
              <a:rPr sz="1800" dirty="0">
                <a:latin typeface="Times New Roman"/>
                <a:cs typeface="Times New Roman"/>
              </a:rPr>
              <a:t>Network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4926584" y="4287494"/>
          <a:ext cx="3091813" cy="611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3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4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165">
                <a:tc gridSpan="5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DSP1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DSPF1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11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DSPF2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DSPF3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DSPFn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93902" y="958977"/>
            <a:ext cx="6447790" cy="3820160"/>
            <a:chOff x="593902" y="958977"/>
            <a:chExt cx="6447790" cy="382016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3902" y="958977"/>
              <a:ext cx="2166696" cy="3370478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55" dirty="0"/>
              <a:t> </a:t>
            </a:r>
            <a:r>
              <a:rPr dirty="0"/>
              <a:t>reference</a:t>
            </a:r>
            <a:r>
              <a:rPr spc="-55" dirty="0"/>
              <a:t> </a:t>
            </a:r>
            <a:r>
              <a:rPr dirty="0"/>
              <a:t>model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its</a:t>
            </a:r>
            <a:r>
              <a:rPr spc="-30" dirty="0"/>
              <a:t> </a:t>
            </a:r>
            <a:r>
              <a:rPr dirty="0"/>
              <a:t>services</a:t>
            </a:r>
            <a:r>
              <a:rPr spc="-45" dirty="0"/>
              <a:t> </a:t>
            </a:r>
            <a:r>
              <a:rPr spc="-10" dirty="0"/>
              <a:t>(review)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42847" y="3970121"/>
            <a:ext cx="1461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link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51175" y="1070228"/>
            <a:ext cx="3248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contains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sub-</a:t>
            </a:r>
            <a:r>
              <a:rPr sz="2400" spc="-10" dirty="0">
                <a:latin typeface="Times New Roman"/>
                <a:cs typeface="Times New Roman"/>
              </a:rPr>
              <a:t>layers: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51175" y="1438029"/>
            <a:ext cx="5783580" cy="286766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Logical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Link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Layer</a:t>
            </a:r>
            <a:endParaRPr sz="240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756285" algn="l"/>
                <a:tab pos="1053465" algn="l"/>
                <a:tab pos="2135505" algn="l"/>
                <a:tab pos="2586355" algn="l"/>
                <a:tab pos="3487420" algn="l"/>
                <a:tab pos="3841115" algn="l"/>
                <a:tab pos="4290695" algn="l"/>
                <a:tab pos="5262880" algn="l"/>
              </a:tabLst>
            </a:pPr>
            <a:r>
              <a:rPr sz="2000" spc="-25" dirty="0">
                <a:latin typeface="Times New Roman"/>
                <a:cs typeface="Times New Roman"/>
              </a:rPr>
              <a:t>It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identifies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address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of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network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layer </a:t>
            </a:r>
            <a:r>
              <a:rPr sz="2000" dirty="0">
                <a:latin typeface="Times New Roman"/>
                <a:cs typeface="Times New Roman"/>
              </a:rPr>
              <a:t>protocol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header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flow</a:t>
            </a:r>
            <a:r>
              <a:rPr sz="2000" spc="-10" dirty="0">
                <a:latin typeface="Times New Roman"/>
                <a:cs typeface="Times New Roman"/>
              </a:rPr>
              <a:t> control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Media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Layer</a:t>
            </a:r>
            <a:endParaRPr sz="2400">
              <a:latin typeface="Times New Roman"/>
              <a:cs typeface="Times New Roman"/>
            </a:endParaRPr>
          </a:p>
          <a:p>
            <a:pPr marL="753745" marR="5080" lvl="1" indent="-284480" algn="just">
              <a:lnSpc>
                <a:spcPct val="100299"/>
              </a:lnSpc>
              <a:spcBef>
                <a:spcPts val="40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Media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layer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link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between 	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Logical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Link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layer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network's 	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layer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55" dirty="0"/>
              <a:t> </a:t>
            </a:r>
            <a:r>
              <a:rPr dirty="0"/>
              <a:t>reference</a:t>
            </a:r>
            <a:r>
              <a:rPr spc="-55" dirty="0"/>
              <a:t> </a:t>
            </a:r>
            <a:r>
              <a:rPr dirty="0"/>
              <a:t>model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its</a:t>
            </a:r>
            <a:r>
              <a:rPr spc="-30" dirty="0"/>
              <a:t> </a:t>
            </a:r>
            <a:r>
              <a:rPr dirty="0"/>
              <a:t>services</a:t>
            </a:r>
            <a:r>
              <a:rPr spc="-45" dirty="0"/>
              <a:t> </a:t>
            </a:r>
            <a:r>
              <a:rPr spc="-10" dirty="0"/>
              <a:t>(review)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889375" y="1006221"/>
            <a:ext cx="122872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100" spc="-10" dirty="0">
                <a:latin typeface="Times New Roman"/>
                <a:cs typeface="Times New Roman"/>
              </a:rPr>
              <a:t>Purpose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46575" y="1327784"/>
            <a:ext cx="4491990" cy="69850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299085" marR="5080" indent="-287020" algn="just">
              <a:lnSpc>
                <a:spcPct val="79800"/>
              </a:lnSpc>
              <a:spcBef>
                <a:spcPts val="515"/>
              </a:spcBef>
            </a:pPr>
            <a:r>
              <a:rPr sz="1700" dirty="0">
                <a:latin typeface="Arial MT"/>
                <a:cs typeface="Arial MT"/>
              </a:rPr>
              <a:t>–</a:t>
            </a:r>
            <a:r>
              <a:rPr sz="1700" spc="155" dirty="0">
                <a:latin typeface="Arial MT"/>
                <a:cs typeface="Arial MT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Transform</a:t>
            </a:r>
            <a:r>
              <a:rPr sz="1700" spc="3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3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raw</a:t>
            </a:r>
            <a:r>
              <a:rPr sz="1700" spc="3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transmission</a:t>
            </a:r>
            <a:r>
              <a:rPr sz="1700" spc="3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line</a:t>
            </a:r>
            <a:r>
              <a:rPr sz="1700" spc="3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into</a:t>
            </a:r>
            <a:r>
              <a:rPr sz="1700" spc="3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32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line </a:t>
            </a:r>
            <a:r>
              <a:rPr sz="1700" dirty="0">
                <a:latin typeface="Times New Roman"/>
                <a:cs typeface="Times New Roman"/>
              </a:rPr>
              <a:t>that</a:t>
            </a:r>
            <a:r>
              <a:rPr sz="1700" spc="8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appears</a:t>
            </a:r>
            <a:r>
              <a:rPr sz="1700" spc="8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free</a:t>
            </a:r>
            <a:r>
              <a:rPr sz="1700" spc="8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8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undetected</a:t>
            </a:r>
            <a:r>
              <a:rPr sz="1700" spc="85" dirty="0">
                <a:latin typeface="Times New Roman"/>
                <a:cs typeface="Times New Roman"/>
              </a:rPr>
              <a:t>  </a:t>
            </a:r>
            <a:r>
              <a:rPr sz="1700" spc="-10" dirty="0">
                <a:latin typeface="Times New Roman"/>
                <a:cs typeface="Times New Roman"/>
              </a:rPr>
              <a:t>transmission </a:t>
            </a:r>
            <a:r>
              <a:rPr sz="1700" dirty="0">
                <a:latin typeface="Times New Roman"/>
                <a:cs typeface="Times New Roman"/>
              </a:rPr>
              <a:t>errors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networks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layer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89375" y="1998726"/>
            <a:ext cx="137858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100" spc="-10" dirty="0">
                <a:latin typeface="Times New Roman"/>
                <a:cs typeface="Times New Roman"/>
              </a:rPr>
              <a:t>Concerns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46575" y="2320290"/>
            <a:ext cx="4492625" cy="2146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720" indent="-287020" algn="just">
              <a:lnSpc>
                <a:spcPts val="1830"/>
              </a:lnSpc>
              <a:spcBef>
                <a:spcPts val="100"/>
              </a:spcBef>
              <a:buFont typeface="Arial MT"/>
              <a:buChar char="–"/>
              <a:tabLst>
                <a:tab pos="299720" algn="l"/>
              </a:tabLst>
            </a:pPr>
            <a:r>
              <a:rPr sz="1700" dirty="0">
                <a:latin typeface="Times New Roman"/>
                <a:cs typeface="Times New Roman"/>
              </a:rPr>
              <a:t>Framing:</a:t>
            </a:r>
            <a:r>
              <a:rPr sz="1700" spc="3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Breaks</a:t>
            </a:r>
            <a:r>
              <a:rPr sz="1700" spc="3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apart</a:t>
            </a:r>
            <a:r>
              <a:rPr sz="1700" spc="3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input</a:t>
            </a:r>
            <a:r>
              <a:rPr sz="1700" spc="3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data</a:t>
            </a:r>
            <a:r>
              <a:rPr sz="1700" spc="3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into</a:t>
            </a:r>
            <a:r>
              <a:rPr sz="1700" spc="39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frames</a:t>
            </a:r>
            <a:endParaRPr sz="1700">
              <a:latin typeface="Times New Roman"/>
              <a:cs typeface="Times New Roman"/>
            </a:endParaRPr>
          </a:p>
          <a:p>
            <a:pPr marL="299085" algn="just">
              <a:lnSpc>
                <a:spcPts val="1830"/>
              </a:lnSpc>
            </a:pP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transmit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frames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sequentially</a:t>
            </a:r>
            <a:endParaRPr sz="170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ct val="79700"/>
              </a:lnSpc>
              <a:spcBef>
                <a:spcPts val="430"/>
              </a:spcBef>
              <a:buFont typeface="Arial MT"/>
              <a:buChar char="–"/>
              <a:tabLst>
                <a:tab pos="299085" algn="l"/>
              </a:tabLst>
            </a:pPr>
            <a:r>
              <a:rPr sz="1700" dirty="0">
                <a:latin typeface="Times New Roman"/>
                <a:cs typeface="Times New Roman"/>
              </a:rPr>
              <a:t>Error</a:t>
            </a:r>
            <a:r>
              <a:rPr sz="1700" spc="4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handling:</a:t>
            </a:r>
            <a:r>
              <a:rPr sz="1700" spc="4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if</a:t>
            </a:r>
            <a:r>
              <a:rPr sz="1700" spc="4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4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service</a:t>
            </a:r>
            <a:r>
              <a:rPr sz="1700" spc="4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4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reliable,</a:t>
            </a:r>
            <a:r>
              <a:rPr sz="1700" spc="45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the </a:t>
            </a:r>
            <a:r>
              <a:rPr sz="1700" dirty="0">
                <a:latin typeface="Times New Roman"/>
                <a:cs typeface="Times New Roman"/>
              </a:rPr>
              <a:t>receiver</a:t>
            </a:r>
            <a:r>
              <a:rPr sz="1700" spc="1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confirms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correct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receipt</a:t>
            </a:r>
            <a:r>
              <a:rPr sz="1700" spc="1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each</a:t>
            </a:r>
            <a:r>
              <a:rPr sz="1700" spc="16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frame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sending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back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acknowledgement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frame</a:t>
            </a:r>
            <a:endParaRPr sz="170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ct val="79500"/>
              </a:lnSpc>
              <a:spcBef>
                <a:spcPts val="415"/>
              </a:spcBef>
              <a:buFont typeface="Arial MT"/>
              <a:buChar char="–"/>
              <a:tabLst>
                <a:tab pos="299085" algn="l"/>
              </a:tabLst>
            </a:pPr>
            <a:r>
              <a:rPr sz="1700" dirty="0">
                <a:latin typeface="Times New Roman"/>
                <a:cs typeface="Times New Roman"/>
              </a:rPr>
              <a:t>Flow</a:t>
            </a:r>
            <a:r>
              <a:rPr sz="1700" spc="9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control:</a:t>
            </a:r>
            <a:r>
              <a:rPr sz="1700" spc="9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keeps</a:t>
            </a:r>
            <a:r>
              <a:rPr sz="1700" spc="9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9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fast</a:t>
            </a:r>
            <a:r>
              <a:rPr sz="1700" spc="10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transmitter</a:t>
            </a:r>
            <a:r>
              <a:rPr sz="1700" spc="95" dirty="0">
                <a:latin typeface="Times New Roman"/>
                <a:cs typeface="Times New Roman"/>
              </a:rPr>
              <a:t>  </a:t>
            </a:r>
            <a:r>
              <a:rPr sz="1700" spc="-20" dirty="0">
                <a:latin typeface="Times New Roman"/>
                <a:cs typeface="Times New Roman"/>
              </a:rPr>
              <a:t>from </a:t>
            </a:r>
            <a:r>
              <a:rPr sz="1700" dirty="0">
                <a:latin typeface="Times New Roman"/>
                <a:cs typeface="Times New Roman"/>
              </a:rPr>
              <a:t>drowning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slow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receiver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-20" dirty="0">
                <a:latin typeface="Times New Roman"/>
                <a:cs typeface="Times New Roman"/>
              </a:rPr>
              <a:t> data</a:t>
            </a:r>
            <a:endParaRPr sz="1700">
              <a:latin typeface="Times New Roman"/>
              <a:cs typeface="Times New Roman"/>
            </a:endParaRPr>
          </a:p>
          <a:p>
            <a:pPr marL="299720" indent="-287020" algn="just">
              <a:lnSpc>
                <a:spcPts val="2030"/>
              </a:lnSpc>
              <a:buFont typeface="Arial MT"/>
              <a:buChar char="–"/>
              <a:tabLst>
                <a:tab pos="299720" algn="l"/>
              </a:tabLst>
            </a:pPr>
            <a:r>
              <a:rPr sz="1700" spc="-10" dirty="0">
                <a:latin typeface="Times New Roman"/>
                <a:cs typeface="Times New Roman"/>
              </a:rPr>
              <a:t>Physical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Addressing</a:t>
            </a:r>
            <a:endParaRPr sz="1700">
              <a:latin typeface="Times New Roman"/>
              <a:cs typeface="Times New Roman"/>
            </a:endParaRPr>
          </a:p>
          <a:p>
            <a:pPr marL="299720" indent="-287020" algn="just">
              <a:lnSpc>
                <a:spcPct val="100000"/>
              </a:lnSpc>
              <a:buFont typeface="Arial MT"/>
              <a:buChar char="–"/>
              <a:tabLst>
                <a:tab pos="299720" algn="l"/>
              </a:tabLst>
            </a:pPr>
            <a:r>
              <a:rPr sz="1700" dirty="0">
                <a:latin typeface="Times New Roman"/>
                <a:cs typeface="Times New Roman"/>
              </a:rPr>
              <a:t>Access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Control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(CSMA/CD,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Token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passing)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9485" y="971677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373"/>
                </a:moveTo>
                <a:lnTo>
                  <a:pt x="4982" y="38683"/>
                </a:lnTo>
                <a:lnTo>
                  <a:pt x="18570" y="18542"/>
                </a:lnTo>
                <a:lnTo>
                  <a:pt x="38726" y="4972"/>
                </a:lnTo>
                <a:lnTo>
                  <a:pt x="63411" y="0"/>
                </a:lnTo>
                <a:lnTo>
                  <a:pt x="2069960" y="0"/>
                </a:lnTo>
                <a:lnTo>
                  <a:pt x="2094649" y="4972"/>
                </a:lnTo>
                <a:lnTo>
                  <a:pt x="2114791" y="18542"/>
                </a:lnTo>
                <a:lnTo>
                  <a:pt x="2128360" y="38683"/>
                </a:lnTo>
                <a:lnTo>
                  <a:pt x="2133333" y="63373"/>
                </a:lnTo>
                <a:lnTo>
                  <a:pt x="2133333" y="317119"/>
                </a:lnTo>
                <a:lnTo>
                  <a:pt x="2128360" y="341755"/>
                </a:lnTo>
                <a:lnTo>
                  <a:pt x="2114791" y="361902"/>
                </a:lnTo>
                <a:lnTo>
                  <a:pt x="2094649" y="375501"/>
                </a:lnTo>
                <a:lnTo>
                  <a:pt x="2069960" y="380492"/>
                </a:lnTo>
                <a:lnTo>
                  <a:pt x="63411" y="380492"/>
                </a:lnTo>
                <a:lnTo>
                  <a:pt x="38726" y="375501"/>
                </a:lnTo>
                <a:lnTo>
                  <a:pt x="18570" y="361902"/>
                </a:lnTo>
                <a:lnTo>
                  <a:pt x="4982" y="341755"/>
                </a:lnTo>
                <a:lnTo>
                  <a:pt x="0" y="317119"/>
                </a:lnTo>
                <a:lnTo>
                  <a:pt x="0" y="63373"/>
                </a:lnTo>
                <a:close/>
              </a:path>
            </a:pathLst>
          </a:custGeom>
          <a:ln w="254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27328" y="1004696"/>
            <a:ext cx="1696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E7E7E"/>
                </a:solidFill>
                <a:latin typeface="Times New Roman"/>
                <a:cs typeface="Times New Roman"/>
              </a:rPr>
              <a:t>Application</a:t>
            </a:r>
            <a:r>
              <a:rPr sz="1800" spc="-9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1644" y="1564513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500"/>
                </a:moveTo>
                <a:lnTo>
                  <a:pt x="4982" y="38790"/>
                </a:lnTo>
                <a:lnTo>
                  <a:pt x="18570" y="18605"/>
                </a:lnTo>
                <a:lnTo>
                  <a:pt x="38726" y="4992"/>
                </a:lnTo>
                <a:lnTo>
                  <a:pt x="63411" y="0"/>
                </a:lnTo>
                <a:lnTo>
                  <a:pt x="2069960" y="0"/>
                </a:lnTo>
                <a:lnTo>
                  <a:pt x="2094649" y="4992"/>
                </a:lnTo>
                <a:lnTo>
                  <a:pt x="2114791" y="18605"/>
                </a:lnTo>
                <a:lnTo>
                  <a:pt x="2128360" y="38790"/>
                </a:lnTo>
                <a:lnTo>
                  <a:pt x="2133333" y="63500"/>
                </a:lnTo>
                <a:lnTo>
                  <a:pt x="2133333" y="317119"/>
                </a:lnTo>
                <a:lnTo>
                  <a:pt x="2128360" y="341828"/>
                </a:lnTo>
                <a:lnTo>
                  <a:pt x="2114791" y="362013"/>
                </a:lnTo>
                <a:lnTo>
                  <a:pt x="2094649" y="375626"/>
                </a:lnTo>
                <a:lnTo>
                  <a:pt x="2069960" y="380619"/>
                </a:lnTo>
                <a:lnTo>
                  <a:pt x="63411" y="380619"/>
                </a:lnTo>
                <a:lnTo>
                  <a:pt x="38726" y="375626"/>
                </a:lnTo>
                <a:lnTo>
                  <a:pt x="18570" y="362013"/>
                </a:lnTo>
                <a:lnTo>
                  <a:pt x="4982" y="341828"/>
                </a:lnTo>
                <a:lnTo>
                  <a:pt x="0" y="317119"/>
                </a:lnTo>
                <a:lnTo>
                  <a:pt x="0" y="63500"/>
                </a:lnTo>
                <a:close/>
              </a:path>
            </a:pathLst>
          </a:custGeom>
          <a:ln w="254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03554" y="1597914"/>
            <a:ext cx="17456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E7E7E"/>
                </a:solidFill>
                <a:latin typeface="Times New Roman"/>
                <a:cs typeface="Times New Roman"/>
              </a:rPr>
              <a:t>Presentation</a:t>
            </a:r>
            <a:r>
              <a:rPr sz="1800" spc="-10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0024" y="1352422"/>
            <a:ext cx="2159000" cy="1198245"/>
            <a:chOff x="600024" y="1352422"/>
            <a:chExt cx="2159000" cy="119824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9569" y="1352422"/>
              <a:ext cx="76200" cy="21183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12724" y="2157475"/>
              <a:ext cx="2133600" cy="381000"/>
            </a:xfrm>
            <a:custGeom>
              <a:avLst/>
              <a:gdLst/>
              <a:ahLst/>
              <a:cxnLst/>
              <a:rect l="l" t="t" r="r" b="b"/>
              <a:pathLst>
                <a:path w="2133600" h="381000">
                  <a:moveTo>
                    <a:pt x="0" y="63373"/>
                  </a:moveTo>
                  <a:lnTo>
                    <a:pt x="4982" y="38736"/>
                  </a:lnTo>
                  <a:lnTo>
                    <a:pt x="18570" y="18589"/>
                  </a:lnTo>
                  <a:lnTo>
                    <a:pt x="38726" y="4990"/>
                  </a:lnTo>
                  <a:lnTo>
                    <a:pt x="63411" y="0"/>
                  </a:lnTo>
                  <a:lnTo>
                    <a:pt x="2069896" y="0"/>
                  </a:lnTo>
                  <a:lnTo>
                    <a:pt x="2094606" y="4990"/>
                  </a:lnTo>
                  <a:lnTo>
                    <a:pt x="2114791" y="18589"/>
                  </a:lnTo>
                  <a:lnTo>
                    <a:pt x="2128404" y="38736"/>
                  </a:lnTo>
                  <a:lnTo>
                    <a:pt x="2133396" y="63373"/>
                  </a:lnTo>
                  <a:lnTo>
                    <a:pt x="2133396" y="317119"/>
                  </a:lnTo>
                  <a:lnTo>
                    <a:pt x="2128404" y="341808"/>
                  </a:lnTo>
                  <a:lnTo>
                    <a:pt x="2114791" y="361950"/>
                  </a:lnTo>
                  <a:lnTo>
                    <a:pt x="2094606" y="375519"/>
                  </a:lnTo>
                  <a:lnTo>
                    <a:pt x="2069896" y="380492"/>
                  </a:lnTo>
                  <a:lnTo>
                    <a:pt x="63411" y="380492"/>
                  </a:lnTo>
                  <a:lnTo>
                    <a:pt x="38726" y="375519"/>
                  </a:lnTo>
                  <a:lnTo>
                    <a:pt x="18570" y="361950"/>
                  </a:lnTo>
                  <a:lnTo>
                    <a:pt x="4982" y="341808"/>
                  </a:lnTo>
                  <a:lnTo>
                    <a:pt x="0" y="317119"/>
                  </a:lnTo>
                  <a:lnTo>
                    <a:pt x="0" y="63373"/>
                  </a:lnTo>
                  <a:close/>
                </a:path>
              </a:pathLst>
            </a:custGeom>
            <a:ln w="25399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21181" y="2191004"/>
            <a:ext cx="1315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E7E7E"/>
                </a:solidFill>
                <a:latin typeface="Times New Roman"/>
                <a:cs typeface="Times New Roman"/>
              </a:rPr>
              <a:t>Session</a:t>
            </a:r>
            <a:r>
              <a:rPr sz="1800" spc="-3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01814" y="1945385"/>
            <a:ext cx="2159000" cy="1198245"/>
            <a:chOff x="601814" y="1945385"/>
            <a:chExt cx="2159000" cy="1198245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0713" y="1945385"/>
              <a:ext cx="76200" cy="21170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14514" y="2750438"/>
              <a:ext cx="2133600" cy="381000"/>
            </a:xfrm>
            <a:custGeom>
              <a:avLst/>
              <a:gdLst/>
              <a:ahLst/>
              <a:cxnLst/>
              <a:rect l="l" t="t" r="r" b="b"/>
              <a:pathLst>
                <a:path w="2133600" h="381000">
                  <a:moveTo>
                    <a:pt x="0" y="63373"/>
                  </a:moveTo>
                  <a:lnTo>
                    <a:pt x="4984" y="38683"/>
                  </a:lnTo>
                  <a:lnTo>
                    <a:pt x="18576" y="18542"/>
                  </a:lnTo>
                  <a:lnTo>
                    <a:pt x="38736" y="4972"/>
                  </a:lnTo>
                  <a:lnTo>
                    <a:pt x="63423" y="0"/>
                  </a:lnTo>
                  <a:lnTo>
                    <a:pt x="2069884" y="0"/>
                  </a:lnTo>
                  <a:lnTo>
                    <a:pt x="2094593" y="4972"/>
                  </a:lnTo>
                  <a:lnTo>
                    <a:pt x="2114778" y="18542"/>
                  </a:lnTo>
                  <a:lnTo>
                    <a:pt x="2128391" y="38683"/>
                  </a:lnTo>
                  <a:lnTo>
                    <a:pt x="2133384" y="63373"/>
                  </a:lnTo>
                  <a:lnTo>
                    <a:pt x="2133384" y="317119"/>
                  </a:lnTo>
                  <a:lnTo>
                    <a:pt x="2128391" y="341755"/>
                  </a:lnTo>
                  <a:lnTo>
                    <a:pt x="2114778" y="361902"/>
                  </a:lnTo>
                  <a:lnTo>
                    <a:pt x="2094593" y="375501"/>
                  </a:lnTo>
                  <a:lnTo>
                    <a:pt x="2069884" y="380492"/>
                  </a:lnTo>
                  <a:lnTo>
                    <a:pt x="63423" y="380492"/>
                  </a:lnTo>
                  <a:lnTo>
                    <a:pt x="38736" y="375501"/>
                  </a:lnTo>
                  <a:lnTo>
                    <a:pt x="18576" y="361902"/>
                  </a:lnTo>
                  <a:lnTo>
                    <a:pt x="4984" y="341755"/>
                  </a:lnTo>
                  <a:lnTo>
                    <a:pt x="0" y="317119"/>
                  </a:lnTo>
                  <a:lnTo>
                    <a:pt x="0" y="63373"/>
                  </a:lnTo>
                  <a:close/>
                </a:path>
              </a:pathLst>
            </a:custGeom>
            <a:ln w="254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31570" y="2783789"/>
            <a:ext cx="1498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E7E7E"/>
                </a:solidFill>
                <a:latin typeface="Times New Roman"/>
                <a:cs typeface="Times New Roman"/>
              </a:rPr>
              <a:t>Transport</a:t>
            </a:r>
            <a:r>
              <a:rPr sz="1800" spc="-9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93902" y="2538222"/>
            <a:ext cx="2159000" cy="1198880"/>
            <a:chOff x="593902" y="2538222"/>
            <a:chExt cx="2159000" cy="1198880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42491" y="2538222"/>
              <a:ext cx="76200" cy="21183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06602" y="3343275"/>
              <a:ext cx="2133600" cy="381000"/>
            </a:xfrm>
            <a:custGeom>
              <a:avLst/>
              <a:gdLst/>
              <a:ahLst/>
              <a:cxnLst/>
              <a:rect l="l" t="t" r="r" b="b"/>
              <a:pathLst>
                <a:path w="2133600" h="381000">
                  <a:moveTo>
                    <a:pt x="0" y="63500"/>
                  </a:moveTo>
                  <a:lnTo>
                    <a:pt x="4984" y="38790"/>
                  </a:lnTo>
                  <a:lnTo>
                    <a:pt x="18576" y="18605"/>
                  </a:lnTo>
                  <a:lnTo>
                    <a:pt x="38736" y="4992"/>
                  </a:lnTo>
                  <a:lnTo>
                    <a:pt x="63423" y="0"/>
                  </a:lnTo>
                  <a:lnTo>
                    <a:pt x="2069922" y="0"/>
                  </a:lnTo>
                  <a:lnTo>
                    <a:pt x="2094611" y="4992"/>
                  </a:lnTo>
                  <a:lnTo>
                    <a:pt x="2114753" y="18605"/>
                  </a:lnTo>
                  <a:lnTo>
                    <a:pt x="2128322" y="38790"/>
                  </a:lnTo>
                  <a:lnTo>
                    <a:pt x="2133295" y="63500"/>
                  </a:lnTo>
                  <a:lnTo>
                    <a:pt x="2133295" y="317119"/>
                  </a:lnTo>
                  <a:lnTo>
                    <a:pt x="2128322" y="341828"/>
                  </a:lnTo>
                  <a:lnTo>
                    <a:pt x="2114753" y="362013"/>
                  </a:lnTo>
                  <a:lnTo>
                    <a:pt x="2094611" y="375626"/>
                  </a:lnTo>
                  <a:lnTo>
                    <a:pt x="2069922" y="380619"/>
                  </a:lnTo>
                  <a:lnTo>
                    <a:pt x="63423" y="380619"/>
                  </a:lnTo>
                  <a:lnTo>
                    <a:pt x="38736" y="375626"/>
                  </a:lnTo>
                  <a:lnTo>
                    <a:pt x="18576" y="362013"/>
                  </a:lnTo>
                  <a:lnTo>
                    <a:pt x="4984" y="341828"/>
                  </a:lnTo>
                  <a:lnTo>
                    <a:pt x="0" y="317119"/>
                  </a:lnTo>
                  <a:lnTo>
                    <a:pt x="0" y="63500"/>
                  </a:lnTo>
                  <a:close/>
                </a:path>
              </a:pathLst>
            </a:custGeom>
            <a:ln w="254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63269" y="3376929"/>
            <a:ext cx="141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E7E7E"/>
                </a:solidFill>
                <a:latin typeface="Times New Roman"/>
                <a:cs typeface="Times New Roman"/>
              </a:rPr>
              <a:t>Network</a:t>
            </a:r>
            <a:r>
              <a:rPr sz="1800" spc="-8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94982" y="3130804"/>
            <a:ext cx="2159000" cy="1198880"/>
            <a:chOff x="594982" y="3130804"/>
            <a:chExt cx="2159000" cy="1198880"/>
          </a:xfrm>
        </p:grpSpPr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37156" y="3130804"/>
              <a:ext cx="76200" cy="21221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07682" y="3936238"/>
              <a:ext cx="2133600" cy="381000"/>
            </a:xfrm>
            <a:custGeom>
              <a:avLst/>
              <a:gdLst/>
              <a:ahLst/>
              <a:cxnLst/>
              <a:rect l="l" t="t" r="r" b="b"/>
              <a:pathLst>
                <a:path w="2133600" h="381000">
                  <a:moveTo>
                    <a:pt x="0" y="63423"/>
                  </a:moveTo>
                  <a:lnTo>
                    <a:pt x="4984" y="38736"/>
                  </a:lnTo>
                  <a:lnTo>
                    <a:pt x="18576" y="18576"/>
                  </a:lnTo>
                  <a:lnTo>
                    <a:pt x="38736" y="4984"/>
                  </a:lnTo>
                  <a:lnTo>
                    <a:pt x="63423" y="0"/>
                  </a:lnTo>
                  <a:lnTo>
                    <a:pt x="2069985" y="0"/>
                  </a:lnTo>
                  <a:lnTo>
                    <a:pt x="2094621" y="4984"/>
                  </a:lnTo>
                  <a:lnTo>
                    <a:pt x="2114769" y="18576"/>
                  </a:lnTo>
                  <a:lnTo>
                    <a:pt x="2128367" y="38736"/>
                  </a:lnTo>
                  <a:lnTo>
                    <a:pt x="2133358" y="63423"/>
                  </a:lnTo>
                  <a:lnTo>
                    <a:pt x="2133358" y="317106"/>
                  </a:lnTo>
                  <a:lnTo>
                    <a:pt x="2128367" y="341791"/>
                  </a:lnTo>
                  <a:lnTo>
                    <a:pt x="2114769" y="361946"/>
                  </a:lnTo>
                  <a:lnTo>
                    <a:pt x="2094621" y="375535"/>
                  </a:lnTo>
                  <a:lnTo>
                    <a:pt x="2069985" y="380517"/>
                  </a:lnTo>
                  <a:lnTo>
                    <a:pt x="63423" y="380517"/>
                  </a:lnTo>
                  <a:lnTo>
                    <a:pt x="38736" y="375535"/>
                  </a:lnTo>
                  <a:lnTo>
                    <a:pt x="18576" y="361946"/>
                  </a:lnTo>
                  <a:lnTo>
                    <a:pt x="4984" y="341791"/>
                  </a:lnTo>
                  <a:lnTo>
                    <a:pt x="0" y="317106"/>
                  </a:lnTo>
                  <a:lnTo>
                    <a:pt x="0" y="6342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942847" y="3970121"/>
            <a:ext cx="1461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link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2" name="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35632" y="3724147"/>
            <a:ext cx="76200" cy="2117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958977"/>
            <a:ext cx="9155430" cy="4182110"/>
            <a:chOff x="-6350" y="958977"/>
            <a:chExt cx="9155430" cy="41821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3902" y="958977"/>
              <a:ext cx="2166696" cy="396340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636009" y="2538349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80">
                  <a:moveTo>
                    <a:pt x="0" y="96012"/>
                  </a:moveTo>
                  <a:lnTo>
                    <a:pt x="7536" y="58668"/>
                  </a:lnTo>
                  <a:lnTo>
                    <a:pt x="28098" y="28146"/>
                  </a:lnTo>
                  <a:lnTo>
                    <a:pt x="58614" y="7554"/>
                  </a:lnTo>
                  <a:lnTo>
                    <a:pt x="96012" y="0"/>
                  </a:lnTo>
                  <a:lnTo>
                    <a:pt x="2092070" y="0"/>
                  </a:lnTo>
                  <a:lnTo>
                    <a:pt x="2129414" y="7554"/>
                  </a:lnTo>
                  <a:lnTo>
                    <a:pt x="2159936" y="28146"/>
                  </a:lnTo>
                  <a:lnTo>
                    <a:pt x="2180528" y="58668"/>
                  </a:lnTo>
                  <a:lnTo>
                    <a:pt x="2188082" y="96012"/>
                  </a:lnTo>
                  <a:lnTo>
                    <a:pt x="2188082" y="480059"/>
                  </a:lnTo>
                  <a:lnTo>
                    <a:pt x="2180528" y="517403"/>
                  </a:lnTo>
                  <a:lnTo>
                    <a:pt x="2159936" y="547925"/>
                  </a:lnTo>
                  <a:lnTo>
                    <a:pt x="2129414" y="568517"/>
                  </a:lnTo>
                  <a:lnTo>
                    <a:pt x="2092070" y="576071"/>
                  </a:lnTo>
                  <a:lnTo>
                    <a:pt x="96012" y="576071"/>
                  </a:lnTo>
                  <a:lnTo>
                    <a:pt x="58614" y="568517"/>
                  </a:lnTo>
                  <a:lnTo>
                    <a:pt x="28098" y="547925"/>
                  </a:lnTo>
                  <a:lnTo>
                    <a:pt x="7536" y="517403"/>
                  </a:lnTo>
                  <a:lnTo>
                    <a:pt x="0" y="480059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55" dirty="0"/>
              <a:t> </a:t>
            </a:r>
            <a:r>
              <a:rPr dirty="0"/>
              <a:t>reference</a:t>
            </a:r>
            <a:r>
              <a:rPr spc="-55" dirty="0"/>
              <a:t> </a:t>
            </a:r>
            <a:r>
              <a:rPr dirty="0"/>
              <a:t>model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its</a:t>
            </a:r>
            <a:r>
              <a:rPr spc="-30" dirty="0"/>
              <a:t> </a:t>
            </a:r>
            <a:r>
              <a:rPr dirty="0"/>
              <a:t>services</a:t>
            </a:r>
            <a:r>
              <a:rPr spc="-45" dirty="0"/>
              <a:t> </a:t>
            </a:r>
            <a:r>
              <a:rPr spc="-10" dirty="0"/>
              <a:t>(review)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943603" y="2532379"/>
            <a:ext cx="15709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Break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frame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into</a:t>
            </a:r>
            <a:endParaRPr sz="18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</a:pPr>
            <a:r>
              <a:rPr sz="1800" spc="-20" dirty="0">
                <a:latin typeface="Times New Roman"/>
                <a:cs typeface="Times New Roman"/>
              </a:rPr>
              <a:t>bits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471665" y="2556382"/>
            <a:ext cx="2188210" cy="575945"/>
          </a:xfrm>
          <a:custGeom>
            <a:avLst/>
            <a:gdLst/>
            <a:ahLst/>
            <a:cxnLst/>
            <a:rect l="l" t="t" r="r" b="b"/>
            <a:pathLst>
              <a:path w="2188209" h="575944">
                <a:moveTo>
                  <a:pt x="0" y="96012"/>
                </a:moveTo>
                <a:lnTo>
                  <a:pt x="7554" y="58614"/>
                </a:lnTo>
                <a:lnTo>
                  <a:pt x="28146" y="28098"/>
                </a:lnTo>
                <a:lnTo>
                  <a:pt x="58668" y="7536"/>
                </a:lnTo>
                <a:lnTo>
                  <a:pt x="96012" y="0"/>
                </a:lnTo>
                <a:lnTo>
                  <a:pt x="2092070" y="0"/>
                </a:lnTo>
                <a:lnTo>
                  <a:pt x="2129468" y="7536"/>
                </a:lnTo>
                <a:lnTo>
                  <a:pt x="2159984" y="28098"/>
                </a:lnTo>
                <a:lnTo>
                  <a:pt x="2180546" y="58614"/>
                </a:lnTo>
                <a:lnTo>
                  <a:pt x="2188083" y="96012"/>
                </a:lnTo>
                <a:lnTo>
                  <a:pt x="2188083" y="479933"/>
                </a:lnTo>
                <a:lnTo>
                  <a:pt x="2180546" y="517330"/>
                </a:lnTo>
                <a:lnTo>
                  <a:pt x="2159984" y="547846"/>
                </a:lnTo>
                <a:lnTo>
                  <a:pt x="2129468" y="568408"/>
                </a:lnTo>
                <a:lnTo>
                  <a:pt x="2092070" y="575944"/>
                </a:lnTo>
                <a:lnTo>
                  <a:pt x="96012" y="575944"/>
                </a:lnTo>
                <a:lnTo>
                  <a:pt x="58668" y="568408"/>
                </a:lnTo>
                <a:lnTo>
                  <a:pt x="28146" y="547846"/>
                </a:lnTo>
                <a:lnTo>
                  <a:pt x="7554" y="517330"/>
                </a:lnTo>
                <a:lnTo>
                  <a:pt x="0" y="479933"/>
                </a:lnTo>
                <a:lnTo>
                  <a:pt x="0" y="9601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697471" y="2550363"/>
            <a:ext cx="17399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Merge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bits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form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frame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17214" y="1601850"/>
            <a:ext cx="3983990" cy="953769"/>
            <a:chOff x="3617214" y="1601850"/>
            <a:chExt cx="3983990" cy="953769"/>
          </a:xfrm>
        </p:grpSpPr>
        <p:sp>
          <p:nvSpPr>
            <p:cNvPr id="15" name="object 15"/>
            <p:cNvSpPr/>
            <p:nvPr/>
          </p:nvSpPr>
          <p:spPr>
            <a:xfrm>
              <a:off x="4690618" y="2189860"/>
              <a:ext cx="2910840" cy="365760"/>
            </a:xfrm>
            <a:custGeom>
              <a:avLst/>
              <a:gdLst/>
              <a:ahLst/>
              <a:cxnLst/>
              <a:rect l="l" t="t" r="r" b="b"/>
              <a:pathLst>
                <a:path w="2910840" h="365760">
                  <a:moveTo>
                    <a:pt x="76200" y="271272"/>
                  </a:moveTo>
                  <a:lnTo>
                    <a:pt x="50838" y="271703"/>
                  </a:lnTo>
                  <a:lnTo>
                    <a:pt x="46355" y="508"/>
                  </a:lnTo>
                  <a:lnTo>
                    <a:pt x="20955" y="889"/>
                  </a:lnTo>
                  <a:lnTo>
                    <a:pt x="25438" y="272122"/>
                  </a:lnTo>
                  <a:lnTo>
                    <a:pt x="0" y="272542"/>
                  </a:lnTo>
                  <a:lnTo>
                    <a:pt x="39370" y="348107"/>
                  </a:lnTo>
                  <a:lnTo>
                    <a:pt x="69684" y="284861"/>
                  </a:lnTo>
                  <a:lnTo>
                    <a:pt x="76200" y="271272"/>
                  </a:lnTo>
                  <a:close/>
                </a:path>
                <a:path w="2910840" h="365760">
                  <a:moveTo>
                    <a:pt x="2910586" y="75946"/>
                  </a:moveTo>
                  <a:lnTo>
                    <a:pt x="2904172" y="63373"/>
                  </a:lnTo>
                  <a:lnTo>
                    <a:pt x="2871851" y="0"/>
                  </a:lnTo>
                  <a:lnTo>
                    <a:pt x="2834386" y="76454"/>
                  </a:lnTo>
                  <a:lnTo>
                    <a:pt x="2859735" y="76288"/>
                  </a:lnTo>
                  <a:lnTo>
                    <a:pt x="2861691" y="365506"/>
                  </a:lnTo>
                  <a:lnTo>
                    <a:pt x="2887091" y="365379"/>
                  </a:lnTo>
                  <a:lnTo>
                    <a:pt x="2885135" y="76123"/>
                  </a:lnTo>
                  <a:lnTo>
                    <a:pt x="2910586" y="759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29914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80">
                  <a:moveTo>
                    <a:pt x="2092071" y="0"/>
                  </a:moveTo>
                  <a:lnTo>
                    <a:pt x="96012" y="0"/>
                  </a:lnTo>
                  <a:lnTo>
                    <a:pt x="58614" y="7554"/>
                  </a:lnTo>
                  <a:lnTo>
                    <a:pt x="28098" y="28146"/>
                  </a:lnTo>
                  <a:lnTo>
                    <a:pt x="7536" y="58668"/>
                  </a:lnTo>
                  <a:lnTo>
                    <a:pt x="0" y="96012"/>
                  </a:lnTo>
                  <a:lnTo>
                    <a:pt x="0" y="480060"/>
                  </a:lnTo>
                  <a:lnTo>
                    <a:pt x="7536" y="517403"/>
                  </a:lnTo>
                  <a:lnTo>
                    <a:pt x="28098" y="547925"/>
                  </a:lnTo>
                  <a:lnTo>
                    <a:pt x="58614" y="568517"/>
                  </a:lnTo>
                  <a:lnTo>
                    <a:pt x="96012" y="576072"/>
                  </a:lnTo>
                  <a:lnTo>
                    <a:pt x="2092071" y="576072"/>
                  </a:lnTo>
                  <a:lnTo>
                    <a:pt x="2129414" y="568517"/>
                  </a:lnTo>
                  <a:lnTo>
                    <a:pt x="2159936" y="547925"/>
                  </a:lnTo>
                  <a:lnTo>
                    <a:pt x="2180528" y="517403"/>
                  </a:lnTo>
                  <a:lnTo>
                    <a:pt x="2188083" y="480060"/>
                  </a:lnTo>
                  <a:lnTo>
                    <a:pt x="2188083" y="96012"/>
                  </a:lnTo>
                  <a:lnTo>
                    <a:pt x="2180528" y="58668"/>
                  </a:lnTo>
                  <a:lnTo>
                    <a:pt x="2159936" y="28146"/>
                  </a:lnTo>
                  <a:lnTo>
                    <a:pt x="2129414" y="7554"/>
                  </a:lnTo>
                  <a:lnTo>
                    <a:pt x="209207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29914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10" h="576580">
                  <a:moveTo>
                    <a:pt x="0" y="96012"/>
                  </a:moveTo>
                  <a:lnTo>
                    <a:pt x="7536" y="58668"/>
                  </a:lnTo>
                  <a:lnTo>
                    <a:pt x="28098" y="28146"/>
                  </a:lnTo>
                  <a:lnTo>
                    <a:pt x="58614" y="7554"/>
                  </a:lnTo>
                  <a:lnTo>
                    <a:pt x="96012" y="0"/>
                  </a:lnTo>
                  <a:lnTo>
                    <a:pt x="2092071" y="0"/>
                  </a:lnTo>
                  <a:lnTo>
                    <a:pt x="2129414" y="7554"/>
                  </a:lnTo>
                  <a:lnTo>
                    <a:pt x="2159936" y="28146"/>
                  </a:lnTo>
                  <a:lnTo>
                    <a:pt x="2180528" y="58668"/>
                  </a:lnTo>
                  <a:lnTo>
                    <a:pt x="2188083" y="96012"/>
                  </a:lnTo>
                  <a:lnTo>
                    <a:pt x="2188083" y="480060"/>
                  </a:lnTo>
                  <a:lnTo>
                    <a:pt x="2180528" y="517403"/>
                  </a:lnTo>
                  <a:lnTo>
                    <a:pt x="2159936" y="547925"/>
                  </a:lnTo>
                  <a:lnTo>
                    <a:pt x="2129414" y="568517"/>
                  </a:lnTo>
                  <a:lnTo>
                    <a:pt x="2092071" y="576072"/>
                  </a:lnTo>
                  <a:lnTo>
                    <a:pt x="96012" y="576072"/>
                  </a:lnTo>
                  <a:lnTo>
                    <a:pt x="58614" y="568517"/>
                  </a:lnTo>
                  <a:lnTo>
                    <a:pt x="28098" y="547925"/>
                  </a:lnTo>
                  <a:lnTo>
                    <a:pt x="7536" y="517403"/>
                  </a:lnTo>
                  <a:lnTo>
                    <a:pt x="0" y="480060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423028" y="994410"/>
            <a:ext cx="35058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90825" algn="l"/>
              </a:tabLst>
            </a:pPr>
            <a:r>
              <a:rPr sz="1600" spc="-10" dirty="0">
                <a:latin typeface="Calibri"/>
                <a:cs typeface="Calibri"/>
              </a:rPr>
              <a:t>Sender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10" dirty="0">
                <a:latin typeface="Calibri"/>
                <a:cs typeface="Calibri"/>
              </a:rPr>
              <a:t>Receiver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32808" y="1608582"/>
            <a:ext cx="5829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580" marR="5080" indent="-5651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From: </a:t>
            </a:r>
            <a:r>
              <a:rPr sz="1800" spc="-25" dirty="0">
                <a:latin typeface="Times New Roman"/>
                <a:cs typeface="Times New Roman"/>
              </a:rPr>
              <a:t>DLL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456171" y="1601850"/>
            <a:ext cx="2213610" cy="601980"/>
            <a:chOff x="6456171" y="1601850"/>
            <a:chExt cx="2213610" cy="601980"/>
          </a:xfrm>
        </p:grpSpPr>
        <p:sp>
          <p:nvSpPr>
            <p:cNvPr id="21" name="object 21"/>
            <p:cNvSpPr/>
            <p:nvPr/>
          </p:nvSpPr>
          <p:spPr>
            <a:xfrm>
              <a:off x="6468871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80">
                  <a:moveTo>
                    <a:pt x="2092071" y="0"/>
                  </a:moveTo>
                  <a:lnTo>
                    <a:pt x="96011" y="0"/>
                  </a:lnTo>
                  <a:lnTo>
                    <a:pt x="58614" y="7554"/>
                  </a:lnTo>
                  <a:lnTo>
                    <a:pt x="28098" y="28146"/>
                  </a:lnTo>
                  <a:lnTo>
                    <a:pt x="7536" y="58668"/>
                  </a:lnTo>
                  <a:lnTo>
                    <a:pt x="0" y="96012"/>
                  </a:lnTo>
                  <a:lnTo>
                    <a:pt x="0" y="480060"/>
                  </a:lnTo>
                  <a:lnTo>
                    <a:pt x="7536" y="517403"/>
                  </a:lnTo>
                  <a:lnTo>
                    <a:pt x="28098" y="547925"/>
                  </a:lnTo>
                  <a:lnTo>
                    <a:pt x="58614" y="568517"/>
                  </a:lnTo>
                  <a:lnTo>
                    <a:pt x="96011" y="576072"/>
                  </a:lnTo>
                  <a:lnTo>
                    <a:pt x="2092071" y="576072"/>
                  </a:lnTo>
                  <a:lnTo>
                    <a:pt x="2129414" y="568517"/>
                  </a:lnTo>
                  <a:lnTo>
                    <a:pt x="2159936" y="547925"/>
                  </a:lnTo>
                  <a:lnTo>
                    <a:pt x="2180528" y="517403"/>
                  </a:lnTo>
                  <a:lnTo>
                    <a:pt x="2188082" y="480060"/>
                  </a:lnTo>
                  <a:lnTo>
                    <a:pt x="2188082" y="96012"/>
                  </a:lnTo>
                  <a:lnTo>
                    <a:pt x="2180528" y="58668"/>
                  </a:lnTo>
                  <a:lnTo>
                    <a:pt x="2159936" y="28146"/>
                  </a:lnTo>
                  <a:lnTo>
                    <a:pt x="2129414" y="7554"/>
                  </a:lnTo>
                  <a:lnTo>
                    <a:pt x="209207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68871" y="1614550"/>
              <a:ext cx="2188210" cy="576580"/>
            </a:xfrm>
            <a:custGeom>
              <a:avLst/>
              <a:gdLst/>
              <a:ahLst/>
              <a:cxnLst/>
              <a:rect l="l" t="t" r="r" b="b"/>
              <a:pathLst>
                <a:path w="2188209" h="576580">
                  <a:moveTo>
                    <a:pt x="0" y="96012"/>
                  </a:moveTo>
                  <a:lnTo>
                    <a:pt x="7536" y="58668"/>
                  </a:lnTo>
                  <a:lnTo>
                    <a:pt x="28098" y="28146"/>
                  </a:lnTo>
                  <a:lnTo>
                    <a:pt x="58614" y="7554"/>
                  </a:lnTo>
                  <a:lnTo>
                    <a:pt x="96011" y="0"/>
                  </a:lnTo>
                  <a:lnTo>
                    <a:pt x="2092071" y="0"/>
                  </a:lnTo>
                  <a:lnTo>
                    <a:pt x="2129414" y="7554"/>
                  </a:lnTo>
                  <a:lnTo>
                    <a:pt x="2159936" y="28146"/>
                  </a:lnTo>
                  <a:lnTo>
                    <a:pt x="2180528" y="58668"/>
                  </a:lnTo>
                  <a:lnTo>
                    <a:pt x="2188082" y="96012"/>
                  </a:lnTo>
                  <a:lnTo>
                    <a:pt x="2188082" y="480060"/>
                  </a:lnTo>
                  <a:lnTo>
                    <a:pt x="2180528" y="517403"/>
                  </a:lnTo>
                  <a:lnTo>
                    <a:pt x="2159936" y="547925"/>
                  </a:lnTo>
                  <a:lnTo>
                    <a:pt x="2129414" y="568517"/>
                  </a:lnTo>
                  <a:lnTo>
                    <a:pt x="2092071" y="576072"/>
                  </a:lnTo>
                  <a:lnTo>
                    <a:pt x="96011" y="576072"/>
                  </a:lnTo>
                  <a:lnTo>
                    <a:pt x="58614" y="568517"/>
                  </a:lnTo>
                  <a:lnTo>
                    <a:pt x="28098" y="547925"/>
                  </a:lnTo>
                  <a:lnTo>
                    <a:pt x="7536" y="517403"/>
                  </a:lnTo>
                  <a:lnTo>
                    <a:pt x="0" y="480060"/>
                  </a:lnTo>
                  <a:lnTo>
                    <a:pt x="0" y="960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328407" y="1608582"/>
            <a:ext cx="469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985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To: DLL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717669" y="3114675"/>
            <a:ext cx="2886710" cy="866140"/>
            <a:chOff x="4717669" y="3114675"/>
            <a:chExt cx="2886710" cy="866140"/>
          </a:xfrm>
        </p:grpSpPr>
        <p:sp>
          <p:nvSpPr>
            <p:cNvPr id="25" name="object 25"/>
            <p:cNvSpPr/>
            <p:nvPr/>
          </p:nvSpPr>
          <p:spPr>
            <a:xfrm>
              <a:off x="5218556" y="3585591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245" y="0"/>
                  </a:moveTo>
                  <a:lnTo>
                    <a:pt x="146637" y="5026"/>
                  </a:lnTo>
                  <a:lnTo>
                    <a:pt x="106598" y="19343"/>
                  </a:lnTo>
                  <a:lnTo>
                    <a:pt x="71274" y="41807"/>
                  </a:lnTo>
                  <a:lnTo>
                    <a:pt x="41807" y="71274"/>
                  </a:lnTo>
                  <a:lnTo>
                    <a:pt x="19343" y="106598"/>
                  </a:lnTo>
                  <a:lnTo>
                    <a:pt x="5026" y="146637"/>
                  </a:lnTo>
                  <a:lnTo>
                    <a:pt x="0" y="190246"/>
                  </a:lnTo>
                  <a:lnTo>
                    <a:pt x="5026" y="233880"/>
                  </a:lnTo>
                  <a:lnTo>
                    <a:pt x="19343" y="273934"/>
                  </a:lnTo>
                  <a:lnTo>
                    <a:pt x="41807" y="309264"/>
                  </a:lnTo>
                  <a:lnTo>
                    <a:pt x="71274" y="338731"/>
                  </a:lnTo>
                  <a:lnTo>
                    <a:pt x="106598" y="361191"/>
                  </a:lnTo>
                  <a:lnTo>
                    <a:pt x="146637" y="375505"/>
                  </a:lnTo>
                  <a:lnTo>
                    <a:pt x="190245" y="380530"/>
                  </a:lnTo>
                  <a:lnTo>
                    <a:pt x="233894" y="375505"/>
                  </a:lnTo>
                  <a:lnTo>
                    <a:pt x="273948" y="361191"/>
                  </a:lnTo>
                  <a:lnTo>
                    <a:pt x="309271" y="338731"/>
                  </a:lnTo>
                  <a:lnTo>
                    <a:pt x="338724" y="309264"/>
                  </a:lnTo>
                  <a:lnTo>
                    <a:pt x="361170" y="273934"/>
                  </a:lnTo>
                  <a:lnTo>
                    <a:pt x="375471" y="233880"/>
                  </a:lnTo>
                  <a:lnTo>
                    <a:pt x="380491" y="190246"/>
                  </a:lnTo>
                  <a:lnTo>
                    <a:pt x="375471" y="146637"/>
                  </a:lnTo>
                  <a:lnTo>
                    <a:pt x="361170" y="106598"/>
                  </a:lnTo>
                  <a:lnTo>
                    <a:pt x="338724" y="71274"/>
                  </a:lnTo>
                  <a:lnTo>
                    <a:pt x="309271" y="41807"/>
                  </a:lnTo>
                  <a:lnTo>
                    <a:pt x="273948" y="19343"/>
                  </a:lnTo>
                  <a:lnTo>
                    <a:pt x="233894" y="5026"/>
                  </a:lnTo>
                  <a:lnTo>
                    <a:pt x="19024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18556" y="3585591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246"/>
                  </a:moveTo>
                  <a:lnTo>
                    <a:pt x="5026" y="146637"/>
                  </a:lnTo>
                  <a:lnTo>
                    <a:pt x="19343" y="106598"/>
                  </a:lnTo>
                  <a:lnTo>
                    <a:pt x="41807" y="71274"/>
                  </a:lnTo>
                  <a:lnTo>
                    <a:pt x="71274" y="41807"/>
                  </a:lnTo>
                  <a:lnTo>
                    <a:pt x="106598" y="19343"/>
                  </a:lnTo>
                  <a:lnTo>
                    <a:pt x="146637" y="5026"/>
                  </a:lnTo>
                  <a:lnTo>
                    <a:pt x="190245" y="0"/>
                  </a:lnTo>
                  <a:lnTo>
                    <a:pt x="233894" y="5026"/>
                  </a:lnTo>
                  <a:lnTo>
                    <a:pt x="273948" y="19343"/>
                  </a:lnTo>
                  <a:lnTo>
                    <a:pt x="309271" y="41807"/>
                  </a:lnTo>
                  <a:lnTo>
                    <a:pt x="338724" y="71274"/>
                  </a:lnTo>
                  <a:lnTo>
                    <a:pt x="361170" y="106598"/>
                  </a:lnTo>
                  <a:lnTo>
                    <a:pt x="375471" y="146637"/>
                  </a:lnTo>
                  <a:lnTo>
                    <a:pt x="380491" y="190246"/>
                  </a:lnTo>
                  <a:lnTo>
                    <a:pt x="375471" y="233880"/>
                  </a:lnTo>
                  <a:lnTo>
                    <a:pt x="361170" y="273934"/>
                  </a:lnTo>
                  <a:lnTo>
                    <a:pt x="338724" y="309264"/>
                  </a:lnTo>
                  <a:lnTo>
                    <a:pt x="309271" y="338731"/>
                  </a:lnTo>
                  <a:lnTo>
                    <a:pt x="273948" y="361191"/>
                  </a:lnTo>
                  <a:lnTo>
                    <a:pt x="233894" y="375505"/>
                  </a:lnTo>
                  <a:lnTo>
                    <a:pt x="190245" y="380530"/>
                  </a:lnTo>
                  <a:lnTo>
                    <a:pt x="146637" y="375505"/>
                  </a:lnTo>
                  <a:lnTo>
                    <a:pt x="106598" y="361191"/>
                  </a:lnTo>
                  <a:lnTo>
                    <a:pt x="71274" y="338731"/>
                  </a:lnTo>
                  <a:lnTo>
                    <a:pt x="41807" y="309264"/>
                  </a:lnTo>
                  <a:lnTo>
                    <a:pt x="19343" y="273934"/>
                  </a:lnTo>
                  <a:lnTo>
                    <a:pt x="5026" y="233880"/>
                  </a:lnTo>
                  <a:lnTo>
                    <a:pt x="0" y="190246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590157" y="3585591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246" y="0"/>
                  </a:moveTo>
                  <a:lnTo>
                    <a:pt x="146637" y="5026"/>
                  </a:lnTo>
                  <a:lnTo>
                    <a:pt x="106598" y="19343"/>
                  </a:lnTo>
                  <a:lnTo>
                    <a:pt x="71274" y="41807"/>
                  </a:lnTo>
                  <a:lnTo>
                    <a:pt x="41807" y="71274"/>
                  </a:lnTo>
                  <a:lnTo>
                    <a:pt x="19343" y="106598"/>
                  </a:lnTo>
                  <a:lnTo>
                    <a:pt x="5026" y="146637"/>
                  </a:lnTo>
                  <a:lnTo>
                    <a:pt x="0" y="190246"/>
                  </a:lnTo>
                  <a:lnTo>
                    <a:pt x="5026" y="233880"/>
                  </a:lnTo>
                  <a:lnTo>
                    <a:pt x="19343" y="273934"/>
                  </a:lnTo>
                  <a:lnTo>
                    <a:pt x="41807" y="309264"/>
                  </a:lnTo>
                  <a:lnTo>
                    <a:pt x="71274" y="338731"/>
                  </a:lnTo>
                  <a:lnTo>
                    <a:pt x="106598" y="361191"/>
                  </a:lnTo>
                  <a:lnTo>
                    <a:pt x="146637" y="375505"/>
                  </a:lnTo>
                  <a:lnTo>
                    <a:pt x="190246" y="380530"/>
                  </a:lnTo>
                  <a:lnTo>
                    <a:pt x="233894" y="375505"/>
                  </a:lnTo>
                  <a:lnTo>
                    <a:pt x="273948" y="361191"/>
                  </a:lnTo>
                  <a:lnTo>
                    <a:pt x="309271" y="338731"/>
                  </a:lnTo>
                  <a:lnTo>
                    <a:pt x="338724" y="309264"/>
                  </a:lnTo>
                  <a:lnTo>
                    <a:pt x="361170" y="273934"/>
                  </a:lnTo>
                  <a:lnTo>
                    <a:pt x="375471" y="233880"/>
                  </a:lnTo>
                  <a:lnTo>
                    <a:pt x="380492" y="190246"/>
                  </a:lnTo>
                  <a:lnTo>
                    <a:pt x="375471" y="146637"/>
                  </a:lnTo>
                  <a:lnTo>
                    <a:pt x="361170" y="106598"/>
                  </a:lnTo>
                  <a:lnTo>
                    <a:pt x="338724" y="71274"/>
                  </a:lnTo>
                  <a:lnTo>
                    <a:pt x="309271" y="41807"/>
                  </a:lnTo>
                  <a:lnTo>
                    <a:pt x="273948" y="19343"/>
                  </a:lnTo>
                  <a:lnTo>
                    <a:pt x="233894" y="5026"/>
                  </a:lnTo>
                  <a:lnTo>
                    <a:pt x="19024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09056" y="3585209"/>
              <a:ext cx="1562100" cy="382905"/>
            </a:xfrm>
            <a:custGeom>
              <a:avLst/>
              <a:gdLst/>
              <a:ahLst/>
              <a:cxnLst/>
              <a:rect l="l" t="t" r="r" b="b"/>
              <a:pathLst>
                <a:path w="1562100" h="382904">
                  <a:moveTo>
                    <a:pt x="1181099" y="190626"/>
                  </a:moveTo>
                  <a:lnTo>
                    <a:pt x="1186126" y="147018"/>
                  </a:lnTo>
                  <a:lnTo>
                    <a:pt x="1200443" y="106979"/>
                  </a:lnTo>
                  <a:lnTo>
                    <a:pt x="1222907" y="71655"/>
                  </a:lnTo>
                  <a:lnTo>
                    <a:pt x="1252374" y="42188"/>
                  </a:lnTo>
                  <a:lnTo>
                    <a:pt x="1287698" y="19724"/>
                  </a:lnTo>
                  <a:lnTo>
                    <a:pt x="1327737" y="5407"/>
                  </a:lnTo>
                  <a:lnTo>
                    <a:pt x="1371345" y="380"/>
                  </a:lnTo>
                  <a:lnTo>
                    <a:pt x="1414994" y="5407"/>
                  </a:lnTo>
                  <a:lnTo>
                    <a:pt x="1455048" y="19724"/>
                  </a:lnTo>
                  <a:lnTo>
                    <a:pt x="1490371" y="42188"/>
                  </a:lnTo>
                  <a:lnTo>
                    <a:pt x="1519824" y="71655"/>
                  </a:lnTo>
                  <a:lnTo>
                    <a:pt x="1542270" y="106979"/>
                  </a:lnTo>
                  <a:lnTo>
                    <a:pt x="1556571" y="147018"/>
                  </a:lnTo>
                  <a:lnTo>
                    <a:pt x="1561591" y="190626"/>
                  </a:lnTo>
                  <a:lnTo>
                    <a:pt x="1556571" y="234261"/>
                  </a:lnTo>
                  <a:lnTo>
                    <a:pt x="1542270" y="274315"/>
                  </a:lnTo>
                  <a:lnTo>
                    <a:pt x="1519824" y="309645"/>
                  </a:lnTo>
                  <a:lnTo>
                    <a:pt x="1490371" y="339112"/>
                  </a:lnTo>
                  <a:lnTo>
                    <a:pt x="1455048" y="361572"/>
                  </a:lnTo>
                  <a:lnTo>
                    <a:pt x="1414994" y="375886"/>
                  </a:lnTo>
                  <a:lnTo>
                    <a:pt x="1371345" y="380911"/>
                  </a:lnTo>
                  <a:lnTo>
                    <a:pt x="1327737" y="375886"/>
                  </a:lnTo>
                  <a:lnTo>
                    <a:pt x="1287698" y="361572"/>
                  </a:lnTo>
                  <a:lnTo>
                    <a:pt x="1252374" y="339112"/>
                  </a:lnTo>
                  <a:lnTo>
                    <a:pt x="1222907" y="309645"/>
                  </a:lnTo>
                  <a:lnTo>
                    <a:pt x="1200443" y="274315"/>
                  </a:lnTo>
                  <a:lnTo>
                    <a:pt x="1186126" y="234261"/>
                  </a:lnTo>
                  <a:lnTo>
                    <a:pt x="1181099" y="190626"/>
                  </a:lnTo>
                  <a:close/>
                </a:path>
                <a:path w="1562100" h="382904">
                  <a:moveTo>
                    <a:pt x="0" y="0"/>
                  </a:moveTo>
                  <a:lnTo>
                    <a:pt x="1371599" y="1650"/>
                  </a:lnTo>
                </a:path>
                <a:path w="1562100" h="382904">
                  <a:moveTo>
                    <a:pt x="0" y="381266"/>
                  </a:moveTo>
                  <a:lnTo>
                    <a:pt x="1371599" y="38285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717669" y="3114674"/>
              <a:ext cx="2886710" cy="699135"/>
            </a:xfrm>
            <a:custGeom>
              <a:avLst/>
              <a:gdLst/>
              <a:ahLst/>
              <a:cxnLst/>
              <a:rect l="l" t="t" r="r" b="b"/>
              <a:pathLst>
                <a:path w="2886709" h="699135">
                  <a:moveTo>
                    <a:pt x="500888" y="661035"/>
                  </a:moveTo>
                  <a:lnTo>
                    <a:pt x="475488" y="648347"/>
                  </a:lnTo>
                  <a:lnTo>
                    <a:pt x="424688" y="622935"/>
                  </a:lnTo>
                  <a:lnTo>
                    <a:pt x="424688" y="648347"/>
                  </a:lnTo>
                  <a:lnTo>
                    <a:pt x="25400" y="648347"/>
                  </a:lnTo>
                  <a:lnTo>
                    <a:pt x="25400" y="0"/>
                  </a:lnTo>
                  <a:lnTo>
                    <a:pt x="0" y="0"/>
                  </a:lnTo>
                  <a:lnTo>
                    <a:pt x="0" y="668020"/>
                  </a:lnTo>
                  <a:lnTo>
                    <a:pt x="5715" y="673735"/>
                  </a:lnTo>
                  <a:lnTo>
                    <a:pt x="424688" y="673735"/>
                  </a:lnTo>
                  <a:lnTo>
                    <a:pt x="424688" y="699135"/>
                  </a:lnTo>
                  <a:lnTo>
                    <a:pt x="475488" y="673735"/>
                  </a:lnTo>
                  <a:lnTo>
                    <a:pt x="500888" y="661035"/>
                  </a:lnTo>
                  <a:close/>
                </a:path>
                <a:path w="2886709" h="699135">
                  <a:moveTo>
                    <a:pt x="2886202" y="94234"/>
                  </a:moveTo>
                  <a:lnTo>
                    <a:pt x="2879852" y="81534"/>
                  </a:lnTo>
                  <a:lnTo>
                    <a:pt x="2848102" y="18034"/>
                  </a:lnTo>
                  <a:lnTo>
                    <a:pt x="2810002" y="94234"/>
                  </a:lnTo>
                  <a:lnTo>
                    <a:pt x="2835402" y="94234"/>
                  </a:lnTo>
                  <a:lnTo>
                    <a:pt x="2835402" y="648335"/>
                  </a:lnTo>
                  <a:lnTo>
                    <a:pt x="2253742" y="648335"/>
                  </a:lnTo>
                  <a:lnTo>
                    <a:pt x="2253742" y="673735"/>
                  </a:lnTo>
                  <a:lnTo>
                    <a:pt x="2855087" y="673735"/>
                  </a:lnTo>
                  <a:lnTo>
                    <a:pt x="2860802" y="668020"/>
                  </a:lnTo>
                  <a:lnTo>
                    <a:pt x="2860802" y="661035"/>
                  </a:lnTo>
                  <a:lnTo>
                    <a:pt x="2860802" y="648335"/>
                  </a:lnTo>
                  <a:lnTo>
                    <a:pt x="2860802" y="94234"/>
                  </a:lnTo>
                  <a:lnTo>
                    <a:pt x="2886202" y="942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721477" y="3612007"/>
            <a:ext cx="774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medium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79728" y="4588154"/>
            <a:ext cx="139065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800" dirty="0">
                <a:latin typeface="Times New Roman"/>
                <a:cs typeface="Times New Roman"/>
              </a:rPr>
              <a:t>Physical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4926584" y="4287494"/>
          <a:ext cx="3099434" cy="611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3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165">
                <a:tc gridSpan="5"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DSPF1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OSI</a:t>
            </a:r>
            <a:r>
              <a:rPr spc="-55" dirty="0"/>
              <a:t> </a:t>
            </a:r>
            <a:r>
              <a:rPr dirty="0"/>
              <a:t>reference</a:t>
            </a:r>
            <a:r>
              <a:rPr spc="-55" dirty="0"/>
              <a:t> </a:t>
            </a:r>
            <a:r>
              <a:rPr dirty="0"/>
              <a:t>model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its</a:t>
            </a:r>
            <a:r>
              <a:rPr spc="-30" dirty="0"/>
              <a:t> </a:t>
            </a:r>
            <a:r>
              <a:rPr dirty="0"/>
              <a:t>services</a:t>
            </a:r>
            <a:r>
              <a:rPr spc="-45" dirty="0"/>
              <a:t> </a:t>
            </a:r>
            <a:r>
              <a:rPr spc="-10" dirty="0"/>
              <a:t>(review)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889375" y="998714"/>
            <a:ext cx="4949190" cy="26162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Purpose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latin typeface="Times New Roman"/>
                <a:cs typeface="Times New Roman"/>
              </a:rPr>
              <a:t>Transmits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raw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across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medium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Functional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ts val="2375"/>
              </a:lnSpc>
              <a:spcBef>
                <a:spcPts val="47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Flow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(simplex,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half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duplex,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full</a:t>
            </a:r>
            <a:endParaRPr sz="2000">
              <a:latin typeface="Times New Roman"/>
              <a:cs typeface="Times New Roman"/>
            </a:endParaRPr>
          </a:p>
          <a:p>
            <a:pPr marL="756285">
              <a:lnSpc>
                <a:spcPts val="2375"/>
              </a:lnSpc>
            </a:pPr>
            <a:r>
              <a:rPr sz="2000" spc="-10" dirty="0">
                <a:latin typeface="Times New Roman"/>
                <a:cs typeface="Times New Roman"/>
              </a:rPr>
              <a:t>duplex)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latin typeface="Times New Roman"/>
                <a:cs typeface="Times New Roman"/>
              </a:rPr>
              <a:t>Topology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latin typeface="Times New Roman"/>
                <a:cs typeface="Times New Roman"/>
              </a:rPr>
              <a:t>Encoding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9485" y="971677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373"/>
                </a:moveTo>
                <a:lnTo>
                  <a:pt x="4982" y="38683"/>
                </a:lnTo>
                <a:lnTo>
                  <a:pt x="18570" y="18542"/>
                </a:lnTo>
                <a:lnTo>
                  <a:pt x="38726" y="4972"/>
                </a:lnTo>
                <a:lnTo>
                  <a:pt x="63411" y="0"/>
                </a:lnTo>
                <a:lnTo>
                  <a:pt x="2069960" y="0"/>
                </a:lnTo>
                <a:lnTo>
                  <a:pt x="2094649" y="4972"/>
                </a:lnTo>
                <a:lnTo>
                  <a:pt x="2114791" y="18542"/>
                </a:lnTo>
                <a:lnTo>
                  <a:pt x="2128360" y="38683"/>
                </a:lnTo>
                <a:lnTo>
                  <a:pt x="2133333" y="63373"/>
                </a:lnTo>
                <a:lnTo>
                  <a:pt x="2133333" y="317119"/>
                </a:lnTo>
                <a:lnTo>
                  <a:pt x="2128360" y="341755"/>
                </a:lnTo>
                <a:lnTo>
                  <a:pt x="2114791" y="361902"/>
                </a:lnTo>
                <a:lnTo>
                  <a:pt x="2094649" y="375501"/>
                </a:lnTo>
                <a:lnTo>
                  <a:pt x="2069960" y="380492"/>
                </a:lnTo>
                <a:lnTo>
                  <a:pt x="63411" y="380492"/>
                </a:lnTo>
                <a:lnTo>
                  <a:pt x="38726" y="375501"/>
                </a:lnTo>
                <a:lnTo>
                  <a:pt x="18570" y="361902"/>
                </a:lnTo>
                <a:lnTo>
                  <a:pt x="4982" y="341755"/>
                </a:lnTo>
                <a:lnTo>
                  <a:pt x="0" y="317119"/>
                </a:lnTo>
                <a:lnTo>
                  <a:pt x="0" y="6337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27328" y="1004696"/>
            <a:ext cx="1696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Application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1644" y="1564513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500"/>
                </a:moveTo>
                <a:lnTo>
                  <a:pt x="4982" y="38790"/>
                </a:lnTo>
                <a:lnTo>
                  <a:pt x="18570" y="18605"/>
                </a:lnTo>
                <a:lnTo>
                  <a:pt x="38726" y="4992"/>
                </a:lnTo>
                <a:lnTo>
                  <a:pt x="63411" y="0"/>
                </a:lnTo>
                <a:lnTo>
                  <a:pt x="2069960" y="0"/>
                </a:lnTo>
                <a:lnTo>
                  <a:pt x="2094649" y="4992"/>
                </a:lnTo>
                <a:lnTo>
                  <a:pt x="2114791" y="18605"/>
                </a:lnTo>
                <a:lnTo>
                  <a:pt x="2128360" y="38790"/>
                </a:lnTo>
                <a:lnTo>
                  <a:pt x="2133333" y="63500"/>
                </a:lnTo>
                <a:lnTo>
                  <a:pt x="2133333" y="317119"/>
                </a:lnTo>
                <a:lnTo>
                  <a:pt x="2128360" y="341828"/>
                </a:lnTo>
                <a:lnTo>
                  <a:pt x="2114791" y="362013"/>
                </a:lnTo>
                <a:lnTo>
                  <a:pt x="2094649" y="375626"/>
                </a:lnTo>
                <a:lnTo>
                  <a:pt x="2069960" y="380619"/>
                </a:lnTo>
                <a:lnTo>
                  <a:pt x="63411" y="380619"/>
                </a:lnTo>
                <a:lnTo>
                  <a:pt x="38726" y="375626"/>
                </a:lnTo>
                <a:lnTo>
                  <a:pt x="18570" y="362013"/>
                </a:lnTo>
                <a:lnTo>
                  <a:pt x="4982" y="341828"/>
                </a:lnTo>
                <a:lnTo>
                  <a:pt x="0" y="317119"/>
                </a:lnTo>
                <a:lnTo>
                  <a:pt x="0" y="635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03554" y="1597914"/>
            <a:ext cx="17456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Presentation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0024" y="1352422"/>
            <a:ext cx="2159000" cy="1198245"/>
            <a:chOff x="600024" y="1352422"/>
            <a:chExt cx="2159000" cy="119824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9569" y="1352422"/>
              <a:ext cx="76200" cy="21183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12724" y="2157475"/>
              <a:ext cx="2133600" cy="381000"/>
            </a:xfrm>
            <a:custGeom>
              <a:avLst/>
              <a:gdLst/>
              <a:ahLst/>
              <a:cxnLst/>
              <a:rect l="l" t="t" r="r" b="b"/>
              <a:pathLst>
                <a:path w="2133600" h="381000">
                  <a:moveTo>
                    <a:pt x="0" y="63373"/>
                  </a:moveTo>
                  <a:lnTo>
                    <a:pt x="4982" y="38736"/>
                  </a:lnTo>
                  <a:lnTo>
                    <a:pt x="18570" y="18589"/>
                  </a:lnTo>
                  <a:lnTo>
                    <a:pt x="38726" y="4990"/>
                  </a:lnTo>
                  <a:lnTo>
                    <a:pt x="63411" y="0"/>
                  </a:lnTo>
                  <a:lnTo>
                    <a:pt x="2069896" y="0"/>
                  </a:lnTo>
                  <a:lnTo>
                    <a:pt x="2094606" y="4990"/>
                  </a:lnTo>
                  <a:lnTo>
                    <a:pt x="2114791" y="18589"/>
                  </a:lnTo>
                  <a:lnTo>
                    <a:pt x="2128404" y="38736"/>
                  </a:lnTo>
                  <a:lnTo>
                    <a:pt x="2133396" y="63373"/>
                  </a:lnTo>
                  <a:lnTo>
                    <a:pt x="2133396" y="317119"/>
                  </a:lnTo>
                  <a:lnTo>
                    <a:pt x="2128404" y="341808"/>
                  </a:lnTo>
                  <a:lnTo>
                    <a:pt x="2114791" y="361950"/>
                  </a:lnTo>
                  <a:lnTo>
                    <a:pt x="2094606" y="375519"/>
                  </a:lnTo>
                  <a:lnTo>
                    <a:pt x="2069896" y="380492"/>
                  </a:lnTo>
                  <a:lnTo>
                    <a:pt x="63411" y="380492"/>
                  </a:lnTo>
                  <a:lnTo>
                    <a:pt x="38726" y="375519"/>
                  </a:lnTo>
                  <a:lnTo>
                    <a:pt x="18570" y="361950"/>
                  </a:lnTo>
                  <a:lnTo>
                    <a:pt x="4982" y="341808"/>
                  </a:lnTo>
                  <a:lnTo>
                    <a:pt x="0" y="317119"/>
                  </a:lnTo>
                  <a:lnTo>
                    <a:pt x="0" y="63373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021181" y="2191004"/>
            <a:ext cx="1315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Session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01814" y="1945385"/>
            <a:ext cx="2159000" cy="1198245"/>
            <a:chOff x="601814" y="1945385"/>
            <a:chExt cx="2159000" cy="1198245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0713" y="1945385"/>
              <a:ext cx="76200" cy="21170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14514" y="2750438"/>
              <a:ext cx="2133600" cy="381000"/>
            </a:xfrm>
            <a:custGeom>
              <a:avLst/>
              <a:gdLst/>
              <a:ahLst/>
              <a:cxnLst/>
              <a:rect l="l" t="t" r="r" b="b"/>
              <a:pathLst>
                <a:path w="2133600" h="381000">
                  <a:moveTo>
                    <a:pt x="0" y="63373"/>
                  </a:moveTo>
                  <a:lnTo>
                    <a:pt x="4984" y="38683"/>
                  </a:lnTo>
                  <a:lnTo>
                    <a:pt x="18576" y="18542"/>
                  </a:lnTo>
                  <a:lnTo>
                    <a:pt x="38736" y="4972"/>
                  </a:lnTo>
                  <a:lnTo>
                    <a:pt x="63423" y="0"/>
                  </a:lnTo>
                  <a:lnTo>
                    <a:pt x="2069884" y="0"/>
                  </a:lnTo>
                  <a:lnTo>
                    <a:pt x="2094593" y="4972"/>
                  </a:lnTo>
                  <a:lnTo>
                    <a:pt x="2114778" y="18542"/>
                  </a:lnTo>
                  <a:lnTo>
                    <a:pt x="2128391" y="38683"/>
                  </a:lnTo>
                  <a:lnTo>
                    <a:pt x="2133384" y="63373"/>
                  </a:lnTo>
                  <a:lnTo>
                    <a:pt x="2133384" y="317119"/>
                  </a:lnTo>
                  <a:lnTo>
                    <a:pt x="2128391" y="341755"/>
                  </a:lnTo>
                  <a:lnTo>
                    <a:pt x="2114778" y="361902"/>
                  </a:lnTo>
                  <a:lnTo>
                    <a:pt x="2094593" y="375501"/>
                  </a:lnTo>
                  <a:lnTo>
                    <a:pt x="2069884" y="380492"/>
                  </a:lnTo>
                  <a:lnTo>
                    <a:pt x="63423" y="380492"/>
                  </a:lnTo>
                  <a:lnTo>
                    <a:pt x="38736" y="375501"/>
                  </a:lnTo>
                  <a:lnTo>
                    <a:pt x="18576" y="361902"/>
                  </a:lnTo>
                  <a:lnTo>
                    <a:pt x="4984" y="341755"/>
                  </a:lnTo>
                  <a:lnTo>
                    <a:pt x="0" y="317119"/>
                  </a:lnTo>
                  <a:lnTo>
                    <a:pt x="0" y="6337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31570" y="2783789"/>
            <a:ext cx="1498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Transport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93902" y="2538222"/>
            <a:ext cx="2159000" cy="1198880"/>
            <a:chOff x="593902" y="2538222"/>
            <a:chExt cx="2159000" cy="119888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42491" y="2538222"/>
              <a:ext cx="76200" cy="21183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06602" y="3343275"/>
              <a:ext cx="2133600" cy="381000"/>
            </a:xfrm>
            <a:custGeom>
              <a:avLst/>
              <a:gdLst/>
              <a:ahLst/>
              <a:cxnLst/>
              <a:rect l="l" t="t" r="r" b="b"/>
              <a:pathLst>
                <a:path w="2133600" h="381000">
                  <a:moveTo>
                    <a:pt x="0" y="63500"/>
                  </a:moveTo>
                  <a:lnTo>
                    <a:pt x="4984" y="38790"/>
                  </a:lnTo>
                  <a:lnTo>
                    <a:pt x="18576" y="18605"/>
                  </a:lnTo>
                  <a:lnTo>
                    <a:pt x="38736" y="4992"/>
                  </a:lnTo>
                  <a:lnTo>
                    <a:pt x="63423" y="0"/>
                  </a:lnTo>
                  <a:lnTo>
                    <a:pt x="2069922" y="0"/>
                  </a:lnTo>
                  <a:lnTo>
                    <a:pt x="2094611" y="4992"/>
                  </a:lnTo>
                  <a:lnTo>
                    <a:pt x="2114753" y="18605"/>
                  </a:lnTo>
                  <a:lnTo>
                    <a:pt x="2128322" y="38790"/>
                  </a:lnTo>
                  <a:lnTo>
                    <a:pt x="2133295" y="63500"/>
                  </a:lnTo>
                  <a:lnTo>
                    <a:pt x="2133295" y="317119"/>
                  </a:lnTo>
                  <a:lnTo>
                    <a:pt x="2128322" y="341828"/>
                  </a:lnTo>
                  <a:lnTo>
                    <a:pt x="2114753" y="362013"/>
                  </a:lnTo>
                  <a:lnTo>
                    <a:pt x="2094611" y="375626"/>
                  </a:lnTo>
                  <a:lnTo>
                    <a:pt x="2069922" y="380619"/>
                  </a:lnTo>
                  <a:lnTo>
                    <a:pt x="63423" y="380619"/>
                  </a:lnTo>
                  <a:lnTo>
                    <a:pt x="38736" y="375626"/>
                  </a:lnTo>
                  <a:lnTo>
                    <a:pt x="18576" y="362013"/>
                  </a:lnTo>
                  <a:lnTo>
                    <a:pt x="4984" y="341828"/>
                  </a:lnTo>
                  <a:lnTo>
                    <a:pt x="0" y="317119"/>
                  </a:lnTo>
                  <a:lnTo>
                    <a:pt x="0" y="635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63269" y="3376929"/>
            <a:ext cx="141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Network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94982" y="3130804"/>
            <a:ext cx="2159000" cy="1198880"/>
            <a:chOff x="594982" y="3130804"/>
            <a:chExt cx="2159000" cy="1198880"/>
          </a:xfrm>
        </p:grpSpPr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37156" y="3130804"/>
              <a:ext cx="76200" cy="21221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07682" y="3936238"/>
              <a:ext cx="2133600" cy="381000"/>
            </a:xfrm>
            <a:custGeom>
              <a:avLst/>
              <a:gdLst/>
              <a:ahLst/>
              <a:cxnLst/>
              <a:rect l="l" t="t" r="r" b="b"/>
              <a:pathLst>
                <a:path w="2133600" h="381000">
                  <a:moveTo>
                    <a:pt x="0" y="63423"/>
                  </a:moveTo>
                  <a:lnTo>
                    <a:pt x="4984" y="38736"/>
                  </a:lnTo>
                  <a:lnTo>
                    <a:pt x="18576" y="18576"/>
                  </a:lnTo>
                  <a:lnTo>
                    <a:pt x="38736" y="4984"/>
                  </a:lnTo>
                  <a:lnTo>
                    <a:pt x="63423" y="0"/>
                  </a:lnTo>
                  <a:lnTo>
                    <a:pt x="2069985" y="0"/>
                  </a:lnTo>
                  <a:lnTo>
                    <a:pt x="2094621" y="4984"/>
                  </a:lnTo>
                  <a:lnTo>
                    <a:pt x="2114769" y="18576"/>
                  </a:lnTo>
                  <a:lnTo>
                    <a:pt x="2128367" y="38736"/>
                  </a:lnTo>
                  <a:lnTo>
                    <a:pt x="2133358" y="63423"/>
                  </a:lnTo>
                  <a:lnTo>
                    <a:pt x="2133358" y="317106"/>
                  </a:lnTo>
                  <a:lnTo>
                    <a:pt x="2128367" y="341791"/>
                  </a:lnTo>
                  <a:lnTo>
                    <a:pt x="2114769" y="361946"/>
                  </a:lnTo>
                  <a:lnTo>
                    <a:pt x="2094621" y="375535"/>
                  </a:lnTo>
                  <a:lnTo>
                    <a:pt x="2069985" y="380517"/>
                  </a:lnTo>
                  <a:lnTo>
                    <a:pt x="63423" y="380517"/>
                  </a:lnTo>
                  <a:lnTo>
                    <a:pt x="38736" y="375535"/>
                  </a:lnTo>
                  <a:lnTo>
                    <a:pt x="18576" y="361946"/>
                  </a:lnTo>
                  <a:lnTo>
                    <a:pt x="4984" y="341791"/>
                  </a:lnTo>
                  <a:lnTo>
                    <a:pt x="0" y="317106"/>
                  </a:lnTo>
                  <a:lnTo>
                    <a:pt x="0" y="6342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942847" y="3970121"/>
            <a:ext cx="1461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link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96785" y="3724147"/>
            <a:ext cx="2159000" cy="1198245"/>
            <a:chOff x="596785" y="3724147"/>
            <a:chExt cx="2159000" cy="1198245"/>
          </a:xfrm>
        </p:grpSpPr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35633" y="3724147"/>
              <a:ext cx="76200" cy="21173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09485" y="4529162"/>
              <a:ext cx="2133600" cy="381000"/>
            </a:xfrm>
            <a:custGeom>
              <a:avLst/>
              <a:gdLst/>
              <a:ahLst/>
              <a:cxnLst/>
              <a:rect l="l" t="t" r="r" b="b"/>
              <a:pathLst>
                <a:path w="2133600" h="381000">
                  <a:moveTo>
                    <a:pt x="0" y="63423"/>
                  </a:moveTo>
                  <a:lnTo>
                    <a:pt x="4982" y="38736"/>
                  </a:lnTo>
                  <a:lnTo>
                    <a:pt x="18570" y="18576"/>
                  </a:lnTo>
                  <a:lnTo>
                    <a:pt x="38726" y="4984"/>
                  </a:lnTo>
                  <a:lnTo>
                    <a:pt x="63411" y="0"/>
                  </a:lnTo>
                  <a:lnTo>
                    <a:pt x="2069960" y="0"/>
                  </a:lnTo>
                  <a:lnTo>
                    <a:pt x="2094649" y="4984"/>
                  </a:lnTo>
                  <a:lnTo>
                    <a:pt x="2114791" y="18576"/>
                  </a:lnTo>
                  <a:lnTo>
                    <a:pt x="2128360" y="38736"/>
                  </a:lnTo>
                  <a:lnTo>
                    <a:pt x="2133333" y="63423"/>
                  </a:lnTo>
                  <a:lnTo>
                    <a:pt x="2133333" y="317093"/>
                  </a:lnTo>
                  <a:lnTo>
                    <a:pt x="2128360" y="341780"/>
                  </a:lnTo>
                  <a:lnTo>
                    <a:pt x="2114791" y="361940"/>
                  </a:lnTo>
                  <a:lnTo>
                    <a:pt x="2094649" y="375533"/>
                  </a:lnTo>
                  <a:lnTo>
                    <a:pt x="2069960" y="380517"/>
                  </a:lnTo>
                  <a:lnTo>
                    <a:pt x="63411" y="380517"/>
                  </a:lnTo>
                  <a:lnTo>
                    <a:pt x="38726" y="375533"/>
                  </a:lnTo>
                  <a:lnTo>
                    <a:pt x="18570" y="361940"/>
                  </a:lnTo>
                  <a:lnTo>
                    <a:pt x="4982" y="341780"/>
                  </a:lnTo>
                  <a:lnTo>
                    <a:pt x="0" y="317093"/>
                  </a:lnTo>
                  <a:lnTo>
                    <a:pt x="0" y="6342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37411" y="4317009"/>
              <a:ext cx="76200" cy="211785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979728" y="4588154"/>
            <a:ext cx="139065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800" dirty="0">
                <a:latin typeface="Times New Roman"/>
                <a:cs typeface="Times New Roman"/>
              </a:rPr>
              <a:t>Physical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991997"/>
            <a:ext cx="9155430" cy="4149090"/>
            <a:chOff x="-6350" y="991997"/>
            <a:chExt cx="9155430" cy="41490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35426" y="991997"/>
              <a:ext cx="3122168" cy="3966171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</a:t>
            </a:r>
            <a:r>
              <a:rPr spc="-50" dirty="0"/>
              <a:t> </a:t>
            </a:r>
            <a:r>
              <a:rPr dirty="0"/>
              <a:t>exchange</a:t>
            </a:r>
            <a:r>
              <a:rPr spc="-60" dirty="0"/>
              <a:t> </a:t>
            </a:r>
            <a:r>
              <a:rPr dirty="0"/>
              <a:t>using</a:t>
            </a:r>
            <a:r>
              <a:rPr spc="-50" dirty="0"/>
              <a:t> </a:t>
            </a:r>
            <a:r>
              <a:rPr dirty="0"/>
              <a:t>OSI</a:t>
            </a:r>
            <a:r>
              <a:rPr spc="-35" dirty="0"/>
              <a:t> </a:t>
            </a:r>
            <a:r>
              <a:rPr dirty="0"/>
              <a:t>reference</a:t>
            </a:r>
            <a:r>
              <a:rPr spc="-65" dirty="0"/>
              <a:t> </a:t>
            </a:r>
            <a:r>
              <a:rPr spc="-10" dirty="0"/>
              <a:t>model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64204" y="1037971"/>
            <a:ext cx="2860675" cy="32658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  <a:tabLst>
                <a:tab pos="2682240" algn="l"/>
              </a:tabLst>
            </a:pPr>
            <a:r>
              <a:rPr sz="1800" spc="-50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0" dirty="0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800">
              <a:latin typeface="Times New Roman"/>
              <a:cs typeface="Times New Roman"/>
            </a:endParaRPr>
          </a:p>
          <a:p>
            <a:pPr marL="36830">
              <a:lnSpc>
                <a:spcPct val="100000"/>
              </a:lnSpc>
              <a:tabLst>
                <a:tab pos="2704465" algn="l"/>
              </a:tabLst>
            </a:pPr>
            <a:r>
              <a:rPr sz="1800" spc="-50" dirty="0">
                <a:latin typeface="Times New Roman"/>
                <a:cs typeface="Times New Roman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0" dirty="0">
                <a:latin typeface="Times New Roman"/>
                <a:cs typeface="Times New Roman"/>
              </a:rPr>
              <a:t>P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tabLst>
                <a:tab pos="2705735" algn="l"/>
              </a:tabLst>
            </a:pPr>
            <a:r>
              <a:rPr sz="1800" spc="-50" dirty="0">
                <a:latin typeface="Times New Roman"/>
                <a:cs typeface="Times New Roman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0" dirty="0"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800">
              <a:latin typeface="Times New Roman"/>
              <a:cs typeface="Times New Roman"/>
            </a:endParaRPr>
          </a:p>
          <a:p>
            <a:pPr marL="32384">
              <a:lnSpc>
                <a:spcPct val="100000"/>
              </a:lnSpc>
              <a:spcBef>
                <a:spcPts val="5"/>
              </a:spcBef>
              <a:tabLst>
                <a:tab pos="2700020" algn="l"/>
              </a:tabLst>
            </a:pPr>
            <a:r>
              <a:rPr sz="1800" spc="-50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0" dirty="0">
                <a:latin typeface="Times New Roman"/>
                <a:cs typeface="Times New Roman"/>
              </a:rPr>
              <a:t>T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679700" algn="l"/>
              </a:tabLst>
            </a:pPr>
            <a:r>
              <a:rPr sz="1800" spc="-50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0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680335" algn="l"/>
              </a:tabLst>
            </a:pPr>
            <a:r>
              <a:rPr sz="1800" spc="-50" dirty="0">
                <a:latin typeface="Times New Roman"/>
                <a:cs typeface="Times New Roman"/>
              </a:rPr>
              <a:t>D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0" dirty="0">
                <a:latin typeface="Times New Roman"/>
                <a:cs typeface="Times New Roman"/>
              </a:rPr>
              <a:t>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86810" y="4596790"/>
            <a:ext cx="282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79700" algn="l"/>
              </a:tabLst>
            </a:pPr>
            <a:r>
              <a:rPr sz="1800" spc="-50" dirty="0">
                <a:latin typeface="Times New Roman"/>
                <a:cs typeface="Times New Roman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50" dirty="0">
                <a:latin typeface="Times New Roman"/>
                <a:cs typeface="Times New Roman"/>
              </a:rPr>
              <a:t>P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94378" y="4632756"/>
            <a:ext cx="6089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imes New Roman"/>
                <a:cs typeface="Times New Roman"/>
              </a:rPr>
              <a:t>medium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3519" y="1050099"/>
            <a:ext cx="609600" cy="2711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3030">
              <a:lnSpc>
                <a:spcPts val="2090"/>
              </a:lnSpc>
            </a:pP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3519" y="1643062"/>
            <a:ext cx="609600" cy="271145"/>
          </a:xfrm>
          <a:prstGeom prst="rect">
            <a:avLst/>
          </a:prstGeom>
          <a:ln w="2612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3030">
              <a:lnSpc>
                <a:spcPts val="2090"/>
              </a:lnSpc>
            </a:pP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220660" y="1630362"/>
            <a:ext cx="281940" cy="296545"/>
            <a:chOff x="1220660" y="1630362"/>
            <a:chExt cx="281940" cy="296545"/>
          </a:xfrm>
        </p:grpSpPr>
        <p:sp>
          <p:nvSpPr>
            <p:cNvPr id="16" name="object 16"/>
            <p:cNvSpPr/>
            <p:nvPr/>
          </p:nvSpPr>
          <p:spPr>
            <a:xfrm>
              <a:off x="1233360" y="1643062"/>
              <a:ext cx="256540" cy="271145"/>
            </a:xfrm>
            <a:custGeom>
              <a:avLst/>
              <a:gdLst/>
              <a:ahLst/>
              <a:cxnLst/>
              <a:rect l="l" t="t" r="r" b="b"/>
              <a:pathLst>
                <a:path w="256540" h="271144">
                  <a:moveTo>
                    <a:pt x="256324" y="0"/>
                  </a:moveTo>
                  <a:lnTo>
                    <a:pt x="0" y="0"/>
                  </a:lnTo>
                  <a:lnTo>
                    <a:pt x="0" y="271081"/>
                  </a:lnTo>
                  <a:lnTo>
                    <a:pt x="256324" y="271081"/>
                  </a:lnTo>
                  <a:lnTo>
                    <a:pt x="25632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33360" y="1643062"/>
              <a:ext cx="256540" cy="271145"/>
            </a:xfrm>
            <a:custGeom>
              <a:avLst/>
              <a:gdLst/>
              <a:ahLst/>
              <a:cxnLst/>
              <a:rect l="l" t="t" r="r" b="b"/>
              <a:pathLst>
                <a:path w="256540" h="271144">
                  <a:moveTo>
                    <a:pt x="0" y="271081"/>
                  </a:moveTo>
                  <a:lnTo>
                    <a:pt x="256324" y="271081"/>
                  </a:lnTo>
                  <a:lnTo>
                    <a:pt x="256324" y="0"/>
                  </a:lnTo>
                  <a:lnTo>
                    <a:pt x="0" y="0"/>
                  </a:lnTo>
                  <a:lnTo>
                    <a:pt x="0" y="27108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3519" y="2235898"/>
            <a:ext cx="866775" cy="271145"/>
          </a:xfrm>
          <a:prstGeom prst="rect">
            <a:avLst/>
          </a:prstGeom>
          <a:ln w="258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0665">
              <a:lnSpc>
                <a:spcPts val="2095"/>
              </a:lnSpc>
            </a:pP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477391" y="2223198"/>
            <a:ext cx="281940" cy="296545"/>
            <a:chOff x="1477391" y="2223198"/>
            <a:chExt cx="281940" cy="296545"/>
          </a:xfrm>
        </p:grpSpPr>
        <p:sp>
          <p:nvSpPr>
            <p:cNvPr id="20" name="object 20"/>
            <p:cNvSpPr/>
            <p:nvPr/>
          </p:nvSpPr>
          <p:spPr>
            <a:xfrm>
              <a:off x="1490091" y="2235898"/>
              <a:ext cx="256540" cy="271145"/>
            </a:xfrm>
            <a:custGeom>
              <a:avLst/>
              <a:gdLst/>
              <a:ahLst/>
              <a:cxnLst/>
              <a:rect l="l" t="t" r="r" b="b"/>
              <a:pathLst>
                <a:path w="256539" h="271144">
                  <a:moveTo>
                    <a:pt x="256324" y="0"/>
                  </a:moveTo>
                  <a:lnTo>
                    <a:pt x="0" y="0"/>
                  </a:lnTo>
                  <a:lnTo>
                    <a:pt x="0" y="271081"/>
                  </a:lnTo>
                  <a:lnTo>
                    <a:pt x="256324" y="271081"/>
                  </a:lnTo>
                  <a:lnTo>
                    <a:pt x="25632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90091" y="2235898"/>
              <a:ext cx="256540" cy="271145"/>
            </a:xfrm>
            <a:custGeom>
              <a:avLst/>
              <a:gdLst/>
              <a:ahLst/>
              <a:cxnLst/>
              <a:rect l="l" t="t" r="r" b="b"/>
              <a:pathLst>
                <a:path w="256539" h="271144">
                  <a:moveTo>
                    <a:pt x="0" y="271081"/>
                  </a:moveTo>
                  <a:lnTo>
                    <a:pt x="256324" y="271081"/>
                  </a:lnTo>
                  <a:lnTo>
                    <a:pt x="256324" y="0"/>
                  </a:lnTo>
                  <a:lnTo>
                    <a:pt x="0" y="0"/>
                  </a:lnTo>
                  <a:lnTo>
                    <a:pt x="0" y="27108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23519" y="2828861"/>
            <a:ext cx="1095375" cy="2711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68935">
              <a:lnSpc>
                <a:spcPts val="2095"/>
              </a:lnSpc>
            </a:pP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705991" y="2816161"/>
            <a:ext cx="281940" cy="296545"/>
            <a:chOff x="1705991" y="2816161"/>
            <a:chExt cx="281940" cy="296545"/>
          </a:xfrm>
        </p:grpSpPr>
        <p:sp>
          <p:nvSpPr>
            <p:cNvPr id="24" name="object 24"/>
            <p:cNvSpPr/>
            <p:nvPr/>
          </p:nvSpPr>
          <p:spPr>
            <a:xfrm>
              <a:off x="1718691" y="2828861"/>
              <a:ext cx="256540" cy="271145"/>
            </a:xfrm>
            <a:custGeom>
              <a:avLst/>
              <a:gdLst/>
              <a:ahLst/>
              <a:cxnLst/>
              <a:rect l="l" t="t" r="r" b="b"/>
              <a:pathLst>
                <a:path w="256539" h="271144">
                  <a:moveTo>
                    <a:pt x="256324" y="0"/>
                  </a:moveTo>
                  <a:lnTo>
                    <a:pt x="0" y="0"/>
                  </a:lnTo>
                  <a:lnTo>
                    <a:pt x="0" y="271081"/>
                  </a:lnTo>
                  <a:lnTo>
                    <a:pt x="256324" y="271081"/>
                  </a:lnTo>
                  <a:lnTo>
                    <a:pt x="25632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8691" y="2828861"/>
              <a:ext cx="256540" cy="271145"/>
            </a:xfrm>
            <a:custGeom>
              <a:avLst/>
              <a:gdLst/>
              <a:ahLst/>
              <a:cxnLst/>
              <a:rect l="l" t="t" r="r" b="b"/>
              <a:pathLst>
                <a:path w="256539" h="271144">
                  <a:moveTo>
                    <a:pt x="0" y="271081"/>
                  </a:moveTo>
                  <a:lnTo>
                    <a:pt x="256324" y="271081"/>
                  </a:lnTo>
                  <a:lnTo>
                    <a:pt x="256324" y="0"/>
                  </a:lnTo>
                  <a:lnTo>
                    <a:pt x="0" y="0"/>
                  </a:lnTo>
                  <a:lnTo>
                    <a:pt x="0" y="27108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23519" y="3421824"/>
            <a:ext cx="1323975" cy="2711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400" algn="ctr">
              <a:lnSpc>
                <a:spcPts val="2095"/>
              </a:lnSpc>
            </a:pP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34591" y="3409124"/>
            <a:ext cx="281940" cy="296545"/>
            <a:chOff x="1934591" y="3409124"/>
            <a:chExt cx="281940" cy="296545"/>
          </a:xfrm>
        </p:grpSpPr>
        <p:sp>
          <p:nvSpPr>
            <p:cNvPr id="28" name="object 28"/>
            <p:cNvSpPr/>
            <p:nvPr/>
          </p:nvSpPr>
          <p:spPr>
            <a:xfrm>
              <a:off x="1947291" y="3421824"/>
              <a:ext cx="256540" cy="271145"/>
            </a:xfrm>
            <a:custGeom>
              <a:avLst/>
              <a:gdLst/>
              <a:ahLst/>
              <a:cxnLst/>
              <a:rect l="l" t="t" r="r" b="b"/>
              <a:pathLst>
                <a:path w="256539" h="271145">
                  <a:moveTo>
                    <a:pt x="256324" y="0"/>
                  </a:moveTo>
                  <a:lnTo>
                    <a:pt x="0" y="0"/>
                  </a:lnTo>
                  <a:lnTo>
                    <a:pt x="0" y="271081"/>
                  </a:lnTo>
                  <a:lnTo>
                    <a:pt x="256324" y="271081"/>
                  </a:lnTo>
                  <a:lnTo>
                    <a:pt x="25632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47291" y="3421824"/>
              <a:ext cx="256540" cy="271145"/>
            </a:xfrm>
            <a:custGeom>
              <a:avLst/>
              <a:gdLst/>
              <a:ahLst/>
              <a:cxnLst/>
              <a:rect l="l" t="t" r="r" b="b"/>
              <a:pathLst>
                <a:path w="256539" h="271145">
                  <a:moveTo>
                    <a:pt x="0" y="271081"/>
                  </a:moveTo>
                  <a:lnTo>
                    <a:pt x="256324" y="271081"/>
                  </a:lnTo>
                  <a:lnTo>
                    <a:pt x="256324" y="0"/>
                  </a:lnTo>
                  <a:lnTo>
                    <a:pt x="0" y="0"/>
                  </a:lnTo>
                  <a:lnTo>
                    <a:pt x="0" y="27108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23519" y="4014723"/>
            <a:ext cx="1552575" cy="2711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400" algn="ctr">
              <a:lnSpc>
                <a:spcPts val="2095"/>
              </a:lnSpc>
            </a:pP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96785" y="4002023"/>
            <a:ext cx="1848485" cy="895350"/>
            <a:chOff x="596785" y="4002023"/>
            <a:chExt cx="1848485" cy="895350"/>
          </a:xfrm>
        </p:grpSpPr>
        <p:sp>
          <p:nvSpPr>
            <p:cNvPr id="32" name="object 32"/>
            <p:cNvSpPr/>
            <p:nvPr/>
          </p:nvSpPr>
          <p:spPr>
            <a:xfrm>
              <a:off x="2175890" y="4014723"/>
              <a:ext cx="256540" cy="271145"/>
            </a:xfrm>
            <a:custGeom>
              <a:avLst/>
              <a:gdLst/>
              <a:ahLst/>
              <a:cxnLst/>
              <a:rect l="l" t="t" r="r" b="b"/>
              <a:pathLst>
                <a:path w="256539" h="271145">
                  <a:moveTo>
                    <a:pt x="256324" y="0"/>
                  </a:moveTo>
                  <a:lnTo>
                    <a:pt x="0" y="0"/>
                  </a:lnTo>
                  <a:lnTo>
                    <a:pt x="0" y="271081"/>
                  </a:lnTo>
                  <a:lnTo>
                    <a:pt x="256324" y="271081"/>
                  </a:lnTo>
                  <a:lnTo>
                    <a:pt x="25632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9485" y="4014723"/>
              <a:ext cx="1823085" cy="869950"/>
            </a:xfrm>
            <a:custGeom>
              <a:avLst/>
              <a:gdLst/>
              <a:ahLst/>
              <a:cxnLst/>
              <a:rect l="l" t="t" r="r" b="b"/>
              <a:pathLst>
                <a:path w="1823085" h="869950">
                  <a:moveTo>
                    <a:pt x="1566405" y="271081"/>
                  </a:moveTo>
                  <a:lnTo>
                    <a:pt x="1822729" y="271081"/>
                  </a:lnTo>
                  <a:lnTo>
                    <a:pt x="1822729" y="0"/>
                  </a:lnTo>
                  <a:lnTo>
                    <a:pt x="1566405" y="0"/>
                  </a:lnTo>
                  <a:lnTo>
                    <a:pt x="1566405" y="271081"/>
                  </a:lnTo>
                  <a:close/>
                </a:path>
                <a:path w="1823085" h="869950">
                  <a:moveTo>
                    <a:pt x="0" y="869759"/>
                  </a:moveTo>
                  <a:lnTo>
                    <a:pt x="1822704" y="869759"/>
                  </a:lnTo>
                  <a:lnTo>
                    <a:pt x="1822704" y="598678"/>
                  </a:lnTo>
                  <a:lnTo>
                    <a:pt x="0" y="598678"/>
                  </a:lnTo>
                  <a:lnTo>
                    <a:pt x="0" y="86975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22185" y="4592828"/>
            <a:ext cx="1797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424557" y="4600702"/>
            <a:ext cx="281940" cy="296545"/>
            <a:chOff x="2424557" y="4600702"/>
            <a:chExt cx="281940" cy="296545"/>
          </a:xfrm>
        </p:grpSpPr>
        <p:sp>
          <p:nvSpPr>
            <p:cNvPr id="36" name="object 36"/>
            <p:cNvSpPr/>
            <p:nvPr/>
          </p:nvSpPr>
          <p:spPr>
            <a:xfrm>
              <a:off x="2437257" y="4613402"/>
              <a:ext cx="256540" cy="271145"/>
            </a:xfrm>
            <a:custGeom>
              <a:avLst/>
              <a:gdLst/>
              <a:ahLst/>
              <a:cxnLst/>
              <a:rect l="l" t="t" r="r" b="b"/>
              <a:pathLst>
                <a:path w="256539" h="271145">
                  <a:moveTo>
                    <a:pt x="256324" y="0"/>
                  </a:moveTo>
                  <a:lnTo>
                    <a:pt x="0" y="0"/>
                  </a:lnTo>
                  <a:lnTo>
                    <a:pt x="0" y="271081"/>
                  </a:lnTo>
                  <a:lnTo>
                    <a:pt x="256324" y="271081"/>
                  </a:lnTo>
                  <a:lnTo>
                    <a:pt x="25632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437257" y="4613402"/>
              <a:ext cx="256540" cy="271145"/>
            </a:xfrm>
            <a:custGeom>
              <a:avLst/>
              <a:gdLst/>
              <a:ahLst/>
              <a:cxnLst/>
              <a:rect l="l" t="t" r="r" b="b"/>
              <a:pathLst>
                <a:path w="256539" h="271145">
                  <a:moveTo>
                    <a:pt x="0" y="271081"/>
                  </a:moveTo>
                  <a:lnTo>
                    <a:pt x="256324" y="271081"/>
                  </a:lnTo>
                  <a:lnTo>
                    <a:pt x="256324" y="0"/>
                  </a:lnTo>
                  <a:lnTo>
                    <a:pt x="0" y="0"/>
                  </a:lnTo>
                  <a:lnTo>
                    <a:pt x="0" y="27108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540500" y="1047559"/>
            <a:ext cx="609600" cy="2711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3664">
              <a:lnSpc>
                <a:spcPts val="2090"/>
              </a:lnSpc>
            </a:pP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540500" y="1640522"/>
            <a:ext cx="609600" cy="271145"/>
          </a:xfrm>
          <a:prstGeom prst="rect">
            <a:avLst/>
          </a:prstGeom>
          <a:ln w="2613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3664">
              <a:lnSpc>
                <a:spcPts val="2090"/>
              </a:lnSpc>
            </a:pP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137654" y="1627822"/>
            <a:ext cx="281940" cy="296545"/>
            <a:chOff x="7137654" y="1627822"/>
            <a:chExt cx="281940" cy="296545"/>
          </a:xfrm>
        </p:grpSpPr>
        <p:sp>
          <p:nvSpPr>
            <p:cNvPr id="41" name="object 41"/>
            <p:cNvSpPr/>
            <p:nvPr/>
          </p:nvSpPr>
          <p:spPr>
            <a:xfrm>
              <a:off x="7150354" y="1640522"/>
              <a:ext cx="256540" cy="271145"/>
            </a:xfrm>
            <a:custGeom>
              <a:avLst/>
              <a:gdLst/>
              <a:ahLst/>
              <a:cxnLst/>
              <a:rect l="l" t="t" r="r" b="b"/>
              <a:pathLst>
                <a:path w="256540" h="271144">
                  <a:moveTo>
                    <a:pt x="256324" y="0"/>
                  </a:moveTo>
                  <a:lnTo>
                    <a:pt x="0" y="0"/>
                  </a:lnTo>
                  <a:lnTo>
                    <a:pt x="0" y="271081"/>
                  </a:lnTo>
                  <a:lnTo>
                    <a:pt x="256324" y="271081"/>
                  </a:lnTo>
                  <a:lnTo>
                    <a:pt x="25632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150354" y="1640522"/>
              <a:ext cx="256540" cy="271145"/>
            </a:xfrm>
            <a:custGeom>
              <a:avLst/>
              <a:gdLst/>
              <a:ahLst/>
              <a:cxnLst/>
              <a:rect l="l" t="t" r="r" b="b"/>
              <a:pathLst>
                <a:path w="256540" h="271144">
                  <a:moveTo>
                    <a:pt x="0" y="271081"/>
                  </a:moveTo>
                  <a:lnTo>
                    <a:pt x="256324" y="271081"/>
                  </a:lnTo>
                  <a:lnTo>
                    <a:pt x="256324" y="0"/>
                  </a:lnTo>
                  <a:lnTo>
                    <a:pt x="0" y="0"/>
                  </a:lnTo>
                  <a:lnTo>
                    <a:pt x="0" y="27108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540500" y="2233739"/>
            <a:ext cx="866775" cy="271145"/>
          </a:xfrm>
          <a:prstGeom prst="rect">
            <a:avLst/>
          </a:prstGeom>
          <a:ln w="2575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2095"/>
              </a:lnSpc>
            </a:pP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394320" y="2221039"/>
            <a:ext cx="281940" cy="296545"/>
            <a:chOff x="7394320" y="2221039"/>
            <a:chExt cx="281940" cy="296545"/>
          </a:xfrm>
        </p:grpSpPr>
        <p:sp>
          <p:nvSpPr>
            <p:cNvPr id="45" name="object 45"/>
            <p:cNvSpPr/>
            <p:nvPr/>
          </p:nvSpPr>
          <p:spPr>
            <a:xfrm>
              <a:off x="7407020" y="2233739"/>
              <a:ext cx="256540" cy="271145"/>
            </a:xfrm>
            <a:custGeom>
              <a:avLst/>
              <a:gdLst/>
              <a:ahLst/>
              <a:cxnLst/>
              <a:rect l="l" t="t" r="r" b="b"/>
              <a:pathLst>
                <a:path w="256540" h="271144">
                  <a:moveTo>
                    <a:pt x="256324" y="0"/>
                  </a:moveTo>
                  <a:lnTo>
                    <a:pt x="0" y="0"/>
                  </a:lnTo>
                  <a:lnTo>
                    <a:pt x="0" y="271081"/>
                  </a:lnTo>
                  <a:lnTo>
                    <a:pt x="256324" y="271081"/>
                  </a:lnTo>
                  <a:lnTo>
                    <a:pt x="25632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407020" y="2233739"/>
              <a:ext cx="256540" cy="271145"/>
            </a:xfrm>
            <a:custGeom>
              <a:avLst/>
              <a:gdLst/>
              <a:ahLst/>
              <a:cxnLst/>
              <a:rect l="l" t="t" r="r" b="b"/>
              <a:pathLst>
                <a:path w="256540" h="271144">
                  <a:moveTo>
                    <a:pt x="0" y="271081"/>
                  </a:moveTo>
                  <a:lnTo>
                    <a:pt x="256324" y="271081"/>
                  </a:lnTo>
                  <a:lnTo>
                    <a:pt x="256324" y="0"/>
                  </a:lnTo>
                  <a:lnTo>
                    <a:pt x="0" y="0"/>
                  </a:lnTo>
                  <a:lnTo>
                    <a:pt x="0" y="27108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540500" y="2826702"/>
            <a:ext cx="1095375" cy="2711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69570">
              <a:lnSpc>
                <a:spcPts val="2095"/>
              </a:lnSpc>
            </a:pP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622920" y="2814002"/>
            <a:ext cx="281940" cy="296545"/>
            <a:chOff x="7622920" y="2814002"/>
            <a:chExt cx="281940" cy="296545"/>
          </a:xfrm>
        </p:grpSpPr>
        <p:sp>
          <p:nvSpPr>
            <p:cNvPr id="49" name="object 49"/>
            <p:cNvSpPr/>
            <p:nvPr/>
          </p:nvSpPr>
          <p:spPr>
            <a:xfrm>
              <a:off x="7635620" y="2826702"/>
              <a:ext cx="256540" cy="271145"/>
            </a:xfrm>
            <a:custGeom>
              <a:avLst/>
              <a:gdLst/>
              <a:ahLst/>
              <a:cxnLst/>
              <a:rect l="l" t="t" r="r" b="b"/>
              <a:pathLst>
                <a:path w="256540" h="271144">
                  <a:moveTo>
                    <a:pt x="256324" y="0"/>
                  </a:moveTo>
                  <a:lnTo>
                    <a:pt x="0" y="0"/>
                  </a:lnTo>
                  <a:lnTo>
                    <a:pt x="0" y="271081"/>
                  </a:lnTo>
                  <a:lnTo>
                    <a:pt x="256324" y="271081"/>
                  </a:lnTo>
                  <a:lnTo>
                    <a:pt x="25632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635620" y="2826702"/>
              <a:ext cx="256540" cy="271145"/>
            </a:xfrm>
            <a:custGeom>
              <a:avLst/>
              <a:gdLst/>
              <a:ahLst/>
              <a:cxnLst/>
              <a:rect l="l" t="t" r="r" b="b"/>
              <a:pathLst>
                <a:path w="256540" h="271144">
                  <a:moveTo>
                    <a:pt x="0" y="271081"/>
                  </a:moveTo>
                  <a:lnTo>
                    <a:pt x="256324" y="271081"/>
                  </a:lnTo>
                  <a:lnTo>
                    <a:pt x="256324" y="0"/>
                  </a:lnTo>
                  <a:lnTo>
                    <a:pt x="0" y="0"/>
                  </a:lnTo>
                  <a:lnTo>
                    <a:pt x="0" y="27108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6540500" y="3419665"/>
            <a:ext cx="1323975" cy="2711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670" algn="ctr">
              <a:lnSpc>
                <a:spcPts val="2095"/>
              </a:lnSpc>
            </a:pP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7851520" y="3406965"/>
            <a:ext cx="281940" cy="296545"/>
            <a:chOff x="7851520" y="3406965"/>
            <a:chExt cx="281940" cy="296545"/>
          </a:xfrm>
        </p:grpSpPr>
        <p:sp>
          <p:nvSpPr>
            <p:cNvPr id="53" name="object 53"/>
            <p:cNvSpPr/>
            <p:nvPr/>
          </p:nvSpPr>
          <p:spPr>
            <a:xfrm>
              <a:off x="7864220" y="3419665"/>
              <a:ext cx="256540" cy="271145"/>
            </a:xfrm>
            <a:custGeom>
              <a:avLst/>
              <a:gdLst/>
              <a:ahLst/>
              <a:cxnLst/>
              <a:rect l="l" t="t" r="r" b="b"/>
              <a:pathLst>
                <a:path w="256540" h="271145">
                  <a:moveTo>
                    <a:pt x="256324" y="0"/>
                  </a:moveTo>
                  <a:lnTo>
                    <a:pt x="0" y="0"/>
                  </a:lnTo>
                  <a:lnTo>
                    <a:pt x="0" y="271081"/>
                  </a:lnTo>
                  <a:lnTo>
                    <a:pt x="256324" y="271081"/>
                  </a:lnTo>
                  <a:lnTo>
                    <a:pt x="25632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864220" y="3419665"/>
              <a:ext cx="256540" cy="271145"/>
            </a:xfrm>
            <a:custGeom>
              <a:avLst/>
              <a:gdLst/>
              <a:ahLst/>
              <a:cxnLst/>
              <a:rect l="l" t="t" r="r" b="b"/>
              <a:pathLst>
                <a:path w="256540" h="271145">
                  <a:moveTo>
                    <a:pt x="0" y="271081"/>
                  </a:moveTo>
                  <a:lnTo>
                    <a:pt x="256324" y="271081"/>
                  </a:lnTo>
                  <a:lnTo>
                    <a:pt x="256324" y="0"/>
                  </a:lnTo>
                  <a:lnTo>
                    <a:pt x="0" y="0"/>
                  </a:lnTo>
                  <a:lnTo>
                    <a:pt x="0" y="27108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6540500" y="4012552"/>
            <a:ext cx="1552575" cy="2711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670" algn="ctr">
              <a:lnSpc>
                <a:spcPts val="2095"/>
              </a:lnSpc>
            </a:pP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513703" y="3999852"/>
            <a:ext cx="1848485" cy="895350"/>
            <a:chOff x="6513703" y="3999852"/>
            <a:chExt cx="1848485" cy="895350"/>
          </a:xfrm>
        </p:grpSpPr>
        <p:sp>
          <p:nvSpPr>
            <p:cNvPr id="57" name="object 57"/>
            <p:cNvSpPr/>
            <p:nvPr/>
          </p:nvSpPr>
          <p:spPr>
            <a:xfrm>
              <a:off x="8092821" y="4012552"/>
              <a:ext cx="256540" cy="271145"/>
            </a:xfrm>
            <a:custGeom>
              <a:avLst/>
              <a:gdLst/>
              <a:ahLst/>
              <a:cxnLst/>
              <a:rect l="l" t="t" r="r" b="b"/>
              <a:pathLst>
                <a:path w="256540" h="271145">
                  <a:moveTo>
                    <a:pt x="256324" y="0"/>
                  </a:moveTo>
                  <a:lnTo>
                    <a:pt x="0" y="0"/>
                  </a:lnTo>
                  <a:lnTo>
                    <a:pt x="0" y="271081"/>
                  </a:lnTo>
                  <a:lnTo>
                    <a:pt x="256324" y="271081"/>
                  </a:lnTo>
                  <a:lnTo>
                    <a:pt x="25632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526403" y="4012552"/>
              <a:ext cx="1823085" cy="869950"/>
            </a:xfrm>
            <a:custGeom>
              <a:avLst/>
              <a:gdLst/>
              <a:ahLst/>
              <a:cxnLst/>
              <a:rect l="l" t="t" r="r" b="b"/>
              <a:pathLst>
                <a:path w="1823084" h="869950">
                  <a:moveTo>
                    <a:pt x="1566418" y="271081"/>
                  </a:moveTo>
                  <a:lnTo>
                    <a:pt x="1822742" y="271081"/>
                  </a:lnTo>
                  <a:lnTo>
                    <a:pt x="1822742" y="0"/>
                  </a:lnTo>
                  <a:lnTo>
                    <a:pt x="1566418" y="0"/>
                  </a:lnTo>
                  <a:lnTo>
                    <a:pt x="1566418" y="271081"/>
                  </a:lnTo>
                  <a:close/>
                </a:path>
                <a:path w="1823084" h="869950">
                  <a:moveTo>
                    <a:pt x="0" y="869772"/>
                  </a:moveTo>
                  <a:lnTo>
                    <a:pt x="1822703" y="869772"/>
                  </a:lnTo>
                  <a:lnTo>
                    <a:pt x="1822703" y="598690"/>
                  </a:lnTo>
                  <a:lnTo>
                    <a:pt x="0" y="598690"/>
                  </a:lnTo>
                  <a:lnTo>
                    <a:pt x="0" y="86977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6539103" y="4590694"/>
            <a:ext cx="1797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8341106" y="4598542"/>
            <a:ext cx="281940" cy="296545"/>
            <a:chOff x="8341106" y="4598542"/>
            <a:chExt cx="281940" cy="296545"/>
          </a:xfrm>
        </p:grpSpPr>
        <p:sp>
          <p:nvSpPr>
            <p:cNvPr id="61" name="object 61"/>
            <p:cNvSpPr/>
            <p:nvPr/>
          </p:nvSpPr>
          <p:spPr>
            <a:xfrm>
              <a:off x="8353806" y="4611242"/>
              <a:ext cx="256540" cy="271145"/>
            </a:xfrm>
            <a:custGeom>
              <a:avLst/>
              <a:gdLst/>
              <a:ahLst/>
              <a:cxnLst/>
              <a:rect l="l" t="t" r="r" b="b"/>
              <a:pathLst>
                <a:path w="256540" h="271145">
                  <a:moveTo>
                    <a:pt x="256324" y="0"/>
                  </a:moveTo>
                  <a:lnTo>
                    <a:pt x="0" y="0"/>
                  </a:lnTo>
                  <a:lnTo>
                    <a:pt x="0" y="271081"/>
                  </a:lnTo>
                  <a:lnTo>
                    <a:pt x="256324" y="271081"/>
                  </a:lnTo>
                  <a:lnTo>
                    <a:pt x="25632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353806" y="4611242"/>
              <a:ext cx="256540" cy="271145"/>
            </a:xfrm>
            <a:custGeom>
              <a:avLst/>
              <a:gdLst/>
              <a:ahLst/>
              <a:cxnLst/>
              <a:rect l="l" t="t" r="r" b="b"/>
              <a:pathLst>
                <a:path w="256540" h="271145">
                  <a:moveTo>
                    <a:pt x="0" y="271081"/>
                  </a:moveTo>
                  <a:lnTo>
                    <a:pt x="256324" y="271081"/>
                  </a:lnTo>
                  <a:lnTo>
                    <a:pt x="256324" y="0"/>
                  </a:lnTo>
                  <a:lnTo>
                    <a:pt x="0" y="0"/>
                  </a:lnTo>
                  <a:lnTo>
                    <a:pt x="0" y="27108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8887459" y="4978230"/>
            <a:ext cx="1778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56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958977"/>
            <a:ext cx="9155430" cy="4182110"/>
            <a:chOff x="-6350" y="958977"/>
            <a:chExt cx="9155430" cy="41821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485" y="971677"/>
              <a:ext cx="2133600" cy="381000"/>
            </a:xfrm>
            <a:custGeom>
              <a:avLst/>
              <a:gdLst/>
              <a:ahLst/>
              <a:cxnLst/>
              <a:rect l="l" t="t" r="r" b="b"/>
              <a:pathLst>
                <a:path w="2133600" h="381000">
                  <a:moveTo>
                    <a:pt x="0" y="63373"/>
                  </a:moveTo>
                  <a:lnTo>
                    <a:pt x="4982" y="38683"/>
                  </a:lnTo>
                  <a:lnTo>
                    <a:pt x="18570" y="18542"/>
                  </a:lnTo>
                  <a:lnTo>
                    <a:pt x="38726" y="4972"/>
                  </a:lnTo>
                  <a:lnTo>
                    <a:pt x="63411" y="0"/>
                  </a:lnTo>
                  <a:lnTo>
                    <a:pt x="2069960" y="0"/>
                  </a:lnTo>
                  <a:lnTo>
                    <a:pt x="2094649" y="4972"/>
                  </a:lnTo>
                  <a:lnTo>
                    <a:pt x="2114791" y="18542"/>
                  </a:lnTo>
                  <a:lnTo>
                    <a:pt x="2128360" y="38683"/>
                  </a:lnTo>
                  <a:lnTo>
                    <a:pt x="2133333" y="63373"/>
                  </a:lnTo>
                  <a:lnTo>
                    <a:pt x="2133333" y="317119"/>
                  </a:lnTo>
                  <a:lnTo>
                    <a:pt x="2128360" y="341755"/>
                  </a:lnTo>
                  <a:lnTo>
                    <a:pt x="2114791" y="361902"/>
                  </a:lnTo>
                  <a:lnTo>
                    <a:pt x="2094649" y="375501"/>
                  </a:lnTo>
                  <a:lnTo>
                    <a:pt x="2069960" y="380492"/>
                  </a:lnTo>
                  <a:lnTo>
                    <a:pt x="63411" y="380492"/>
                  </a:lnTo>
                  <a:lnTo>
                    <a:pt x="38726" y="375501"/>
                  </a:lnTo>
                  <a:lnTo>
                    <a:pt x="18570" y="361902"/>
                  </a:lnTo>
                  <a:lnTo>
                    <a:pt x="4982" y="341755"/>
                  </a:lnTo>
                  <a:lnTo>
                    <a:pt x="0" y="317119"/>
                  </a:lnTo>
                  <a:lnTo>
                    <a:pt x="0" y="6337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TCP/IP</a:t>
            </a:r>
            <a:r>
              <a:rPr spc="-175" dirty="0"/>
              <a:t> </a:t>
            </a:r>
            <a:r>
              <a:rPr dirty="0"/>
              <a:t>reference</a:t>
            </a:r>
            <a:r>
              <a:rPr spc="-55" dirty="0"/>
              <a:t> </a:t>
            </a:r>
            <a:r>
              <a:rPr spc="-10" dirty="0"/>
              <a:t>model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27328" y="1004696"/>
            <a:ext cx="1696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Application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1644" y="1564513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500"/>
                </a:moveTo>
                <a:lnTo>
                  <a:pt x="4982" y="38790"/>
                </a:lnTo>
                <a:lnTo>
                  <a:pt x="18570" y="18605"/>
                </a:lnTo>
                <a:lnTo>
                  <a:pt x="38726" y="4992"/>
                </a:lnTo>
                <a:lnTo>
                  <a:pt x="63411" y="0"/>
                </a:lnTo>
                <a:lnTo>
                  <a:pt x="2069960" y="0"/>
                </a:lnTo>
                <a:lnTo>
                  <a:pt x="2094649" y="4992"/>
                </a:lnTo>
                <a:lnTo>
                  <a:pt x="2114791" y="18605"/>
                </a:lnTo>
                <a:lnTo>
                  <a:pt x="2128360" y="38790"/>
                </a:lnTo>
                <a:lnTo>
                  <a:pt x="2133333" y="63500"/>
                </a:lnTo>
                <a:lnTo>
                  <a:pt x="2133333" y="317119"/>
                </a:lnTo>
                <a:lnTo>
                  <a:pt x="2128360" y="341828"/>
                </a:lnTo>
                <a:lnTo>
                  <a:pt x="2114791" y="362013"/>
                </a:lnTo>
                <a:lnTo>
                  <a:pt x="2094649" y="375626"/>
                </a:lnTo>
                <a:lnTo>
                  <a:pt x="2069960" y="380619"/>
                </a:lnTo>
                <a:lnTo>
                  <a:pt x="63411" y="380619"/>
                </a:lnTo>
                <a:lnTo>
                  <a:pt x="38726" y="375626"/>
                </a:lnTo>
                <a:lnTo>
                  <a:pt x="18570" y="362013"/>
                </a:lnTo>
                <a:lnTo>
                  <a:pt x="4982" y="341828"/>
                </a:lnTo>
                <a:lnTo>
                  <a:pt x="0" y="317119"/>
                </a:lnTo>
                <a:lnTo>
                  <a:pt x="0" y="635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03554" y="1597914"/>
            <a:ext cx="17456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Presentation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12724" y="2157476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373"/>
                </a:moveTo>
                <a:lnTo>
                  <a:pt x="4982" y="38736"/>
                </a:lnTo>
                <a:lnTo>
                  <a:pt x="18570" y="18589"/>
                </a:lnTo>
                <a:lnTo>
                  <a:pt x="38726" y="4990"/>
                </a:lnTo>
                <a:lnTo>
                  <a:pt x="63411" y="0"/>
                </a:lnTo>
                <a:lnTo>
                  <a:pt x="2069896" y="0"/>
                </a:lnTo>
                <a:lnTo>
                  <a:pt x="2094606" y="4990"/>
                </a:lnTo>
                <a:lnTo>
                  <a:pt x="2114791" y="18589"/>
                </a:lnTo>
                <a:lnTo>
                  <a:pt x="2128404" y="38736"/>
                </a:lnTo>
                <a:lnTo>
                  <a:pt x="2133396" y="63373"/>
                </a:lnTo>
                <a:lnTo>
                  <a:pt x="2133396" y="317119"/>
                </a:lnTo>
                <a:lnTo>
                  <a:pt x="2128404" y="341808"/>
                </a:lnTo>
                <a:lnTo>
                  <a:pt x="2114791" y="361950"/>
                </a:lnTo>
                <a:lnTo>
                  <a:pt x="2094606" y="375519"/>
                </a:lnTo>
                <a:lnTo>
                  <a:pt x="2069896" y="380492"/>
                </a:lnTo>
                <a:lnTo>
                  <a:pt x="63411" y="380492"/>
                </a:lnTo>
                <a:lnTo>
                  <a:pt x="38726" y="375519"/>
                </a:lnTo>
                <a:lnTo>
                  <a:pt x="18570" y="361950"/>
                </a:lnTo>
                <a:lnTo>
                  <a:pt x="4982" y="341808"/>
                </a:lnTo>
                <a:lnTo>
                  <a:pt x="0" y="317119"/>
                </a:lnTo>
                <a:lnTo>
                  <a:pt x="0" y="63373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21181" y="2191004"/>
            <a:ext cx="1315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Session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4514" y="2750439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373"/>
                </a:moveTo>
                <a:lnTo>
                  <a:pt x="4984" y="38683"/>
                </a:lnTo>
                <a:lnTo>
                  <a:pt x="18576" y="18542"/>
                </a:lnTo>
                <a:lnTo>
                  <a:pt x="38736" y="4972"/>
                </a:lnTo>
                <a:lnTo>
                  <a:pt x="63423" y="0"/>
                </a:lnTo>
                <a:lnTo>
                  <a:pt x="2069884" y="0"/>
                </a:lnTo>
                <a:lnTo>
                  <a:pt x="2094593" y="4972"/>
                </a:lnTo>
                <a:lnTo>
                  <a:pt x="2114778" y="18542"/>
                </a:lnTo>
                <a:lnTo>
                  <a:pt x="2128391" y="38683"/>
                </a:lnTo>
                <a:lnTo>
                  <a:pt x="2133384" y="63373"/>
                </a:lnTo>
                <a:lnTo>
                  <a:pt x="2133384" y="317119"/>
                </a:lnTo>
                <a:lnTo>
                  <a:pt x="2128391" y="341755"/>
                </a:lnTo>
                <a:lnTo>
                  <a:pt x="2114778" y="361902"/>
                </a:lnTo>
                <a:lnTo>
                  <a:pt x="2094593" y="375501"/>
                </a:lnTo>
                <a:lnTo>
                  <a:pt x="2069884" y="380492"/>
                </a:lnTo>
                <a:lnTo>
                  <a:pt x="63423" y="380492"/>
                </a:lnTo>
                <a:lnTo>
                  <a:pt x="38736" y="375501"/>
                </a:lnTo>
                <a:lnTo>
                  <a:pt x="18576" y="361902"/>
                </a:lnTo>
                <a:lnTo>
                  <a:pt x="4984" y="341755"/>
                </a:lnTo>
                <a:lnTo>
                  <a:pt x="0" y="317119"/>
                </a:lnTo>
                <a:lnTo>
                  <a:pt x="0" y="6337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31570" y="2783789"/>
            <a:ext cx="1498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Transport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06602" y="3343275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500"/>
                </a:moveTo>
                <a:lnTo>
                  <a:pt x="4984" y="38790"/>
                </a:lnTo>
                <a:lnTo>
                  <a:pt x="18576" y="18605"/>
                </a:lnTo>
                <a:lnTo>
                  <a:pt x="38736" y="4992"/>
                </a:lnTo>
                <a:lnTo>
                  <a:pt x="63423" y="0"/>
                </a:lnTo>
                <a:lnTo>
                  <a:pt x="2069922" y="0"/>
                </a:lnTo>
                <a:lnTo>
                  <a:pt x="2094611" y="4992"/>
                </a:lnTo>
                <a:lnTo>
                  <a:pt x="2114753" y="18605"/>
                </a:lnTo>
                <a:lnTo>
                  <a:pt x="2128322" y="38790"/>
                </a:lnTo>
                <a:lnTo>
                  <a:pt x="2133295" y="63500"/>
                </a:lnTo>
                <a:lnTo>
                  <a:pt x="2133295" y="317119"/>
                </a:lnTo>
                <a:lnTo>
                  <a:pt x="2128322" y="341828"/>
                </a:lnTo>
                <a:lnTo>
                  <a:pt x="2114753" y="362013"/>
                </a:lnTo>
                <a:lnTo>
                  <a:pt x="2094611" y="375626"/>
                </a:lnTo>
                <a:lnTo>
                  <a:pt x="2069922" y="380619"/>
                </a:lnTo>
                <a:lnTo>
                  <a:pt x="63423" y="380619"/>
                </a:lnTo>
                <a:lnTo>
                  <a:pt x="38736" y="375626"/>
                </a:lnTo>
                <a:lnTo>
                  <a:pt x="18576" y="362013"/>
                </a:lnTo>
                <a:lnTo>
                  <a:pt x="4984" y="341828"/>
                </a:lnTo>
                <a:lnTo>
                  <a:pt x="0" y="317119"/>
                </a:lnTo>
                <a:lnTo>
                  <a:pt x="0" y="635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63269" y="3376929"/>
            <a:ext cx="141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Network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07682" y="3936238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423"/>
                </a:moveTo>
                <a:lnTo>
                  <a:pt x="4984" y="38736"/>
                </a:lnTo>
                <a:lnTo>
                  <a:pt x="18576" y="18576"/>
                </a:lnTo>
                <a:lnTo>
                  <a:pt x="38736" y="4984"/>
                </a:lnTo>
                <a:lnTo>
                  <a:pt x="63423" y="0"/>
                </a:lnTo>
                <a:lnTo>
                  <a:pt x="2069985" y="0"/>
                </a:lnTo>
                <a:lnTo>
                  <a:pt x="2094621" y="4984"/>
                </a:lnTo>
                <a:lnTo>
                  <a:pt x="2114769" y="18576"/>
                </a:lnTo>
                <a:lnTo>
                  <a:pt x="2128367" y="38736"/>
                </a:lnTo>
                <a:lnTo>
                  <a:pt x="2133358" y="63423"/>
                </a:lnTo>
                <a:lnTo>
                  <a:pt x="2133358" y="317106"/>
                </a:lnTo>
                <a:lnTo>
                  <a:pt x="2128367" y="341791"/>
                </a:lnTo>
                <a:lnTo>
                  <a:pt x="2114769" y="361946"/>
                </a:lnTo>
                <a:lnTo>
                  <a:pt x="2094621" y="375535"/>
                </a:lnTo>
                <a:lnTo>
                  <a:pt x="2069985" y="380517"/>
                </a:lnTo>
                <a:lnTo>
                  <a:pt x="63423" y="380517"/>
                </a:lnTo>
                <a:lnTo>
                  <a:pt x="38736" y="375535"/>
                </a:lnTo>
                <a:lnTo>
                  <a:pt x="18576" y="361946"/>
                </a:lnTo>
                <a:lnTo>
                  <a:pt x="4984" y="341791"/>
                </a:lnTo>
                <a:lnTo>
                  <a:pt x="0" y="317106"/>
                </a:lnTo>
                <a:lnTo>
                  <a:pt x="0" y="6342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42847" y="3970121"/>
            <a:ext cx="1461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link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09485" y="4529163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423"/>
                </a:moveTo>
                <a:lnTo>
                  <a:pt x="4982" y="38736"/>
                </a:lnTo>
                <a:lnTo>
                  <a:pt x="18570" y="18576"/>
                </a:lnTo>
                <a:lnTo>
                  <a:pt x="38726" y="4984"/>
                </a:lnTo>
                <a:lnTo>
                  <a:pt x="63411" y="0"/>
                </a:lnTo>
                <a:lnTo>
                  <a:pt x="2069960" y="0"/>
                </a:lnTo>
                <a:lnTo>
                  <a:pt x="2094649" y="4984"/>
                </a:lnTo>
                <a:lnTo>
                  <a:pt x="2114791" y="18576"/>
                </a:lnTo>
                <a:lnTo>
                  <a:pt x="2128360" y="38736"/>
                </a:lnTo>
                <a:lnTo>
                  <a:pt x="2133333" y="63423"/>
                </a:lnTo>
                <a:lnTo>
                  <a:pt x="2133333" y="317093"/>
                </a:lnTo>
                <a:lnTo>
                  <a:pt x="2128360" y="341780"/>
                </a:lnTo>
                <a:lnTo>
                  <a:pt x="2114791" y="361940"/>
                </a:lnTo>
                <a:lnTo>
                  <a:pt x="2094649" y="375533"/>
                </a:lnTo>
                <a:lnTo>
                  <a:pt x="2069960" y="380517"/>
                </a:lnTo>
                <a:lnTo>
                  <a:pt x="63411" y="380517"/>
                </a:lnTo>
                <a:lnTo>
                  <a:pt x="38726" y="375533"/>
                </a:lnTo>
                <a:lnTo>
                  <a:pt x="18570" y="361940"/>
                </a:lnTo>
                <a:lnTo>
                  <a:pt x="4982" y="341780"/>
                </a:lnTo>
                <a:lnTo>
                  <a:pt x="0" y="317093"/>
                </a:lnTo>
                <a:lnTo>
                  <a:pt x="0" y="6342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979728" y="4563262"/>
            <a:ext cx="1390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Physical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636141" y="958977"/>
            <a:ext cx="3862704" cy="3569970"/>
            <a:chOff x="1636141" y="958977"/>
            <a:chExt cx="3862704" cy="3569970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9570" y="1352423"/>
              <a:ext cx="76200" cy="21183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1221" y="1945386"/>
              <a:ext cx="76200" cy="21170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42491" y="2538222"/>
              <a:ext cx="76200" cy="21183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37157" y="3130803"/>
              <a:ext cx="76200" cy="21221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36141" y="3724147"/>
              <a:ext cx="76200" cy="21173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37411" y="4317009"/>
              <a:ext cx="76200" cy="21178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352673" y="971677"/>
              <a:ext cx="2133600" cy="1566545"/>
            </a:xfrm>
            <a:custGeom>
              <a:avLst/>
              <a:gdLst/>
              <a:ahLst/>
              <a:cxnLst/>
              <a:rect l="l" t="t" r="r" b="b"/>
              <a:pathLst>
                <a:path w="2133600" h="1566545">
                  <a:moveTo>
                    <a:pt x="0" y="105283"/>
                  </a:moveTo>
                  <a:lnTo>
                    <a:pt x="8270" y="64293"/>
                  </a:lnTo>
                  <a:lnTo>
                    <a:pt x="30829" y="30829"/>
                  </a:lnTo>
                  <a:lnTo>
                    <a:pt x="64293" y="8270"/>
                  </a:lnTo>
                  <a:lnTo>
                    <a:pt x="105282" y="0"/>
                  </a:lnTo>
                  <a:lnTo>
                    <a:pt x="2028063" y="0"/>
                  </a:lnTo>
                  <a:lnTo>
                    <a:pt x="2069052" y="8270"/>
                  </a:lnTo>
                  <a:lnTo>
                    <a:pt x="2102516" y="30829"/>
                  </a:lnTo>
                  <a:lnTo>
                    <a:pt x="2125075" y="64293"/>
                  </a:lnTo>
                  <a:lnTo>
                    <a:pt x="2133346" y="105283"/>
                  </a:lnTo>
                  <a:lnTo>
                    <a:pt x="2133346" y="1461008"/>
                  </a:lnTo>
                  <a:lnTo>
                    <a:pt x="2125075" y="1501997"/>
                  </a:lnTo>
                  <a:lnTo>
                    <a:pt x="2102516" y="1535461"/>
                  </a:lnTo>
                  <a:lnTo>
                    <a:pt x="2069052" y="1558020"/>
                  </a:lnTo>
                  <a:lnTo>
                    <a:pt x="2028063" y="1566291"/>
                  </a:lnTo>
                  <a:lnTo>
                    <a:pt x="105282" y="1566291"/>
                  </a:lnTo>
                  <a:lnTo>
                    <a:pt x="64293" y="1558020"/>
                  </a:lnTo>
                  <a:lnTo>
                    <a:pt x="30829" y="1535461"/>
                  </a:lnTo>
                  <a:lnTo>
                    <a:pt x="8270" y="1501997"/>
                  </a:lnTo>
                  <a:lnTo>
                    <a:pt x="0" y="1461008"/>
                  </a:lnTo>
                  <a:lnTo>
                    <a:pt x="0" y="10528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571494" y="1597914"/>
            <a:ext cx="1696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Application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351910" y="2750439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373"/>
                </a:moveTo>
                <a:lnTo>
                  <a:pt x="4992" y="38683"/>
                </a:lnTo>
                <a:lnTo>
                  <a:pt x="18605" y="18542"/>
                </a:lnTo>
                <a:lnTo>
                  <a:pt x="38790" y="4972"/>
                </a:lnTo>
                <a:lnTo>
                  <a:pt x="63500" y="0"/>
                </a:lnTo>
                <a:lnTo>
                  <a:pt x="2069973" y="0"/>
                </a:lnTo>
                <a:lnTo>
                  <a:pt x="2094662" y="4972"/>
                </a:lnTo>
                <a:lnTo>
                  <a:pt x="2114804" y="18542"/>
                </a:lnTo>
                <a:lnTo>
                  <a:pt x="2128373" y="38683"/>
                </a:lnTo>
                <a:lnTo>
                  <a:pt x="2133346" y="63373"/>
                </a:lnTo>
                <a:lnTo>
                  <a:pt x="2133346" y="317119"/>
                </a:lnTo>
                <a:lnTo>
                  <a:pt x="2128373" y="341755"/>
                </a:lnTo>
                <a:lnTo>
                  <a:pt x="2114804" y="361902"/>
                </a:lnTo>
                <a:lnTo>
                  <a:pt x="2094662" y="375501"/>
                </a:lnTo>
                <a:lnTo>
                  <a:pt x="2069973" y="380492"/>
                </a:lnTo>
                <a:lnTo>
                  <a:pt x="63500" y="380492"/>
                </a:lnTo>
                <a:lnTo>
                  <a:pt x="38790" y="375501"/>
                </a:lnTo>
                <a:lnTo>
                  <a:pt x="18605" y="361902"/>
                </a:lnTo>
                <a:lnTo>
                  <a:pt x="4992" y="341755"/>
                </a:lnTo>
                <a:lnTo>
                  <a:pt x="0" y="317119"/>
                </a:lnTo>
                <a:lnTo>
                  <a:pt x="0" y="6337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669284" y="2783789"/>
            <a:ext cx="1498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Transport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344036" y="3343275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500"/>
                </a:moveTo>
                <a:lnTo>
                  <a:pt x="4990" y="38790"/>
                </a:lnTo>
                <a:lnTo>
                  <a:pt x="18589" y="18605"/>
                </a:lnTo>
                <a:lnTo>
                  <a:pt x="38736" y="4992"/>
                </a:lnTo>
                <a:lnTo>
                  <a:pt x="63373" y="0"/>
                </a:lnTo>
                <a:lnTo>
                  <a:pt x="2069973" y="0"/>
                </a:lnTo>
                <a:lnTo>
                  <a:pt x="2094662" y="4992"/>
                </a:lnTo>
                <a:lnTo>
                  <a:pt x="2114804" y="18605"/>
                </a:lnTo>
                <a:lnTo>
                  <a:pt x="2128373" y="38790"/>
                </a:lnTo>
                <a:lnTo>
                  <a:pt x="2133346" y="63500"/>
                </a:lnTo>
                <a:lnTo>
                  <a:pt x="2133346" y="317119"/>
                </a:lnTo>
                <a:lnTo>
                  <a:pt x="2128373" y="341828"/>
                </a:lnTo>
                <a:lnTo>
                  <a:pt x="2114804" y="362013"/>
                </a:lnTo>
                <a:lnTo>
                  <a:pt x="2094662" y="375626"/>
                </a:lnTo>
                <a:lnTo>
                  <a:pt x="2069973" y="380619"/>
                </a:lnTo>
                <a:lnTo>
                  <a:pt x="63373" y="380619"/>
                </a:lnTo>
                <a:lnTo>
                  <a:pt x="38736" y="375626"/>
                </a:lnTo>
                <a:lnTo>
                  <a:pt x="18589" y="362013"/>
                </a:lnTo>
                <a:lnTo>
                  <a:pt x="4990" y="341828"/>
                </a:lnTo>
                <a:lnTo>
                  <a:pt x="0" y="317119"/>
                </a:lnTo>
                <a:lnTo>
                  <a:pt x="0" y="635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701034" y="3376929"/>
            <a:ext cx="141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Network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344798" y="3936238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423"/>
                </a:moveTo>
                <a:lnTo>
                  <a:pt x="4972" y="38736"/>
                </a:lnTo>
                <a:lnTo>
                  <a:pt x="18542" y="18576"/>
                </a:lnTo>
                <a:lnTo>
                  <a:pt x="38683" y="4984"/>
                </a:lnTo>
                <a:lnTo>
                  <a:pt x="63373" y="0"/>
                </a:lnTo>
                <a:lnTo>
                  <a:pt x="2069846" y="0"/>
                </a:lnTo>
                <a:lnTo>
                  <a:pt x="2094555" y="4984"/>
                </a:lnTo>
                <a:lnTo>
                  <a:pt x="2114740" y="18576"/>
                </a:lnTo>
                <a:lnTo>
                  <a:pt x="2128353" y="38736"/>
                </a:lnTo>
                <a:lnTo>
                  <a:pt x="2133346" y="63423"/>
                </a:lnTo>
                <a:lnTo>
                  <a:pt x="2133346" y="317106"/>
                </a:lnTo>
                <a:lnTo>
                  <a:pt x="2128353" y="341791"/>
                </a:lnTo>
                <a:lnTo>
                  <a:pt x="2114740" y="361946"/>
                </a:lnTo>
                <a:lnTo>
                  <a:pt x="2094555" y="375535"/>
                </a:lnTo>
                <a:lnTo>
                  <a:pt x="2069846" y="380517"/>
                </a:lnTo>
                <a:lnTo>
                  <a:pt x="63373" y="380517"/>
                </a:lnTo>
                <a:lnTo>
                  <a:pt x="38683" y="375535"/>
                </a:lnTo>
                <a:lnTo>
                  <a:pt x="18542" y="361946"/>
                </a:lnTo>
                <a:lnTo>
                  <a:pt x="4972" y="341791"/>
                </a:lnTo>
                <a:lnTo>
                  <a:pt x="0" y="317106"/>
                </a:lnTo>
                <a:lnTo>
                  <a:pt x="0" y="6342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680205" y="3970121"/>
            <a:ext cx="1461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link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346958" y="4529163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423"/>
                </a:moveTo>
                <a:lnTo>
                  <a:pt x="4972" y="38736"/>
                </a:lnTo>
                <a:lnTo>
                  <a:pt x="18541" y="18576"/>
                </a:lnTo>
                <a:lnTo>
                  <a:pt x="38683" y="4984"/>
                </a:lnTo>
                <a:lnTo>
                  <a:pt x="63372" y="0"/>
                </a:lnTo>
                <a:lnTo>
                  <a:pt x="2069845" y="0"/>
                </a:lnTo>
                <a:lnTo>
                  <a:pt x="2094555" y="4984"/>
                </a:lnTo>
                <a:lnTo>
                  <a:pt x="2114740" y="18576"/>
                </a:lnTo>
                <a:lnTo>
                  <a:pt x="2128353" y="38736"/>
                </a:lnTo>
                <a:lnTo>
                  <a:pt x="2133345" y="63423"/>
                </a:lnTo>
                <a:lnTo>
                  <a:pt x="2133345" y="317093"/>
                </a:lnTo>
                <a:lnTo>
                  <a:pt x="2128353" y="341780"/>
                </a:lnTo>
                <a:lnTo>
                  <a:pt x="2114740" y="361940"/>
                </a:lnTo>
                <a:lnTo>
                  <a:pt x="2094555" y="375533"/>
                </a:lnTo>
                <a:lnTo>
                  <a:pt x="2069845" y="380517"/>
                </a:lnTo>
                <a:lnTo>
                  <a:pt x="63372" y="380517"/>
                </a:lnTo>
                <a:lnTo>
                  <a:pt x="38683" y="375533"/>
                </a:lnTo>
                <a:lnTo>
                  <a:pt x="18541" y="361940"/>
                </a:lnTo>
                <a:lnTo>
                  <a:pt x="4972" y="341780"/>
                </a:lnTo>
                <a:lnTo>
                  <a:pt x="0" y="317093"/>
                </a:lnTo>
                <a:lnTo>
                  <a:pt x="0" y="6342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717797" y="4563262"/>
            <a:ext cx="1391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Physical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373626" y="958977"/>
            <a:ext cx="4021454" cy="3569970"/>
            <a:chOff x="4373626" y="958977"/>
            <a:chExt cx="4021454" cy="3569970"/>
          </a:xfrm>
        </p:grpSpPr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81119" y="2538222"/>
              <a:ext cx="76200" cy="21183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74642" y="3130803"/>
              <a:ext cx="76200" cy="21221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74896" y="4317009"/>
              <a:ext cx="76200" cy="21178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73626" y="3724147"/>
              <a:ext cx="76200" cy="211734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248527" y="971677"/>
              <a:ext cx="2133600" cy="1566545"/>
            </a:xfrm>
            <a:custGeom>
              <a:avLst/>
              <a:gdLst/>
              <a:ahLst/>
              <a:cxnLst/>
              <a:rect l="l" t="t" r="r" b="b"/>
              <a:pathLst>
                <a:path w="2133600" h="1566545">
                  <a:moveTo>
                    <a:pt x="0" y="105283"/>
                  </a:moveTo>
                  <a:lnTo>
                    <a:pt x="8270" y="64293"/>
                  </a:lnTo>
                  <a:lnTo>
                    <a:pt x="30829" y="30829"/>
                  </a:lnTo>
                  <a:lnTo>
                    <a:pt x="64293" y="8270"/>
                  </a:lnTo>
                  <a:lnTo>
                    <a:pt x="105283" y="0"/>
                  </a:lnTo>
                  <a:lnTo>
                    <a:pt x="2028063" y="0"/>
                  </a:lnTo>
                  <a:lnTo>
                    <a:pt x="2069052" y="8270"/>
                  </a:lnTo>
                  <a:lnTo>
                    <a:pt x="2102516" y="30829"/>
                  </a:lnTo>
                  <a:lnTo>
                    <a:pt x="2125075" y="64293"/>
                  </a:lnTo>
                  <a:lnTo>
                    <a:pt x="2133346" y="105283"/>
                  </a:lnTo>
                  <a:lnTo>
                    <a:pt x="2133346" y="1461008"/>
                  </a:lnTo>
                  <a:lnTo>
                    <a:pt x="2125075" y="1501997"/>
                  </a:lnTo>
                  <a:lnTo>
                    <a:pt x="2102516" y="1535461"/>
                  </a:lnTo>
                  <a:lnTo>
                    <a:pt x="2069052" y="1558020"/>
                  </a:lnTo>
                  <a:lnTo>
                    <a:pt x="2028063" y="1566291"/>
                  </a:lnTo>
                  <a:lnTo>
                    <a:pt x="105283" y="1566291"/>
                  </a:lnTo>
                  <a:lnTo>
                    <a:pt x="64293" y="1558020"/>
                  </a:lnTo>
                  <a:lnTo>
                    <a:pt x="30829" y="1535461"/>
                  </a:lnTo>
                  <a:lnTo>
                    <a:pt x="8270" y="1501997"/>
                  </a:lnTo>
                  <a:lnTo>
                    <a:pt x="0" y="1461008"/>
                  </a:lnTo>
                  <a:lnTo>
                    <a:pt x="0" y="10528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467602" y="1597914"/>
            <a:ext cx="1696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Application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247384" y="2750439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373"/>
                </a:moveTo>
                <a:lnTo>
                  <a:pt x="4992" y="38683"/>
                </a:lnTo>
                <a:lnTo>
                  <a:pt x="18605" y="18542"/>
                </a:lnTo>
                <a:lnTo>
                  <a:pt x="38790" y="4972"/>
                </a:lnTo>
                <a:lnTo>
                  <a:pt x="63500" y="0"/>
                </a:lnTo>
                <a:lnTo>
                  <a:pt x="2069972" y="0"/>
                </a:lnTo>
                <a:lnTo>
                  <a:pt x="2094682" y="4972"/>
                </a:lnTo>
                <a:lnTo>
                  <a:pt x="2114867" y="18542"/>
                </a:lnTo>
                <a:lnTo>
                  <a:pt x="2128480" y="38683"/>
                </a:lnTo>
                <a:lnTo>
                  <a:pt x="2133472" y="63373"/>
                </a:lnTo>
                <a:lnTo>
                  <a:pt x="2133472" y="317119"/>
                </a:lnTo>
                <a:lnTo>
                  <a:pt x="2128480" y="341755"/>
                </a:lnTo>
                <a:lnTo>
                  <a:pt x="2114867" y="361902"/>
                </a:lnTo>
                <a:lnTo>
                  <a:pt x="2094682" y="375501"/>
                </a:lnTo>
                <a:lnTo>
                  <a:pt x="2069972" y="380492"/>
                </a:lnTo>
                <a:lnTo>
                  <a:pt x="63500" y="380492"/>
                </a:lnTo>
                <a:lnTo>
                  <a:pt x="38790" y="375501"/>
                </a:lnTo>
                <a:lnTo>
                  <a:pt x="18605" y="361902"/>
                </a:lnTo>
                <a:lnTo>
                  <a:pt x="4992" y="341755"/>
                </a:lnTo>
                <a:lnTo>
                  <a:pt x="0" y="317119"/>
                </a:lnTo>
                <a:lnTo>
                  <a:pt x="0" y="6337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6565138" y="2783789"/>
            <a:ext cx="1498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Transport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6239509" y="3343275"/>
            <a:ext cx="2133600" cy="381000"/>
          </a:xfrm>
          <a:custGeom>
            <a:avLst/>
            <a:gdLst/>
            <a:ahLst/>
            <a:cxnLst/>
            <a:rect l="l" t="t" r="r" b="b"/>
            <a:pathLst>
              <a:path w="2133600" h="381000">
                <a:moveTo>
                  <a:pt x="0" y="63500"/>
                </a:moveTo>
                <a:lnTo>
                  <a:pt x="4990" y="38790"/>
                </a:lnTo>
                <a:lnTo>
                  <a:pt x="18589" y="18605"/>
                </a:lnTo>
                <a:lnTo>
                  <a:pt x="38736" y="4992"/>
                </a:lnTo>
                <a:lnTo>
                  <a:pt x="63373" y="0"/>
                </a:lnTo>
                <a:lnTo>
                  <a:pt x="2069972" y="0"/>
                </a:lnTo>
                <a:lnTo>
                  <a:pt x="2094662" y="4992"/>
                </a:lnTo>
                <a:lnTo>
                  <a:pt x="2114803" y="18605"/>
                </a:lnTo>
                <a:lnTo>
                  <a:pt x="2128373" y="38790"/>
                </a:lnTo>
                <a:lnTo>
                  <a:pt x="2133345" y="63500"/>
                </a:lnTo>
                <a:lnTo>
                  <a:pt x="2133345" y="317119"/>
                </a:lnTo>
                <a:lnTo>
                  <a:pt x="2128373" y="341828"/>
                </a:lnTo>
                <a:lnTo>
                  <a:pt x="2114804" y="362013"/>
                </a:lnTo>
                <a:lnTo>
                  <a:pt x="2094662" y="375626"/>
                </a:lnTo>
                <a:lnTo>
                  <a:pt x="2069972" y="380619"/>
                </a:lnTo>
                <a:lnTo>
                  <a:pt x="63373" y="380619"/>
                </a:lnTo>
                <a:lnTo>
                  <a:pt x="38736" y="375626"/>
                </a:lnTo>
                <a:lnTo>
                  <a:pt x="18589" y="362013"/>
                </a:lnTo>
                <a:lnTo>
                  <a:pt x="4990" y="341828"/>
                </a:lnTo>
                <a:lnTo>
                  <a:pt x="0" y="317119"/>
                </a:lnTo>
                <a:lnTo>
                  <a:pt x="0" y="635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6642607" y="3376929"/>
            <a:ext cx="1327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Internet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240653" y="3936238"/>
            <a:ext cx="2133600" cy="973455"/>
          </a:xfrm>
          <a:custGeom>
            <a:avLst/>
            <a:gdLst/>
            <a:ahLst/>
            <a:cxnLst/>
            <a:rect l="l" t="t" r="r" b="b"/>
            <a:pathLst>
              <a:path w="2133600" h="973454">
                <a:moveTo>
                  <a:pt x="0" y="162242"/>
                </a:moveTo>
                <a:lnTo>
                  <a:pt x="5795" y="119113"/>
                </a:lnTo>
                <a:lnTo>
                  <a:pt x="22149" y="80358"/>
                </a:lnTo>
                <a:lnTo>
                  <a:pt x="47513" y="47521"/>
                </a:lnTo>
                <a:lnTo>
                  <a:pt x="80339" y="22152"/>
                </a:lnTo>
                <a:lnTo>
                  <a:pt x="119077" y="5795"/>
                </a:lnTo>
                <a:lnTo>
                  <a:pt x="162179" y="0"/>
                </a:lnTo>
                <a:lnTo>
                  <a:pt x="1971040" y="0"/>
                </a:lnTo>
                <a:lnTo>
                  <a:pt x="2014195" y="5795"/>
                </a:lnTo>
                <a:lnTo>
                  <a:pt x="2052969" y="22152"/>
                </a:lnTo>
                <a:lnTo>
                  <a:pt x="2085816" y="47521"/>
                </a:lnTo>
                <a:lnTo>
                  <a:pt x="2111191" y="80358"/>
                </a:lnTo>
                <a:lnTo>
                  <a:pt x="2127549" y="119113"/>
                </a:lnTo>
                <a:lnTo>
                  <a:pt x="2133346" y="162242"/>
                </a:lnTo>
                <a:lnTo>
                  <a:pt x="2133346" y="811199"/>
                </a:lnTo>
                <a:lnTo>
                  <a:pt x="2127549" y="854328"/>
                </a:lnTo>
                <a:lnTo>
                  <a:pt x="2111191" y="893084"/>
                </a:lnTo>
                <a:lnTo>
                  <a:pt x="2085816" y="925920"/>
                </a:lnTo>
                <a:lnTo>
                  <a:pt x="2052969" y="951290"/>
                </a:lnTo>
                <a:lnTo>
                  <a:pt x="2014195" y="967646"/>
                </a:lnTo>
                <a:lnTo>
                  <a:pt x="1971040" y="973442"/>
                </a:lnTo>
                <a:lnTo>
                  <a:pt x="162179" y="973442"/>
                </a:lnTo>
                <a:lnTo>
                  <a:pt x="119077" y="967646"/>
                </a:lnTo>
                <a:lnTo>
                  <a:pt x="80339" y="951290"/>
                </a:lnTo>
                <a:lnTo>
                  <a:pt x="47513" y="925920"/>
                </a:lnTo>
                <a:lnTo>
                  <a:pt x="22149" y="893084"/>
                </a:lnTo>
                <a:lnTo>
                  <a:pt x="5795" y="854328"/>
                </a:lnTo>
                <a:lnTo>
                  <a:pt x="0" y="811199"/>
                </a:lnTo>
                <a:lnTo>
                  <a:pt x="0" y="162242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6783069" y="4266691"/>
            <a:ext cx="1049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Link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7269098" y="2538222"/>
            <a:ext cx="83820" cy="1398270"/>
            <a:chOff x="7269098" y="2538222"/>
            <a:chExt cx="83820" cy="1398270"/>
          </a:xfrm>
        </p:grpSpPr>
        <p:pic>
          <p:nvPicPr>
            <p:cNvPr id="54" name="object 5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76591" y="2538222"/>
              <a:ext cx="76200" cy="211835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70114" y="3130804"/>
              <a:ext cx="76200" cy="212216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69098" y="3724147"/>
              <a:ext cx="76200" cy="21173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4948234"/>
            <a:ext cx="9155430" cy="193040"/>
            <a:chOff x="-6350" y="4948234"/>
            <a:chExt cx="9155430" cy="193040"/>
          </a:xfrm>
        </p:grpSpPr>
        <p:sp>
          <p:nvSpPr>
            <p:cNvPr id="3" name="object 3"/>
            <p:cNvSpPr/>
            <p:nvPr/>
          </p:nvSpPr>
          <p:spPr>
            <a:xfrm>
              <a:off x="0" y="4954584"/>
              <a:ext cx="9142730" cy="180340"/>
            </a:xfrm>
            <a:custGeom>
              <a:avLst/>
              <a:gdLst/>
              <a:ahLst/>
              <a:cxnLst/>
              <a:rect l="l" t="t" r="r" b="b"/>
              <a:pathLst>
                <a:path w="9142730" h="180339">
                  <a:moveTo>
                    <a:pt x="9142188" y="0"/>
                  </a:moveTo>
                  <a:lnTo>
                    <a:pt x="0" y="0"/>
                  </a:lnTo>
                  <a:lnTo>
                    <a:pt x="0" y="179997"/>
                  </a:lnTo>
                  <a:lnTo>
                    <a:pt x="9142188" y="179997"/>
                  </a:lnTo>
                  <a:lnTo>
                    <a:pt x="914218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54584"/>
              <a:ext cx="9142730" cy="180340"/>
            </a:xfrm>
            <a:custGeom>
              <a:avLst/>
              <a:gdLst/>
              <a:ahLst/>
              <a:cxnLst/>
              <a:rect l="l" t="t" r="r" b="b"/>
              <a:pathLst>
                <a:path w="9142730" h="180339">
                  <a:moveTo>
                    <a:pt x="0" y="179997"/>
                  </a:moveTo>
                  <a:lnTo>
                    <a:pt x="9142188" y="179997"/>
                  </a:lnTo>
                  <a:lnTo>
                    <a:pt x="9142188" y="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55764" y="1047622"/>
            <a:ext cx="8276590" cy="3731895"/>
            <a:chOff x="455764" y="1047622"/>
            <a:chExt cx="8276590" cy="373189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5764" y="1047622"/>
              <a:ext cx="8276336" cy="3535172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TCP/IP</a:t>
            </a:r>
            <a:r>
              <a:rPr spc="-175" dirty="0"/>
              <a:t> </a:t>
            </a:r>
            <a:r>
              <a:rPr dirty="0"/>
              <a:t>reference</a:t>
            </a:r>
            <a:r>
              <a:rPr spc="-55" dirty="0"/>
              <a:t> </a:t>
            </a:r>
            <a:r>
              <a:rPr spc="-10" dirty="0"/>
              <a:t>model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TCP/IP</a:t>
            </a:r>
            <a:r>
              <a:rPr spc="-175" dirty="0"/>
              <a:t> </a:t>
            </a:r>
            <a:r>
              <a:rPr dirty="0"/>
              <a:t>reference</a:t>
            </a:r>
            <a:r>
              <a:rPr spc="-55" dirty="0"/>
              <a:t> </a:t>
            </a:r>
            <a:r>
              <a:rPr spc="-10" dirty="0"/>
              <a:t>model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354965" algn="l"/>
              </a:tabLst>
            </a:pPr>
            <a:r>
              <a:rPr sz="2100" dirty="0"/>
              <a:t>Concepts</a:t>
            </a:r>
            <a:r>
              <a:rPr sz="2100" spc="-60" dirty="0"/>
              <a:t> </a:t>
            </a:r>
            <a:r>
              <a:rPr sz="2100" dirty="0"/>
              <a:t>central</a:t>
            </a:r>
            <a:r>
              <a:rPr sz="2100" spc="-25" dirty="0"/>
              <a:t> </a:t>
            </a:r>
            <a:r>
              <a:rPr sz="2100" dirty="0"/>
              <a:t>to</a:t>
            </a:r>
            <a:r>
              <a:rPr sz="2100" spc="-30" dirty="0"/>
              <a:t> </a:t>
            </a:r>
            <a:r>
              <a:rPr sz="2100" dirty="0"/>
              <a:t>the</a:t>
            </a:r>
            <a:r>
              <a:rPr sz="2100" spc="-25" dirty="0"/>
              <a:t> </a:t>
            </a:r>
            <a:r>
              <a:rPr sz="2100" dirty="0"/>
              <a:t>OSI</a:t>
            </a:r>
            <a:r>
              <a:rPr sz="2100" spc="-30" dirty="0"/>
              <a:t> </a:t>
            </a:r>
            <a:r>
              <a:rPr sz="2100" spc="-20" dirty="0"/>
              <a:t>model</a:t>
            </a:r>
            <a:endParaRPr sz="2100"/>
          </a:p>
          <a:p>
            <a:pPr marL="756285" lvl="1" indent="-286385">
              <a:lnSpc>
                <a:spcPct val="100000"/>
              </a:lnSpc>
              <a:spcBef>
                <a:spcPts val="420"/>
              </a:spcBef>
              <a:buFont typeface="Arial MT"/>
              <a:buChar char="–"/>
              <a:tabLst>
                <a:tab pos="756285" algn="l"/>
              </a:tabLst>
            </a:pPr>
            <a:r>
              <a:rPr sz="1800" spc="-10" dirty="0">
                <a:latin typeface="Times New Roman"/>
                <a:cs typeface="Times New Roman"/>
              </a:rPr>
              <a:t>Services</a:t>
            </a:r>
            <a:endParaRPr sz="18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0"/>
              </a:spcBef>
              <a:buFont typeface="Arial MT"/>
              <a:buChar char="–"/>
              <a:tabLst>
                <a:tab pos="756285" algn="l"/>
              </a:tabLst>
            </a:pPr>
            <a:r>
              <a:rPr sz="1800" spc="-10" dirty="0">
                <a:latin typeface="Times New Roman"/>
                <a:cs typeface="Times New Roman"/>
              </a:rPr>
              <a:t>Interfaces</a:t>
            </a:r>
            <a:endParaRPr sz="18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1800" spc="-10" dirty="0">
                <a:latin typeface="Times New Roman"/>
                <a:cs typeface="Times New Roman"/>
              </a:rPr>
              <a:t>Protocols</a:t>
            </a:r>
            <a:endParaRPr sz="18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470"/>
              </a:lnSpc>
              <a:spcBef>
                <a:spcPts val="665"/>
              </a:spcBef>
              <a:buFont typeface="Arial MT"/>
              <a:buChar char="•"/>
              <a:tabLst>
                <a:tab pos="355600" algn="l"/>
              </a:tabLst>
            </a:pPr>
            <a:r>
              <a:rPr sz="2100" dirty="0"/>
              <a:t>OSI</a:t>
            </a:r>
            <a:r>
              <a:rPr sz="2100" spc="210" dirty="0"/>
              <a:t> </a:t>
            </a:r>
            <a:r>
              <a:rPr sz="2100" dirty="0"/>
              <a:t>has</a:t>
            </a:r>
            <a:r>
              <a:rPr sz="2100" spc="200" dirty="0"/>
              <a:t> </a:t>
            </a:r>
            <a:r>
              <a:rPr sz="2100" dirty="0"/>
              <a:t>good</a:t>
            </a:r>
            <a:r>
              <a:rPr sz="2100" spc="215" dirty="0"/>
              <a:t> </a:t>
            </a:r>
            <a:r>
              <a:rPr sz="2100" dirty="0"/>
              <a:t>definition</a:t>
            </a:r>
            <a:r>
              <a:rPr sz="2100" spc="215" dirty="0"/>
              <a:t> </a:t>
            </a:r>
            <a:r>
              <a:rPr sz="2100" dirty="0"/>
              <a:t>of</a:t>
            </a:r>
            <a:r>
              <a:rPr sz="2100" spc="195" dirty="0"/>
              <a:t> </a:t>
            </a:r>
            <a:r>
              <a:rPr sz="2100" dirty="0"/>
              <a:t>service,</a:t>
            </a:r>
            <a:r>
              <a:rPr sz="2100" spc="210" dirty="0"/>
              <a:t> </a:t>
            </a:r>
            <a:r>
              <a:rPr sz="2100" dirty="0"/>
              <a:t>interface,</a:t>
            </a:r>
            <a:r>
              <a:rPr sz="2100" spc="229" dirty="0"/>
              <a:t> </a:t>
            </a:r>
            <a:r>
              <a:rPr sz="2100" dirty="0"/>
              <a:t>and</a:t>
            </a:r>
            <a:r>
              <a:rPr sz="2100" spc="210" dirty="0"/>
              <a:t> </a:t>
            </a:r>
            <a:r>
              <a:rPr sz="2100" dirty="0"/>
              <a:t>protocol.</a:t>
            </a:r>
            <a:r>
              <a:rPr sz="2100" spc="220" dirty="0"/>
              <a:t> </a:t>
            </a:r>
            <a:r>
              <a:rPr sz="2100" dirty="0"/>
              <a:t>Fits</a:t>
            </a:r>
            <a:r>
              <a:rPr sz="2100" spc="210" dirty="0"/>
              <a:t> </a:t>
            </a:r>
            <a:r>
              <a:rPr sz="2100" dirty="0"/>
              <a:t>well</a:t>
            </a:r>
            <a:r>
              <a:rPr sz="2100" spc="215" dirty="0"/>
              <a:t> </a:t>
            </a:r>
            <a:r>
              <a:rPr sz="2100" spc="-20" dirty="0"/>
              <a:t>with </a:t>
            </a:r>
            <a:r>
              <a:rPr sz="2100" dirty="0"/>
              <a:t>object</a:t>
            </a:r>
            <a:r>
              <a:rPr sz="2100" spc="-90" dirty="0"/>
              <a:t> </a:t>
            </a:r>
            <a:r>
              <a:rPr sz="2100" dirty="0"/>
              <a:t>oriented</a:t>
            </a:r>
            <a:r>
              <a:rPr sz="2100" spc="-85" dirty="0"/>
              <a:t> </a:t>
            </a:r>
            <a:r>
              <a:rPr sz="2100" dirty="0"/>
              <a:t>programming</a:t>
            </a:r>
            <a:r>
              <a:rPr sz="2100" spc="-35" dirty="0"/>
              <a:t> </a:t>
            </a:r>
            <a:r>
              <a:rPr sz="2100" spc="-10" dirty="0"/>
              <a:t>concepts.</a:t>
            </a:r>
            <a:endParaRPr sz="2100"/>
          </a:p>
          <a:p>
            <a:pPr marL="354965" indent="-342265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354965" algn="l"/>
              </a:tabLst>
            </a:pPr>
            <a:r>
              <a:rPr sz="2100" dirty="0"/>
              <a:t>Protocols</a:t>
            </a:r>
            <a:r>
              <a:rPr sz="2100" spc="-75" dirty="0"/>
              <a:t> </a:t>
            </a:r>
            <a:r>
              <a:rPr sz="2100" dirty="0"/>
              <a:t>are</a:t>
            </a:r>
            <a:r>
              <a:rPr sz="2100" spc="-35" dirty="0"/>
              <a:t> </a:t>
            </a:r>
            <a:r>
              <a:rPr sz="2100" dirty="0"/>
              <a:t>better</a:t>
            </a:r>
            <a:r>
              <a:rPr sz="2100" spc="-35" dirty="0"/>
              <a:t> </a:t>
            </a:r>
            <a:r>
              <a:rPr sz="2100" spc="-10" dirty="0"/>
              <a:t>hidden</a:t>
            </a:r>
            <a:endParaRPr sz="2100"/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100" dirty="0"/>
              <a:t>TCP/IP</a:t>
            </a:r>
            <a:r>
              <a:rPr sz="2100" spc="-125" dirty="0"/>
              <a:t> </a:t>
            </a:r>
            <a:r>
              <a:rPr sz="2100" dirty="0"/>
              <a:t>model</a:t>
            </a:r>
            <a:r>
              <a:rPr sz="2100" spc="-30" dirty="0"/>
              <a:t> </a:t>
            </a:r>
            <a:r>
              <a:rPr sz="2100" dirty="0"/>
              <a:t>did</a:t>
            </a:r>
            <a:r>
              <a:rPr sz="2100" spc="-40" dirty="0"/>
              <a:t> </a:t>
            </a:r>
            <a:r>
              <a:rPr sz="2100" dirty="0"/>
              <a:t>not</a:t>
            </a:r>
            <a:r>
              <a:rPr sz="2100" spc="-55" dirty="0"/>
              <a:t> </a:t>
            </a:r>
            <a:r>
              <a:rPr sz="2100" dirty="0"/>
              <a:t>distinguish</a:t>
            </a:r>
            <a:r>
              <a:rPr sz="2100" spc="-60" dirty="0"/>
              <a:t> </a:t>
            </a:r>
            <a:r>
              <a:rPr sz="2100" dirty="0"/>
              <a:t>between</a:t>
            </a:r>
            <a:r>
              <a:rPr sz="2100" spc="-45" dirty="0"/>
              <a:t> </a:t>
            </a:r>
            <a:r>
              <a:rPr sz="2100" dirty="0"/>
              <a:t>service,</a:t>
            </a:r>
            <a:r>
              <a:rPr sz="2100" spc="-40" dirty="0"/>
              <a:t> </a:t>
            </a:r>
            <a:r>
              <a:rPr sz="2100" dirty="0"/>
              <a:t>interface,</a:t>
            </a:r>
            <a:r>
              <a:rPr sz="2100" spc="-30" dirty="0"/>
              <a:t> </a:t>
            </a:r>
            <a:r>
              <a:rPr sz="2100" dirty="0"/>
              <a:t>and</a:t>
            </a:r>
            <a:r>
              <a:rPr sz="2100" spc="-40" dirty="0"/>
              <a:t> </a:t>
            </a:r>
            <a:r>
              <a:rPr sz="2100" spc="-10" dirty="0"/>
              <a:t>protocol</a:t>
            </a:r>
            <a:endParaRPr sz="2100"/>
          </a:p>
          <a:p>
            <a:pPr marL="355600" marR="5080" indent="-342900">
              <a:lnSpc>
                <a:spcPts val="247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sz="2100" dirty="0"/>
              <a:t>With</a:t>
            </a:r>
            <a:r>
              <a:rPr sz="2100" spc="145" dirty="0"/>
              <a:t> </a:t>
            </a:r>
            <a:r>
              <a:rPr sz="2100" spc="-10" dirty="0"/>
              <a:t>TCP/IP,</a:t>
            </a:r>
            <a:r>
              <a:rPr sz="2100" spc="130" dirty="0"/>
              <a:t> </a:t>
            </a:r>
            <a:r>
              <a:rPr sz="2100" dirty="0"/>
              <a:t>the</a:t>
            </a:r>
            <a:r>
              <a:rPr sz="2100" spc="130" dirty="0"/>
              <a:t> </a:t>
            </a:r>
            <a:r>
              <a:rPr sz="2100" dirty="0"/>
              <a:t>protocols</a:t>
            </a:r>
            <a:r>
              <a:rPr sz="2100" spc="130" dirty="0"/>
              <a:t> </a:t>
            </a:r>
            <a:r>
              <a:rPr sz="2100" dirty="0"/>
              <a:t>came</a:t>
            </a:r>
            <a:r>
              <a:rPr sz="2100" spc="140" dirty="0"/>
              <a:t> </a:t>
            </a:r>
            <a:r>
              <a:rPr sz="2100" dirty="0"/>
              <a:t>first;</a:t>
            </a:r>
            <a:r>
              <a:rPr sz="2100" spc="155" dirty="0"/>
              <a:t> </a:t>
            </a:r>
            <a:r>
              <a:rPr sz="2100" dirty="0"/>
              <a:t>model</a:t>
            </a:r>
            <a:r>
              <a:rPr sz="2100" spc="140" dirty="0"/>
              <a:t> </a:t>
            </a:r>
            <a:r>
              <a:rPr sz="2100" dirty="0"/>
              <a:t>was</a:t>
            </a:r>
            <a:r>
              <a:rPr sz="2100" spc="130" dirty="0"/>
              <a:t> </a:t>
            </a:r>
            <a:r>
              <a:rPr sz="2100" dirty="0"/>
              <a:t>just</a:t>
            </a:r>
            <a:r>
              <a:rPr sz="2100" spc="130" dirty="0"/>
              <a:t> </a:t>
            </a:r>
            <a:r>
              <a:rPr sz="2100" dirty="0"/>
              <a:t>a</a:t>
            </a:r>
            <a:r>
              <a:rPr sz="2100" spc="140" dirty="0"/>
              <a:t> </a:t>
            </a:r>
            <a:r>
              <a:rPr sz="2100" dirty="0"/>
              <a:t>description</a:t>
            </a:r>
            <a:r>
              <a:rPr sz="2100" spc="135" dirty="0"/>
              <a:t> </a:t>
            </a:r>
            <a:r>
              <a:rPr sz="2100" dirty="0"/>
              <a:t>of</a:t>
            </a:r>
            <a:r>
              <a:rPr sz="2100" spc="135" dirty="0"/>
              <a:t> </a:t>
            </a:r>
            <a:r>
              <a:rPr sz="2100" spc="-25" dirty="0"/>
              <a:t>the </a:t>
            </a:r>
            <a:r>
              <a:rPr sz="2100" spc="-10" dirty="0"/>
              <a:t>protocols</a:t>
            </a:r>
            <a:endParaRPr sz="21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Transmission</a:t>
            </a:r>
            <a:r>
              <a:rPr spc="-170" dirty="0"/>
              <a:t> </a:t>
            </a:r>
            <a:r>
              <a:rPr spc="-20" dirty="0"/>
              <a:t>Mode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8714"/>
            <a:ext cx="5588635" cy="152590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Three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0" dirty="0">
                <a:latin typeface="Times New Roman"/>
                <a:cs typeface="Times New Roman"/>
              </a:rPr>
              <a:t> used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latin typeface="Times New Roman"/>
                <a:cs typeface="Times New Roman"/>
              </a:rPr>
              <a:t>Simplex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Half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duplex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Full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duplex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Transmission</a:t>
            </a:r>
            <a:r>
              <a:rPr spc="-170" dirty="0"/>
              <a:t> </a:t>
            </a:r>
            <a:r>
              <a:rPr spc="-20" dirty="0"/>
              <a:t>Mode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8714"/>
            <a:ext cx="8507730" cy="188150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Simplex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unidirectional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flow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node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link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transmit,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 only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receive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entire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capacity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channel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 one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direction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Eg: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road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69030" y="3610965"/>
            <a:ext cx="2634615" cy="376555"/>
            <a:chOff x="3169030" y="3610965"/>
            <a:chExt cx="2634615" cy="376555"/>
          </a:xfrm>
        </p:grpSpPr>
        <p:sp>
          <p:nvSpPr>
            <p:cNvPr id="10" name="object 10"/>
            <p:cNvSpPr/>
            <p:nvPr/>
          </p:nvSpPr>
          <p:spPr>
            <a:xfrm>
              <a:off x="3181730" y="367017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272" y="0"/>
                  </a:moveTo>
                  <a:lnTo>
                    <a:pt x="104103" y="7765"/>
                  </a:lnTo>
                  <a:lnTo>
                    <a:pt x="62298" y="29386"/>
                  </a:lnTo>
                  <a:lnTo>
                    <a:pt x="29350" y="62352"/>
                  </a:lnTo>
                  <a:lnTo>
                    <a:pt x="7753" y="104152"/>
                  </a:lnTo>
                  <a:lnTo>
                    <a:pt x="0" y="152272"/>
                  </a:lnTo>
                  <a:lnTo>
                    <a:pt x="7753" y="200422"/>
                  </a:lnTo>
                  <a:lnTo>
                    <a:pt x="29350" y="242233"/>
                  </a:lnTo>
                  <a:lnTo>
                    <a:pt x="62298" y="275202"/>
                  </a:lnTo>
                  <a:lnTo>
                    <a:pt x="104103" y="296820"/>
                  </a:lnTo>
                  <a:lnTo>
                    <a:pt x="152272" y="304584"/>
                  </a:lnTo>
                  <a:lnTo>
                    <a:pt x="200393" y="296820"/>
                  </a:lnTo>
                  <a:lnTo>
                    <a:pt x="242193" y="275202"/>
                  </a:lnTo>
                  <a:lnTo>
                    <a:pt x="275159" y="242233"/>
                  </a:lnTo>
                  <a:lnTo>
                    <a:pt x="296780" y="200422"/>
                  </a:lnTo>
                  <a:lnTo>
                    <a:pt x="304545" y="152272"/>
                  </a:lnTo>
                  <a:lnTo>
                    <a:pt x="296780" y="104152"/>
                  </a:lnTo>
                  <a:lnTo>
                    <a:pt x="275159" y="62352"/>
                  </a:lnTo>
                  <a:lnTo>
                    <a:pt x="242193" y="29386"/>
                  </a:lnTo>
                  <a:lnTo>
                    <a:pt x="200393" y="7765"/>
                  </a:lnTo>
                  <a:lnTo>
                    <a:pt x="152272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81730" y="367017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272"/>
                  </a:moveTo>
                  <a:lnTo>
                    <a:pt x="7753" y="104152"/>
                  </a:lnTo>
                  <a:lnTo>
                    <a:pt x="29350" y="62352"/>
                  </a:lnTo>
                  <a:lnTo>
                    <a:pt x="62298" y="29386"/>
                  </a:lnTo>
                  <a:lnTo>
                    <a:pt x="104103" y="7765"/>
                  </a:lnTo>
                  <a:lnTo>
                    <a:pt x="152272" y="0"/>
                  </a:lnTo>
                  <a:lnTo>
                    <a:pt x="200393" y="7765"/>
                  </a:lnTo>
                  <a:lnTo>
                    <a:pt x="242193" y="29386"/>
                  </a:lnTo>
                  <a:lnTo>
                    <a:pt x="275159" y="62352"/>
                  </a:lnTo>
                  <a:lnTo>
                    <a:pt x="296780" y="104152"/>
                  </a:lnTo>
                  <a:lnTo>
                    <a:pt x="304545" y="152272"/>
                  </a:lnTo>
                  <a:lnTo>
                    <a:pt x="296780" y="200422"/>
                  </a:lnTo>
                  <a:lnTo>
                    <a:pt x="275159" y="242233"/>
                  </a:lnTo>
                  <a:lnTo>
                    <a:pt x="242193" y="275202"/>
                  </a:lnTo>
                  <a:lnTo>
                    <a:pt x="200393" y="296820"/>
                  </a:lnTo>
                  <a:lnTo>
                    <a:pt x="152272" y="304584"/>
                  </a:lnTo>
                  <a:lnTo>
                    <a:pt x="104103" y="296820"/>
                  </a:lnTo>
                  <a:lnTo>
                    <a:pt x="62298" y="275202"/>
                  </a:lnTo>
                  <a:lnTo>
                    <a:pt x="29350" y="242233"/>
                  </a:lnTo>
                  <a:lnTo>
                    <a:pt x="7753" y="200422"/>
                  </a:lnTo>
                  <a:lnTo>
                    <a:pt x="0" y="15227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86400" y="367017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273" y="0"/>
                  </a:moveTo>
                  <a:lnTo>
                    <a:pt x="104152" y="7765"/>
                  </a:lnTo>
                  <a:lnTo>
                    <a:pt x="62352" y="29386"/>
                  </a:lnTo>
                  <a:lnTo>
                    <a:pt x="29386" y="62352"/>
                  </a:lnTo>
                  <a:lnTo>
                    <a:pt x="7765" y="104152"/>
                  </a:lnTo>
                  <a:lnTo>
                    <a:pt x="0" y="152272"/>
                  </a:lnTo>
                  <a:lnTo>
                    <a:pt x="7765" y="200422"/>
                  </a:lnTo>
                  <a:lnTo>
                    <a:pt x="29386" y="242233"/>
                  </a:lnTo>
                  <a:lnTo>
                    <a:pt x="62352" y="275202"/>
                  </a:lnTo>
                  <a:lnTo>
                    <a:pt x="104152" y="296820"/>
                  </a:lnTo>
                  <a:lnTo>
                    <a:pt x="152273" y="304584"/>
                  </a:lnTo>
                  <a:lnTo>
                    <a:pt x="200393" y="296820"/>
                  </a:lnTo>
                  <a:lnTo>
                    <a:pt x="242193" y="275202"/>
                  </a:lnTo>
                  <a:lnTo>
                    <a:pt x="275159" y="242233"/>
                  </a:lnTo>
                  <a:lnTo>
                    <a:pt x="296780" y="200422"/>
                  </a:lnTo>
                  <a:lnTo>
                    <a:pt x="304546" y="152272"/>
                  </a:lnTo>
                  <a:lnTo>
                    <a:pt x="296780" y="104152"/>
                  </a:lnTo>
                  <a:lnTo>
                    <a:pt x="275159" y="62352"/>
                  </a:lnTo>
                  <a:lnTo>
                    <a:pt x="242193" y="29386"/>
                  </a:lnTo>
                  <a:lnTo>
                    <a:pt x="200393" y="7765"/>
                  </a:lnTo>
                  <a:lnTo>
                    <a:pt x="152273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86400" y="367017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272"/>
                  </a:moveTo>
                  <a:lnTo>
                    <a:pt x="7765" y="104152"/>
                  </a:lnTo>
                  <a:lnTo>
                    <a:pt x="29386" y="62352"/>
                  </a:lnTo>
                  <a:lnTo>
                    <a:pt x="62352" y="29386"/>
                  </a:lnTo>
                  <a:lnTo>
                    <a:pt x="104152" y="7765"/>
                  </a:lnTo>
                  <a:lnTo>
                    <a:pt x="152273" y="0"/>
                  </a:lnTo>
                  <a:lnTo>
                    <a:pt x="200393" y="7765"/>
                  </a:lnTo>
                  <a:lnTo>
                    <a:pt x="242193" y="29386"/>
                  </a:lnTo>
                  <a:lnTo>
                    <a:pt x="275159" y="62352"/>
                  </a:lnTo>
                  <a:lnTo>
                    <a:pt x="296780" y="104152"/>
                  </a:lnTo>
                  <a:lnTo>
                    <a:pt x="304546" y="152272"/>
                  </a:lnTo>
                  <a:lnTo>
                    <a:pt x="296780" y="200422"/>
                  </a:lnTo>
                  <a:lnTo>
                    <a:pt x="275159" y="242233"/>
                  </a:lnTo>
                  <a:lnTo>
                    <a:pt x="242193" y="275202"/>
                  </a:lnTo>
                  <a:lnTo>
                    <a:pt x="200393" y="296820"/>
                  </a:lnTo>
                  <a:lnTo>
                    <a:pt x="152273" y="304584"/>
                  </a:lnTo>
                  <a:lnTo>
                    <a:pt x="104152" y="296820"/>
                  </a:lnTo>
                  <a:lnTo>
                    <a:pt x="62352" y="275202"/>
                  </a:lnTo>
                  <a:lnTo>
                    <a:pt x="29386" y="242233"/>
                  </a:lnTo>
                  <a:lnTo>
                    <a:pt x="7765" y="200422"/>
                  </a:lnTo>
                  <a:lnTo>
                    <a:pt x="0" y="15227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19267" y="3623665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182524" y="0"/>
                  </a:moveTo>
                  <a:lnTo>
                    <a:pt x="0" y="0"/>
                  </a:lnTo>
                  <a:lnTo>
                    <a:pt x="0" y="182524"/>
                  </a:lnTo>
                  <a:lnTo>
                    <a:pt x="182524" y="182524"/>
                  </a:lnTo>
                  <a:lnTo>
                    <a:pt x="18252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19267" y="3623665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0" y="182524"/>
                  </a:moveTo>
                  <a:lnTo>
                    <a:pt x="182524" y="182524"/>
                  </a:lnTo>
                  <a:lnTo>
                    <a:pt x="182524" y="0"/>
                  </a:lnTo>
                  <a:lnTo>
                    <a:pt x="0" y="0"/>
                  </a:lnTo>
                  <a:lnTo>
                    <a:pt x="0" y="18252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86276" y="3822446"/>
              <a:ext cx="2000250" cy="1905"/>
            </a:xfrm>
            <a:custGeom>
              <a:avLst/>
              <a:gdLst/>
              <a:ahLst/>
              <a:cxnLst/>
              <a:rect l="l" t="t" r="r" b="b"/>
              <a:pathLst>
                <a:path w="2000250" h="1904">
                  <a:moveTo>
                    <a:pt x="0" y="0"/>
                  </a:moveTo>
                  <a:lnTo>
                    <a:pt x="2000123" y="1650"/>
                  </a:lnTo>
                </a:path>
              </a:pathLst>
            </a:custGeom>
            <a:ln w="284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Transmission</a:t>
            </a:r>
            <a:r>
              <a:rPr spc="-170" dirty="0"/>
              <a:t> </a:t>
            </a:r>
            <a:r>
              <a:rPr spc="-20" dirty="0"/>
              <a:t>Mode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8714"/>
            <a:ext cx="7901940" cy="223837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Half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duplex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bidirectional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flow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 only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node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send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node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both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 </a:t>
            </a:r>
            <a:r>
              <a:rPr sz="2000" spc="-20" dirty="0">
                <a:latin typeface="Times New Roman"/>
                <a:cs typeface="Times New Roman"/>
              </a:rPr>
              <a:t>time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node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sending,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vice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versa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entire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capacity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channel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utilized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10" dirty="0">
                <a:latin typeface="Times New Roman"/>
                <a:cs typeface="Times New Roman"/>
              </a:rPr>
              <a:t> direction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Eg: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walkie-talkies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69030" y="3657472"/>
            <a:ext cx="2634615" cy="367030"/>
            <a:chOff x="3169030" y="3657472"/>
            <a:chExt cx="2634615" cy="367030"/>
          </a:xfrm>
        </p:grpSpPr>
        <p:sp>
          <p:nvSpPr>
            <p:cNvPr id="10" name="object 10"/>
            <p:cNvSpPr/>
            <p:nvPr/>
          </p:nvSpPr>
          <p:spPr>
            <a:xfrm>
              <a:off x="3181730" y="367017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272" y="0"/>
                  </a:moveTo>
                  <a:lnTo>
                    <a:pt x="104103" y="7765"/>
                  </a:lnTo>
                  <a:lnTo>
                    <a:pt x="62298" y="29386"/>
                  </a:lnTo>
                  <a:lnTo>
                    <a:pt x="29350" y="62352"/>
                  </a:lnTo>
                  <a:lnTo>
                    <a:pt x="7753" y="104152"/>
                  </a:lnTo>
                  <a:lnTo>
                    <a:pt x="0" y="152272"/>
                  </a:lnTo>
                  <a:lnTo>
                    <a:pt x="7753" y="200422"/>
                  </a:lnTo>
                  <a:lnTo>
                    <a:pt x="29350" y="242233"/>
                  </a:lnTo>
                  <a:lnTo>
                    <a:pt x="62298" y="275202"/>
                  </a:lnTo>
                  <a:lnTo>
                    <a:pt x="104103" y="296820"/>
                  </a:lnTo>
                  <a:lnTo>
                    <a:pt x="152272" y="304584"/>
                  </a:lnTo>
                  <a:lnTo>
                    <a:pt x="200393" y="296820"/>
                  </a:lnTo>
                  <a:lnTo>
                    <a:pt x="242193" y="275202"/>
                  </a:lnTo>
                  <a:lnTo>
                    <a:pt x="275159" y="242233"/>
                  </a:lnTo>
                  <a:lnTo>
                    <a:pt x="296780" y="200422"/>
                  </a:lnTo>
                  <a:lnTo>
                    <a:pt x="304545" y="152272"/>
                  </a:lnTo>
                  <a:lnTo>
                    <a:pt x="296780" y="104152"/>
                  </a:lnTo>
                  <a:lnTo>
                    <a:pt x="275159" y="62352"/>
                  </a:lnTo>
                  <a:lnTo>
                    <a:pt x="242193" y="29386"/>
                  </a:lnTo>
                  <a:lnTo>
                    <a:pt x="200393" y="7765"/>
                  </a:lnTo>
                  <a:lnTo>
                    <a:pt x="152272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81730" y="367017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272"/>
                  </a:moveTo>
                  <a:lnTo>
                    <a:pt x="7753" y="104152"/>
                  </a:lnTo>
                  <a:lnTo>
                    <a:pt x="29350" y="62352"/>
                  </a:lnTo>
                  <a:lnTo>
                    <a:pt x="62298" y="29386"/>
                  </a:lnTo>
                  <a:lnTo>
                    <a:pt x="104103" y="7765"/>
                  </a:lnTo>
                  <a:lnTo>
                    <a:pt x="152272" y="0"/>
                  </a:lnTo>
                  <a:lnTo>
                    <a:pt x="200393" y="7765"/>
                  </a:lnTo>
                  <a:lnTo>
                    <a:pt x="242193" y="29386"/>
                  </a:lnTo>
                  <a:lnTo>
                    <a:pt x="275159" y="62352"/>
                  </a:lnTo>
                  <a:lnTo>
                    <a:pt x="296780" y="104152"/>
                  </a:lnTo>
                  <a:lnTo>
                    <a:pt x="304545" y="152272"/>
                  </a:lnTo>
                  <a:lnTo>
                    <a:pt x="296780" y="200422"/>
                  </a:lnTo>
                  <a:lnTo>
                    <a:pt x="275159" y="242233"/>
                  </a:lnTo>
                  <a:lnTo>
                    <a:pt x="242193" y="275202"/>
                  </a:lnTo>
                  <a:lnTo>
                    <a:pt x="200393" y="296820"/>
                  </a:lnTo>
                  <a:lnTo>
                    <a:pt x="152272" y="304584"/>
                  </a:lnTo>
                  <a:lnTo>
                    <a:pt x="104103" y="296820"/>
                  </a:lnTo>
                  <a:lnTo>
                    <a:pt x="62298" y="275202"/>
                  </a:lnTo>
                  <a:lnTo>
                    <a:pt x="29350" y="242233"/>
                  </a:lnTo>
                  <a:lnTo>
                    <a:pt x="7753" y="200422"/>
                  </a:lnTo>
                  <a:lnTo>
                    <a:pt x="0" y="15227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86400" y="367017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273" y="0"/>
                  </a:moveTo>
                  <a:lnTo>
                    <a:pt x="104152" y="7765"/>
                  </a:lnTo>
                  <a:lnTo>
                    <a:pt x="62352" y="29386"/>
                  </a:lnTo>
                  <a:lnTo>
                    <a:pt x="29386" y="62352"/>
                  </a:lnTo>
                  <a:lnTo>
                    <a:pt x="7765" y="104152"/>
                  </a:lnTo>
                  <a:lnTo>
                    <a:pt x="0" y="152272"/>
                  </a:lnTo>
                  <a:lnTo>
                    <a:pt x="7765" y="200422"/>
                  </a:lnTo>
                  <a:lnTo>
                    <a:pt x="29386" y="242233"/>
                  </a:lnTo>
                  <a:lnTo>
                    <a:pt x="62352" y="275202"/>
                  </a:lnTo>
                  <a:lnTo>
                    <a:pt x="104152" y="296820"/>
                  </a:lnTo>
                  <a:lnTo>
                    <a:pt x="152273" y="304584"/>
                  </a:lnTo>
                  <a:lnTo>
                    <a:pt x="200393" y="296820"/>
                  </a:lnTo>
                  <a:lnTo>
                    <a:pt x="242193" y="275202"/>
                  </a:lnTo>
                  <a:lnTo>
                    <a:pt x="275159" y="242233"/>
                  </a:lnTo>
                  <a:lnTo>
                    <a:pt x="296780" y="200422"/>
                  </a:lnTo>
                  <a:lnTo>
                    <a:pt x="304546" y="152272"/>
                  </a:lnTo>
                  <a:lnTo>
                    <a:pt x="296780" y="104152"/>
                  </a:lnTo>
                  <a:lnTo>
                    <a:pt x="275159" y="62352"/>
                  </a:lnTo>
                  <a:lnTo>
                    <a:pt x="242193" y="29386"/>
                  </a:lnTo>
                  <a:lnTo>
                    <a:pt x="200393" y="7765"/>
                  </a:lnTo>
                  <a:lnTo>
                    <a:pt x="152273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86400" y="367017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272"/>
                  </a:moveTo>
                  <a:lnTo>
                    <a:pt x="7765" y="104152"/>
                  </a:lnTo>
                  <a:lnTo>
                    <a:pt x="29386" y="62352"/>
                  </a:lnTo>
                  <a:lnTo>
                    <a:pt x="62352" y="29386"/>
                  </a:lnTo>
                  <a:lnTo>
                    <a:pt x="104152" y="7765"/>
                  </a:lnTo>
                  <a:lnTo>
                    <a:pt x="152273" y="0"/>
                  </a:lnTo>
                  <a:lnTo>
                    <a:pt x="200393" y="7765"/>
                  </a:lnTo>
                  <a:lnTo>
                    <a:pt x="242193" y="29386"/>
                  </a:lnTo>
                  <a:lnTo>
                    <a:pt x="275159" y="62352"/>
                  </a:lnTo>
                  <a:lnTo>
                    <a:pt x="296780" y="104152"/>
                  </a:lnTo>
                  <a:lnTo>
                    <a:pt x="304546" y="152272"/>
                  </a:lnTo>
                  <a:lnTo>
                    <a:pt x="296780" y="200422"/>
                  </a:lnTo>
                  <a:lnTo>
                    <a:pt x="275159" y="242233"/>
                  </a:lnTo>
                  <a:lnTo>
                    <a:pt x="242193" y="275202"/>
                  </a:lnTo>
                  <a:lnTo>
                    <a:pt x="200393" y="296820"/>
                  </a:lnTo>
                  <a:lnTo>
                    <a:pt x="152273" y="304584"/>
                  </a:lnTo>
                  <a:lnTo>
                    <a:pt x="104152" y="296820"/>
                  </a:lnTo>
                  <a:lnTo>
                    <a:pt x="62352" y="275202"/>
                  </a:lnTo>
                  <a:lnTo>
                    <a:pt x="29386" y="242233"/>
                  </a:lnTo>
                  <a:lnTo>
                    <a:pt x="7765" y="200422"/>
                  </a:lnTo>
                  <a:lnTo>
                    <a:pt x="0" y="15227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86276" y="3822445"/>
              <a:ext cx="2000250" cy="1905"/>
            </a:xfrm>
            <a:custGeom>
              <a:avLst/>
              <a:gdLst/>
              <a:ahLst/>
              <a:cxnLst/>
              <a:rect l="l" t="t" r="r" b="b"/>
              <a:pathLst>
                <a:path w="2000250" h="1904">
                  <a:moveTo>
                    <a:pt x="0" y="0"/>
                  </a:moveTo>
                  <a:lnTo>
                    <a:pt x="2000123" y="1650"/>
                  </a:lnTo>
                </a:path>
              </a:pathLst>
            </a:custGeom>
            <a:ln w="284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76243" y="3828745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182524" y="0"/>
                  </a:moveTo>
                  <a:lnTo>
                    <a:pt x="0" y="0"/>
                  </a:lnTo>
                  <a:lnTo>
                    <a:pt x="0" y="182524"/>
                  </a:lnTo>
                  <a:lnTo>
                    <a:pt x="182524" y="182524"/>
                  </a:lnTo>
                  <a:lnTo>
                    <a:pt x="18252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76243" y="3828745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0" y="182524"/>
                  </a:moveTo>
                  <a:lnTo>
                    <a:pt x="182524" y="182524"/>
                  </a:lnTo>
                  <a:lnTo>
                    <a:pt x="182524" y="0"/>
                  </a:lnTo>
                  <a:lnTo>
                    <a:pt x="0" y="0"/>
                  </a:lnTo>
                  <a:lnTo>
                    <a:pt x="0" y="18252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Transmission</a:t>
            </a:r>
            <a:r>
              <a:rPr spc="-170" dirty="0"/>
              <a:t> </a:t>
            </a:r>
            <a:r>
              <a:rPr spc="-20" dirty="0"/>
              <a:t>Mode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Full</a:t>
            </a:r>
            <a:r>
              <a:rPr spc="-30" dirty="0"/>
              <a:t> </a:t>
            </a:r>
            <a:r>
              <a:rPr spc="-10" dirty="0"/>
              <a:t>duplex</a:t>
            </a:r>
          </a:p>
          <a:p>
            <a:pPr marL="756285" lvl="1" indent="-286385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bidirectional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flow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ts val="2350"/>
              </a:lnSpc>
              <a:spcBef>
                <a:spcPts val="57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node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both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transmit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well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simultaneously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be </a:t>
            </a:r>
            <a:r>
              <a:rPr sz="2000" dirty="0">
                <a:latin typeface="Times New Roman"/>
                <a:cs typeface="Times New Roman"/>
              </a:rPr>
              <a:t>achieved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ways</a:t>
            </a:r>
            <a:endParaRPr sz="2000">
              <a:latin typeface="Times New Roman"/>
              <a:cs typeface="Times New Roman"/>
            </a:endParaRPr>
          </a:p>
          <a:p>
            <a:pPr marL="1155700" lvl="2" indent="-228600">
              <a:lnSpc>
                <a:spcPts val="2135"/>
              </a:lnSpc>
              <a:spcBef>
                <a:spcPts val="385"/>
              </a:spcBef>
              <a:buFont typeface="Arial MT"/>
              <a:buChar char="•"/>
              <a:tabLst>
                <a:tab pos="1155700" algn="l"/>
              </a:tabLst>
            </a:pPr>
            <a:r>
              <a:rPr sz="1800" dirty="0">
                <a:latin typeface="Times New Roman"/>
                <a:cs typeface="Times New Roman"/>
              </a:rPr>
              <a:t>either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link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must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contain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two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physically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separate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transmission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paths,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one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for</a:t>
            </a:r>
            <a:endParaRPr sz="1800">
              <a:latin typeface="Times New Roman"/>
              <a:cs typeface="Times New Roman"/>
            </a:endParaRPr>
          </a:p>
          <a:p>
            <a:pPr marL="1155700">
              <a:lnSpc>
                <a:spcPts val="2135"/>
              </a:lnSpc>
            </a:pPr>
            <a:r>
              <a:rPr sz="1800" dirty="0"/>
              <a:t>sending</a:t>
            </a:r>
            <a:r>
              <a:rPr sz="1800" spc="-65" dirty="0"/>
              <a:t> </a:t>
            </a:r>
            <a:r>
              <a:rPr sz="1800" dirty="0"/>
              <a:t>and</a:t>
            </a:r>
            <a:r>
              <a:rPr sz="1800" spc="-40" dirty="0"/>
              <a:t> </a:t>
            </a:r>
            <a:r>
              <a:rPr sz="1800" dirty="0"/>
              <a:t>other</a:t>
            </a:r>
            <a:r>
              <a:rPr sz="1800" spc="-35" dirty="0"/>
              <a:t> </a:t>
            </a:r>
            <a:r>
              <a:rPr sz="1800" dirty="0"/>
              <a:t>for</a:t>
            </a:r>
            <a:r>
              <a:rPr sz="1800" spc="-35" dirty="0"/>
              <a:t> </a:t>
            </a:r>
            <a:r>
              <a:rPr sz="1800" dirty="0"/>
              <a:t>receiving</a:t>
            </a:r>
            <a:r>
              <a:rPr sz="1800" spc="-55" dirty="0"/>
              <a:t> </a:t>
            </a:r>
            <a:r>
              <a:rPr sz="1800" spc="-25" dirty="0"/>
              <a:t>OR</a:t>
            </a:r>
            <a:endParaRPr sz="1800"/>
          </a:p>
          <a:p>
            <a:pPr marL="1155700" lvl="2" indent="-22860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1155700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capacity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divided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between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signals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travelling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both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directions</a:t>
            </a:r>
            <a:endParaRPr sz="18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8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entire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capacity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channel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utilized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both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direction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Eg: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mobile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communication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69030" y="4372038"/>
            <a:ext cx="2634615" cy="413384"/>
            <a:chOff x="3169030" y="4372038"/>
            <a:chExt cx="2634615" cy="413384"/>
          </a:xfrm>
        </p:grpSpPr>
        <p:sp>
          <p:nvSpPr>
            <p:cNvPr id="10" name="object 10"/>
            <p:cNvSpPr/>
            <p:nvPr/>
          </p:nvSpPr>
          <p:spPr>
            <a:xfrm>
              <a:off x="3181730" y="443087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272" y="0"/>
                  </a:moveTo>
                  <a:lnTo>
                    <a:pt x="104103" y="7764"/>
                  </a:lnTo>
                  <a:lnTo>
                    <a:pt x="62298" y="29383"/>
                  </a:lnTo>
                  <a:lnTo>
                    <a:pt x="29350" y="62350"/>
                  </a:lnTo>
                  <a:lnTo>
                    <a:pt x="7753" y="104153"/>
                  </a:lnTo>
                  <a:lnTo>
                    <a:pt x="0" y="152285"/>
                  </a:lnTo>
                  <a:lnTo>
                    <a:pt x="7753" y="200416"/>
                  </a:lnTo>
                  <a:lnTo>
                    <a:pt x="29350" y="242216"/>
                  </a:lnTo>
                  <a:lnTo>
                    <a:pt x="62298" y="275179"/>
                  </a:lnTo>
                  <a:lnTo>
                    <a:pt x="104103" y="296795"/>
                  </a:lnTo>
                  <a:lnTo>
                    <a:pt x="152272" y="304558"/>
                  </a:lnTo>
                  <a:lnTo>
                    <a:pt x="200393" y="296795"/>
                  </a:lnTo>
                  <a:lnTo>
                    <a:pt x="242193" y="275179"/>
                  </a:lnTo>
                  <a:lnTo>
                    <a:pt x="275159" y="242216"/>
                  </a:lnTo>
                  <a:lnTo>
                    <a:pt x="296780" y="200416"/>
                  </a:lnTo>
                  <a:lnTo>
                    <a:pt x="304545" y="152285"/>
                  </a:lnTo>
                  <a:lnTo>
                    <a:pt x="296780" y="104153"/>
                  </a:lnTo>
                  <a:lnTo>
                    <a:pt x="275159" y="62350"/>
                  </a:lnTo>
                  <a:lnTo>
                    <a:pt x="242193" y="29383"/>
                  </a:lnTo>
                  <a:lnTo>
                    <a:pt x="200393" y="7764"/>
                  </a:lnTo>
                  <a:lnTo>
                    <a:pt x="152272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81730" y="443087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285"/>
                  </a:moveTo>
                  <a:lnTo>
                    <a:pt x="7753" y="104153"/>
                  </a:lnTo>
                  <a:lnTo>
                    <a:pt x="29350" y="62350"/>
                  </a:lnTo>
                  <a:lnTo>
                    <a:pt x="62298" y="29383"/>
                  </a:lnTo>
                  <a:lnTo>
                    <a:pt x="104103" y="7764"/>
                  </a:lnTo>
                  <a:lnTo>
                    <a:pt x="152272" y="0"/>
                  </a:lnTo>
                  <a:lnTo>
                    <a:pt x="200393" y="7764"/>
                  </a:lnTo>
                  <a:lnTo>
                    <a:pt x="242193" y="29383"/>
                  </a:lnTo>
                  <a:lnTo>
                    <a:pt x="275159" y="62350"/>
                  </a:lnTo>
                  <a:lnTo>
                    <a:pt x="296780" y="104153"/>
                  </a:lnTo>
                  <a:lnTo>
                    <a:pt x="304545" y="152285"/>
                  </a:lnTo>
                  <a:lnTo>
                    <a:pt x="296780" y="200416"/>
                  </a:lnTo>
                  <a:lnTo>
                    <a:pt x="275159" y="242216"/>
                  </a:lnTo>
                  <a:lnTo>
                    <a:pt x="242193" y="275179"/>
                  </a:lnTo>
                  <a:lnTo>
                    <a:pt x="200393" y="296795"/>
                  </a:lnTo>
                  <a:lnTo>
                    <a:pt x="152272" y="304558"/>
                  </a:lnTo>
                  <a:lnTo>
                    <a:pt x="104103" y="296795"/>
                  </a:lnTo>
                  <a:lnTo>
                    <a:pt x="62298" y="275179"/>
                  </a:lnTo>
                  <a:lnTo>
                    <a:pt x="29350" y="242216"/>
                  </a:lnTo>
                  <a:lnTo>
                    <a:pt x="7753" y="200416"/>
                  </a:lnTo>
                  <a:lnTo>
                    <a:pt x="0" y="15228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86400" y="443087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273" y="0"/>
                  </a:moveTo>
                  <a:lnTo>
                    <a:pt x="104152" y="7764"/>
                  </a:lnTo>
                  <a:lnTo>
                    <a:pt x="62352" y="29383"/>
                  </a:lnTo>
                  <a:lnTo>
                    <a:pt x="29386" y="62350"/>
                  </a:lnTo>
                  <a:lnTo>
                    <a:pt x="7765" y="104153"/>
                  </a:lnTo>
                  <a:lnTo>
                    <a:pt x="0" y="152285"/>
                  </a:lnTo>
                  <a:lnTo>
                    <a:pt x="7765" y="200416"/>
                  </a:lnTo>
                  <a:lnTo>
                    <a:pt x="29386" y="242216"/>
                  </a:lnTo>
                  <a:lnTo>
                    <a:pt x="62352" y="275179"/>
                  </a:lnTo>
                  <a:lnTo>
                    <a:pt x="104152" y="296795"/>
                  </a:lnTo>
                  <a:lnTo>
                    <a:pt x="152273" y="304558"/>
                  </a:lnTo>
                  <a:lnTo>
                    <a:pt x="200393" y="296795"/>
                  </a:lnTo>
                  <a:lnTo>
                    <a:pt x="242193" y="275179"/>
                  </a:lnTo>
                  <a:lnTo>
                    <a:pt x="275159" y="242216"/>
                  </a:lnTo>
                  <a:lnTo>
                    <a:pt x="296780" y="200416"/>
                  </a:lnTo>
                  <a:lnTo>
                    <a:pt x="304546" y="152285"/>
                  </a:lnTo>
                  <a:lnTo>
                    <a:pt x="296780" y="104153"/>
                  </a:lnTo>
                  <a:lnTo>
                    <a:pt x="275159" y="62350"/>
                  </a:lnTo>
                  <a:lnTo>
                    <a:pt x="242193" y="29383"/>
                  </a:lnTo>
                  <a:lnTo>
                    <a:pt x="200393" y="7764"/>
                  </a:lnTo>
                  <a:lnTo>
                    <a:pt x="152273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86400" y="443087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285"/>
                  </a:moveTo>
                  <a:lnTo>
                    <a:pt x="7765" y="104153"/>
                  </a:lnTo>
                  <a:lnTo>
                    <a:pt x="29386" y="62350"/>
                  </a:lnTo>
                  <a:lnTo>
                    <a:pt x="62352" y="29383"/>
                  </a:lnTo>
                  <a:lnTo>
                    <a:pt x="104152" y="7764"/>
                  </a:lnTo>
                  <a:lnTo>
                    <a:pt x="152273" y="0"/>
                  </a:lnTo>
                  <a:lnTo>
                    <a:pt x="200393" y="7764"/>
                  </a:lnTo>
                  <a:lnTo>
                    <a:pt x="242193" y="29383"/>
                  </a:lnTo>
                  <a:lnTo>
                    <a:pt x="275159" y="62350"/>
                  </a:lnTo>
                  <a:lnTo>
                    <a:pt x="296780" y="104153"/>
                  </a:lnTo>
                  <a:lnTo>
                    <a:pt x="304546" y="152285"/>
                  </a:lnTo>
                  <a:lnTo>
                    <a:pt x="296780" y="200416"/>
                  </a:lnTo>
                  <a:lnTo>
                    <a:pt x="275159" y="242216"/>
                  </a:lnTo>
                  <a:lnTo>
                    <a:pt x="242193" y="275179"/>
                  </a:lnTo>
                  <a:lnTo>
                    <a:pt x="200393" y="296795"/>
                  </a:lnTo>
                  <a:lnTo>
                    <a:pt x="152273" y="304558"/>
                  </a:lnTo>
                  <a:lnTo>
                    <a:pt x="104152" y="296795"/>
                  </a:lnTo>
                  <a:lnTo>
                    <a:pt x="62352" y="275179"/>
                  </a:lnTo>
                  <a:lnTo>
                    <a:pt x="29386" y="242216"/>
                  </a:lnTo>
                  <a:lnTo>
                    <a:pt x="7765" y="200416"/>
                  </a:lnTo>
                  <a:lnTo>
                    <a:pt x="0" y="15228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19267" y="4384738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182524" y="0"/>
                  </a:moveTo>
                  <a:lnTo>
                    <a:pt x="0" y="0"/>
                  </a:lnTo>
                  <a:lnTo>
                    <a:pt x="0" y="182524"/>
                  </a:lnTo>
                  <a:lnTo>
                    <a:pt x="182524" y="182524"/>
                  </a:lnTo>
                  <a:lnTo>
                    <a:pt x="18252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19267" y="4384738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0" y="182524"/>
                  </a:moveTo>
                  <a:lnTo>
                    <a:pt x="182524" y="182524"/>
                  </a:lnTo>
                  <a:lnTo>
                    <a:pt x="182524" y="0"/>
                  </a:lnTo>
                  <a:lnTo>
                    <a:pt x="0" y="0"/>
                  </a:lnTo>
                  <a:lnTo>
                    <a:pt x="0" y="18252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86276" y="4583163"/>
              <a:ext cx="2000250" cy="1905"/>
            </a:xfrm>
            <a:custGeom>
              <a:avLst/>
              <a:gdLst/>
              <a:ahLst/>
              <a:cxnLst/>
              <a:rect l="l" t="t" r="r" b="b"/>
              <a:pathLst>
                <a:path w="2000250" h="1904">
                  <a:moveTo>
                    <a:pt x="0" y="0"/>
                  </a:moveTo>
                  <a:lnTo>
                    <a:pt x="2000123" y="1587"/>
                  </a:lnTo>
                </a:path>
              </a:pathLst>
            </a:custGeom>
            <a:ln w="284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76243" y="4589792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182524" y="0"/>
                  </a:moveTo>
                  <a:lnTo>
                    <a:pt x="0" y="0"/>
                  </a:lnTo>
                  <a:lnTo>
                    <a:pt x="0" y="182524"/>
                  </a:lnTo>
                  <a:lnTo>
                    <a:pt x="182524" y="182524"/>
                  </a:lnTo>
                  <a:lnTo>
                    <a:pt x="18252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76243" y="4589792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79" h="182879">
                  <a:moveTo>
                    <a:pt x="0" y="182524"/>
                  </a:moveTo>
                  <a:lnTo>
                    <a:pt x="182524" y="182524"/>
                  </a:lnTo>
                  <a:lnTo>
                    <a:pt x="182524" y="0"/>
                  </a:lnTo>
                  <a:lnTo>
                    <a:pt x="0" y="0"/>
                  </a:lnTo>
                  <a:lnTo>
                    <a:pt x="0" y="18252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Networking</a:t>
            </a:r>
            <a:r>
              <a:rPr spc="-50" dirty="0"/>
              <a:t> </a:t>
            </a:r>
            <a:r>
              <a:rPr spc="-10" dirty="0"/>
              <a:t>Hardware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1070228"/>
            <a:ext cx="8531860" cy="2541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3060" marR="5080" indent="-340360" algn="just">
              <a:lnSpc>
                <a:spcPct val="99000"/>
              </a:lnSpc>
              <a:spcBef>
                <a:spcPts val="12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Networking</a:t>
            </a:r>
            <a:r>
              <a:rPr sz="2400" spc="5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hardware</a:t>
            </a:r>
            <a:r>
              <a:rPr sz="2400" spc="55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includes</a:t>
            </a:r>
            <a:r>
              <a:rPr sz="2400" spc="5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5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computers,</a:t>
            </a:r>
            <a:r>
              <a:rPr sz="2400" spc="56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peripherals, 	</a:t>
            </a:r>
            <a:r>
              <a:rPr sz="2400" dirty="0">
                <a:latin typeface="Times New Roman"/>
                <a:cs typeface="Times New Roman"/>
              </a:rPr>
              <a:t>interface</a:t>
            </a:r>
            <a:r>
              <a:rPr sz="2400" spc="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cards</a:t>
            </a:r>
            <a:r>
              <a:rPr sz="2400" spc="9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9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equipment</a:t>
            </a:r>
            <a:r>
              <a:rPr sz="2400" spc="9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needed</a:t>
            </a:r>
            <a:r>
              <a:rPr sz="2400" spc="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9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perform</a:t>
            </a:r>
            <a:r>
              <a:rPr sz="2400" spc="75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data- 	</a:t>
            </a:r>
            <a:r>
              <a:rPr sz="2400" dirty="0">
                <a:latin typeface="Times New Roman"/>
                <a:cs typeface="Times New Roman"/>
              </a:rPr>
              <a:t>processing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communications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within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like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Interface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Card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latin typeface="Times New Roman"/>
                <a:cs typeface="Times New Roman"/>
              </a:rPr>
              <a:t>Switch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latin typeface="Times New Roman"/>
                <a:cs typeface="Times New Roman"/>
              </a:rPr>
              <a:t>Router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Bridge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etc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Networking</a:t>
            </a:r>
            <a:r>
              <a:rPr spc="-50" dirty="0"/>
              <a:t> </a:t>
            </a:r>
            <a:r>
              <a:rPr spc="-10" dirty="0"/>
              <a:t>Hardware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1422"/>
            <a:ext cx="8532495" cy="275272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3060" indent="-340360" algn="just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Interface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Card</a:t>
            </a:r>
            <a:endParaRPr sz="2400">
              <a:latin typeface="Times New Roman"/>
              <a:cs typeface="Times New Roman"/>
            </a:endParaRPr>
          </a:p>
          <a:p>
            <a:pPr marL="754380" lvl="1" indent="-284480" algn="just">
              <a:lnSpc>
                <a:spcPts val="2375"/>
              </a:lnSpc>
              <a:spcBef>
                <a:spcPts val="475"/>
              </a:spcBef>
              <a:buFont typeface="Arial MT"/>
              <a:buChar char="–"/>
              <a:tabLst>
                <a:tab pos="754380" algn="l"/>
              </a:tabLst>
            </a:pP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interface cards,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commonly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referred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NICs, 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connect</a:t>
            </a:r>
            <a:endParaRPr sz="2000">
              <a:latin typeface="Times New Roman"/>
              <a:cs typeface="Times New Roman"/>
            </a:endParaRPr>
          </a:p>
          <a:p>
            <a:pPr marL="756285" algn="just">
              <a:lnSpc>
                <a:spcPts val="2375"/>
              </a:lnSpc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PC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network</a:t>
            </a:r>
            <a:endParaRPr sz="2000">
              <a:latin typeface="Times New Roman"/>
              <a:cs typeface="Times New Roman"/>
            </a:endParaRPr>
          </a:p>
          <a:p>
            <a:pPr marL="754380" lvl="1" indent="-284480" algn="just">
              <a:lnSpc>
                <a:spcPts val="2375"/>
              </a:lnSpc>
              <a:spcBef>
                <a:spcPts val="455"/>
              </a:spcBef>
              <a:buFont typeface="Arial MT"/>
              <a:buChar char="–"/>
              <a:tabLst>
                <a:tab pos="75438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NIC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connection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networking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756285" algn="just">
              <a:lnSpc>
                <a:spcPts val="2375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computer's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internal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bus</a:t>
            </a:r>
            <a:endParaRPr sz="2000">
              <a:latin typeface="Times New Roman"/>
              <a:cs typeface="Times New Roman"/>
            </a:endParaRPr>
          </a:p>
          <a:p>
            <a:pPr marL="753745" marR="6985" lvl="1" indent="-284480" algn="just">
              <a:lnSpc>
                <a:spcPct val="99000"/>
              </a:lnSpc>
              <a:spcBef>
                <a:spcPts val="47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NICs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come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three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basic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varieties: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8-</a:t>
            </a:r>
            <a:r>
              <a:rPr sz="2000" dirty="0">
                <a:latin typeface="Times New Roman"/>
                <a:cs typeface="Times New Roman"/>
              </a:rPr>
              <a:t>bit,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16-</a:t>
            </a:r>
            <a:r>
              <a:rPr sz="2000" dirty="0">
                <a:latin typeface="Times New Roman"/>
                <a:cs typeface="Times New Roman"/>
              </a:rPr>
              <a:t>bit,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32-</a:t>
            </a:r>
            <a:r>
              <a:rPr sz="2000" dirty="0">
                <a:latin typeface="Times New Roman"/>
                <a:cs typeface="Times New Roman"/>
              </a:rPr>
              <a:t>bit.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larger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	</a:t>
            </a:r>
            <a:r>
              <a:rPr sz="2000" dirty="0">
                <a:latin typeface="Times New Roman"/>
                <a:cs typeface="Times New Roman"/>
              </a:rPr>
              <a:t>number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bits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transferred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NIC,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faster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NIC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can 	</a:t>
            </a:r>
            <a:r>
              <a:rPr sz="2000" dirty="0">
                <a:latin typeface="Times New Roman"/>
                <a:cs typeface="Times New Roman"/>
              </a:rPr>
              <a:t>transfer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cable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Networking</a:t>
            </a:r>
            <a:r>
              <a:rPr spc="-50" dirty="0"/>
              <a:t> </a:t>
            </a:r>
            <a:r>
              <a:rPr spc="-10" dirty="0"/>
              <a:t>Hardware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1062609"/>
            <a:ext cx="3258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Interface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Card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62326" y="1581150"/>
            <a:ext cx="4419346" cy="28950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Networking</a:t>
            </a:r>
            <a:r>
              <a:rPr spc="-50" dirty="0"/>
              <a:t> </a:t>
            </a:r>
            <a:r>
              <a:rPr spc="-10" dirty="0"/>
              <a:t>Hardware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3060" indent="-340360" algn="just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53060" algn="l"/>
              </a:tabLst>
            </a:pPr>
            <a:r>
              <a:rPr spc="-25" dirty="0"/>
              <a:t>Hub</a:t>
            </a:r>
          </a:p>
          <a:p>
            <a:pPr marL="754380" lvl="1" indent="-284480" algn="just">
              <a:lnSpc>
                <a:spcPts val="2375"/>
              </a:lnSpc>
              <a:spcBef>
                <a:spcPts val="475"/>
              </a:spcBef>
              <a:buFont typeface="Arial MT"/>
              <a:buChar char="–"/>
              <a:tabLst>
                <a:tab pos="754380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hub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joins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computers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(or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devices)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together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form</a:t>
            </a:r>
            <a:endParaRPr sz="2000">
              <a:latin typeface="Times New Roman"/>
              <a:cs typeface="Times New Roman"/>
            </a:endParaRPr>
          </a:p>
          <a:p>
            <a:pPr marL="756285" algn="just">
              <a:lnSpc>
                <a:spcPts val="2375"/>
              </a:lnSpc>
            </a:pPr>
            <a:r>
              <a:rPr sz="2000" dirty="0"/>
              <a:t>a</a:t>
            </a:r>
            <a:r>
              <a:rPr sz="2000" spc="-20" dirty="0"/>
              <a:t> </a:t>
            </a:r>
            <a:r>
              <a:rPr sz="2000" dirty="0"/>
              <a:t>single</a:t>
            </a:r>
            <a:r>
              <a:rPr sz="2000" spc="-35" dirty="0"/>
              <a:t> </a:t>
            </a:r>
            <a:r>
              <a:rPr sz="2000" spc="-10" dirty="0"/>
              <a:t>network</a:t>
            </a:r>
            <a:endParaRPr sz="2000"/>
          </a:p>
          <a:p>
            <a:pPr marL="754380" lvl="1" indent="-284480" algn="just">
              <a:lnSpc>
                <a:spcPct val="100000"/>
              </a:lnSpc>
              <a:spcBef>
                <a:spcPts val="405"/>
              </a:spcBef>
              <a:buFont typeface="Arial MT"/>
              <a:buChar char="–"/>
              <a:tabLst>
                <a:tab pos="754380" algn="l"/>
              </a:tabLst>
            </a:pP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computers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communicate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directly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other</a:t>
            </a:r>
            <a:endParaRPr sz="2000">
              <a:latin typeface="Times New Roman"/>
              <a:cs typeface="Times New Roman"/>
            </a:endParaRPr>
          </a:p>
          <a:p>
            <a:pPr marL="753745" marR="5080" lvl="1" indent="-284480" algn="just">
              <a:lnSpc>
                <a:spcPct val="99000"/>
              </a:lnSpc>
              <a:spcBef>
                <a:spcPts val="47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networking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hub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junction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box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several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ports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back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for 	</a:t>
            </a:r>
            <a:r>
              <a:rPr sz="2000" dirty="0">
                <a:latin typeface="Times New Roman"/>
                <a:cs typeface="Times New Roman"/>
              </a:rPr>
              <a:t>receiving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Ethernet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cables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plugged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computer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	LAN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Networking</a:t>
            </a:r>
            <a:r>
              <a:rPr spc="-50" dirty="0"/>
              <a:t> </a:t>
            </a:r>
            <a:r>
              <a:rPr spc="-10" dirty="0"/>
              <a:t>Hardware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1422"/>
            <a:ext cx="8531225" cy="336296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Hub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(Types)</a:t>
            </a:r>
            <a:endParaRPr sz="2400">
              <a:latin typeface="Times New Roman"/>
              <a:cs typeface="Times New Roman"/>
            </a:endParaRPr>
          </a:p>
          <a:p>
            <a:pPr marL="753745" marR="5080" lvl="1" indent="-284480" algn="just">
              <a:lnSpc>
                <a:spcPct val="99000"/>
              </a:lnSpc>
              <a:spcBef>
                <a:spcPts val="50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Passive: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type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hub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amplify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boost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signal.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not 	</a:t>
            </a:r>
            <a:r>
              <a:rPr sz="2000" dirty="0">
                <a:latin typeface="Times New Roman"/>
                <a:cs typeface="Times New Roman"/>
              </a:rPr>
              <a:t>manipulate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view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traffic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crosses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it.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passive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hub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not 	</a:t>
            </a:r>
            <a:r>
              <a:rPr sz="2000" dirty="0">
                <a:latin typeface="Times New Roman"/>
                <a:cs typeface="Times New Roman"/>
              </a:rPr>
              <a:t>require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electrical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power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work.</a:t>
            </a:r>
            <a:endParaRPr sz="2000">
              <a:latin typeface="Times New Roman"/>
              <a:cs typeface="Times New Roman"/>
            </a:endParaRPr>
          </a:p>
          <a:p>
            <a:pPr marL="753745" marR="5715" lvl="1" indent="-284480" algn="just">
              <a:lnSpc>
                <a:spcPts val="2350"/>
              </a:lnSpc>
              <a:spcBef>
                <a:spcPts val="57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Active: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amplifies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incoming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before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passing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ports. 	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requires</a:t>
            </a:r>
            <a:r>
              <a:rPr sz="2000" spc="-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power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task.</a:t>
            </a:r>
            <a:endParaRPr sz="2000">
              <a:latin typeface="Times New Roman"/>
              <a:cs typeface="Times New Roman"/>
            </a:endParaRPr>
          </a:p>
          <a:p>
            <a:pPr marL="753745" marR="6350" lvl="1" indent="-284480" algn="just">
              <a:lnSpc>
                <a:spcPct val="99400"/>
              </a:lnSpc>
              <a:spcBef>
                <a:spcPts val="39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Intelligent: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called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smart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hubs.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active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hub 	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include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diagnostic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capabilities.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flexible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data 	</a:t>
            </a:r>
            <a:r>
              <a:rPr sz="2000" dirty="0">
                <a:latin typeface="Times New Roman"/>
                <a:cs typeface="Times New Roman"/>
              </a:rPr>
              <a:t>rates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devices.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enables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administrator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monitor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	</a:t>
            </a:r>
            <a:r>
              <a:rPr sz="2000" dirty="0">
                <a:latin typeface="Times New Roman"/>
                <a:cs typeface="Times New Roman"/>
              </a:rPr>
              <a:t>traffic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passing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hub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configure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port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hub.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Networking</a:t>
            </a:r>
            <a:r>
              <a:rPr spc="-50" dirty="0"/>
              <a:t> </a:t>
            </a:r>
            <a:r>
              <a:rPr spc="-10" dirty="0"/>
              <a:t>Hardware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1422"/>
            <a:ext cx="8531860" cy="209296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3060" indent="-340360" algn="just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spc="-10" dirty="0">
                <a:latin typeface="Times New Roman"/>
                <a:cs typeface="Times New Roman"/>
              </a:rPr>
              <a:t>Repeater</a:t>
            </a:r>
            <a:endParaRPr sz="2400">
              <a:latin typeface="Times New Roman"/>
              <a:cs typeface="Times New Roman"/>
            </a:endParaRPr>
          </a:p>
          <a:p>
            <a:pPr marL="754380" lvl="1" indent="-284480" algn="just">
              <a:lnSpc>
                <a:spcPts val="2375"/>
              </a:lnSpc>
              <a:spcBef>
                <a:spcPts val="475"/>
              </a:spcBef>
              <a:buFont typeface="Arial MT"/>
              <a:buChar char="–"/>
              <a:tabLst>
                <a:tab pos="754380" algn="l"/>
              </a:tabLst>
            </a:pPr>
            <a:r>
              <a:rPr sz="2000" dirty="0">
                <a:latin typeface="Times New Roman"/>
                <a:cs typeface="Times New Roman"/>
              </a:rPr>
              <a:t>Since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loses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strength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passes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along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cable,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often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necessary</a:t>
            </a:r>
            <a:endParaRPr sz="2000">
              <a:latin typeface="Times New Roman"/>
              <a:cs typeface="Times New Roman"/>
            </a:endParaRPr>
          </a:p>
          <a:p>
            <a:pPr marL="756285" algn="just">
              <a:lnSpc>
                <a:spcPts val="2375"/>
              </a:lnSpc>
            </a:pP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boost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called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repeater</a:t>
            </a:r>
            <a:endParaRPr sz="2000">
              <a:latin typeface="Times New Roman"/>
              <a:cs typeface="Times New Roman"/>
            </a:endParaRPr>
          </a:p>
          <a:p>
            <a:pPr marL="753745" marR="5080" lvl="1" indent="-284480" algn="just">
              <a:lnSpc>
                <a:spcPct val="99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repeater</a:t>
            </a:r>
            <a:r>
              <a:rPr sz="2000" spc="1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1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electronic</a:t>
            </a:r>
            <a:r>
              <a:rPr sz="2000" spc="1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device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receives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signal,</a:t>
            </a:r>
            <a:r>
              <a:rPr sz="2000" spc="1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cleans</a:t>
            </a:r>
            <a:r>
              <a:rPr sz="2000" spc="120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the 	</a:t>
            </a:r>
            <a:r>
              <a:rPr sz="2000" dirty="0">
                <a:latin typeface="Times New Roman"/>
                <a:cs typeface="Times New Roman"/>
              </a:rPr>
              <a:t>unnecessary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noise,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regenerates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it,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retransmits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higher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power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level 	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 cover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longer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distances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without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degradation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Networking</a:t>
            </a:r>
            <a:r>
              <a:rPr spc="-50" dirty="0"/>
              <a:t> </a:t>
            </a:r>
            <a:r>
              <a:rPr spc="-10" dirty="0"/>
              <a:t>Hardware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1422"/>
            <a:ext cx="8531225" cy="341312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3060" indent="-340360" algn="just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spc="-10" dirty="0">
                <a:latin typeface="Times New Roman"/>
                <a:cs typeface="Times New Roman"/>
              </a:rPr>
              <a:t>Switch</a:t>
            </a:r>
            <a:endParaRPr sz="2400">
              <a:latin typeface="Times New Roman"/>
              <a:cs typeface="Times New Roman"/>
            </a:endParaRPr>
          </a:p>
          <a:p>
            <a:pPr marL="754380" lvl="1" indent="-284480" algn="just">
              <a:lnSpc>
                <a:spcPts val="2375"/>
              </a:lnSpc>
              <a:spcBef>
                <a:spcPts val="475"/>
              </a:spcBef>
              <a:buFont typeface="Arial MT"/>
              <a:buChar char="–"/>
              <a:tabLst>
                <a:tab pos="754380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switch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small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joins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computers</a:t>
            </a:r>
            <a:endParaRPr sz="2000">
              <a:latin typeface="Times New Roman"/>
              <a:cs typeface="Times New Roman"/>
            </a:endParaRPr>
          </a:p>
          <a:p>
            <a:pPr marL="756285" algn="just">
              <a:lnSpc>
                <a:spcPts val="2375"/>
              </a:lnSpc>
            </a:pPr>
            <a:r>
              <a:rPr sz="2000" dirty="0">
                <a:latin typeface="Times New Roman"/>
                <a:cs typeface="Times New Roman"/>
              </a:rPr>
              <a:t>together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within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  <a:p>
            <a:pPr marL="754380" lvl="1" indent="-284480" algn="just">
              <a:lnSpc>
                <a:spcPts val="2375"/>
              </a:lnSpc>
              <a:spcBef>
                <a:spcPts val="455"/>
              </a:spcBef>
              <a:buFont typeface="Arial MT"/>
              <a:buChar char="–"/>
              <a:tabLst>
                <a:tab pos="754380" algn="l"/>
              </a:tabLst>
            </a:pP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switches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appear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nearly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identical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hubs,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switch</a:t>
            </a:r>
            <a:endParaRPr sz="2000">
              <a:latin typeface="Times New Roman"/>
              <a:cs typeface="Times New Roman"/>
            </a:endParaRPr>
          </a:p>
          <a:p>
            <a:pPr marL="756285" algn="just">
              <a:lnSpc>
                <a:spcPts val="2375"/>
              </a:lnSpc>
            </a:pPr>
            <a:r>
              <a:rPr sz="2000" dirty="0">
                <a:latin typeface="Times New Roman"/>
                <a:cs typeface="Times New Roman"/>
              </a:rPr>
              <a:t>generally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intelligence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 hub</a:t>
            </a:r>
            <a:endParaRPr sz="2000">
              <a:latin typeface="Times New Roman"/>
              <a:cs typeface="Times New Roman"/>
            </a:endParaRPr>
          </a:p>
          <a:p>
            <a:pPr marL="753745" marR="5080" lvl="1" indent="-284480" algn="just">
              <a:lnSpc>
                <a:spcPct val="99000"/>
              </a:lnSpc>
              <a:spcBef>
                <a:spcPts val="47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Unlike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hubs,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switches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capable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inspecting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packets</a:t>
            </a:r>
            <a:r>
              <a:rPr sz="2000" spc="260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as 	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received,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determining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destination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each 	</a:t>
            </a:r>
            <a:r>
              <a:rPr sz="2000" dirty="0">
                <a:latin typeface="Times New Roman"/>
                <a:cs typeface="Times New Roman"/>
              </a:rPr>
              <a:t>packet,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forwarding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them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appropriately</a:t>
            </a:r>
            <a:endParaRPr sz="2000">
              <a:latin typeface="Times New Roman"/>
              <a:cs typeface="Times New Roman"/>
            </a:endParaRPr>
          </a:p>
          <a:p>
            <a:pPr marL="753745" marR="6350" lvl="1" indent="-284480" algn="just">
              <a:lnSpc>
                <a:spcPts val="2350"/>
              </a:lnSpc>
              <a:spcBef>
                <a:spcPts val="56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Allow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several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time 	</a:t>
            </a:r>
            <a:r>
              <a:rPr sz="2000" dirty="0">
                <a:latin typeface="Times New Roman"/>
                <a:cs typeface="Times New Roman"/>
              </a:rPr>
              <a:t>without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slowing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down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Networking</a:t>
            </a:r>
            <a:r>
              <a:rPr spc="-50" dirty="0"/>
              <a:t> </a:t>
            </a:r>
            <a:r>
              <a:rPr spc="-10" dirty="0"/>
              <a:t>Hardware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1422"/>
            <a:ext cx="8531860" cy="275272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3060" indent="-340360" algn="just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spc="-10" dirty="0">
                <a:latin typeface="Times New Roman"/>
                <a:cs typeface="Times New Roman"/>
              </a:rPr>
              <a:t>Router</a:t>
            </a:r>
            <a:endParaRPr sz="2400">
              <a:latin typeface="Times New Roman"/>
              <a:cs typeface="Times New Roman"/>
            </a:endParaRPr>
          </a:p>
          <a:p>
            <a:pPr marL="754380" lvl="1" indent="-284480" algn="just">
              <a:lnSpc>
                <a:spcPts val="2375"/>
              </a:lnSpc>
              <a:spcBef>
                <a:spcPts val="475"/>
              </a:spcBef>
              <a:buFont typeface="Arial MT"/>
              <a:buChar char="–"/>
              <a:tabLst>
                <a:tab pos="754380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interconnect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SIMILAR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networks,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e.g.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similar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protocols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756285" algn="just">
              <a:lnSpc>
                <a:spcPts val="2375"/>
              </a:lnSpc>
            </a:pPr>
            <a:r>
              <a:rPr sz="2000" dirty="0">
                <a:latin typeface="Times New Roman"/>
                <a:cs typeface="Times New Roman"/>
              </a:rPr>
              <a:t>workstations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servers</a:t>
            </a:r>
            <a:endParaRPr sz="2000">
              <a:latin typeface="Times New Roman"/>
              <a:cs typeface="Times New Roman"/>
            </a:endParaRPr>
          </a:p>
          <a:p>
            <a:pPr marL="754380" lvl="1" indent="-284480" algn="just">
              <a:lnSpc>
                <a:spcPts val="2375"/>
              </a:lnSpc>
              <a:spcBef>
                <a:spcPts val="455"/>
              </a:spcBef>
              <a:buFont typeface="Arial MT"/>
              <a:buChar char="–"/>
              <a:tabLst>
                <a:tab pos="754380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router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electronic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interconnects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more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computer</a:t>
            </a:r>
            <a:endParaRPr sz="2000">
              <a:latin typeface="Times New Roman"/>
              <a:cs typeface="Times New Roman"/>
            </a:endParaRPr>
          </a:p>
          <a:p>
            <a:pPr marL="756285" algn="just">
              <a:lnSpc>
                <a:spcPts val="2375"/>
              </a:lnSpc>
            </a:pPr>
            <a:r>
              <a:rPr sz="2000" dirty="0">
                <a:latin typeface="Times New Roman"/>
                <a:cs typeface="Times New Roman"/>
              </a:rPr>
              <a:t>networks,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selectively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interchanges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20" dirty="0">
                <a:latin typeface="Times New Roman"/>
                <a:cs typeface="Times New Roman"/>
              </a:rPr>
              <a:t> them</a:t>
            </a:r>
            <a:endParaRPr sz="2000">
              <a:latin typeface="Times New Roman"/>
              <a:cs typeface="Times New Roman"/>
            </a:endParaRPr>
          </a:p>
          <a:p>
            <a:pPr marL="753745" marR="5080" lvl="1" indent="-284480" algn="just">
              <a:lnSpc>
                <a:spcPct val="99000"/>
              </a:lnSpc>
              <a:spcBef>
                <a:spcPts val="47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contains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address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router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 	</a:t>
            </a:r>
            <a:r>
              <a:rPr sz="2000" dirty="0">
                <a:latin typeface="Times New Roman"/>
                <a:cs typeface="Times New Roman"/>
              </a:rPr>
              <a:t>determine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destination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network,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	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must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transferred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another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Networking</a:t>
            </a:r>
            <a:r>
              <a:rPr spc="-50" dirty="0"/>
              <a:t> </a:t>
            </a:r>
            <a:r>
              <a:rPr spc="-10" dirty="0"/>
              <a:t>Hardware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8714"/>
            <a:ext cx="8531225" cy="244094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3060" indent="-340360" algn="just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spc="-10" dirty="0">
                <a:latin typeface="Times New Roman"/>
                <a:cs typeface="Times New Roman"/>
              </a:rPr>
              <a:t>Bridge</a:t>
            </a:r>
            <a:endParaRPr sz="2400">
              <a:latin typeface="Times New Roman"/>
              <a:cs typeface="Times New Roman"/>
            </a:endParaRPr>
          </a:p>
          <a:p>
            <a:pPr marL="754380" lvl="1" indent="-284480" algn="just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754380" algn="l"/>
              </a:tabLst>
            </a:pP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bridge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local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another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local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  <a:p>
            <a:pPr marL="754380" lvl="1" indent="-284480" algn="just">
              <a:lnSpc>
                <a:spcPct val="100000"/>
              </a:lnSpc>
              <a:spcBef>
                <a:spcPts val="405"/>
              </a:spcBef>
              <a:buFont typeface="Arial MT"/>
              <a:buChar char="–"/>
              <a:tabLst>
                <a:tab pos="75438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bridge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separate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together</a:t>
            </a:r>
            <a:endParaRPr sz="2000">
              <a:latin typeface="Times New Roman"/>
              <a:cs typeface="Times New Roman"/>
            </a:endParaRPr>
          </a:p>
          <a:p>
            <a:pPr marL="753745" marR="5080" lvl="1" indent="-284480" algn="just">
              <a:lnSpc>
                <a:spcPct val="99400"/>
              </a:lnSpc>
              <a:spcBef>
                <a:spcPts val="459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Bridges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map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Ethernet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addresses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nodes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residing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network 	</a:t>
            </a:r>
            <a:r>
              <a:rPr sz="2000" dirty="0">
                <a:latin typeface="Times New Roman"/>
                <a:cs typeface="Times New Roman"/>
              </a:rPr>
              <a:t>segment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necessary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traffic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pass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bridge.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a 	</a:t>
            </a:r>
            <a:r>
              <a:rPr sz="2000" dirty="0">
                <a:latin typeface="Times New Roman"/>
                <a:cs typeface="Times New Roman"/>
              </a:rPr>
              <a:t>packet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received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bridge,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bridge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determines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destination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	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segments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Networking</a:t>
            </a:r>
            <a:r>
              <a:rPr spc="-50" dirty="0"/>
              <a:t> </a:t>
            </a:r>
            <a:r>
              <a:rPr spc="-10" dirty="0"/>
              <a:t>Hardware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8714"/>
            <a:ext cx="8529955" cy="213614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Bridge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(types)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Local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bridges: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Directly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local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(LANs)</a:t>
            </a:r>
            <a:endParaRPr sz="200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ts val="2350"/>
              </a:lnSpc>
              <a:spcBef>
                <a:spcPts val="57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Remote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bridges: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create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wide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area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(WAN)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link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LANs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ts val="2375"/>
              </a:lnSpc>
              <a:spcBef>
                <a:spcPts val="38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Wireless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bridges: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join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LANs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remote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stations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endParaRPr sz="2000">
              <a:latin typeface="Times New Roman"/>
              <a:cs typeface="Times New Roman"/>
            </a:endParaRPr>
          </a:p>
          <a:p>
            <a:pPr marL="756285">
              <a:lnSpc>
                <a:spcPts val="2375"/>
              </a:lnSpc>
            </a:pPr>
            <a:r>
              <a:rPr sz="2000" dirty="0">
                <a:latin typeface="Times New Roman"/>
                <a:cs typeface="Times New Roman"/>
              </a:rPr>
              <a:t>LANs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(wirelessly)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Networking</a:t>
            </a:r>
            <a:r>
              <a:rPr spc="-50" dirty="0"/>
              <a:t> </a:t>
            </a:r>
            <a:r>
              <a:rPr spc="-10" dirty="0"/>
              <a:t>Hardware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54965" algn="l"/>
              </a:tabLst>
            </a:pPr>
            <a:r>
              <a:rPr spc="-10" dirty="0"/>
              <a:t>Gateway</a:t>
            </a:r>
          </a:p>
          <a:p>
            <a:pPr marL="756285" lvl="1" indent="-286385">
              <a:lnSpc>
                <a:spcPts val="2375"/>
              </a:lnSpc>
              <a:spcBef>
                <a:spcPts val="47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Gateways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interconnect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networks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having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different</a:t>
            </a:r>
            <a:endParaRPr sz="2000">
              <a:latin typeface="Times New Roman"/>
              <a:cs typeface="Times New Roman"/>
            </a:endParaRPr>
          </a:p>
          <a:p>
            <a:pPr marL="756285">
              <a:lnSpc>
                <a:spcPts val="2375"/>
              </a:lnSpc>
            </a:pPr>
            <a:r>
              <a:rPr sz="2000" spc="-10" dirty="0"/>
              <a:t>protocols</a:t>
            </a:r>
            <a:endParaRPr sz="2000"/>
          </a:p>
          <a:p>
            <a:pPr marL="756285" lvl="1" indent="-286385">
              <a:lnSpc>
                <a:spcPct val="100000"/>
              </a:lnSpc>
              <a:spcBef>
                <a:spcPts val="40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Networks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protocols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addressing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formats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gateway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network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entrance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another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Gateways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called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protocol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converters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Difference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1422"/>
            <a:ext cx="8529955" cy="300164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Bridge: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ts val="2375"/>
              </a:lnSpc>
              <a:spcBef>
                <a:spcPts val="47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device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interconnect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LANs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logical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link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control</a:t>
            </a:r>
            <a:endParaRPr sz="2000">
              <a:latin typeface="Times New Roman"/>
              <a:cs typeface="Times New Roman"/>
            </a:endParaRPr>
          </a:p>
          <a:p>
            <a:pPr marL="756285">
              <a:lnSpc>
                <a:spcPts val="2375"/>
              </a:lnSpc>
            </a:pPr>
            <a:r>
              <a:rPr sz="2000" dirty="0">
                <a:latin typeface="Times New Roman"/>
                <a:cs typeface="Times New Roman"/>
              </a:rPr>
              <a:t>protocol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medium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protocols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Router: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ts val="2375"/>
              </a:lnSpc>
              <a:spcBef>
                <a:spcPts val="475"/>
              </a:spcBef>
              <a:buFont typeface="Arial MT"/>
              <a:buChar char="–"/>
              <a:tabLst>
                <a:tab pos="756285" algn="l"/>
                <a:tab pos="1572895" algn="l"/>
                <a:tab pos="1925320" algn="l"/>
                <a:tab pos="3332479" algn="l"/>
                <a:tab pos="4528820" algn="l"/>
                <a:tab pos="5678170" algn="l"/>
                <a:tab pos="6197600" algn="l"/>
                <a:tab pos="7054215" algn="l"/>
                <a:tab pos="8150225" algn="l"/>
              </a:tabLst>
            </a:pPr>
            <a:r>
              <a:rPr sz="2000" spc="-10" dirty="0">
                <a:latin typeface="Times New Roman"/>
                <a:cs typeface="Times New Roman"/>
              </a:rPr>
              <a:t>device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interconnect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SIMILAR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networks,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e.g.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similar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protocols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756285">
              <a:lnSpc>
                <a:spcPts val="2375"/>
              </a:lnSpc>
            </a:pPr>
            <a:r>
              <a:rPr sz="2000" dirty="0">
                <a:latin typeface="Times New Roman"/>
                <a:cs typeface="Times New Roman"/>
              </a:rPr>
              <a:t>workstations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servers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Gateway: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device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interconnect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DISSIMILAR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protocols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servers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07340" y="1188846"/>
            <a:ext cx="601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Times New Roman"/>
                <a:cs typeface="Times New Roman"/>
              </a:rPr>
              <a:t>Hub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7340" y="1581912"/>
            <a:ext cx="2225675" cy="296989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Physical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layer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signal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bits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830"/>
              </a:lnSpc>
              <a:spcBef>
                <a:spcPts val="69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20" dirty="0">
                <a:latin typeface="Times New Roman"/>
                <a:cs typeface="Times New Roman"/>
              </a:rPr>
              <a:t>Non-</a:t>
            </a:r>
            <a:r>
              <a:rPr sz="2400" spc="-10" dirty="0">
                <a:latin typeface="Times New Roman"/>
                <a:cs typeface="Times New Roman"/>
              </a:rPr>
              <a:t>intelligent device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5" dirty="0">
                <a:latin typeface="Times New Roman"/>
                <a:cs typeface="Times New Roman"/>
              </a:rPr>
              <a:t>LAN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Half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duplex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MAC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address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58439" y="1188846"/>
            <a:ext cx="904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Switch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Difference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278885" y="1577721"/>
            <a:ext cx="2487930" cy="26035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link</a:t>
            </a:r>
            <a:r>
              <a:rPr sz="2400" spc="-20" dirty="0">
                <a:latin typeface="Times New Roman"/>
                <a:cs typeface="Times New Roman"/>
              </a:rPr>
              <a:t> layer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frames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Intelligent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device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9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5" dirty="0">
                <a:latin typeface="Times New Roman"/>
                <a:cs typeface="Times New Roman"/>
              </a:rPr>
              <a:t>LAN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Half/Full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duplex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MAC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address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23097" y="2937510"/>
            <a:ext cx="812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MAN,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51828" y="1577721"/>
            <a:ext cx="2487930" cy="296926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layer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packets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Intelligent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device</a:t>
            </a:r>
            <a:endParaRPr sz="2400">
              <a:latin typeface="Times New Roman"/>
              <a:cs typeface="Times New Roman"/>
            </a:endParaRPr>
          </a:p>
          <a:p>
            <a:pPr marL="355600" marR="1423035" indent="-342900">
              <a:lnSpc>
                <a:spcPts val="2820"/>
              </a:lnSpc>
              <a:spcBef>
                <a:spcPts val="69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20" dirty="0">
                <a:latin typeface="Times New Roman"/>
                <a:cs typeface="Times New Roman"/>
              </a:rPr>
              <a:t>LAN, </a:t>
            </a:r>
            <a:r>
              <a:rPr sz="2400" spc="-90" dirty="0">
                <a:latin typeface="Times New Roman"/>
                <a:cs typeface="Times New Roman"/>
              </a:rPr>
              <a:t>WAN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Full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duplex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IP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address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50304" y="1196466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Router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6350" y="4948234"/>
            <a:ext cx="9155430" cy="193040"/>
            <a:chOff x="-6350" y="4948234"/>
            <a:chExt cx="9155430" cy="193040"/>
          </a:xfrm>
        </p:grpSpPr>
        <p:sp>
          <p:nvSpPr>
            <p:cNvPr id="4" name="object 4"/>
            <p:cNvSpPr/>
            <p:nvPr/>
          </p:nvSpPr>
          <p:spPr>
            <a:xfrm>
              <a:off x="0" y="4954584"/>
              <a:ext cx="9142730" cy="180340"/>
            </a:xfrm>
            <a:custGeom>
              <a:avLst/>
              <a:gdLst/>
              <a:ahLst/>
              <a:cxnLst/>
              <a:rect l="l" t="t" r="r" b="b"/>
              <a:pathLst>
                <a:path w="9142730" h="180339">
                  <a:moveTo>
                    <a:pt x="9142188" y="0"/>
                  </a:moveTo>
                  <a:lnTo>
                    <a:pt x="0" y="0"/>
                  </a:lnTo>
                  <a:lnTo>
                    <a:pt x="0" y="179997"/>
                  </a:lnTo>
                  <a:lnTo>
                    <a:pt x="9142188" y="179997"/>
                  </a:lnTo>
                  <a:lnTo>
                    <a:pt x="914218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954584"/>
              <a:ext cx="9142730" cy="180340"/>
            </a:xfrm>
            <a:custGeom>
              <a:avLst/>
              <a:gdLst/>
              <a:ahLst/>
              <a:cxnLst/>
              <a:rect l="l" t="t" r="r" b="b"/>
              <a:pathLst>
                <a:path w="9142730" h="180339">
                  <a:moveTo>
                    <a:pt x="0" y="179997"/>
                  </a:moveTo>
                  <a:lnTo>
                    <a:pt x="9142188" y="179997"/>
                  </a:lnTo>
                  <a:lnTo>
                    <a:pt x="9142188" y="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580638" y="2337638"/>
            <a:ext cx="2005964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b="1" cap="small" spc="-45" dirty="0">
                <a:latin typeface="Times New Roman"/>
                <a:cs typeface="Times New Roman"/>
              </a:rPr>
              <a:t>Addressing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Addressing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287" rIns="0" bIns="0" rtlCol="0">
            <a:spAutoFit/>
          </a:bodyPr>
          <a:lstStyle/>
          <a:p>
            <a:pPr marL="355600" marR="5080" indent="-342900">
              <a:lnSpc>
                <a:spcPts val="2820"/>
              </a:lnSpc>
              <a:spcBef>
                <a:spcPts val="240"/>
              </a:spcBef>
              <a:buFont typeface="Arial MT"/>
              <a:buChar char="•"/>
              <a:tabLst>
                <a:tab pos="355600" algn="l"/>
                <a:tab pos="1071880" algn="l"/>
                <a:tab pos="1920875" algn="l"/>
                <a:tab pos="2313940" algn="l"/>
                <a:tab pos="3623310" algn="l"/>
                <a:tab pos="4135120" algn="l"/>
                <a:tab pos="4831715" algn="l"/>
                <a:tab pos="5208270" algn="l"/>
                <a:tab pos="5636895" algn="l"/>
                <a:tab pos="6704965" algn="l"/>
                <a:tab pos="8145780" algn="l"/>
              </a:tabLst>
            </a:pPr>
            <a:r>
              <a:rPr spc="-20" dirty="0"/>
              <a:t>Four</a:t>
            </a:r>
            <a:r>
              <a:rPr dirty="0"/>
              <a:t>	</a:t>
            </a:r>
            <a:r>
              <a:rPr spc="-10" dirty="0"/>
              <a:t>levels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10" dirty="0"/>
              <a:t>addresses</a:t>
            </a:r>
            <a:r>
              <a:rPr dirty="0"/>
              <a:t>	</a:t>
            </a:r>
            <a:r>
              <a:rPr spc="-25" dirty="0"/>
              <a:t>are</a:t>
            </a:r>
            <a:r>
              <a:rPr dirty="0"/>
              <a:t>	</a:t>
            </a:r>
            <a:r>
              <a:rPr spc="-20" dirty="0"/>
              <a:t>used</a:t>
            </a:r>
            <a:r>
              <a:rPr dirty="0"/>
              <a:t>	</a:t>
            </a:r>
            <a:r>
              <a:rPr spc="-25" dirty="0"/>
              <a:t>in</a:t>
            </a:r>
            <a:r>
              <a:rPr dirty="0"/>
              <a:t>	</a:t>
            </a:r>
            <a:r>
              <a:rPr spc="-25" dirty="0"/>
              <a:t>an</a:t>
            </a:r>
            <a:r>
              <a:rPr dirty="0"/>
              <a:t>	</a:t>
            </a:r>
            <a:r>
              <a:rPr spc="-10" dirty="0"/>
              <a:t>internet</a:t>
            </a:r>
            <a:r>
              <a:rPr dirty="0"/>
              <a:t>	</a:t>
            </a:r>
            <a:r>
              <a:rPr spc="-10" dirty="0"/>
              <a:t>employing</a:t>
            </a:r>
            <a:r>
              <a:rPr dirty="0"/>
              <a:t>	</a:t>
            </a:r>
            <a:r>
              <a:rPr spc="-25" dirty="0"/>
              <a:t>the </a:t>
            </a:r>
            <a:r>
              <a:rPr dirty="0"/>
              <a:t>TCP/IP</a:t>
            </a:r>
            <a:r>
              <a:rPr spc="-120" dirty="0"/>
              <a:t> </a:t>
            </a:r>
            <a:r>
              <a:rPr spc="-10" dirty="0"/>
              <a:t>protocols:</a:t>
            </a:r>
          </a:p>
          <a:p>
            <a:pPr marL="756285" lvl="1" indent="-286385">
              <a:lnSpc>
                <a:spcPct val="100000"/>
              </a:lnSpc>
              <a:spcBef>
                <a:spcPts val="34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address,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logical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address,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port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address,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latin typeface="Times New Roman"/>
                <a:cs typeface="Times New Roman"/>
              </a:rPr>
              <a:t>application-</a:t>
            </a:r>
            <a:r>
              <a:rPr sz="2000" dirty="0">
                <a:latin typeface="Times New Roman"/>
                <a:cs typeface="Times New Roman"/>
              </a:rPr>
              <a:t>specific</a:t>
            </a:r>
            <a:r>
              <a:rPr sz="2000" spc="-10" dirty="0">
                <a:latin typeface="Times New Roman"/>
                <a:cs typeface="Times New Roman"/>
              </a:rPr>
              <a:t> address.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Each</a:t>
            </a:r>
            <a:r>
              <a:rPr spc="-30" dirty="0"/>
              <a:t> </a:t>
            </a:r>
            <a:r>
              <a:rPr dirty="0"/>
              <a:t>address</a:t>
            </a:r>
            <a:r>
              <a:rPr spc="-2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related</a:t>
            </a:r>
            <a:r>
              <a:rPr spc="-4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one</a:t>
            </a:r>
            <a:r>
              <a:rPr spc="-10" dirty="0"/>
              <a:t> </a:t>
            </a:r>
            <a:r>
              <a:rPr dirty="0"/>
              <a:t>layer</a:t>
            </a:r>
            <a:r>
              <a:rPr spc="-3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TCP/IP</a:t>
            </a:r>
            <a:r>
              <a:rPr spc="-105" dirty="0"/>
              <a:t> </a:t>
            </a:r>
            <a:r>
              <a:rPr spc="-10" dirty="0"/>
              <a:t>architecture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80310" y="1631187"/>
            <a:ext cx="2142490" cy="2159635"/>
          </a:xfrm>
          <a:custGeom>
            <a:avLst/>
            <a:gdLst/>
            <a:ahLst/>
            <a:cxnLst/>
            <a:rect l="l" t="t" r="r" b="b"/>
            <a:pathLst>
              <a:path w="2142490" h="2159635">
                <a:moveTo>
                  <a:pt x="8636" y="76326"/>
                </a:moveTo>
                <a:lnTo>
                  <a:pt x="14632" y="46612"/>
                </a:lnTo>
                <a:lnTo>
                  <a:pt x="30987" y="22352"/>
                </a:lnTo>
                <a:lnTo>
                  <a:pt x="55248" y="5996"/>
                </a:lnTo>
                <a:lnTo>
                  <a:pt x="84962" y="0"/>
                </a:lnTo>
                <a:lnTo>
                  <a:pt x="2065781" y="0"/>
                </a:lnTo>
                <a:lnTo>
                  <a:pt x="2095496" y="5996"/>
                </a:lnTo>
                <a:lnTo>
                  <a:pt x="2119757" y="22351"/>
                </a:lnTo>
                <a:lnTo>
                  <a:pt x="2136112" y="46612"/>
                </a:lnTo>
                <a:lnTo>
                  <a:pt x="2142109" y="76326"/>
                </a:lnTo>
                <a:lnTo>
                  <a:pt x="2142109" y="304164"/>
                </a:lnTo>
                <a:lnTo>
                  <a:pt x="2136112" y="333879"/>
                </a:lnTo>
                <a:lnTo>
                  <a:pt x="2119756" y="358140"/>
                </a:lnTo>
                <a:lnTo>
                  <a:pt x="2095496" y="374495"/>
                </a:lnTo>
                <a:lnTo>
                  <a:pt x="2065781" y="380492"/>
                </a:lnTo>
                <a:lnTo>
                  <a:pt x="84962" y="380492"/>
                </a:lnTo>
                <a:lnTo>
                  <a:pt x="55248" y="374495"/>
                </a:lnTo>
                <a:lnTo>
                  <a:pt x="30987" y="358140"/>
                </a:lnTo>
                <a:lnTo>
                  <a:pt x="14632" y="333879"/>
                </a:lnTo>
                <a:lnTo>
                  <a:pt x="8636" y="304164"/>
                </a:lnTo>
                <a:lnTo>
                  <a:pt x="8636" y="76326"/>
                </a:lnTo>
                <a:close/>
              </a:path>
              <a:path w="2142490" h="2159635">
                <a:moveTo>
                  <a:pt x="8000" y="656336"/>
                </a:moveTo>
                <a:lnTo>
                  <a:pt x="12973" y="631626"/>
                </a:lnTo>
                <a:lnTo>
                  <a:pt x="26542" y="611441"/>
                </a:lnTo>
                <a:lnTo>
                  <a:pt x="46684" y="597828"/>
                </a:lnTo>
                <a:lnTo>
                  <a:pt x="71374" y="592836"/>
                </a:lnTo>
                <a:lnTo>
                  <a:pt x="2077847" y="592836"/>
                </a:lnTo>
                <a:lnTo>
                  <a:pt x="2102556" y="597828"/>
                </a:lnTo>
                <a:lnTo>
                  <a:pt x="2122741" y="611441"/>
                </a:lnTo>
                <a:lnTo>
                  <a:pt x="2136354" y="631626"/>
                </a:lnTo>
                <a:lnTo>
                  <a:pt x="2141347" y="656336"/>
                </a:lnTo>
                <a:lnTo>
                  <a:pt x="2141347" y="909955"/>
                </a:lnTo>
                <a:lnTo>
                  <a:pt x="2136354" y="934664"/>
                </a:lnTo>
                <a:lnTo>
                  <a:pt x="2122741" y="954849"/>
                </a:lnTo>
                <a:lnTo>
                  <a:pt x="2102556" y="968462"/>
                </a:lnTo>
                <a:lnTo>
                  <a:pt x="2077847" y="973455"/>
                </a:lnTo>
                <a:lnTo>
                  <a:pt x="71374" y="973455"/>
                </a:lnTo>
                <a:lnTo>
                  <a:pt x="46684" y="968462"/>
                </a:lnTo>
                <a:lnTo>
                  <a:pt x="26543" y="954849"/>
                </a:lnTo>
                <a:lnTo>
                  <a:pt x="12973" y="934664"/>
                </a:lnTo>
                <a:lnTo>
                  <a:pt x="8000" y="909955"/>
                </a:lnTo>
                <a:lnTo>
                  <a:pt x="8000" y="656336"/>
                </a:lnTo>
                <a:close/>
              </a:path>
              <a:path w="2142490" h="2159635">
                <a:moveTo>
                  <a:pt x="0" y="1249172"/>
                </a:moveTo>
                <a:lnTo>
                  <a:pt x="4992" y="1224535"/>
                </a:lnTo>
                <a:lnTo>
                  <a:pt x="18605" y="1204388"/>
                </a:lnTo>
                <a:lnTo>
                  <a:pt x="38790" y="1190789"/>
                </a:lnTo>
                <a:lnTo>
                  <a:pt x="63500" y="1185799"/>
                </a:lnTo>
                <a:lnTo>
                  <a:pt x="2069973" y="1185799"/>
                </a:lnTo>
                <a:lnTo>
                  <a:pt x="2094662" y="1190789"/>
                </a:lnTo>
                <a:lnTo>
                  <a:pt x="2114804" y="1204388"/>
                </a:lnTo>
                <a:lnTo>
                  <a:pt x="2128373" y="1224535"/>
                </a:lnTo>
                <a:lnTo>
                  <a:pt x="2133346" y="1249172"/>
                </a:lnTo>
                <a:lnTo>
                  <a:pt x="2133346" y="1502918"/>
                </a:lnTo>
                <a:lnTo>
                  <a:pt x="2128373" y="1527607"/>
                </a:lnTo>
                <a:lnTo>
                  <a:pt x="2114804" y="1547749"/>
                </a:lnTo>
                <a:lnTo>
                  <a:pt x="2094662" y="1561318"/>
                </a:lnTo>
                <a:lnTo>
                  <a:pt x="2069973" y="1566291"/>
                </a:lnTo>
                <a:lnTo>
                  <a:pt x="63500" y="1566291"/>
                </a:lnTo>
                <a:lnTo>
                  <a:pt x="38790" y="1561318"/>
                </a:lnTo>
                <a:lnTo>
                  <a:pt x="18605" y="1547749"/>
                </a:lnTo>
                <a:lnTo>
                  <a:pt x="4992" y="1527607"/>
                </a:lnTo>
                <a:lnTo>
                  <a:pt x="0" y="1502918"/>
                </a:lnTo>
                <a:lnTo>
                  <a:pt x="0" y="1249172"/>
                </a:lnTo>
                <a:close/>
              </a:path>
              <a:path w="2142490" h="2159635">
                <a:moveTo>
                  <a:pt x="762" y="1842135"/>
                </a:moveTo>
                <a:lnTo>
                  <a:pt x="5752" y="1817445"/>
                </a:lnTo>
                <a:lnTo>
                  <a:pt x="19351" y="1797304"/>
                </a:lnTo>
                <a:lnTo>
                  <a:pt x="39498" y="1783734"/>
                </a:lnTo>
                <a:lnTo>
                  <a:pt x="64134" y="1778762"/>
                </a:lnTo>
                <a:lnTo>
                  <a:pt x="2070735" y="1778762"/>
                </a:lnTo>
                <a:lnTo>
                  <a:pt x="2095424" y="1783734"/>
                </a:lnTo>
                <a:lnTo>
                  <a:pt x="2115566" y="1797303"/>
                </a:lnTo>
                <a:lnTo>
                  <a:pt x="2129135" y="1817445"/>
                </a:lnTo>
                <a:lnTo>
                  <a:pt x="2134108" y="1842135"/>
                </a:lnTo>
                <a:lnTo>
                  <a:pt x="2134108" y="2095881"/>
                </a:lnTo>
                <a:lnTo>
                  <a:pt x="2129135" y="2120517"/>
                </a:lnTo>
                <a:lnTo>
                  <a:pt x="2115566" y="2140664"/>
                </a:lnTo>
                <a:lnTo>
                  <a:pt x="2095424" y="2154263"/>
                </a:lnTo>
                <a:lnTo>
                  <a:pt x="2070735" y="2159254"/>
                </a:lnTo>
                <a:lnTo>
                  <a:pt x="64134" y="2159254"/>
                </a:lnTo>
                <a:lnTo>
                  <a:pt x="39498" y="2154263"/>
                </a:lnTo>
                <a:lnTo>
                  <a:pt x="19351" y="2140664"/>
                </a:lnTo>
                <a:lnTo>
                  <a:pt x="5752" y="2120517"/>
                </a:lnTo>
                <a:lnTo>
                  <a:pt x="762" y="2095881"/>
                </a:lnTo>
                <a:lnTo>
                  <a:pt x="762" y="184213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Addressing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06498" y="1664284"/>
            <a:ext cx="1696085" cy="2079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Application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  <a:p>
            <a:pPr marL="111760" marR="103505" algn="ctr">
              <a:lnSpc>
                <a:spcPts val="4670"/>
              </a:lnSpc>
              <a:spcBef>
                <a:spcPts val="375"/>
              </a:spcBef>
            </a:pPr>
            <a:r>
              <a:rPr sz="1800" spc="-10" dirty="0">
                <a:latin typeface="Times New Roman"/>
                <a:cs typeface="Times New Roman"/>
              </a:rPr>
              <a:t>Transport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Layer </a:t>
            </a:r>
            <a:r>
              <a:rPr sz="1800" dirty="0">
                <a:latin typeface="Times New Roman"/>
                <a:cs typeface="Times New Roman"/>
              </a:rPr>
              <a:t>Internet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Layer </a:t>
            </a:r>
            <a:r>
              <a:rPr sz="1800" dirty="0">
                <a:latin typeface="Times New Roman"/>
                <a:cs typeface="Times New Roman"/>
              </a:rPr>
              <a:t>Link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09900" y="1787905"/>
            <a:ext cx="2315210" cy="1849755"/>
            <a:chOff x="3009900" y="1787905"/>
            <a:chExt cx="2315210" cy="18497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17392" y="2011933"/>
              <a:ext cx="76200" cy="2118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9900" y="3197733"/>
              <a:ext cx="76200" cy="2118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10915" y="2604516"/>
              <a:ext cx="76200" cy="21208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114800" y="1787905"/>
              <a:ext cx="1210310" cy="1849755"/>
            </a:xfrm>
            <a:custGeom>
              <a:avLst/>
              <a:gdLst/>
              <a:ahLst/>
              <a:cxnLst/>
              <a:rect l="l" t="t" r="r" b="b"/>
              <a:pathLst>
                <a:path w="1210310" h="1849754">
                  <a:moveTo>
                    <a:pt x="101600" y="1800098"/>
                  </a:moveTo>
                  <a:lnTo>
                    <a:pt x="0" y="1800225"/>
                  </a:lnTo>
                  <a:lnTo>
                    <a:pt x="0" y="1825625"/>
                  </a:lnTo>
                  <a:lnTo>
                    <a:pt x="101600" y="1825498"/>
                  </a:lnTo>
                  <a:lnTo>
                    <a:pt x="101600" y="1800098"/>
                  </a:lnTo>
                  <a:close/>
                </a:path>
                <a:path w="1210310" h="1849754">
                  <a:moveTo>
                    <a:pt x="108458" y="614045"/>
                  </a:moveTo>
                  <a:lnTo>
                    <a:pt x="6858" y="613918"/>
                  </a:lnTo>
                  <a:lnTo>
                    <a:pt x="6858" y="639318"/>
                  </a:lnTo>
                  <a:lnTo>
                    <a:pt x="108458" y="639445"/>
                  </a:lnTo>
                  <a:lnTo>
                    <a:pt x="108458" y="614045"/>
                  </a:lnTo>
                  <a:close/>
                </a:path>
                <a:path w="1210310" h="1849754">
                  <a:moveTo>
                    <a:pt x="109601" y="21336"/>
                  </a:moveTo>
                  <a:lnTo>
                    <a:pt x="8001" y="20955"/>
                  </a:lnTo>
                  <a:lnTo>
                    <a:pt x="7874" y="46355"/>
                  </a:lnTo>
                  <a:lnTo>
                    <a:pt x="109474" y="46736"/>
                  </a:lnTo>
                  <a:lnTo>
                    <a:pt x="109601" y="21336"/>
                  </a:lnTo>
                  <a:close/>
                </a:path>
                <a:path w="1210310" h="1849754">
                  <a:moveTo>
                    <a:pt x="279400" y="1799844"/>
                  </a:moveTo>
                  <a:lnTo>
                    <a:pt x="177800" y="1799971"/>
                  </a:lnTo>
                  <a:lnTo>
                    <a:pt x="177800" y="1825371"/>
                  </a:lnTo>
                  <a:lnTo>
                    <a:pt x="279400" y="1825244"/>
                  </a:lnTo>
                  <a:lnTo>
                    <a:pt x="279400" y="1799844"/>
                  </a:lnTo>
                  <a:close/>
                </a:path>
                <a:path w="1210310" h="1849754">
                  <a:moveTo>
                    <a:pt x="286258" y="614299"/>
                  </a:moveTo>
                  <a:lnTo>
                    <a:pt x="184658" y="614172"/>
                  </a:lnTo>
                  <a:lnTo>
                    <a:pt x="184658" y="639572"/>
                  </a:lnTo>
                  <a:lnTo>
                    <a:pt x="286258" y="639699"/>
                  </a:lnTo>
                  <a:lnTo>
                    <a:pt x="286258" y="614299"/>
                  </a:lnTo>
                  <a:close/>
                </a:path>
                <a:path w="1210310" h="1849754">
                  <a:moveTo>
                    <a:pt x="287401" y="22098"/>
                  </a:moveTo>
                  <a:lnTo>
                    <a:pt x="185801" y="21717"/>
                  </a:lnTo>
                  <a:lnTo>
                    <a:pt x="185674" y="47117"/>
                  </a:lnTo>
                  <a:lnTo>
                    <a:pt x="287274" y="47498"/>
                  </a:lnTo>
                  <a:lnTo>
                    <a:pt x="287401" y="22098"/>
                  </a:lnTo>
                  <a:close/>
                </a:path>
                <a:path w="1210310" h="1849754">
                  <a:moveTo>
                    <a:pt x="457200" y="1799590"/>
                  </a:moveTo>
                  <a:lnTo>
                    <a:pt x="355600" y="1799717"/>
                  </a:lnTo>
                  <a:lnTo>
                    <a:pt x="355600" y="1825117"/>
                  </a:lnTo>
                  <a:lnTo>
                    <a:pt x="457200" y="1824990"/>
                  </a:lnTo>
                  <a:lnTo>
                    <a:pt x="457200" y="1799590"/>
                  </a:lnTo>
                  <a:close/>
                </a:path>
                <a:path w="1210310" h="1849754">
                  <a:moveTo>
                    <a:pt x="464058" y="614553"/>
                  </a:moveTo>
                  <a:lnTo>
                    <a:pt x="362458" y="614426"/>
                  </a:lnTo>
                  <a:lnTo>
                    <a:pt x="362458" y="639826"/>
                  </a:lnTo>
                  <a:lnTo>
                    <a:pt x="464058" y="639953"/>
                  </a:lnTo>
                  <a:lnTo>
                    <a:pt x="464058" y="614553"/>
                  </a:lnTo>
                  <a:close/>
                </a:path>
                <a:path w="1210310" h="1849754">
                  <a:moveTo>
                    <a:pt x="465201" y="22733"/>
                  </a:moveTo>
                  <a:lnTo>
                    <a:pt x="363601" y="22352"/>
                  </a:lnTo>
                  <a:lnTo>
                    <a:pt x="363474" y="47764"/>
                  </a:lnTo>
                  <a:lnTo>
                    <a:pt x="465074" y="48133"/>
                  </a:lnTo>
                  <a:lnTo>
                    <a:pt x="465201" y="22733"/>
                  </a:lnTo>
                  <a:close/>
                </a:path>
                <a:path w="1210310" h="1849754">
                  <a:moveTo>
                    <a:pt x="635000" y="1799336"/>
                  </a:moveTo>
                  <a:lnTo>
                    <a:pt x="533400" y="1799590"/>
                  </a:lnTo>
                  <a:lnTo>
                    <a:pt x="533400" y="1824990"/>
                  </a:lnTo>
                  <a:lnTo>
                    <a:pt x="635000" y="1824736"/>
                  </a:lnTo>
                  <a:lnTo>
                    <a:pt x="635000" y="1799336"/>
                  </a:lnTo>
                  <a:close/>
                </a:path>
                <a:path w="1210310" h="1849754">
                  <a:moveTo>
                    <a:pt x="641858" y="614807"/>
                  </a:moveTo>
                  <a:lnTo>
                    <a:pt x="540258" y="614680"/>
                  </a:lnTo>
                  <a:lnTo>
                    <a:pt x="540258" y="640080"/>
                  </a:lnTo>
                  <a:lnTo>
                    <a:pt x="641858" y="640207"/>
                  </a:lnTo>
                  <a:lnTo>
                    <a:pt x="641858" y="614807"/>
                  </a:lnTo>
                  <a:close/>
                </a:path>
                <a:path w="1210310" h="1849754">
                  <a:moveTo>
                    <a:pt x="643001" y="23495"/>
                  </a:moveTo>
                  <a:lnTo>
                    <a:pt x="541401" y="23114"/>
                  </a:lnTo>
                  <a:lnTo>
                    <a:pt x="541274" y="48526"/>
                  </a:lnTo>
                  <a:lnTo>
                    <a:pt x="642874" y="48895"/>
                  </a:lnTo>
                  <a:lnTo>
                    <a:pt x="643001" y="23495"/>
                  </a:lnTo>
                  <a:close/>
                </a:path>
                <a:path w="1210310" h="1849754">
                  <a:moveTo>
                    <a:pt x="812800" y="1799209"/>
                  </a:moveTo>
                  <a:lnTo>
                    <a:pt x="711200" y="1799336"/>
                  </a:lnTo>
                  <a:lnTo>
                    <a:pt x="711200" y="1824736"/>
                  </a:lnTo>
                  <a:lnTo>
                    <a:pt x="812800" y="1824609"/>
                  </a:lnTo>
                  <a:lnTo>
                    <a:pt x="812800" y="1799209"/>
                  </a:lnTo>
                  <a:close/>
                </a:path>
                <a:path w="1210310" h="1849754">
                  <a:moveTo>
                    <a:pt x="819658" y="614934"/>
                  </a:moveTo>
                  <a:lnTo>
                    <a:pt x="718058" y="614807"/>
                  </a:lnTo>
                  <a:lnTo>
                    <a:pt x="718058" y="640207"/>
                  </a:lnTo>
                  <a:lnTo>
                    <a:pt x="819658" y="640334"/>
                  </a:lnTo>
                  <a:lnTo>
                    <a:pt x="819658" y="614934"/>
                  </a:lnTo>
                  <a:close/>
                </a:path>
                <a:path w="1210310" h="1849754">
                  <a:moveTo>
                    <a:pt x="820801" y="24130"/>
                  </a:moveTo>
                  <a:lnTo>
                    <a:pt x="719201" y="23749"/>
                  </a:lnTo>
                  <a:lnTo>
                    <a:pt x="719074" y="49149"/>
                  </a:lnTo>
                  <a:lnTo>
                    <a:pt x="820674" y="49530"/>
                  </a:lnTo>
                  <a:lnTo>
                    <a:pt x="820801" y="24130"/>
                  </a:lnTo>
                  <a:close/>
                </a:path>
                <a:path w="1210310" h="1849754">
                  <a:moveTo>
                    <a:pt x="990600" y="1798955"/>
                  </a:moveTo>
                  <a:lnTo>
                    <a:pt x="889000" y="1799082"/>
                  </a:lnTo>
                  <a:lnTo>
                    <a:pt x="889000" y="1824482"/>
                  </a:lnTo>
                  <a:lnTo>
                    <a:pt x="990600" y="1824355"/>
                  </a:lnTo>
                  <a:lnTo>
                    <a:pt x="990600" y="1798955"/>
                  </a:lnTo>
                  <a:close/>
                </a:path>
                <a:path w="1210310" h="1849754">
                  <a:moveTo>
                    <a:pt x="997458" y="615188"/>
                  </a:moveTo>
                  <a:lnTo>
                    <a:pt x="895858" y="615061"/>
                  </a:lnTo>
                  <a:lnTo>
                    <a:pt x="895858" y="640461"/>
                  </a:lnTo>
                  <a:lnTo>
                    <a:pt x="997458" y="640588"/>
                  </a:lnTo>
                  <a:lnTo>
                    <a:pt x="997458" y="615188"/>
                  </a:lnTo>
                  <a:close/>
                </a:path>
                <a:path w="1210310" h="1849754">
                  <a:moveTo>
                    <a:pt x="998601" y="24892"/>
                  </a:moveTo>
                  <a:lnTo>
                    <a:pt x="897001" y="24511"/>
                  </a:lnTo>
                  <a:lnTo>
                    <a:pt x="896874" y="49911"/>
                  </a:lnTo>
                  <a:lnTo>
                    <a:pt x="998474" y="50292"/>
                  </a:lnTo>
                  <a:lnTo>
                    <a:pt x="998601" y="24892"/>
                  </a:lnTo>
                  <a:close/>
                </a:path>
                <a:path w="1210310" h="1849754">
                  <a:moveTo>
                    <a:pt x="1161034" y="1811401"/>
                  </a:moveTo>
                  <a:lnTo>
                    <a:pt x="1135494" y="1798701"/>
                  </a:lnTo>
                  <a:lnTo>
                    <a:pt x="1084707" y="1773428"/>
                  </a:lnTo>
                  <a:lnTo>
                    <a:pt x="1084745" y="1798764"/>
                  </a:lnTo>
                  <a:lnTo>
                    <a:pt x="1066800" y="1798828"/>
                  </a:lnTo>
                  <a:lnTo>
                    <a:pt x="1066800" y="1824228"/>
                  </a:lnTo>
                  <a:lnTo>
                    <a:pt x="1084783" y="1824164"/>
                  </a:lnTo>
                  <a:lnTo>
                    <a:pt x="1084834" y="1849628"/>
                  </a:lnTo>
                  <a:lnTo>
                    <a:pt x="1161034" y="1811401"/>
                  </a:lnTo>
                  <a:close/>
                </a:path>
                <a:path w="1210310" h="1849754">
                  <a:moveTo>
                    <a:pt x="1196340" y="628142"/>
                  </a:moveTo>
                  <a:lnTo>
                    <a:pt x="1120140" y="590042"/>
                  </a:lnTo>
                  <a:lnTo>
                    <a:pt x="1120089" y="615416"/>
                  </a:lnTo>
                  <a:lnTo>
                    <a:pt x="1073658" y="615315"/>
                  </a:lnTo>
                  <a:lnTo>
                    <a:pt x="1073658" y="640715"/>
                  </a:lnTo>
                  <a:lnTo>
                    <a:pt x="1120051" y="640816"/>
                  </a:lnTo>
                  <a:lnTo>
                    <a:pt x="1120013" y="666242"/>
                  </a:lnTo>
                  <a:lnTo>
                    <a:pt x="1170889" y="640842"/>
                  </a:lnTo>
                  <a:lnTo>
                    <a:pt x="1196340" y="628142"/>
                  </a:lnTo>
                  <a:close/>
                </a:path>
                <a:path w="1210310" h="1849754">
                  <a:moveTo>
                    <a:pt x="1210310" y="38354"/>
                  </a:moveTo>
                  <a:lnTo>
                    <a:pt x="1134237" y="0"/>
                  </a:lnTo>
                  <a:lnTo>
                    <a:pt x="1134148" y="25361"/>
                  </a:lnTo>
                  <a:lnTo>
                    <a:pt x="1074801" y="25146"/>
                  </a:lnTo>
                  <a:lnTo>
                    <a:pt x="1074674" y="50546"/>
                  </a:lnTo>
                  <a:lnTo>
                    <a:pt x="1134059" y="50761"/>
                  </a:lnTo>
                  <a:lnTo>
                    <a:pt x="1133983" y="76200"/>
                  </a:lnTo>
                  <a:lnTo>
                    <a:pt x="1185202" y="50800"/>
                  </a:lnTo>
                  <a:lnTo>
                    <a:pt x="1210310" y="383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62194" y="1668017"/>
            <a:ext cx="1913889" cy="2073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Application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specific</a:t>
            </a:r>
            <a:endParaRPr sz="1800">
              <a:latin typeface="Times New Roman"/>
              <a:cs typeface="Times New Roman"/>
            </a:endParaRPr>
          </a:p>
          <a:p>
            <a:pPr marL="29845" marR="437515" indent="11430">
              <a:lnSpc>
                <a:spcPts val="4630"/>
              </a:lnSpc>
              <a:spcBef>
                <a:spcPts val="565"/>
              </a:spcBef>
            </a:pPr>
            <a:r>
              <a:rPr sz="1800" dirty="0">
                <a:latin typeface="Times New Roman"/>
                <a:cs typeface="Times New Roman"/>
              </a:rPr>
              <a:t>Port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address </a:t>
            </a:r>
            <a:r>
              <a:rPr sz="1800" dirty="0">
                <a:latin typeface="Times New Roman"/>
                <a:cs typeface="Times New Roman"/>
              </a:rPr>
              <a:t>Logical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address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85"/>
              </a:spcBef>
            </a:pPr>
            <a:r>
              <a:rPr sz="1800" dirty="0">
                <a:latin typeface="Times New Roman"/>
                <a:cs typeface="Times New Roman"/>
              </a:rPr>
              <a:t>Physical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address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113657" y="2964942"/>
            <a:ext cx="1186180" cy="76200"/>
          </a:xfrm>
          <a:custGeom>
            <a:avLst/>
            <a:gdLst/>
            <a:ahLst/>
            <a:cxnLst/>
            <a:rect l="l" t="t" r="r" b="b"/>
            <a:pathLst>
              <a:path w="1186179" h="76200">
                <a:moveTo>
                  <a:pt x="101600" y="29082"/>
                </a:moveTo>
                <a:lnTo>
                  <a:pt x="0" y="29463"/>
                </a:lnTo>
                <a:lnTo>
                  <a:pt x="126" y="54863"/>
                </a:lnTo>
                <a:lnTo>
                  <a:pt x="101726" y="54482"/>
                </a:lnTo>
                <a:lnTo>
                  <a:pt x="101600" y="29082"/>
                </a:lnTo>
                <a:close/>
              </a:path>
              <a:path w="1186179" h="76200">
                <a:moveTo>
                  <a:pt x="279400" y="28447"/>
                </a:moveTo>
                <a:lnTo>
                  <a:pt x="177800" y="28828"/>
                </a:lnTo>
                <a:lnTo>
                  <a:pt x="177926" y="54228"/>
                </a:lnTo>
                <a:lnTo>
                  <a:pt x="279526" y="53847"/>
                </a:lnTo>
                <a:lnTo>
                  <a:pt x="279400" y="28447"/>
                </a:lnTo>
                <a:close/>
              </a:path>
              <a:path w="1186179" h="76200">
                <a:moveTo>
                  <a:pt x="457200" y="27812"/>
                </a:moveTo>
                <a:lnTo>
                  <a:pt x="355600" y="28193"/>
                </a:lnTo>
                <a:lnTo>
                  <a:pt x="355726" y="53593"/>
                </a:lnTo>
                <a:lnTo>
                  <a:pt x="457326" y="53212"/>
                </a:lnTo>
                <a:lnTo>
                  <a:pt x="457200" y="27812"/>
                </a:lnTo>
                <a:close/>
              </a:path>
              <a:path w="1186179" h="76200">
                <a:moveTo>
                  <a:pt x="635000" y="27177"/>
                </a:moveTo>
                <a:lnTo>
                  <a:pt x="533400" y="27431"/>
                </a:lnTo>
                <a:lnTo>
                  <a:pt x="533526" y="52831"/>
                </a:lnTo>
                <a:lnTo>
                  <a:pt x="635126" y="52577"/>
                </a:lnTo>
                <a:lnTo>
                  <a:pt x="635000" y="27177"/>
                </a:lnTo>
                <a:close/>
              </a:path>
              <a:path w="1186179" h="76200">
                <a:moveTo>
                  <a:pt x="812800" y="26415"/>
                </a:moveTo>
                <a:lnTo>
                  <a:pt x="711200" y="26796"/>
                </a:lnTo>
                <a:lnTo>
                  <a:pt x="711326" y="52196"/>
                </a:lnTo>
                <a:lnTo>
                  <a:pt x="812926" y="51815"/>
                </a:lnTo>
                <a:lnTo>
                  <a:pt x="812800" y="26415"/>
                </a:lnTo>
                <a:close/>
              </a:path>
              <a:path w="1186179" h="76200">
                <a:moveTo>
                  <a:pt x="990600" y="25781"/>
                </a:moveTo>
                <a:lnTo>
                  <a:pt x="889000" y="26162"/>
                </a:lnTo>
                <a:lnTo>
                  <a:pt x="889126" y="51562"/>
                </a:lnTo>
                <a:lnTo>
                  <a:pt x="990726" y="51181"/>
                </a:lnTo>
                <a:lnTo>
                  <a:pt x="990600" y="25781"/>
                </a:lnTo>
                <a:close/>
              </a:path>
              <a:path w="1186179" h="76200">
                <a:moveTo>
                  <a:pt x="1160825" y="25400"/>
                </a:moveTo>
                <a:lnTo>
                  <a:pt x="1122298" y="25400"/>
                </a:lnTo>
                <a:lnTo>
                  <a:pt x="1122426" y="50800"/>
                </a:lnTo>
                <a:lnTo>
                  <a:pt x="1109768" y="50828"/>
                </a:lnTo>
                <a:lnTo>
                  <a:pt x="1109852" y="76200"/>
                </a:lnTo>
                <a:lnTo>
                  <a:pt x="1185926" y="37845"/>
                </a:lnTo>
                <a:lnTo>
                  <a:pt x="1160825" y="25400"/>
                </a:lnTo>
                <a:close/>
              </a:path>
              <a:path w="1186179" h="76200">
                <a:moveTo>
                  <a:pt x="1109683" y="25428"/>
                </a:moveTo>
                <a:lnTo>
                  <a:pt x="1066800" y="25526"/>
                </a:lnTo>
                <a:lnTo>
                  <a:pt x="1066927" y="50926"/>
                </a:lnTo>
                <a:lnTo>
                  <a:pt x="1109768" y="50828"/>
                </a:lnTo>
                <a:lnTo>
                  <a:pt x="1109683" y="25428"/>
                </a:lnTo>
                <a:close/>
              </a:path>
              <a:path w="1186179" h="76200">
                <a:moveTo>
                  <a:pt x="1122298" y="25400"/>
                </a:moveTo>
                <a:lnTo>
                  <a:pt x="1109683" y="25428"/>
                </a:lnTo>
                <a:lnTo>
                  <a:pt x="1109768" y="50828"/>
                </a:lnTo>
                <a:lnTo>
                  <a:pt x="1122426" y="50800"/>
                </a:lnTo>
                <a:lnTo>
                  <a:pt x="1122298" y="25400"/>
                </a:lnTo>
                <a:close/>
              </a:path>
              <a:path w="1186179" h="76200">
                <a:moveTo>
                  <a:pt x="1109598" y="0"/>
                </a:moveTo>
                <a:lnTo>
                  <a:pt x="1109683" y="25428"/>
                </a:lnTo>
                <a:lnTo>
                  <a:pt x="1160825" y="25400"/>
                </a:lnTo>
                <a:lnTo>
                  <a:pt x="11095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86435" y="1119021"/>
            <a:ext cx="7970520" cy="3738879"/>
            <a:chOff x="586435" y="1119021"/>
            <a:chExt cx="7970520" cy="37388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435" y="1503413"/>
              <a:ext cx="7970393" cy="335407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98106" y="3565641"/>
              <a:ext cx="1453515" cy="302260"/>
            </a:xfrm>
            <a:custGeom>
              <a:avLst/>
              <a:gdLst/>
              <a:ahLst/>
              <a:cxnLst/>
              <a:rect l="l" t="t" r="r" b="b"/>
              <a:pathLst>
                <a:path w="1453514" h="302260">
                  <a:moveTo>
                    <a:pt x="1453202" y="0"/>
                  </a:moveTo>
                  <a:lnTo>
                    <a:pt x="0" y="0"/>
                  </a:lnTo>
                  <a:lnTo>
                    <a:pt x="0" y="302072"/>
                  </a:lnTo>
                  <a:lnTo>
                    <a:pt x="1453202" y="302072"/>
                  </a:lnTo>
                  <a:lnTo>
                    <a:pt x="14532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77180" y="3617505"/>
              <a:ext cx="822960" cy="200660"/>
            </a:xfrm>
            <a:custGeom>
              <a:avLst/>
              <a:gdLst/>
              <a:ahLst/>
              <a:cxnLst/>
              <a:rect l="l" t="t" r="r" b="b"/>
              <a:pathLst>
                <a:path w="822960" h="200660">
                  <a:moveTo>
                    <a:pt x="822417" y="0"/>
                  </a:moveTo>
                  <a:lnTo>
                    <a:pt x="0" y="0"/>
                  </a:lnTo>
                  <a:lnTo>
                    <a:pt x="0" y="200572"/>
                  </a:lnTo>
                  <a:lnTo>
                    <a:pt x="822417" y="200572"/>
                  </a:lnTo>
                  <a:lnTo>
                    <a:pt x="822417" y="0"/>
                  </a:lnTo>
                  <a:close/>
                </a:path>
              </a:pathLst>
            </a:custGeom>
            <a:solidFill>
              <a:srgbClr val="6C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77180" y="3617505"/>
              <a:ext cx="822960" cy="200660"/>
            </a:xfrm>
            <a:custGeom>
              <a:avLst/>
              <a:gdLst/>
              <a:ahLst/>
              <a:cxnLst/>
              <a:rect l="l" t="t" r="r" b="b"/>
              <a:pathLst>
                <a:path w="822960" h="200660">
                  <a:moveTo>
                    <a:pt x="0" y="200572"/>
                  </a:moveTo>
                  <a:lnTo>
                    <a:pt x="822417" y="200572"/>
                  </a:lnTo>
                  <a:lnTo>
                    <a:pt x="822417" y="0"/>
                  </a:lnTo>
                  <a:lnTo>
                    <a:pt x="0" y="0"/>
                  </a:lnTo>
                  <a:lnTo>
                    <a:pt x="0" y="200572"/>
                  </a:lnTo>
                  <a:close/>
                </a:path>
              </a:pathLst>
            </a:custGeom>
            <a:ln w="136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56741" y="3617506"/>
              <a:ext cx="511809" cy="200660"/>
            </a:xfrm>
            <a:custGeom>
              <a:avLst/>
              <a:gdLst/>
              <a:ahLst/>
              <a:cxnLst/>
              <a:rect l="l" t="t" r="r" b="b"/>
              <a:pathLst>
                <a:path w="511809" h="200660">
                  <a:moveTo>
                    <a:pt x="254596" y="0"/>
                  </a:moveTo>
                  <a:lnTo>
                    <a:pt x="0" y="0"/>
                  </a:lnTo>
                  <a:lnTo>
                    <a:pt x="0" y="200583"/>
                  </a:lnTo>
                  <a:lnTo>
                    <a:pt x="254596" y="200583"/>
                  </a:lnTo>
                  <a:lnTo>
                    <a:pt x="254596" y="0"/>
                  </a:lnTo>
                  <a:close/>
                </a:path>
                <a:path w="511809" h="200660">
                  <a:moveTo>
                    <a:pt x="511441" y="0"/>
                  </a:moveTo>
                  <a:lnTo>
                    <a:pt x="256844" y="0"/>
                  </a:lnTo>
                  <a:lnTo>
                    <a:pt x="256844" y="200583"/>
                  </a:lnTo>
                  <a:lnTo>
                    <a:pt x="511441" y="200583"/>
                  </a:lnTo>
                  <a:lnTo>
                    <a:pt x="5114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Addressing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07340" y="1062609"/>
            <a:ext cx="791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8106" y="3565641"/>
            <a:ext cx="1453515" cy="302260"/>
          </a:xfrm>
          <a:prstGeom prst="rect">
            <a:avLst/>
          </a:prstGeom>
          <a:ln w="13622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80"/>
              </a:spcBef>
              <a:tabLst>
                <a:tab pos="787400" algn="l"/>
              </a:tabLst>
            </a:pPr>
            <a:r>
              <a:rPr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87</a:t>
            </a:r>
            <a:r>
              <a:rPr sz="1500" b="1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1500" spc="-20" dirty="0">
                <a:latin typeface="Times New Roman"/>
                <a:cs typeface="Times New Roman"/>
              </a:rPr>
              <a:t>Data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389712" y="3491181"/>
            <a:ext cx="1588770" cy="976630"/>
            <a:chOff x="2389712" y="3491181"/>
            <a:chExt cx="1588770" cy="976630"/>
          </a:xfrm>
        </p:grpSpPr>
        <p:sp>
          <p:nvSpPr>
            <p:cNvPr id="17" name="object 17"/>
            <p:cNvSpPr/>
            <p:nvPr/>
          </p:nvSpPr>
          <p:spPr>
            <a:xfrm>
              <a:off x="2482065" y="3556466"/>
              <a:ext cx="1399540" cy="832485"/>
            </a:xfrm>
            <a:custGeom>
              <a:avLst/>
              <a:gdLst/>
              <a:ahLst/>
              <a:cxnLst/>
              <a:rect l="l" t="t" r="r" b="b"/>
              <a:pathLst>
                <a:path w="1399539" h="832485">
                  <a:moveTo>
                    <a:pt x="0" y="0"/>
                  </a:moveTo>
                  <a:lnTo>
                    <a:pt x="0" y="831983"/>
                  </a:lnTo>
                  <a:lnTo>
                    <a:pt x="1399069" y="831983"/>
                  </a:lnTo>
                </a:path>
              </a:pathLst>
            </a:custGeom>
            <a:ln w="40530">
              <a:solidFill>
                <a:srgbClr val="EB0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40706" y="4311767"/>
              <a:ext cx="137272" cy="15560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89712" y="3491181"/>
              <a:ext cx="207241" cy="207457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432439" y="3442881"/>
            <a:ext cx="120650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498088" y="3179876"/>
            <a:ext cx="2114550" cy="1143000"/>
            <a:chOff x="3498088" y="3179876"/>
            <a:chExt cx="2114550" cy="1143000"/>
          </a:xfrm>
        </p:grpSpPr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98088" y="3191027"/>
              <a:ext cx="1050480" cy="113143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25340" y="3179876"/>
              <a:ext cx="987120" cy="114264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336823" y="3519417"/>
            <a:ext cx="593725" cy="38227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 indent="92075">
              <a:lnSpc>
                <a:spcPts val="1280"/>
              </a:lnSpc>
              <a:spcBef>
                <a:spcPts val="350"/>
              </a:spcBef>
            </a:pPr>
            <a:r>
              <a:rPr sz="1250" spc="-10" dirty="0">
                <a:latin typeface="Times New Roman"/>
                <a:cs typeface="Times New Roman"/>
              </a:rPr>
              <a:t>packet accepted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994681" y="3567673"/>
            <a:ext cx="1453515" cy="301625"/>
            <a:chOff x="6994681" y="3567673"/>
            <a:chExt cx="1453515" cy="301625"/>
          </a:xfrm>
        </p:grpSpPr>
        <p:sp>
          <p:nvSpPr>
            <p:cNvPr id="26" name="object 26"/>
            <p:cNvSpPr/>
            <p:nvPr/>
          </p:nvSpPr>
          <p:spPr>
            <a:xfrm>
              <a:off x="6994681" y="3567673"/>
              <a:ext cx="1453515" cy="301625"/>
            </a:xfrm>
            <a:custGeom>
              <a:avLst/>
              <a:gdLst/>
              <a:ahLst/>
              <a:cxnLst/>
              <a:rect l="l" t="t" r="r" b="b"/>
              <a:pathLst>
                <a:path w="1453515" h="301625">
                  <a:moveTo>
                    <a:pt x="1453357" y="0"/>
                  </a:moveTo>
                  <a:lnTo>
                    <a:pt x="0" y="0"/>
                  </a:lnTo>
                  <a:lnTo>
                    <a:pt x="0" y="301509"/>
                  </a:lnTo>
                  <a:lnTo>
                    <a:pt x="1453357" y="301509"/>
                  </a:lnTo>
                  <a:lnTo>
                    <a:pt x="14533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73739" y="3617216"/>
              <a:ext cx="822960" cy="200660"/>
            </a:xfrm>
            <a:custGeom>
              <a:avLst/>
              <a:gdLst/>
              <a:ahLst/>
              <a:cxnLst/>
              <a:rect l="l" t="t" r="r" b="b"/>
              <a:pathLst>
                <a:path w="822959" h="200660">
                  <a:moveTo>
                    <a:pt x="822591" y="0"/>
                  </a:moveTo>
                  <a:lnTo>
                    <a:pt x="0" y="0"/>
                  </a:lnTo>
                  <a:lnTo>
                    <a:pt x="0" y="200198"/>
                  </a:lnTo>
                  <a:lnTo>
                    <a:pt x="822591" y="200198"/>
                  </a:lnTo>
                  <a:lnTo>
                    <a:pt x="822591" y="0"/>
                  </a:lnTo>
                  <a:close/>
                </a:path>
              </a:pathLst>
            </a:custGeom>
            <a:solidFill>
              <a:srgbClr val="6C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73739" y="3617216"/>
              <a:ext cx="822960" cy="200660"/>
            </a:xfrm>
            <a:custGeom>
              <a:avLst/>
              <a:gdLst/>
              <a:ahLst/>
              <a:cxnLst/>
              <a:rect l="l" t="t" r="r" b="b"/>
              <a:pathLst>
                <a:path w="822959" h="200660">
                  <a:moveTo>
                    <a:pt x="0" y="200198"/>
                  </a:moveTo>
                  <a:lnTo>
                    <a:pt x="822591" y="200198"/>
                  </a:lnTo>
                  <a:lnTo>
                    <a:pt x="822591" y="0"/>
                  </a:lnTo>
                  <a:lnTo>
                    <a:pt x="0" y="0"/>
                  </a:lnTo>
                  <a:lnTo>
                    <a:pt x="0" y="200198"/>
                  </a:lnTo>
                  <a:close/>
                </a:path>
              </a:pathLst>
            </a:custGeom>
            <a:ln w="134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053313" y="3617226"/>
              <a:ext cx="511809" cy="200660"/>
            </a:xfrm>
            <a:custGeom>
              <a:avLst/>
              <a:gdLst/>
              <a:ahLst/>
              <a:cxnLst/>
              <a:rect l="l" t="t" r="r" b="b"/>
              <a:pathLst>
                <a:path w="511809" h="200660">
                  <a:moveTo>
                    <a:pt x="254457" y="0"/>
                  </a:moveTo>
                  <a:lnTo>
                    <a:pt x="0" y="0"/>
                  </a:lnTo>
                  <a:lnTo>
                    <a:pt x="0" y="200190"/>
                  </a:lnTo>
                  <a:lnTo>
                    <a:pt x="254457" y="200190"/>
                  </a:lnTo>
                  <a:lnTo>
                    <a:pt x="254457" y="0"/>
                  </a:lnTo>
                  <a:close/>
                </a:path>
                <a:path w="511809" h="200660">
                  <a:moveTo>
                    <a:pt x="511352" y="0"/>
                  </a:moveTo>
                  <a:lnTo>
                    <a:pt x="256705" y="0"/>
                  </a:lnTo>
                  <a:lnTo>
                    <a:pt x="256705" y="200190"/>
                  </a:lnTo>
                  <a:lnTo>
                    <a:pt x="511352" y="200190"/>
                  </a:lnTo>
                  <a:lnTo>
                    <a:pt x="5113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994681" y="3567673"/>
            <a:ext cx="1453515" cy="301625"/>
          </a:xfrm>
          <a:prstGeom prst="rect">
            <a:avLst/>
          </a:prstGeom>
          <a:ln w="13412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20"/>
              </a:spcBef>
              <a:tabLst>
                <a:tab pos="787400" algn="l"/>
              </a:tabLst>
            </a:pPr>
            <a:r>
              <a:rPr sz="1450" b="1" dirty="0">
                <a:solidFill>
                  <a:srgbClr val="FFFFFF"/>
                </a:solidFill>
                <a:latin typeface="Times New Roman"/>
                <a:cs typeface="Times New Roman"/>
              </a:rPr>
              <a:t>87</a:t>
            </a:r>
            <a:r>
              <a:rPr sz="1450" b="1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145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1450" spc="-20" dirty="0">
                <a:latin typeface="Times New Roman"/>
                <a:cs typeface="Times New Roman"/>
              </a:rPr>
              <a:t>Data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237061" y="3858012"/>
            <a:ext cx="2106930" cy="652780"/>
            <a:chOff x="5237061" y="3858012"/>
            <a:chExt cx="2106930" cy="652780"/>
          </a:xfrm>
        </p:grpSpPr>
        <p:sp>
          <p:nvSpPr>
            <p:cNvPr id="32" name="object 32"/>
            <p:cNvSpPr/>
            <p:nvPr/>
          </p:nvSpPr>
          <p:spPr>
            <a:xfrm>
              <a:off x="5327192" y="3956900"/>
              <a:ext cx="1940560" cy="466090"/>
            </a:xfrm>
            <a:custGeom>
              <a:avLst/>
              <a:gdLst/>
              <a:ahLst/>
              <a:cxnLst/>
              <a:rect l="l" t="t" r="r" b="b"/>
              <a:pathLst>
                <a:path w="1940559" h="466089">
                  <a:moveTo>
                    <a:pt x="0" y="465758"/>
                  </a:moveTo>
                  <a:lnTo>
                    <a:pt x="1940111" y="465758"/>
                  </a:lnTo>
                  <a:lnTo>
                    <a:pt x="1940111" y="0"/>
                  </a:lnTo>
                </a:path>
              </a:pathLst>
            </a:custGeom>
            <a:ln w="40425">
              <a:solidFill>
                <a:srgbClr val="EB0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90696" y="3858012"/>
              <a:ext cx="153293" cy="13948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37061" y="4303472"/>
              <a:ext cx="207427" cy="207089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5279826" y="4254089"/>
            <a:ext cx="12065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Addressing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1070228"/>
            <a:ext cx="8531225" cy="2102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3060" marR="5080" indent="-340360" algn="just">
              <a:lnSpc>
                <a:spcPct val="99000"/>
              </a:lnSpc>
              <a:spcBef>
                <a:spcPts val="12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local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area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networks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48-</a:t>
            </a:r>
            <a:r>
              <a:rPr sz="2400" dirty="0">
                <a:latin typeface="Times New Roman"/>
                <a:cs typeface="Times New Roman"/>
              </a:rPr>
              <a:t>bit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(6-</a:t>
            </a:r>
            <a:r>
              <a:rPr sz="2400" dirty="0">
                <a:latin typeface="Times New Roman"/>
                <a:cs typeface="Times New Roman"/>
              </a:rPr>
              <a:t>byte)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physical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address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written 	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5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12</a:t>
            </a:r>
            <a:r>
              <a:rPr sz="2400" spc="5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hexadecimal</a:t>
            </a:r>
            <a:r>
              <a:rPr sz="2400" spc="5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digits;</a:t>
            </a:r>
            <a:r>
              <a:rPr sz="2400" spc="5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every</a:t>
            </a:r>
            <a:r>
              <a:rPr sz="2400" spc="5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byte</a:t>
            </a:r>
            <a:r>
              <a:rPr sz="2400" spc="5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(2</a:t>
            </a:r>
            <a:r>
              <a:rPr sz="2400" spc="5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hexadecimal</a:t>
            </a:r>
            <a:r>
              <a:rPr sz="2400" spc="5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digits)</a:t>
            </a:r>
            <a:r>
              <a:rPr sz="2400" spc="5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 	</a:t>
            </a:r>
            <a:r>
              <a:rPr sz="2400" dirty="0">
                <a:latin typeface="Times New Roman"/>
                <a:cs typeface="Times New Roman"/>
              </a:rPr>
              <a:t>separated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 a</a:t>
            </a:r>
            <a:r>
              <a:rPr sz="2400" spc="-10" dirty="0">
                <a:latin typeface="Times New Roman"/>
                <a:cs typeface="Times New Roman"/>
              </a:rPr>
              <a:t> colon</a:t>
            </a:r>
            <a:endParaRPr sz="2400">
              <a:latin typeface="Times New Roman"/>
              <a:cs typeface="Times New Roman"/>
            </a:endParaRPr>
          </a:p>
          <a:p>
            <a:pPr marL="353060" indent="-340360" algn="just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  <a:p>
            <a:pPr marL="225425" algn="ctr">
              <a:lnSpc>
                <a:spcPct val="100000"/>
              </a:lnSpc>
              <a:spcBef>
                <a:spcPts val="65"/>
              </a:spcBef>
            </a:pP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07:01:02:01:2C:4B</a:t>
            </a:r>
            <a:endParaRPr sz="1800">
              <a:latin typeface="Times New Roman"/>
              <a:cs typeface="Times New Roman"/>
            </a:endParaRPr>
          </a:p>
          <a:p>
            <a:pPr marL="223520" algn="ctr">
              <a:lnSpc>
                <a:spcPct val="100000"/>
              </a:lnSpc>
            </a:pPr>
            <a:r>
              <a:rPr sz="1800" spc="-20" dirty="0">
                <a:latin typeface="Times New Roman"/>
                <a:cs typeface="Times New Roman"/>
              </a:rPr>
              <a:t>A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6-</a:t>
            </a:r>
            <a:r>
              <a:rPr sz="1800" dirty="0">
                <a:latin typeface="Times New Roman"/>
                <a:cs typeface="Times New Roman"/>
              </a:rPr>
              <a:t>byte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(12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hexadecimal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digits)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physical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address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Addressing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1070228"/>
            <a:ext cx="8529955" cy="7499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50520" marR="5080" indent="-338455">
              <a:lnSpc>
                <a:spcPts val="2820"/>
              </a:lnSpc>
              <a:spcBef>
                <a:spcPts val="240"/>
              </a:spcBef>
              <a:buFont typeface="Arial MT"/>
              <a:buChar char="•"/>
              <a:tabLst>
                <a:tab pos="350520" algn="l"/>
                <a:tab pos="984885" algn="l"/>
                <a:tab pos="2158365" algn="l"/>
                <a:tab pos="3484879" algn="l"/>
                <a:tab pos="4117340" algn="l"/>
                <a:tab pos="5139690" algn="l"/>
                <a:tab pos="5889625" algn="l"/>
                <a:tab pos="6506845" algn="l"/>
                <a:tab pos="6904990" algn="l"/>
                <a:tab pos="7597140" algn="l"/>
                <a:tab pos="8143875" algn="l"/>
              </a:tabLst>
            </a:pP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physical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addresses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will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change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from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hop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hop,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but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logical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addresses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remain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same.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Addressing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287" rIns="0" bIns="0" rtlCol="0">
            <a:spAutoFit/>
          </a:bodyPr>
          <a:lstStyle/>
          <a:p>
            <a:pPr marL="350520" marR="5080" indent="-338455">
              <a:lnSpc>
                <a:spcPts val="2820"/>
              </a:lnSpc>
              <a:spcBef>
                <a:spcPts val="240"/>
              </a:spcBef>
              <a:buFont typeface="Arial MT"/>
              <a:buChar char="•"/>
              <a:tabLst>
                <a:tab pos="350520" algn="l"/>
                <a:tab pos="711835" algn="l"/>
                <a:tab pos="1362710" algn="l"/>
                <a:tab pos="2435860" algn="l"/>
                <a:tab pos="2798445" algn="l"/>
                <a:tab pos="3093085" algn="l"/>
                <a:tab pos="3977004" algn="l"/>
                <a:tab pos="4979670" algn="l"/>
                <a:tab pos="6054090" algn="l"/>
                <a:tab pos="7615555" algn="l"/>
                <a:tab pos="8077200" algn="l"/>
              </a:tabLst>
            </a:pPr>
            <a:r>
              <a:rPr spc="-50" dirty="0"/>
              <a:t>A</a:t>
            </a:r>
            <a:r>
              <a:rPr dirty="0"/>
              <a:t>	</a:t>
            </a:r>
            <a:r>
              <a:rPr spc="-20" dirty="0"/>
              <a:t>port</a:t>
            </a:r>
            <a:r>
              <a:rPr dirty="0"/>
              <a:t>	</a:t>
            </a:r>
            <a:r>
              <a:rPr spc="-10" dirty="0"/>
              <a:t>address</a:t>
            </a:r>
            <a:r>
              <a:rPr dirty="0"/>
              <a:t>	</a:t>
            </a:r>
            <a:r>
              <a:rPr spc="-25" dirty="0"/>
              <a:t>is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</a:t>
            </a:r>
            <a:r>
              <a:rPr spc="-10" dirty="0"/>
              <a:t>16-</a:t>
            </a:r>
            <a:r>
              <a:rPr spc="-25" dirty="0"/>
              <a:t>bit</a:t>
            </a:r>
            <a:r>
              <a:rPr dirty="0"/>
              <a:t>	</a:t>
            </a:r>
            <a:r>
              <a:rPr spc="-10" dirty="0"/>
              <a:t>integer</a:t>
            </a:r>
            <a:r>
              <a:rPr dirty="0"/>
              <a:t>	</a:t>
            </a:r>
            <a:r>
              <a:rPr spc="-10" dirty="0"/>
              <a:t>address</a:t>
            </a:r>
            <a:r>
              <a:rPr dirty="0"/>
              <a:t>	</a:t>
            </a:r>
            <a:r>
              <a:rPr spc="-10" dirty="0"/>
              <a:t>represented</a:t>
            </a:r>
            <a:r>
              <a:rPr dirty="0"/>
              <a:t>	</a:t>
            </a:r>
            <a:r>
              <a:rPr spc="-25" dirty="0"/>
              <a:t>by</a:t>
            </a:r>
            <a:r>
              <a:rPr dirty="0"/>
              <a:t>	</a:t>
            </a:r>
            <a:r>
              <a:rPr spc="-25" dirty="0"/>
              <a:t>one </a:t>
            </a:r>
            <a:r>
              <a:rPr dirty="0"/>
              <a:t>decimal</a:t>
            </a:r>
            <a:r>
              <a:rPr spc="-45" dirty="0"/>
              <a:t> </a:t>
            </a:r>
            <a:r>
              <a:rPr spc="-10" dirty="0"/>
              <a:t>number</a:t>
            </a:r>
          </a:p>
          <a:p>
            <a:pPr marL="350520" marR="5715" indent="-338455">
              <a:lnSpc>
                <a:spcPts val="2820"/>
              </a:lnSpc>
              <a:spcBef>
                <a:spcPts val="630"/>
              </a:spcBef>
              <a:buFont typeface="Arial MT"/>
              <a:buChar char="•"/>
              <a:tabLst>
                <a:tab pos="350520" algn="l"/>
              </a:tabLst>
            </a:pPr>
            <a:r>
              <a:rPr dirty="0"/>
              <a:t>This</a:t>
            </a:r>
            <a:r>
              <a:rPr spc="45" dirty="0"/>
              <a:t> </a:t>
            </a:r>
            <a:r>
              <a:rPr dirty="0"/>
              <a:t>number</a:t>
            </a:r>
            <a:r>
              <a:rPr spc="40" dirty="0"/>
              <a:t> </a:t>
            </a:r>
            <a:r>
              <a:rPr dirty="0"/>
              <a:t>is</a:t>
            </a:r>
            <a:r>
              <a:rPr spc="45" dirty="0"/>
              <a:t> </a:t>
            </a:r>
            <a:r>
              <a:rPr dirty="0"/>
              <a:t>assigned</a:t>
            </a:r>
            <a:r>
              <a:rPr spc="40" dirty="0"/>
              <a:t> </a:t>
            </a:r>
            <a:r>
              <a:rPr dirty="0"/>
              <a:t>automatically</a:t>
            </a:r>
            <a:r>
              <a:rPr spc="50" dirty="0"/>
              <a:t> </a:t>
            </a:r>
            <a:r>
              <a:rPr dirty="0"/>
              <a:t>by</a:t>
            </a:r>
            <a:r>
              <a:rPr spc="45" dirty="0"/>
              <a:t> </a:t>
            </a:r>
            <a:r>
              <a:rPr dirty="0"/>
              <a:t>the</a:t>
            </a:r>
            <a:r>
              <a:rPr spc="45" dirty="0"/>
              <a:t> </a:t>
            </a:r>
            <a:r>
              <a:rPr dirty="0"/>
              <a:t>OS,</a:t>
            </a:r>
            <a:r>
              <a:rPr spc="40" dirty="0"/>
              <a:t> </a:t>
            </a:r>
            <a:r>
              <a:rPr dirty="0"/>
              <a:t>manually</a:t>
            </a:r>
            <a:r>
              <a:rPr spc="5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25" dirty="0"/>
              <a:t>the </a:t>
            </a:r>
            <a:r>
              <a:rPr dirty="0"/>
              <a:t>user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set</a:t>
            </a:r>
            <a:r>
              <a:rPr spc="-20" dirty="0"/>
              <a:t> </a:t>
            </a:r>
            <a:r>
              <a:rPr dirty="0"/>
              <a:t>as</a:t>
            </a:r>
            <a:r>
              <a:rPr spc="-2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default</a:t>
            </a:r>
            <a:r>
              <a:rPr spc="-40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dirty="0"/>
              <a:t>some</a:t>
            </a:r>
            <a:r>
              <a:rPr spc="-5" dirty="0"/>
              <a:t> </a:t>
            </a:r>
            <a:r>
              <a:rPr dirty="0"/>
              <a:t>popular</a:t>
            </a:r>
            <a:r>
              <a:rPr spc="-45" dirty="0"/>
              <a:t> </a:t>
            </a:r>
            <a:r>
              <a:rPr spc="-10" dirty="0"/>
              <a:t>applications.</a:t>
            </a:r>
          </a:p>
          <a:p>
            <a:pPr marL="350520" indent="-337820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350520" algn="l"/>
              </a:tabLst>
            </a:pPr>
            <a:r>
              <a:rPr spc="-25" dirty="0"/>
              <a:t>Eg:</a:t>
            </a:r>
          </a:p>
          <a:p>
            <a:pPr marL="281940" algn="ctr">
              <a:lnSpc>
                <a:spcPct val="100000"/>
              </a:lnSpc>
              <a:spcBef>
                <a:spcPts val="2080"/>
              </a:spcBef>
            </a:pPr>
            <a:r>
              <a:rPr sz="1800" dirty="0">
                <a:solidFill>
                  <a:srgbClr val="FF0000"/>
                </a:solidFill>
              </a:rPr>
              <a:t>753,</a:t>
            </a:r>
            <a:r>
              <a:rPr sz="1800" spc="-15" dirty="0">
                <a:solidFill>
                  <a:srgbClr val="FF0000"/>
                </a:solidFill>
              </a:rPr>
              <a:t> </a:t>
            </a:r>
            <a:r>
              <a:rPr sz="1800" dirty="0">
                <a:solidFill>
                  <a:srgbClr val="FF0000"/>
                </a:solidFill>
              </a:rPr>
              <a:t>443,</a:t>
            </a:r>
            <a:r>
              <a:rPr sz="1800" spc="-15" dirty="0">
                <a:solidFill>
                  <a:srgbClr val="FF0000"/>
                </a:solidFill>
              </a:rPr>
              <a:t> </a:t>
            </a:r>
            <a:r>
              <a:rPr sz="1800" dirty="0">
                <a:solidFill>
                  <a:srgbClr val="FF0000"/>
                </a:solidFill>
              </a:rPr>
              <a:t>8080,</a:t>
            </a:r>
            <a:r>
              <a:rPr sz="1800" spc="5" dirty="0">
                <a:solidFill>
                  <a:srgbClr val="FF0000"/>
                </a:solidFill>
              </a:rPr>
              <a:t> </a:t>
            </a:r>
            <a:r>
              <a:rPr sz="1800" spc="-25" dirty="0">
                <a:solidFill>
                  <a:srgbClr val="FF0000"/>
                </a:solidFill>
              </a:rPr>
              <a:t>etc</a:t>
            </a:r>
            <a:endParaRPr sz="1800"/>
          </a:p>
          <a:p>
            <a:pPr marL="281305" algn="ctr">
              <a:lnSpc>
                <a:spcPct val="100000"/>
              </a:lnSpc>
            </a:pPr>
            <a:r>
              <a:rPr sz="1800" spc="-20" dirty="0"/>
              <a:t>A</a:t>
            </a:r>
            <a:r>
              <a:rPr sz="1800" spc="-125" dirty="0"/>
              <a:t> </a:t>
            </a:r>
            <a:r>
              <a:rPr sz="1800" spc="-10" dirty="0"/>
              <a:t>16-</a:t>
            </a:r>
            <a:r>
              <a:rPr sz="1800" dirty="0"/>
              <a:t>bit</a:t>
            </a:r>
            <a:r>
              <a:rPr sz="1800" spc="-50" dirty="0"/>
              <a:t> </a:t>
            </a:r>
            <a:r>
              <a:rPr sz="1800" dirty="0"/>
              <a:t>port</a:t>
            </a:r>
            <a:r>
              <a:rPr sz="1800" spc="-40" dirty="0"/>
              <a:t> </a:t>
            </a:r>
            <a:r>
              <a:rPr sz="1800" dirty="0"/>
              <a:t>address</a:t>
            </a:r>
            <a:r>
              <a:rPr sz="1800" spc="-45" dirty="0"/>
              <a:t> </a:t>
            </a:r>
            <a:r>
              <a:rPr sz="1800" dirty="0"/>
              <a:t>represented</a:t>
            </a:r>
            <a:r>
              <a:rPr sz="1800" spc="-60" dirty="0"/>
              <a:t> </a:t>
            </a:r>
            <a:r>
              <a:rPr sz="1800" dirty="0"/>
              <a:t>as</a:t>
            </a:r>
            <a:r>
              <a:rPr sz="1800" spc="-20" dirty="0"/>
              <a:t> </a:t>
            </a:r>
            <a:r>
              <a:rPr sz="1800" dirty="0"/>
              <a:t>one</a:t>
            </a:r>
            <a:r>
              <a:rPr sz="1800" spc="-45" dirty="0"/>
              <a:t> </a:t>
            </a:r>
            <a:r>
              <a:rPr sz="1800" dirty="0"/>
              <a:t>single</a:t>
            </a:r>
            <a:r>
              <a:rPr sz="1800" spc="-10" dirty="0"/>
              <a:t> </a:t>
            </a:r>
            <a:r>
              <a:rPr sz="1800" dirty="0"/>
              <a:t>decimal</a:t>
            </a:r>
            <a:r>
              <a:rPr sz="1800" spc="-45" dirty="0"/>
              <a:t> </a:t>
            </a:r>
            <a:r>
              <a:rPr sz="1800" spc="-10" dirty="0"/>
              <a:t>number</a:t>
            </a:r>
            <a:endParaRPr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Addressing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1009269"/>
            <a:ext cx="35121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Notable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well-</a:t>
            </a:r>
            <a:r>
              <a:rPr sz="2000" dirty="0">
                <a:latin typeface="Times New Roman"/>
                <a:cs typeface="Times New Roman"/>
              </a:rPr>
              <a:t>known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port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numbers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88290" y="1353925"/>
          <a:ext cx="7425055" cy="3049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91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910">
                <a:tc>
                  <a:txBody>
                    <a:bodyPr/>
                    <a:lstStyle/>
                    <a:p>
                      <a:pPr marL="31750">
                        <a:lnSpc>
                          <a:spcPts val="2215"/>
                        </a:lnSpc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•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ts val="2215"/>
                        </a:lnSpc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ts val="221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File</a:t>
                      </a:r>
                      <a:r>
                        <a:rPr sz="20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Protocol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(FTP)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Transfer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05">
                <a:tc>
                  <a:txBody>
                    <a:bodyPr/>
                    <a:lstStyle/>
                    <a:p>
                      <a:pPr marL="31750">
                        <a:lnSpc>
                          <a:spcPts val="2300"/>
                        </a:lnSpc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•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ts val="2300"/>
                        </a:lnSpc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21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ts val="230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File</a:t>
                      </a:r>
                      <a:r>
                        <a:rPr sz="20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2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Protocol</a:t>
                      </a:r>
                      <a:r>
                        <a:rPr sz="2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(FTP)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Command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Control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pPr marL="31750">
                        <a:lnSpc>
                          <a:spcPts val="2300"/>
                        </a:lnSpc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•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ts val="2300"/>
                        </a:lnSpc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22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ts val="230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Secure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Shell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(SSH)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Secure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Login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705">
                <a:tc>
                  <a:txBody>
                    <a:bodyPr/>
                    <a:lstStyle/>
                    <a:p>
                      <a:pPr marL="31750">
                        <a:lnSpc>
                          <a:spcPts val="2300"/>
                        </a:lnSpc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•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ts val="2300"/>
                        </a:lnSpc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ts val="230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Simple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Mail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2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Protocol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(SMTP)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E-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mail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routing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pPr marL="31750">
                        <a:lnSpc>
                          <a:spcPts val="2300"/>
                        </a:lnSpc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•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ts val="2300"/>
                        </a:lnSpc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53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ts val="230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Domain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2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(DNS)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service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pPr marL="31750">
                        <a:lnSpc>
                          <a:spcPts val="2300"/>
                        </a:lnSpc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•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ts val="230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67,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68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ts val="230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Dynamic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Host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Configuration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Protocol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(DHCP)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705">
                <a:tc>
                  <a:txBody>
                    <a:bodyPr/>
                    <a:lstStyle/>
                    <a:p>
                      <a:pPr marL="31750">
                        <a:lnSpc>
                          <a:spcPts val="2300"/>
                        </a:lnSpc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•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ts val="2300"/>
                        </a:lnSpc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80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ts val="230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Hypertext</a:t>
                      </a:r>
                      <a:r>
                        <a:rPr sz="200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20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Protocol</a:t>
                      </a:r>
                      <a:r>
                        <a:rPr sz="20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(HTTP)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705">
                <a:tc>
                  <a:txBody>
                    <a:bodyPr/>
                    <a:lstStyle/>
                    <a:p>
                      <a:pPr marL="31750">
                        <a:lnSpc>
                          <a:spcPts val="2295"/>
                        </a:lnSpc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•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ts val="2295"/>
                        </a:lnSpc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110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ts val="229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Post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Office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Protocol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(POP3)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•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ts val="2305"/>
                        </a:lnSpc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161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ts val="2305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Simple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Management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Protocol</a:t>
                      </a:r>
                      <a:r>
                        <a:rPr sz="20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(SNMP)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6545">
                <a:tc>
                  <a:txBody>
                    <a:bodyPr/>
                    <a:lstStyle/>
                    <a:p>
                      <a:pPr marL="31750">
                        <a:lnSpc>
                          <a:spcPts val="2235"/>
                        </a:lnSpc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•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ts val="2235"/>
                        </a:lnSpc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443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ts val="2235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HTTP</a:t>
                      </a:r>
                      <a:r>
                        <a:rPr sz="20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Secure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(HTTPS)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HTTP</a:t>
                      </a:r>
                      <a:r>
                        <a:rPr sz="20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over</a:t>
                      </a:r>
                      <a:r>
                        <a:rPr sz="20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TLS/SSL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Analog</a:t>
            </a:r>
            <a:r>
              <a:rPr spc="-6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Digital</a:t>
            </a:r>
            <a:r>
              <a:rPr spc="-30" dirty="0"/>
              <a:t> </a:t>
            </a:r>
            <a:r>
              <a:rPr spc="-20" dirty="0"/>
              <a:t>data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8589"/>
            <a:ext cx="7310120" cy="131572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 analog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digital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Analog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continuous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takes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continuous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values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Digital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discrete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takes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discrete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values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6350" y="4948234"/>
            <a:ext cx="9155430" cy="193040"/>
            <a:chOff x="-6350" y="4948234"/>
            <a:chExt cx="9155430" cy="193040"/>
          </a:xfrm>
        </p:grpSpPr>
        <p:sp>
          <p:nvSpPr>
            <p:cNvPr id="4" name="object 4"/>
            <p:cNvSpPr/>
            <p:nvPr/>
          </p:nvSpPr>
          <p:spPr>
            <a:xfrm>
              <a:off x="0" y="4954584"/>
              <a:ext cx="9142730" cy="180340"/>
            </a:xfrm>
            <a:custGeom>
              <a:avLst/>
              <a:gdLst/>
              <a:ahLst/>
              <a:cxnLst/>
              <a:rect l="l" t="t" r="r" b="b"/>
              <a:pathLst>
                <a:path w="9142730" h="180339">
                  <a:moveTo>
                    <a:pt x="9142188" y="0"/>
                  </a:moveTo>
                  <a:lnTo>
                    <a:pt x="0" y="0"/>
                  </a:lnTo>
                  <a:lnTo>
                    <a:pt x="0" y="179997"/>
                  </a:lnTo>
                  <a:lnTo>
                    <a:pt x="9142188" y="179997"/>
                  </a:lnTo>
                  <a:lnTo>
                    <a:pt x="914218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954584"/>
              <a:ext cx="9142730" cy="180340"/>
            </a:xfrm>
            <a:custGeom>
              <a:avLst/>
              <a:gdLst/>
              <a:ahLst/>
              <a:cxnLst/>
              <a:rect l="l" t="t" r="r" b="b"/>
              <a:pathLst>
                <a:path w="9142730" h="180339">
                  <a:moveTo>
                    <a:pt x="0" y="179997"/>
                  </a:moveTo>
                  <a:lnTo>
                    <a:pt x="9142188" y="179997"/>
                  </a:lnTo>
                  <a:lnTo>
                    <a:pt x="9142188" y="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089910" y="2337638"/>
            <a:ext cx="2988310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b="1" cap="small" spc="-100" dirty="0">
                <a:latin typeface="Times New Roman"/>
                <a:cs typeface="Times New Roman"/>
              </a:rPr>
              <a:t>Data</a:t>
            </a:r>
            <a:r>
              <a:rPr sz="2900" b="1" cap="small" spc="-145" dirty="0">
                <a:latin typeface="Times New Roman"/>
                <a:cs typeface="Times New Roman"/>
              </a:rPr>
              <a:t> </a:t>
            </a:r>
            <a:r>
              <a:rPr sz="2900" b="1" cap="small" dirty="0">
                <a:latin typeface="Times New Roman"/>
                <a:cs typeface="Times New Roman"/>
              </a:rPr>
              <a:t>and</a:t>
            </a:r>
            <a:r>
              <a:rPr sz="2900" b="1" cap="small" spc="165" dirty="0">
                <a:latin typeface="Times New Roman"/>
                <a:cs typeface="Times New Roman"/>
              </a:rPr>
              <a:t> </a:t>
            </a:r>
            <a:r>
              <a:rPr sz="2900" b="1" cap="small" spc="-50" dirty="0">
                <a:latin typeface="Times New Roman"/>
                <a:cs typeface="Times New Roman"/>
              </a:rPr>
              <a:t>Signals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Analog</a:t>
            </a:r>
            <a:r>
              <a:rPr spc="-6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Digital</a:t>
            </a:r>
            <a:r>
              <a:rPr spc="-30" dirty="0"/>
              <a:t> </a:t>
            </a:r>
            <a:r>
              <a:rPr spc="-10" dirty="0"/>
              <a:t>signal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8589"/>
            <a:ext cx="8115934" cy="131572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Signals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analog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digital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Analog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infinite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range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Digital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only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limited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10" dirty="0">
                <a:latin typeface="Times New Roman"/>
                <a:cs typeface="Times New Roman"/>
              </a:rPr>
              <a:t>values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44677" y="2459151"/>
            <a:ext cx="8370570" cy="2373630"/>
            <a:chOff x="544677" y="2459151"/>
            <a:chExt cx="8370570" cy="237363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4677" y="2495499"/>
              <a:ext cx="3679571" cy="233641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4973" y="3327465"/>
              <a:ext cx="2325661" cy="9626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76622" y="2459151"/>
              <a:ext cx="4438396" cy="237312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097522" y="2844677"/>
              <a:ext cx="2835275" cy="1603375"/>
            </a:xfrm>
            <a:custGeom>
              <a:avLst/>
              <a:gdLst/>
              <a:ahLst/>
              <a:cxnLst/>
              <a:rect l="l" t="t" r="r" b="b"/>
              <a:pathLst>
                <a:path w="2835275" h="1603375">
                  <a:moveTo>
                    <a:pt x="2437690" y="1033394"/>
                  </a:moveTo>
                  <a:lnTo>
                    <a:pt x="2437690" y="1579312"/>
                  </a:lnTo>
                  <a:lnTo>
                    <a:pt x="2461688" y="1603309"/>
                  </a:lnTo>
                  <a:lnTo>
                    <a:pt x="2811230" y="1603309"/>
                  </a:lnTo>
                  <a:lnTo>
                    <a:pt x="2835228" y="1579312"/>
                  </a:lnTo>
                  <a:lnTo>
                    <a:pt x="2485686" y="1579312"/>
                  </a:lnTo>
                  <a:lnTo>
                    <a:pt x="2461688" y="1555315"/>
                  </a:lnTo>
                  <a:lnTo>
                    <a:pt x="2485686" y="1555315"/>
                  </a:lnTo>
                  <a:lnTo>
                    <a:pt x="2485686" y="1057387"/>
                  </a:lnTo>
                  <a:lnTo>
                    <a:pt x="2461688" y="1057387"/>
                  </a:lnTo>
                  <a:lnTo>
                    <a:pt x="2437690" y="1033394"/>
                  </a:lnTo>
                  <a:close/>
                </a:path>
                <a:path w="2835275" h="1603375">
                  <a:moveTo>
                    <a:pt x="2485686" y="1555315"/>
                  </a:moveTo>
                  <a:lnTo>
                    <a:pt x="2461688" y="1555315"/>
                  </a:lnTo>
                  <a:lnTo>
                    <a:pt x="2485686" y="1579312"/>
                  </a:lnTo>
                  <a:lnTo>
                    <a:pt x="2485686" y="1555315"/>
                  </a:lnTo>
                  <a:close/>
                </a:path>
                <a:path w="2835275" h="1603375">
                  <a:moveTo>
                    <a:pt x="2787232" y="1555315"/>
                  </a:moveTo>
                  <a:lnTo>
                    <a:pt x="2485686" y="1555315"/>
                  </a:lnTo>
                  <a:lnTo>
                    <a:pt x="2485686" y="1579312"/>
                  </a:lnTo>
                  <a:lnTo>
                    <a:pt x="2787232" y="1579312"/>
                  </a:lnTo>
                  <a:lnTo>
                    <a:pt x="2787232" y="1555315"/>
                  </a:lnTo>
                  <a:close/>
                </a:path>
                <a:path w="2835275" h="1603375">
                  <a:moveTo>
                    <a:pt x="2835228" y="1040885"/>
                  </a:moveTo>
                  <a:lnTo>
                    <a:pt x="2787232" y="1040885"/>
                  </a:lnTo>
                  <a:lnTo>
                    <a:pt x="2787232" y="1579312"/>
                  </a:lnTo>
                  <a:lnTo>
                    <a:pt x="2811230" y="1555315"/>
                  </a:lnTo>
                  <a:lnTo>
                    <a:pt x="2835228" y="1555315"/>
                  </a:lnTo>
                  <a:lnTo>
                    <a:pt x="2835228" y="1040885"/>
                  </a:lnTo>
                  <a:close/>
                </a:path>
                <a:path w="2835275" h="1603375">
                  <a:moveTo>
                    <a:pt x="2835228" y="1555315"/>
                  </a:moveTo>
                  <a:lnTo>
                    <a:pt x="2811230" y="1555315"/>
                  </a:lnTo>
                  <a:lnTo>
                    <a:pt x="2787232" y="1579312"/>
                  </a:lnTo>
                  <a:lnTo>
                    <a:pt x="2835228" y="1579312"/>
                  </a:lnTo>
                  <a:lnTo>
                    <a:pt x="2835228" y="1555315"/>
                  </a:lnTo>
                  <a:close/>
                </a:path>
                <a:path w="2835275" h="1603375">
                  <a:moveTo>
                    <a:pt x="298521" y="397463"/>
                  </a:moveTo>
                  <a:lnTo>
                    <a:pt x="298521" y="1033394"/>
                  </a:lnTo>
                  <a:lnTo>
                    <a:pt x="322525" y="1057387"/>
                  </a:lnTo>
                  <a:lnTo>
                    <a:pt x="717066" y="1057387"/>
                  </a:lnTo>
                  <a:lnTo>
                    <a:pt x="741064" y="1033394"/>
                  </a:lnTo>
                  <a:lnTo>
                    <a:pt x="346528" y="1033394"/>
                  </a:lnTo>
                  <a:lnTo>
                    <a:pt x="322525" y="1009400"/>
                  </a:lnTo>
                  <a:lnTo>
                    <a:pt x="346528" y="1009400"/>
                  </a:lnTo>
                  <a:lnTo>
                    <a:pt x="346528" y="421456"/>
                  </a:lnTo>
                  <a:lnTo>
                    <a:pt x="322525" y="421456"/>
                  </a:lnTo>
                  <a:lnTo>
                    <a:pt x="298521" y="397463"/>
                  </a:lnTo>
                  <a:close/>
                </a:path>
                <a:path w="2835275" h="1603375">
                  <a:moveTo>
                    <a:pt x="1386127" y="23942"/>
                  </a:moveTo>
                  <a:lnTo>
                    <a:pt x="1384644" y="1009400"/>
                  </a:lnTo>
                  <a:lnTo>
                    <a:pt x="1384659" y="1033394"/>
                  </a:lnTo>
                  <a:lnTo>
                    <a:pt x="1408606" y="1057387"/>
                  </a:lnTo>
                  <a:lnTo>
                    <a:pt x="2437690" y="1057387"/>
                  </a:lnTo>
                  <a:lnTo>
                    <a:pt x="2437690" y="1033394"/>
                  </a:lnTo>
                  <a:lnTo>
                    <a:pt x="1432604" y="1033394"/>
                  </a:lnTo>
                  <a:lnTo>
                    <a:pt x="1408606" y="1009400"/>
                  </a:lnTo>
                  <a:lnTo>
                    <a:pt x="1432641" y="1009400"/>
                  </a:lnTo>
                  <a:lnTo>
                    <a:pt x="1434087" y="47987"/>
                  </a:lnTo>
                  <a:lnTo>
                    <a:pt x="1410125" y="47987"/>
                  </a:lnTo>
                  <a:lnTo>
                    <a:pt x="1386127" y="23942"/>
                  </a:lnTo>
                  <a:close/>
                </a:path>
                <a:path w="2835275" h="1603375">
                  <a:moveTo>
                    <a:pt x="2461688" y="1009400"/>
                  </a:moveTo>
                  <a:lnTo>
                    <a:pt x="1432641" y="1009400"/>
                  </a:lnTo>
                  <a:lnTo>
                    <a:pt x="1432604" y="1033394"/>
                  </a:lnTo>
                  <a:lnTo>
                    <a:pt x="2437690" y="1033394"/>
                  </a:lnTo>
                  <a:lnTo>
                    <a:pt x="2461688" y="1057387"/>
                  </a:lnTo>
                  <a:lnTo>
                    <a:pt x="2485686" y="1057387"/>
                  </a:lnTo>
                  <a:lnTo>
                    <a:pt x="2485636" y="1033343"/>
                  </a:lnTo>
                  <a:lnTo>
                    <a:pt x="2461688" y="1009400"/>
                  </a:lnTo>
                  <a:close/>
                </a:path>
                <a:path w="2835275" h="1603375">
                  <a:moveTo>
                    <a:pt x="346528" y="1009400"/>
                  </a:moveTo>
                  <a:lnTo>
                    <a:pt x="322525" y="1009400"/>
                  </a:lnTo>
                  <a:lnTo>
                    <a:pt x="346528" y="1033394"/>
                  </a:lnTo>
                  <a:lnTo>
                    <a:pt x="346528" y="1009400"/>
                  </a:lnTo>
                  <a:close/>
                </a:path>
                <a:path w="2835275" h="1603375">
                  <a:moveTo>
                    <a:pt x="693068" y="1009400"/>
                  </a:moveTo>
                  <a:lnTo>
                    <a:pt x="346528" y="1009400"/>
                  </a:lnTo>
                  <a:lnTo>
                    <a:pt x="346528" y="1033394"/>
                  </a:lnTo>
                  <a:lnTo>
                    <a:pt x="693068" y="1033394"/>
                  </a:lnTo>
                  <a:lnTo>
                    <a:pt x="693068" y="1009400"/>
                  </a:lnTo>
                  <a:close/>
                </a:path>
                <a:path w="2835275" h="1603375">
                  <a:moveTo>
                    <a:pt x="1410125" y="0"/>
                  </a:moveTo>
                  <a:lnTo>
                    <a:pt x="717066" y="0"/>
                  </a:lnTo>
                  <a:lnTo>
                    <a:pt x="693118" y="23942"/>
                  </a:lnTo>
                  <a:lnTo>
                    <a:pt x="693068" y="1033394"/>
                  </a:lnTo>
                  <a:lnTo>
                    <a:pt x="717066" y="1009400"/>
                  </a:lnTo>
                  <a:lnTo>
                    <a:pt x="741064" y="1009400"/>
                  </a:lnTo>
                  <a:lnTo>
                    <a:pt x="741064" y="47987"/>
                  </a:lnTo>
                  <a:lnTo>
                    <a:pt x="717066" y="47987"/>
                  </a:lnTo>
                  <a:lnTo>
                    <a:pt x="741064" y="23993"/>
                  </a:lnTo>
                  <a:lnTo>
                    <a:pt x="1386127" y="23993"/>
                  </a:lnTo>
                  <a:lnTo>
                    <a:pt x="1434022" y="23942"/>
                  </a:lnTo>
                  <a:lnTo>
                    <a:pt x="1410125" y="0"/>
                  </a:lnTo>
                  <a:close/>
                </a:path>
                <a:path w="2835275" h="1603375">
                  <a:moveTo>
                    <a:pt x="741064" y="1009400"/>
                  </a:moveTo>
                  <a:lnTo>
                    <a:pt x="717066" y="1009400"/>
                  </a:lnTo>
                  <a:lnTo>
                    <a:pt x="693068" y="1033394"/>
                  </a:lnTo>
                  <a:lnTo>
                    <a:pt x="741064" y="1033394"/>
                  </a:lnTo>
                  <a:lnTo>
                    <a:pt x="741064" y="1009400"/>
                  </a:lnTo>
                  <a:close/>
                </a:path>
                <a:path w="2835275" h="1603375">
                  <a:moveTo>
                    <a:pt x="1432641" y="1009400"/>
                  </a:moveTo>
                  <a:lnTo>
                    <a:pt x="1408606" y="1009400"/>
                  </a:lnTo>
                  <a:lnTo>
                    <a:pt x="1432604" y="1033394"/>
                  </a:lnTo>
                  <a:lnTo>
                    <a:pt x="1432641" y="1009400"/>
                  </a:lnTo>
                  <a:close/>
                </a:path>
                <a:path w="2835275" h="1603375">
                  <a:moveTo>
                    <a:pt x="322525" y="373469"/>
                  </a:moveTo>
                  <a:lnTo>
                    <a:pt x="0" y="373469"/>
                  </a:lnTo>
                  <a:lnTo>
                    <a:pt x="0" y="421456"/>
                  </a:lnTo>
                  <a:lnTo>
                    <a:pt x="298521" y="421456"/>
                  </a:lnTo>
                  <a:lnTo>
                    <a:pt x="298521" y="397463"/>
                  </a:lnTo>
                  <a:lnTo>
                    <a:pt x="346528" y="397463"/>
                  </a:lnTo>
                  <a:lnTo>
                    <a:pt x="322525" y="373469"/>
                  </a:lnTo>
                  <a:close/>
                </a:path>
                <a:path w="2835275" h="1603375">
                  <a:moveTo>
                    <a:pt x="346528" y="397463"/>
                  </a:moveTo>
                  <a:lnTo>
                    <a:pt x="298521" y="397463"/>
                  </a:lnTo>
                  <a:lnTo>
                    <a:pt x="322525" y="421456"/>
                  </a:lnTo>
                  <a:lnTo>
                    <a:pt x="346528" y="421456"/>
                  </a:lnTo>
                  <a:lnTo>
                    <a:pt x="346528" y="397463"/>
                  </a:lnTo>
                  <a:close/>
                </a:path>
                <a:path w="2835275" h="1603375">
                  <a:moveTo>
                    <a:pt x="741064" y="23993"/>
                  </a:moveTo>
                  <a:lnTo>
                    <a:pt x="717066" y="47987"/>
                  </a:lnTo>
                  <a:lnTo>
                    <a:pt x="741064" y="47987"/>
                  </a:lnTo>
                  <a:lnTo>
                    <a:pt x="741064" y="23993"/>
                  </a:lnTo>
                  <a:close/>
                </a:path>
                <a:path w="2835275" h="1603375">
                  <a:moveTo>
                    <a:pt x="1386127" y="23993"/>
                  </a:moveTo>
                  <a:lnTo>
                    <a:pt x="741064" y="23993"/>
                  </a:lnTo>
                  <a:lnTo>
                    <a:pt x="741064" y="47987"/>
                  </a:lnTo>
                  <a:lnTo>
                    <a:pt x="1386091" y="47987"/>
                  </a:lnTo>
                  <a:lnTo>
                    <a:pt x="1386127" y="23993"/>
                  </a:lnTo>
                  <a:close/>
                </a:path>
                <a:path w="2835275" h="1603375">
                  <a:moveTo>
                    <a:pt x="1434022" y="23942"/>
                  </a:moveTo>
                  <a:lnTo>
                    <a:pt x="1386127" y="23942"/>
                  </a:lnTo>
                  <a:lnTo>
                    <a:pt x="1410125" y="47987"/>
                  </a:lnTo>
                  <a:lnTo>
                    <a:pt x="1434087" y="47987"/>
                  </a:lnTo>
                  <a:lnTo>
                    <a:pt x="1434022" y="23942"/>
                  </a:lnTo>
                  <a:close/>
                </a:path>
              </a:pathLst>
            </a:custGeom>
            <a:solidFill>
              <a:srgbClr val="EC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pc="-10" dirty="0"/>
              <a:t>Analog</a:t>
            </a:r>
          </a:p>
          <a:p>
            <a:pPr marL="354965" indent="-342265">
              <a:lnSpc>
                <a:spcPts val="2485"/>
              </a:lnSpc>
              <a:spcBef>
                <a:spcPts val="52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b="0" dirty="0">
                <a:latin typeface="Times New Roman"/>
                <a:cs typeface="Times New Roman"/>
              </a:rPr>
              <a:t>Analog</a:t>
            </a:r>
            <a:r>
              <a:rPr sz="2200" b="0" spc="-45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signals</a:t>
            </a:r>
            <a:r>
              <a:rPr sz="2200" b="0" spc="-55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are</a:t>
            </a:r>
            <a:r>
              <a:rPr sz="2200" b="0" spc="-60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difficult</a:t>
            </a:r>
            <a:r>
              <a:rPr sz="2200" b="0" spc="-25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to</a:t>
            </a:r>
            <a:r>
              <a:rPr sz="2200" b="0" spc="-50" dirty="0">
                <a:latin typeface="Times New Roman"/>
                <a:cs typeface="Times New Roman"/>
              </a:rPr>
              <a:t> </a:t>
            </a:r>
            <a:r>
              <a:rPr sz="2200" b="0" spc="-25" dirty="0">
                <a:latin typeface="Times New Roman"/>
                <a:cs typeface="Times New Roman"/>
              </a:rPr>
              <a:t>get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ts val="2485"/>
              </a:lnSpc>
            </a:pPr>
            <a:r>
              <a:rPr sz="2200" b="0" dirty="0">
                <a:latin typeface="Times New Roman"/>
                <a:cs typeface="Times New Roman"/>
              </a:rPr>
              <a:t>analyzed</a:t>
            </a:r>
            <a:r>
              <a:rPr sz="2200" b="0" spc="-65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at</a:t>
            </a:r>
            <a:r>
              <a:rPr sz="2200" b="0" spc="-40" dirty="0">
                <a:latin typeface="Times New Roman"/>
                <a:cs typeface="Times New Roman"/>
              </a:rPr>
              <a:t> </a:t>
            </a:r>
            <a:r>
              <a:rPr sz="2200" b="0" spc="-10" dirty="0">
                <a:latin typeface="Times New Roman"/>
                <a:cs typeface="Times New Roman"/>
              </a:rPr>
              <a:t>first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b="0" dirty="0">
                <a:latin typeface="Times New Roman"/>
                <a:cs typeface="Times New Roman"/>
              </a:rPr>
              <a:t>Analog</a:t>
            </a:r>
            <a:r>
              <a:rPr sz="2200" b="0" spc="-60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signals</a:t>
            </a:r>
            <a:r>
              <a:rPr sz="2200" b="0" spc="-70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are</a:t>
            </a:r>
            <a:r>
              <a:rPr sz="2200" b="0" spc="-45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more</a:t>
            </a:r>
            <a:r>
              <a:rPr sz="2200" b="0" spc="-30" dirty="0">
                <a:latin typeface="Times New Roman"/>
                <a:cs typeface="Times New Roman"/>
              </a:rPr>
              <a:t> </a:t>
            </a:r>
            <a:r>
              <a:rPr sz="2200" b="0" spc="-10" dirty="0">
                <a:latin typeface="Times New Roman"/>
                <a:cs typeface="Times New Roman"/>
              </a:rPr>
              <a:t>accurate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ts val="2485"/>
              </a:lnSpc>
              <a:spcBef>
                <a:spcPts val="290"/>
              </a:spcBef>
              <a:buFont typeface="Arial MT"/>
              <a:buChar char="•"/>
              <a:tabLst>
                <a:tab pos="354965" algn="l"/>
                <a:tab pos="1318895" algn="l"/>
                <a:tab pos="2234565" algn="l"/>
                <a:tab pos="2841625" algn="l"/>
                <a:tab pos="3477260" algn="l"/>
                <a:tab pos="3835400" algn="l"/>
              </a:tabLst>
            </a:pPr>
            <a:r>
              <a:rPr sz="2200" b="0" spc="-10" dirty="0">
                <a:latin typeface="Times New Roman"/>
                <a:cs typeface="Times New Roman"/>
              </a:rPr>
              <a:t>Analog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10" dirty="0">
                <a:latin typeface="Times New Roman"/>
                <a:cs typeface="Times New Roman"/>
              </a:rPr>
              <a:t>signals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20" dirty="0">
                <a:latin typeface="Times New Roman"/>
                <a:cs typeface="Times New Roman"/>
              </a:rPr>
              <a:t>take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20" dirty="0">
                <a:latin typeface="Times New Roman"/>
                <a:cs typeface="Times New Roman"/>
              </a:rPr>
              <a:t>time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25" dirty="0">
                <a:latin typeface="Times New Roman"/>
                <a:cs typeface="Times New Roman"/>
              </a:rPr>
              <a:t>to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25" dirty="0">
                <a:latin typeface="Times New Roman"/>
                <a:cs typeface="Times New Roman"/>
              </a:rPr>
              <a:t>be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ts val="2485"/>
              </a:lnSpc>
            </a:pPr>
            <a:r>
              <a:rPr sz="2200" b="0" spc="-10" dirty="0">
                <a:latin typeface="Times New Roman"/>
                <a:cs typeface="Times New Roman"/>
              </a:rPr>
              <a:t>stored</a:t>
            </a:r>
            <a:endParaRPr sz="2200">
              <a:latin typeface="Times New Roman"/>
              <a:cs typeface="Times New Roman"/>
            </a:endParaRPr>
          </a:p>
          <a:p>
            <a:pPr marL="355600" marR="6985" indent="-342900">
              <a:lnSpc>
                <a:spcPts val="2330"/>
              </a:lnSpc>
              <a:spcBef>
                <a:spcPts val="625"/>
              </a:spcBef>
              <a:buFont typeface="Arial MT"/>
              <a:buChar char="•"/>
              <a:tabLst>
                <a:tab pos="355600" algn="l"/>
                <a:tab pos="1475740" algn="l"/>
                <a:tab pos="2545715" algn="l"/>
                <a:tab pos="3740785" algn="l"/>
              </a:tabLst>
            </a:pPr>
            <a:r>
              <a:rPr sz="2200" b="0" spc="-10" dirty="0">
                <a:latin typeface="Times New Roman"/>
                <a:cs typeface="Times New Roman"/>
              </a:rPr>
              <a:t>Analog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10" dirty="0">
                <a:latin typeface="Times New Roman"/>
                <a:cs typeface="Times New Roman"/>
              </a:rPr>
              <a:t>signals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10" dirty="0">
                <a:latin typeface="Times New Roman"/>
                <a:cs typeface="Times New Roman"/>
              </a:rPr>
              <a:t>produce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25" dirty="0">
                <a:latin typeface="Times New Roman"/>
                <a:cs typeface="Times New Roman"/>
              </a:rPr>
              <a:t>too </a:t>
            </a:r>
            <a:r>
              <a:rPr sz="2200" b="0" dirty="0">
                <a:latin typeface="Times New Roman"/>
                <a:cs typeface="Times New Roman"/>
              </a:rPr>
              <a:t>much</a:t>
            </a:r>
            <a:r>
              <a:rPr sz="2200" b="0" spc="-60" dirty="0">
                <a:latin typeface="Times New Roman"/>
                <a:cs typeface="Times New Roman"/>
              </a:rPr>
              <a:t> </a:t>
            </a:r>
            <a:r>
              <a:rPr sz="2200" b="0" spc="-10" dirty="0">
                <a:latin typeface="Times New Roman"/>
                <a:cs typeface="Times New Roman"/>
              </a:rPr>
              <a:t>noise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ts val="2480"/>
              </a:lnSpc>
              <a:spcBef>
                <a:spcPts val="260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b="0" dirty="0">
                <a:latin typeface="Times New Roman"/>
                <a:cs typeface="Times New Roman"/>
              </a:rPr>
              <a:t>Eg:</a:t>
            </a:r>
            <a:r>
              <a:rPr sz="2200" b="0" spc="130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Human</a:t>
            </a:r>
            <a:r>
              <a:rPr sz="2200" b="0" spc="114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voice,</a:t>
            </a:r>
            <a:r>
              <a:rPr sz="2200" b="0" spc="130" dirty="0">
                <a:latin typeface="Times New Roman"/>
                <a:cs typeface="Times New Roman"/>
              </a:rPr>
              <a:t> </a:t>
            </a:r>
            <a:r>
              <a:rPr sz="2200" b="0" spc="-10" dirty="0">
                <a:latin typeface="Times New Roman"/>
                <a:cs typeface="Times New Roman"/>
              </a:rPr>
              <a:t>Thermometer,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ts val="2480"/>
              </a:lnSpc>
            </a:pPr>
            <a:r>
              <a:rPr sz="2200" b="0" dirty="0">
                <a:latin typeface="Times New Roman"/>
                <a:cs typeface="Times New Roman"/>
              </a:rPr>
              <a:t>Analog</a:t>
            </a:r>
            <a:r>
              <a:rPr sz="2200" b="0" spc="-65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phones</a:t>
            </a:r>
            <a:r>
              <a:rPr sz="2200" b="0" spc="-70" dirty="0">
                <a:latin typeface="Times New Roman"/>
                <a:cs typeface="Times New Roman"/>
              </a:rPr>
              <a:t> </a:t>
            </a:r>
            <a:r>
              <a:rPr sz="2200" b="0" spc="-25" dirty="0">
                <a:latin typeface="Times New Roman"/>
                <a:cs typeface="Times New Roman"/>
              </a:rPr>
              <a:t>etc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24527" y="1188846"/>
            <a:ext cx="906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Digital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ts val="26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1420495" algn="l"/>
                <a:tab pos="2486025" algn="l"/>
                <a:tab pos="3097530" algn="l"/>
                <a:tab pos="3874770" algn="l"/>
              </a:tabLst>
            </a:pPr>
            <a:r>
              <a:rPr spc="-10" dirty="0"/>
              <a:t>Digital</a:t>
            </a:r>
            <a:r>
              <a:rPr dirty="0"/>
              <a:t>	</a:t>
            </a:r>
            <a:r>
              <a:rPr spc="-10" dirty="0"/>
              <a:t>signals</a:t>
            </a:r>
            <a:r>
              <a:rPr dirty="0"/>
              <a:t>	</a:t>
            </a:r>
            <a:r>
              <a:rPr spc="-25" dirty="0"/>
              <a:t>are</a:t>
            </a:r>
            <a:r>
              <a:rPr dirty="0"/>
              <a:t>	</a:t>
            </a:r>
            <a:r>
              <a:rPr spc="-20" dirty="0"/>
              <a:t>easy</a:t>
            </a:r>
            <a:r>
              <a:rPr dirty="0"/>
              <a:t>	</a:t>
            </a:r>
            <a:r>
              <a:rPr spc="-25" dirty="0"/>
              <a:t>to</a:t>
            </a:r>
          </a:p>
          <a:p>
            <a:pPr marL="355600">
              <a:lnSpc>
                <a:spcPts val="2600"/>
              </a:lnSpc>
            </a:pPr>
            <a:r>
              <a:rPr spc="-10" dirty="0"/>
              <a:t>analyze</a:t>
            </a:r>
          </a:p>
          <a:p>
            <a:pPr marL="354965" indent="-34226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Digital</a:t>
            </a:r>
            <a:r>
              <a:rPr spc="-30" dirty="0"/>
              <a:t> </a:t>
            </a:r>
            <a:r>
              <a:rPr dirty="0"/>
              <a:t>signals</a:t>
            </a:r>
            <a:r>
              <a:rPr spc="-25" dirty="0"/>
              <a:t> </a:t>
            </a:r>
            <a:r>
              <a:rPr dirty="0"/>
              <a:t>are</a:t>
            </a:r>
            <a:r>
              <a:rPr spc="-20" dirty="0"/>
              <a:t> </a:t>
            </a:r>
            <a:r>
              <a:rPr dirty="0"/>
              <a:t>less</a:t>
            </a:r>
            <a:r>
              <a:rPr spc="-5" dirty="0"/>
              <a:t> </a:t>
            </a:r>
            <a:r>
              <a:rPr spc="-10" dirty="0"/>
              <a:t>accurate</a:t>
            </a:r>
          </a:p>
          <a:p>
            <a:pPr marL="354965" indent="-342265">
              <a:lnSpc>
                <a:spcPts val="2600"/>
              </a:lnSpc>
              <a:spcBef>
                <a:spcPts val="275"/>
              </a:spcBef>
              <a:buFont typeface="Arial MT"/>
              <a:buChar char="•"/>
              <a:tabLst>
                <a:tab pos="354965" algn="l"/>
                <a:tab pos="1355090" algn="l"/>
                <a:tab pos="2355215" algn="l"/>
                <a:tab pos="2949575" algn="l"/>
                <a:tab pos="3416300" algn="l"/>
              </a:tabLst>
            </a:pPr>
            <a:r>
              <a:rPr spc="-10" dirty="0"/>
              <a:t>Digital</a:t>
            </a:r>
            <a:r>
              <a:rPr dirty="0"/>
              <a:t>	</a:t>
            </a:r>
            <a:r>
              <a:rPr spc="-10" dirty="0"/>
              <a:t>signals</a:t>
            </a:r>
            <a:r>
              <a:rPr dirty="0"/>
              <a:t>	</a:t>
            </a:r>
            <a:r>
              <a:rPr spc="-25" dirty="0"/>
              <a:t>can</a:t>
            </a:r>
            <a:r>
              <a:rPr dirty="0"/>
              <a:t>	</a:t>
            </a:r>
            <a:r>
              <a:rPr spc="-25" dirty="0"/>
              <a:t>be</a:t>
            </a:r>
            <a:r>
              <a:rPr dirty="0"/>
              <a:t>	</a:t>
            </a:r>
            <a:r>
              <a:rPr spc="-10" dirty="0"/>
              <a:t>easily</a:t>
            </a:r>
          </a:p>
          <a:p>
            <a:pPr marL="355600">
              <a:lnSpc>
                <a:spcPts val="2600"/>
              </a:lnSpc>
            </a:pPr>
            <a:r>
              <a:rPr spc="-10" dirty="0"/>
              <a:t>stored</a:t>
            </a:r>
          </a:p>
          <a:p>
            <a:pPr marL="355600" marR="5715" indent="-342900">
              <a:lnSpc>
                <a:spcPts val="2440"/>
              </a:lnSpc>
              <a:spcBef>
                <a:spcPts val="625"/>
              </a:spcBef>
              <a:buFont typeface="Arial MT"/>
              <a:buChar char="•"/>
              <a:tabLst>
                <a:tab pos="355600" algn="l"/>
                <a:tab pos="1296035" algn="l"/>
                <a:tab pos="2235835" algn="l"/>
                <a:tab pos="2658110" algn="l"/>
                <a:tab pos="3159760" algn="l"/>
              </a:tabLst>
            </a:pPr>
            <a:r>
              <a:rPr spc="-10" dirty="0"/>
              <a:t>Digital</a:t>
            </a:r>
            <a:r>
              <a:rPr dirty="0"/>
              <a:t>	</a:t>
            </a:r>
            <a:r>
              <a:rPr spc="-10" dirty="0"/>
              <a:t>signals</a:t>
            </a:r>
            <a:r>
              <a:rPr dirty="0"/>
              <a:t>	</a:t>
            </a:r>
            <a:r>
              <a:rPr spc="-25" dirty="0"/>
              <a:t>do</a:t>
            </a:r>
            <a:r>
              <a:rPr dirty="0"/>
              <a:t>	</a:t>
            </a:r>
            <a:r>
              <a:rPr spc="-25" dirty="0"/>
              <a:t>not</a:t>
            </a:r>
            <a:r>
              <a:rPr dirty="0"/>
              <a:t>	</a:t>
            </a:r>
            <a:r>
              <a:rPr spc="-10" dirty="0"/>
              <a:t>produce noise</a:t>
            </a:r>
          </a:p>
          <a:p>
            <a:pPr marL="354965" indent="-342265">
              <a:lnSpc>
                <a:spcPts val="2590"/>
              </a:lnSpc>
              <a:spcBef>
                <a:spcPts val="24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Eg:</a:t>
            </a:r>
            <a:r>
              <a:rPr spc="65" dirty="0"/>
              <a:t> </a:t>
            </a:r>
            <a:r>
              <a:rPr dirty="0"/>
              <a:t>Computers,</a:t>
            </a:r>
            <a:r>
              <a:rPr spc="70" dirty="0"/>
              <a:t> </a:t>
            </a:r>
            <a:r>
              <a:rPr dirty="0"/>
              <a:t>Digital</a:t>
            </a:r>
            <a:r>
              <a:rPr spc="75" dirty="0"/>
              <a:t> </a:t>
            </a:r>
            <a:r>
              <a:rPr spc="-10" dirty="0"/>
              <a:t>Phones,</a:t>
            </a:r>
          </a:p>
          <a:p>
            <a:pPr marL="355600">
              <a:lnSpc>
                <a:spcPts val="2590"/>
              </a:lnSpc>
            </a:pPr>
            <a:r>
              <a:rPr dirty="0"/>
              <a:t>Digital</a:t>
            </a:r>
            <a:r>
              <a:rPr spc="-45" dirty="0"/>
              <a:t> </a:t>
            </a:r>
            <a:r>
              <a:rPr dirty="0"/>
              <a:t>pens,</a:t>
            </a:r>
            <a:r>
              <a:rPr spc="-45" dirty="0"/>
              <a:t> </a:t>
            </a:r>
            <a:r>
              <a:rPr spc="-25" dirty="0"/>
              <a:t>etc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Difference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Periodic</a:t>
            </a:r>
            <a:r>
              <a:rPr spc="-6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Non-</a:t>
            </a:r>
            <a:r>
              <a:rPr spc="-10" dirty="0"/>
              <a:t>periodic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2682" rIns="0" bIns="0" rtlCol="0">
            <a:spAutoFit/>
          </a:bodyPr>
          <a:lstStyle/>
          <a:p>
            <a:pPr marL="353060" marR="5080" indent="-340360" algn="just">
              <a:lnSpc>
                <a:spcPct val="99000"/>
              </a:lnSpc>
              <a:spcBef>
                <a:spcPts val="1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A</a:t>
            </a:r>
            <a:r>
              <a:rPr spc="280" dirty="0"/>
              <a:t> </a:t>
            </a:r>
            <a:r>
              <a:rPr dirty="0"/>
              <a:t>periodic</a:t>
            </a:r>
            <a:r>
              <a:rPr spc="409" dirty="0"/>
              <a:t> </a:t>
            </a:r>
            <a:r>
              <a:rPr dirty="0"/>
              <a:t>signal</a:t>
            </a:r>
            <a:r>
              <a:rPr spc="409" dirty="0"/>
              <a:t> </a:t>
            </a:r>
            <a:r>
              <a:rPr dirty="0"/>
              <a:t>completes</a:t>
            </a:r>
            <a:r>
              <a:rPr spc="415" dirty="0"/>
              <a:t> </a:t>
            </a:r>
            <a:r>
              <a:rPr dirty="0"/>
              <a:t>a</a:t>
            </a:r>
            <a:r>
              <a:rPr spc="420" dirty="0"/>
              <a:t> </a:t>
            </a:r>
            <a:r>
              <a:rPr dirty="0"/>
              <a:t>pattern</a:t>
            </a:r>
            <a:r>
              <a:rPr spc="425" dirty="0"/>
              <a:t> </a:t>
            </a:r>
            <a:r>
              <a:rPr dirty="0"/>
              <a:t>within</a:t>
            </a:r>
            <a:r>
              <a:rPr spc="415" dirty="0"/>
              <a:t> </a:t>
            </a:r>
            <a:r>
              <a:rPr dirty="0"/>
              <a:t>a</a:t>
            </a:r>
            <a:r>
              <a:rPr spc="405" dirty="0"/>
              <a:t> </a:t>
            </a:r>
            <a:r>
              <a:rPr dirty="0"/>
              <a:t>measurable</a:t>
            </a:r>
            <a:r>
              <a:rPr spc="409" dirty="0"/>
              <a:t> </a:t>
            </a:r>
            <a:r>
              <a:rPr spc="-20" dirty="0"/>
              <a:t>time 	</a:t>
            </a:r>
            <a:r>
              <a:rPr u="heavy" dirty="0">
                <a:uFill>
                  <a:solidFill>
                    <a:srgbClr val="C00000"/>
                  </a:solidFill>
                </a:uFill>
              </a:rPr>
              <a:t>frame</a:t>
            </a:r>
            <a:r>
              <a:rPr dirty="0"/>
              <a:t>,</a:t>
            </a:r>
            <a:r>
              <a:rPr spc="75" dirty="0"/>
              <a:t> </a:t>
            </a:r>
            <a:r>
              <a:rPr dirty="0"/>
              <a:t>called</a:t>
            </a:r>
            <a:r>
              <a:rPr spc="80" dirty="0"/>
              <a:t> </a:t>
            </a:r>
            <a:r>
              <a:rPr dirty="0"/>
              <a:t>a</a:t>
            </a:r>
            <a:r>
              <a:rPr spc="70" dirty="0"/>
              <a:t> </a:t>
            </a:r>
            <a:r>
              <a:rPr dirty="0"/>
              <a:t>period,</a:t>
            </a:r>
            <a:r>
              <a:rPr spc="75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dirty="0"/>
              <a:t>repeats</a:t>
            </a:r>
            <a:r>
              <a:rPr spc="75" dirty="0"/>
              <a:t> </a:t>
            </a:r>
            <a:r>
              <a:rPr dirty="0"/>
              <a:t>that</a:t>
            </a:r>
            <a:r>
              <a:rPr spc="85" dirty="0"/>
              <a:t> </a:t>
            </a:r>
            <a:r>
              <a:rPr dirty="0"/>
              <a:t>pattern.</a:t>
            </a:r>
            <a:r>
              <a:rPr spc="55" dirty="0"/>
              <a:t> </a:t>
            </a:r>
            <a:r>
              <a:rPr dirty="0"/>
              <a:t>The</a:t>
            </a:r>
            <a:r>
              <a:rPr spc="65" dirty="0"/>
              <a:t> </a:t>
            </a:r>
            <a:r>
              <a:rPr dirty="0"/>
              <a:t>completion</a:t>
            </a:r>
            <a:r>
              <a:rPr spc="80" dirty="0"/>
              <a:t> </a:t>
            </a:r>
            <a:r>
              <a:rPr spc="-25" dirty="0"/>
              <a:t>of 	</a:t>
            </a:r>
            <a:r>
              <a:rPr dirty="0"/>
              <a:t>one</a:t>
            </a:r>
            <a:r>
              <a:rPr spc="-25" dirty="0"/>
              <a:t> </a:t>
            </a:r>
            <a:r>
              <a:rPr dirty="0"/>
              <a:t>full</a:t>
            </a:r>
            <a:r>
              <a:rPr spc="-10" dirty="0"/>
              <a:t> </a:t>
            </a:r>
            <a:r>
              <a:rPr dirty="0"/>
              <a:t>pattern</a:t>
            </a:r>
            <a:r>
              <a:rPr spc="-45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called</a:t>
            </a:r>
            <a:r>
              <a:rPr spc="-35" dirty="0"/>
              <a:t> </a:t>
            </a:r>
            <a:r>
              <a:rPr dirty="0"/>
              <a:t>a</a:t>
            </a:r>
            <a:r>
              <a:rPr spc="-10" dirty="0"/>
              <a:t> cycle.</a:t>
            </a:r>
          </a:p>
          <a:p>
            <a:pPr marL="353060" marR="5080" indent="-340360" algn="just">
              <a:lnSpc>
                <a:spcPts val="2820"/>
              </a:lnSpc>
              <a:spcBef>
                <a:spcPts val="710"/>
              </a:spcBef>
              <a:buFont typeface="Arial MT"/>
              <a:buChar char="•"/>
              <a:tabLst>
                <a:tab pos="355600" algn="l"/>
              </a:tabLst>
            </a:pPr>
            <a:r>
              <a:rPr spc="-20" dirty="0"/>
              <a:t>A</a:t>
            </a:r>
            <a:r>
              <a:rPr spc="-140" dirty="0"/>
              <a:t> </a:t>
            </a:r>
            <a:r>
              <a:rPr dirty="0"/>
              <a:t>non peri</a:t>
            </a:r>
            <a:r>
              <a:rPr spc="-15" dirty="0"/>
              <a:t>o</a:t>
            </a:r>
            <a:r>
              <a:rPr dirty="0"/>
              <a:t>d</a:t>
            </a:r>
            <a:r>
              <a:rPr spc="-10" dirty="0"/>
              <a:t>i</a:t>
            </a:r>
            <a:r>
              <a:rPr dirty="0"/>
              <a:t>c sign</a:t>
            </a:r>
            <a:r>
              <a:rPr spc="-15" dirty="0"/>
              <a:t>a</a:t>
            </a:r>
            <a:r>
              <a:rPr dirty="0"/>
              <a:t>l</a:t>
            </a:r>
            <a:r>
              <a:rPr spc="5" dirty="0"/>
              <a:t> </a:t>
            </a:r>
            <a:r>
              <a:rPr spc="-10" dirty="0"/>
              <a:t>c</a:t>
            </a:r>
            <a:r>
              <a:rPr spc="-15" dirty="0"/>
              <a:t>h</a:t>
            </a:r>
            <a:r>
              <a:rPr dirty="0"/>
              <a:t>anges</a:t>
            </a:r>
            <a:r>
              <a:rPr spc="5" dirty="0"/>
              <a:t> </a:t>
            </a:r>
            <a:r>
              <a:rPr dirty="0"/>
              <a:t>w</a:t>
            </a:r>
            <a:r>
              <a:rPr spc="-15" dirty="0"/>
              <a:t>i</a:t>
            </a:r>
            <a:r>
              <a:rPr dirty="0"/>
              <a:t>th</a:t>
            </a:r>
            <a:r>
              <a:rPr spc="-10" dirty="0"/>
              <a:t>o</a:t>
            </a:r>
            <a:r>
              <a:rPr dirty="0"/>
              <a:t>ut</a:t>
            </a:r>
            <a:r>
              <a:rPr spc="-5" dirty="0"/>
              <a:t> </a:t>
            </a:r>
            <a:r>
              <a:rPr dirty="0"/>
              <a:t>ex</a:t>
            </a:r>
            <a:r>
              <a:rPr spc="-10" dirty="0"/>
              <a:t>h</a:t>
            </a:r>
            <a:r>
              <a:rPr dirty="0"/>
              <a:t>i</a:t>
            </a:r>
            <a:r>
              <a:rPr spc="-10" dirty="0"/>
              <a:t>b</a:t>
            </a:r>
            <a:r>
              <a:rPr dirty="0"/>
              <a:t>iting</a:t>
            </a:r>
            <a:r>
              <a:rPr spc="-10" dirty="0"/>
              <a:t> </a:t>
            </a:r>
            <a:r>
              <a:rPr dirty="0"/>
              <a:t>a </a:t>
            </a:r>
            <a:r>
              <a:rPr spc="-10" dirty="0"/>
              <a:t>pattern</a:t>
            </a:r>
            <a:r>
              <a:rPr spc="5" dirty="0"/>
              <a:t> </a:t>
            </a:r>
            <a:r>
              <a:rPr spc="-10" dirty="0"/>
              <a:t>or </a:t>
            </a:r>
            <a:r>
              <a:rPr dirty="0"/>
              <a:t>cyc</a:t>
            </a:r>
            <a:r>
              <a:rPr spc="-15" dirty="0"/>
              <a:t>l</a:t>
            </a:r>
            <a:r>
              <a:rPr dirty="0"/>
              <a:t>e 	that</a:t>
            </a:r>
            <a:r>
              <a:rPr spc="-25" dirty="0"/>
              <a:t> </a:t>
            </a:r>
            <a:r>
              <a:rPr spc="-5" dirty="0"/>
              <a:t>repeats</a:t>
            </a:r>
            <a:r>
              <a:rPr spc="-45" dirty="0"/>
              <a:t> </a:t>
            </a:r>
            <a:r>
              <a:rPr dirty="0"/>
              <a:t>over</a:t>
            </a:r>
            <a:r>
              <a:rPr spc="-10" dirty="0"/>
              <a:t> </a:t>
            </a:r>
            <a:r>
              <a:rPr dirty="0"/>
              <a:t>ti</a:t>
            </a:r>
            <a:r>
              <a:rPr spc="-25" dirty="0"/>
              <a:t>m</a:t>
            </a:r>
            <a:r>
              <a:rPr dirty="0"/>
              <a:t>e</a:t>
            </a:r>
          </a:p>
        </p:txBody>
      </p:sp>
      <p:sp>
        <p:nvSpPr>
          <p:cNvPr id="9" name="object 9"/>
          <p:cNvSpPr/>
          <p:nvPr/>
        </p:nvSpPr>
        <p:spPr>
          <a:xfrm>
            <a:off x="6833489" y="1470660"/>
            <a:ext cx="1930400" cy="1905"/>
          </a:xfrm>
          <a:custGeom>
            <a:avLst/>
            <a:gdLst/>
            <a:ahLst/>
            <a:cxnLst/>
            <a:rect l="l" t="t" r="r" b="b"/>
            <a:pathLst>
              <a:path w="1930400" h="1905">
                <a:moveTo>
                  <a:pt x="0" y="0"/>
                </a:moveTo>
                <a:lnTo>
                  <a:pt x="1930400" y="1524"/>
                </a:lnTo>
              </a:path>
            </a:pathLst>
          </a:custGeom>
          <a:ln w="2844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Periodic</a:t>
            </a:r>
            <a:r>
              <a:rPr spc="-6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Non-</a:t>
            </a:r>
            <a:r>
              <a:rPr spc="-10" dirty="0"/>
              <a:t>periodic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287" rIns="0" bIns="0" rtlCol="0">
            <a:spAutoFit/>
          </a:bodyPr>
          <a:lstStyle/>
          <a:p>
            <a:pPr marL="355600" marR="5080" indent="-342900">
              <a:lnSpc>
                <a:spcPts val="2820"/>
              </a:lnSpc>
              <a:spcBef>
                <a:spcPts val="24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Period</a:t>
            </a:r>
            <a:r>
              <a:rPr spc="30" dirty="0"/>
              <a:t> </a:t>
            </a:r>
            <a:r>
              <a:rPr dirty="0"/>
              <a:t>refer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amount</a:t>
            </a:r>
            <a:r>
              <a:rPr spc="40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dirty="0"/>
              <a:t>time</a:t>
            </a:r>
            <a:r>
              <a:rPr spc="25" dirty="0"/>
              <a:t> </a:t>
            </a:r>
            <a:r>
              <a:rPr dirty="0"/>
              <a:t>in</a:t>
            </a:r>
            <a:r>
              <a:rPr spc="35" dirty="0"/>
              <a:t> </a:t>
            </a:r>
            <a:r>
              <a:rPr dirty="0"/>
              <a:t>second</a:t>
            </a:r>
            <a:r>
              <a:rPr spc="35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dirty="0"/>
              <a:t>signal</a:t>
            </a:r>
            <a:r>
              <a:rPr spc="30" dirty="0"/>
              <a:t> </a:t>
            </a:r>
            <a:r>
              <a:rPr dirty="0"/>
              <a:t>need</a:t>
            </a:r>
            <a:r>
              <a:rPr spc="15" dirty="0"/>
              <a:t> </a:t>
            </a:r>
            <a:r>
              <a:rPr dirty="0"/>
              <a:t>to</a:t>
            </a:r>
            <a:r>
              <a:rPr spc="35" dirty="0"/>
              <a:t> </a:t>
            </a:r>
            <a:r>
              <a:rPr spc="-10" dirty="0"/>
              <a:t>complete </a:t>
            </a:r>
            <a:r>
              <a:rPr dirty="0"/>
              <a:t>1</a:t>
            </a:r>
            <a:r>
              <a:rPr spc="-15" dirty="0"/>
              <a:t> </a:t>
            </a:r>
            <a:r>
              <a:rPr spc="-10" dirty="0"/>
              <a:t>cycle</a:t>
            </a:r>
          </a:p>
          <a:p>
            <a:pPr marL="354965" indent="-342265">
              <a:lnSpc>
                <a:spcPct val="100000"/>
              </a:lnSpc>
              <a:spcBef>
                <a:spcPts val="42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Frequency</a:t>
            </a:r>
            <a:r>
              <a:rPr spc="-35" dirty="0"/>
              <a:t> </a:t>
            </a:r>
            <a:r>
              <a:rPr dirty="0"/>
              <a:t>refer</a:t>
            </a:r>
            <a:r>
              <a:rPr spc="-1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number</a:t>
            </a:r>
            <a:r>
              <a:rPr spc="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period</a:t>
            </a:r>
            <a:r>
              <a:rPr spc="-2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1</a:t>
            </a:r>
            <a:r>
              <a:rPr spc="-20" dirty="0"/>
              <a:t> </a:t>
            </a:r>
            <a:r>
              <a:rPr spc="-50" dirty="0"/>
              <a:t>s</a:t>
            </a: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They</a:t>
            </a:r>
            <a:r>
              <a:rPr spc="-35" dirty="0"/>
              <a:t> </a:t>
            </a:r>
            <a:r>
              <a:rPr dirty="0"/>
              <a:t>are</a:t>
            </a:r>
            <a:r>
              <a:rPr spc="-2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inverse</a:t>
            </a:r>
            <a:r>
              <a:rPr spc="-3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each</a:t>
            </a:r>
            <a:r>
              <a:rPr spc="-30" dirty="0"/>
              <a:t> </a:t>
            </a:r>
            <a:r>
              <a:rPr spc="-10" dirty="0"/>
              <a:t>other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2791082" y="3152918"/>
            <a:ext cx="3431540" cy="723265"/>
            <a:chOff x="2791082" y="3152918"/>
            <a:chExt cx="3431540" cy="72326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9526" y="3181362"/>
              <a:ext cx="3374644" cy="66635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805302" y="3167138"/>
              <a:ext cx="3403600" cy="695325"/>
            </a:xfrm>
            <a:custGeom>
              <a:avLst/>
              <a:gdLst/>
              <a:ahLst/>
              <a:cxnLst/>
              <a:rect l="l" t="t" r="r" b="b"/>
              <a:pathLst>
                <a:path w="3403600" h="695325">
                  <a:moveTo>
                    <a:pt x="0" y="694804"/>
                  </a:moveTo>
                  <a:lnTo>
                    <a:pt x="3403091" y="694804"/>
                  </a:lnTo>
                  <a:lnTo>
                    <a:pt x="3403091" y="0"/>
                  </a:lnTo>
                  <a:lnTo>
                    <a:pt x="0" y="0"/>
                  </a:lnTo>
                  <a:lnTo>
                    <a:pt x="0" y="694804"/>
                  </a:lnTo>
                  <a:close/>
                </a:path>
              </a:pathLst>
            </a:custGeom>
            <a:ln w="28440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988294" y="1119021"/>
            <a:ext cx="6638290" cy="3660140"/>
            <a:chOff x="988294" y="1119021"/>
            <a:chExt cx="6638290" cy="366014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685" y="2347899"/>
              <a:ext cx="5409692" cy="85211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40787" y="2782068"/>
              <a:ext cx="6456680" cy="0"/>
            </a:xfrm>
            <a:custGeom>
              <a:avLst/>
              <a:gdLst/>
              <a:ahLst/>
              <a:cxnLst/>
              <a:rect l="l" t="t" r="r" b="b"/>
              <a:pathLst>
                <a:path w="6456680">
                  <a:moveTo>
                    <a:pt x="6456591" y="0"/>
                  </a:moveTo>
                  <a:lnTo>
                    <a:pt x="0" y="0"/>
                  </a:lnTo>
                </a:path>
              </a:pathLst>
            </a:custGeom>
            <a:ln w="11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34174" y="2738597"/>
              <a:ext cx="191839" cy="8693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46041" y="2009315"/>
              <a:ext cx="0" cy="1166495"/>
            </a:xfrm>
            <a:custGeom>
              <a:avLst/>
              <a:gdLst/>
              <a:ahLst/>
              <a:cxnLst/>
              <a:rect l="l" t="t" r="r" b="b"/>
              <a:pathLst>
                <a:path h="1166495">
                  <a:moveTo>
                    <a:pt x="0" y="1165938"/>
                  </a:moveTo>
                  <a:lnTo>
                    <a:pt x="0" y="0"/>
                  </a:lnTo>
                </a:path>
              </a:pathLst>
            </a:custGeom>
            <a:ln w="15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8294" y="1912520"/>
              <a:ext cx="115494" cy="144192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46570" y="1637841"/>
            <a:ext cx="601980" cy="253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175" dirty="0">
                <a:latin typeface="Times New Roman"/>
                <a:cs typeface="Times New Roman"/>
              </a:rPr>
              <a:t>Value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34657" y="2473681"/>
            <a:ext cx="1066800" cy="62293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500" spc="165" dirty="0">
                <a:latin typeface="Times New Roman"/>
                <a:cs typeface="Times New Roman"/>
              </a:rPr>
              <a:t>•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spc="165" dirty="0">
                <a:latin typeface="Times New Roman"/>
                <a:cs typeface="Times New Roman"/>
              </a:rPr>
              <a:t>•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spc="105" dirty="0">
                <a:latin typeface="Times New Roman"/>
                <a:cs typeface="Times New Roman"/>
              </a:rPr>
              <a:t>•</a:t>
            </a:r>
            <a:endParaRPr sz="1500">
              <a:latin typeface="Times New Roman"/>
              <a:cs typeface="Times New Roman"/>
            </a:endParaRPr>
          </a:p>
          <a:p>
            <a:pPr marL="528955">
              <a:lnSpc>
                <a:spcPct val="100000"/>
              </a:lnSpc>
              <a:spcBef>
                <a:spcPts val="555"/>
              </a:spcBef>
            </a:pPr>
            <a:r>
              <a:rPr sz="1500" spc="220" dirty="0">
                <a:latin typeface="Times New Roman"/>
                <a:cs typeface="Times New Roman"/>
              </a:rPr>
              <a:t>Time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23289" y="3622344"/>
            <a:ext cx="6971030" cy="8801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918970" marR="5080" indent="-1906905">
              <a:lnSpc>
                <a:spcPct val="100400"/>
              </a:lnSpc>
              <a:spcBef>
                <a:spcPts val="80"/>
              </a:spcBef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sine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wave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most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fundamental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form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a </a:t>
            </a:r>
            <a:r>
              <a:rPr sz="2800" dirty="0">
                <a:latin typeface="Times New Roman"/>
                <a:cs typeface="Times New Roman"/>
              </a:rPr>
              <a:t>periodic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analog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signal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Periodic</a:t>
            </a:r>
            <a:r>
              <a:rPr spc="-6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Non-</a:t>
            </a:r>
            <a:r>
              <a:rPr spc="-10" dirty="0"/>
              <a:t>periodic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71142" y="974725"/>
            <a:ext cx="6577330" cy="3804920"/>
            <a:chOff x="1271142" y="974725"/>
            <a:chExt cx="6577330" cy="38049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1142" y="974725"/>
              <a:ext cx="6576822" cy="19016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249697" y="1381057"/>
              <a:ext cx="662305" cy="236220"/>
            </a:xfrm>
            <a:custGeom>
              <a:avLst/>
              <a:gdLst/>
              <a:ahLst/>
              <a:cxnLst/>
              <a:rect l="l" t="t" r="r" b="b"/>
              <a:pathLst>
                <a:path w="662305" h="236219">
                  <a:moveTo>
                    <a:pt x="662177" y="0"/>
                  </a:moveTo>
                  <a:lnTo>
                    <a:pt x="0" y="235996"/>
                  </a:lnTo>
                </a:path>
              </a:pathLst>
            </a:custGeom>
            <a:ln w="18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4140" y="1563463"/>
              <a:ext cx="179423" cy="9128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Periodic</a:t>
            </a:r>
            <a:r>
              <a:rPr spc="-6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Non-</a:t>
            </a:r>
            <a:r>
              <a:rPr spc="-10" dirty="0"/>
              <a:t>periodic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435427" y="897020"/>
            <a:ext cx="1042035" cy="44450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 indent="259715">
              <a:lnSpc>
                <a:spcPts val="1500"/>
              </a:lnSpc>
              <a:spcBef>
                <a:spcPts val="395"/>
              </a:spcBef>
            </a:pPr>
            <a:r>
              <a:rPr sz="1500" spc="215" dirty="0">
                <a:latin typeface="Times New Roman"/>
                <a:cs typeface="Times New Roman"/>
              </a:rPr>
              <a:t>Peak </a:t>
            </a:r>
            <a:r>
              <a:rPr sz="1500" spc="210" dirty="0">
                <a:latin typeface="Times New Roman"/>
                <a:cs typeface="Times New Roman"/>
              </a:rPr>
              <a:t>amplitude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1142" y="2870682"/>
            <a:ext cx="6576822" cy="17258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5635" y="1119021"/>
            <a:ext cx="8429625" cy="3660140"/>
            <a:chOff x="485635" y="1119021"/>
            <a:chExt cx="8429625" cy="36601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635" y="1504822"/>
              <a:ext cx="4092066" cy="217474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22951" y="1495425"/>
              <a:ext cx="4092067" cy="21845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Signal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872" y="1651380"/>
            <a:ext cx="8213344" cy="20631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Units</a:t>
            </a:r>
            <a:r>
              <a:rPr spc="-3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period</a:t>
            </a:r>
            <a:r>
              <a:rPr spc="-4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frequency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1691" y="152526"/>
            <a:ext cx="8617585" cy="1384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05"/>
              </a:spcBef>
            </a:pPr>
            <a:r>
              <a:rPr sz="3200" spc="-25" dirty="0">
                <a:latin typeface="Times New Roman"/>
                <a:cs typeface="Times New Roman"/>
              </a:rPr>
              <a:t>Eg</a:t>
            </a:r>
            <a:endParaRPr sz="3200" dirty="0">
              <a:latin typeface="Times New Roman"/>
              <a:cs typeface="Times New Roman"/>
            </a:endParaRPr>
          </a:p>
          <a:p>
            <a:pPr marL="50800" marR="2186940">
              <a:lnSpc>
                <a:spcPct val="194700"/>
              </a:lnSpc>
              <a:spcBef>
                <a:spcPts val="315"/>
              </a:spcBef>
            </a:pPr>
            <a:r>
              <a:rPr sz="2800" dirty="0">
                <a:latin typeface="Times New Roman"/>
                <a:cs typeface="Times New Roman"/>
              </a:rPr>
              <a:t>Express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period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100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microseconds. 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929506"/>
            <a:ext cx="7848600" cy="2176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0800" marR="2186940">
              <a:lnSpc>
                <a:spcPct val="194700"/>
              </a:lnSpc>
              <a:spcBef>
                <a:spcPts val="315"/>
              </a:spcBef>
            </a:pPr>
            <a:r>
              <a:rPr lang="en-US" sz="1800" spc="-10" dirty="0" smtClean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lang="en-US" sz="1800" dirty="0" smtClean="0">
              <a:latin typeface="Times New Roman"/>
              <a:cs typeface="Times New Roman"/>
            </a:endParaRPr>
          </a:p>
          <a:p>
            <a:pPr marL="50800" marR="43180">
              <a:lnSpc>
                <a:spcPct val="100000"/>
              </a:lnSpc>
            </a:pPr>
            <a:r>
              <a:rPr lang="en-US" sz="1800" dirty="0" smtClean="0">
                <a:latin typeface="Times New Roman"/>
                <a:cs typeface="Times New Roman"/>
              </a:rPr>
              <a:t>The</a:t>
            </a:r>
            <a:r>
              <a:rPr lang="en-US" sz="1800" spc="-40" dirty="0" smtClean="0">
                <a:latin typeface="Times New Roman"/>
                <a:cs typeface="Times New Roman"/>
              </a:rPr>
              <a:t> </a:t>
            </a:r>
            <a:r>
              <a:rPr lang="en-US" sz="1800" dirty="0" smtClean="0">
                <a:latin typeface="Times New Roman"/>
                <a:cs typeface="Times New Roman"/>
              </a:rPr>
              <a:t>equivalents</a:t>
            </a:r>
            <a:r>
              <a:rPr lang="en-US" sz="1800" spc="-40" dirty="0" smtClean="0">
                <a:latin typeface="Times New Roman"/>
                <a:cs typeface="Times New Roman"/>
              </a:rPr>
              <a:t> </a:t>
            </a:r>
            <a:r>
              <a:rPr lang="en-US" sz="1800" dirty="0" smtClean="0">
                <a:latin typeface="Times New Roman"/>
                <a:cs typeface="Times New Roman"/>
              </a:rPr>
              <a:t>of</a:t>
            </a:r>
            <a:r>
              <a:rPr lang="en-US" sz="1800" spc="-15" dirty="0" smtClean="0">
                <a:latin typeface="Times New Roman"/>
                <a:cs typeface="Times New Roman"/>
              </a:rPr>
              <a:t> </a:t>
            </a:r>
            <a:r>
              <a:rPr lang="en-US" sz="1800" dirty="0" smtClean="0">
                <a:latin typeface="Times New Roman"/>
                <a:cs typeface="Times New Roman"/>
              </a:rPr>
              <a:t>1ms</a:t>
            </a:r>
            <a:r>
              <a:rPr lang="en-US" sz="1800" spc="-5" dirty="0" smtClean="0">
                <a:latin typeface="Times New Roman"/>
                <a:cs typeface="Times New Roman"/>
              </a:rPr>
              <a:t> </a:t>
            </a:r>
            <a:r>
              <a:rPr lang="en-US" sz="1800" dirty="0" smtClean="0">
                <a:latin typeface="Times New Roman"/>
                <a:cs typeface="Times New Roman"/>
              </a:rPr>
              <a:t>(1</a:t>
            </a:r>
            <a:r>
              <a:rPr lang="en-US" sz="1800" spc="-15" dirty="0" smtClean="0">
                <a:latin typeface="Times New Roman"/>
                <a:cs typeface="Times New Roman"/>
              </a:rPr>
              <a:t> </a:t>
            </a:r>
            <a:r>
              <a:rPr lang="en-US" sz="1800" dirty="0" smtClean="0">
                <a:latin typeface="Times New Roman"/>
                <a:cs typeface="Times New Roman"/>
              </a:rPr>
              <a:t>ms</a:t>
            </a:r>
            <a:r>
              <a:rPr lang="en-US" sz="1800" spc="-5" dirty="0" smtClean="0">
                <a:latin typeface="Times New Roman"/>
                <a:cs typeface="Times New Roman"/>
              </a:rPr>
              <a:t> </a:t>
            </a:r>
            <a:r>
              <a:rPr lang="en-US" sz="1800" dirty="0" smtClean="0">
                <a:latin typeface="Times New Roman"/>
                <a:cs typeface="Times New Roman"/>
              </a:rPr>
              <a:t>is</a:t>
            </a:r>
            <a:r>
              <a:rPr lang="en-US" sz="1800" spc="-35" dirty="0" smtClean="0">
                <a:latin typeface="Times New Roman"/>
                <a:cs typeface="Times New Roman"/>
              </a:rPr>
              <a:t> </a:t>
            </a:r>
            <a:r>
              <a:rPr lang="en-US" sz="1800" dirty="0" smtClean="0">
                <a:latin typeface="Times New Roman"/>
                <a:cs typeface="Times New Roman"/>
              </a:rPr>
              <a:t>10</a:t>
            </a:r>
            <a:r>
              <a:rPr lang="en-US" sz="1800" baseline="25525" dirty="0" smtClean="0">
                <a:latin typeface="Times New Roman"/>
                <a:cs typeface="Times New Roman"/>
              </a:rPr>
              <a:t>–3</a:t>
            </a:r>
            <a:r>
              <a:rPr lang="en-US" sz="1800" spc="307" baseline="25525" dirty="0" smtClean="0">
                <a:latin typeface="Times New Roman"/>
                <a:cs typeface="Times New Roman"/>
              </a:rPr>
              <a:t> </a:t>
            </a:r>
            <a:r>
              <a:rPr lang="en-US" sz="1800" dirty="0" smtClean="0">
                <a:latin typeface="Times New Roman"/>
                <a:cs typeface="Times New Roman"/>
              </a:rPr>
              <a:t>s)</a:t>
            </a:r>
            <a:r>
              <a:rPr lang="en-US" sz="1800" spc="-15" dirty="0" smtClean="0">
                <a:latin typeface="Times New Roman"/>
                <a:cs typeface="Times New Roman"/>
              </a:rPr>
              <a:t> </a:t>
            </a:r>
            <a:r>
              <a:rPr lang="en-US" sz="1800" dirty="0" smtClean="0">
                <a:latin typeface="Times New Roman"/>
                <a:cs typeface="Times New Roman"/>
              </a:rPr>
              <a:t>and</a:t>
            </a:r>
            <a:r>
              <a:rPr lang="en-US" sz="1800" spc="-15" dirty="0" smtClean="0">
                <a:latin typeface="Times New Roman"/>
                <a:cs typeface="Times New Roman"/>
              </a:rPr>
              <a:t> </a:t>
            </a:r>
            <a:r>
              <a:rPr lang="en-US" sz="1800" dirty="0" smtClean="0">
                <a:latin typeface="Times New Roman"/>
                <a:cs typeface="Times New Roman"/>
              </a:rPr>
              <a:t>1s</a:t>
            </a:r>
            <a:r>
              <a:rPr lang="en-US" sz="1800" spc="-30" dirty="0" smtClean="0">
                <a:latin typeface="Times New Roman"/>
                <a:cs typeface="Times New Roman"/>
              </a:rPr>
              <a:t> </a:t>
            </a:r>
            <a:r>
              <a:rPr lang="en-US" sz="1800" dirty="0" smtClean="0">
                <a:latin typeface="Times New Roman"/>
                <a:cs typeface="Times New Roman"/>
              </a:rPr>
              <a:t>(1s</a:t>
            </a:r>
            <a:r>
              <a:rPr lang="en-US" sz="1800" spc="-30" dirty="0" smtClean="0">
                <a:latin typeface="Times New Roman"/>
                <a:cs typeface="Times New Roman"/>
              </a:rPr>
              <a:t> </a:t>
            </a:r>
            <a:r>
              <a:rPr lang="en-US" sz="1800" dirty="0" smtClean="0">
                <a:latin typeface="Times New Roman"/>
                <a:cs typeface="Times New Roman"/>
              </a:rPr>
              <a:t>is</a:t>
            </a:r>
            <a:r>
              <a:rPr lang="en-US" sz="1800" spc="-15" dirty="0" smtClean="0">
                <a:latin typeface="Times New Roman"/>
                <a:cs typeface="Times New Roman"/>
              </a:rPr>
              <a:t> </a:t>
            </a:r>
            <a:r>
              <a:rPr lang="en-US" sz="1800" dirty="0" smtClean="0">
                <a:latin typeface="Times New Roman"/>
                <a:cs typeface="Times New Roman"/>
              </a:rPr>
              <a:t>10</a:t>
            </a:r>
            <a:r>
              <a:rPr lang="en-US" sz="1800" baseline="25525" dirty="0" smtClean="0">
                <a:latin typeface="Times New Roman"/>
                <a:cs typeface="Times New Roman"/>
              </a:rPr>
              <a:t>6</a:t>
            </a:r>
            <a:r>
              <a:rPr lang="en-US" sz="1800" spc="300" baseline="25525" dirty="0" smtClean="0">
                <a:latin typeface="Times New Roman"/>
                <a:cs typeface="Times New Roman"/>
              </a:rPr>
              <a:t> </a:t>
            </a:r>
            <a:r>
              <a:rPr lang="en-US" sz="1800" spc="-25" dirty="0" err="1" smtClean="0">
                <a:latin typeface="Times New Roman"/>
                <a:cs typeface="Times New Roman"/>
              </a:rPr>
              <a:t>μs</a:t>
            </a:r>
            <a:r>
              <a:rPr lang="en-US" sz="1800" spc="-25" dirty="0" smtClean="0">
                <a:latin typeface="Times New Roman"/>
                <a:cs typeface="Times New Roman"/>
              </a:rPr>
              <a:t>) </a:t>
            </a:r>
            <a:r>
              <a:rPr lang="en-US" sz="1800" dirty="0" smtClean="0">
                <a:latin typeface="Times New Roman"/>
                <a:cs typeface="Times New Roman"/>
              </a:rPr>
              <a:t>By</a:t>
            </a:r>
            <a:r>
              <a:rPr lang="en-US" sz="1800" spc="-15" dirty="0" smtClean="0">
                <a:latin typeface="Times New Roman"/>
                <a:cs typeface="Times New Roman"/>
              </a:rPr>
              <a:t> </a:t>
            </a:r>
            <a:r>
              <a:rPr lang="en-US" sz="1800" spc="-10" dirty="0" smtClean="0">
                <a:latin typeface="Times New Roman"/>
                <a:cs typeface="Times New Roman"/>
              </a:rPr>
              <a:t>substituting:</a:t>
            </a:r>
            <a:endParaRPr lang="en-US" sz="1800" dirty="0" smtClean="0">
              <a:latin typeface="Times New Roman"/>
              <a:cs typeface="Times New Roman"/>
            </a:endParaRPr>
          </a:p>
          <a:p>
            <a:pPr marL="3708400">
              <a:lnSpc>
                <a:spcPts val="3350"/>
              </a:lnSpc>
            </a:pPr>
            <a:r>
              <a:rPr lang="en-US" sz="1800" dirty="0" smtClean="0">
                <a:latin typeface="Times New Roman"/>
                <a:cs typeface="Times New Roman"/>
              </a:rPr>
              <a:t>100</a:t>
            </a:r>
            <a:r>
              <a:rPr lang="en-US" sz="1800" spc="-70" dirty="0" smtClean="0">
                <a:latin typeface="Times New Roman"/>
                <a:cs typeface="Times New Roman"/>
              </a:rPr>
              <a:t> </a:t>
            </a:r>
            <a:r>
              <a:rPr lang="en-US" sz="1800" spc="-25" dirty="0" smtClean="0">
                <a:latin typeface="Times New Roman"/>
                <a:cs typeface="Times New Roman"/>
              </a:rPr>
              <a:t>ms</a:t>
            </a:r>
            <a:endParaRPr lang="en-US" sz="1800" dirty="0" smtClean="0">
              <a:latin typeface="Times New Roman"/>
              <a:cs typeface="Times New Roman"/>
            </a:endParaRPr>
          </a:p>
          <a:p>
            <a:pPr marL="3414395">
              <a:lnSpc>
                <a:spcPct val="100000"/>
              </a:lnSpc>
            </a:pPr>
            <a:r>
              <a:rPr lang="en-US" sz="1800" dirty="0" smtClean="0">
                <a:latin typeface="Times New Roman"/>
                <a:cs typeface="Times New Roman"/>
              </a:rPr>
              <a:t>=</a:t>
            </a:r>
            <a:r>
              <a:rPr lang="en-US" sz="1800" spc="-15" dirty="0" smtClean="0">
                <a:latin typeface="Times New Roman"/>
                <a:cs typeface="Times New Roman"/>
              </a:rPr>
              <a:t> </a:t>
            </a:r>
            <a:r>
              <a:rPr lang="en-US" sz="1800" dirty="0" smtClean="0">
                <a:latin typeface="Times New Roman"/>
                <a:cs typeface="Times New Roman"/>
              </a:rPr>
              <a:t>100</a:t>
            </a:r>
            <a:r>
              <a:rPr lang="en-US" sz="1800" spc="-15" dirty="0" smtClean="0">
                <a:latin typeface="Times New Roman"/>
                <a:cs typeface="Times New Roman"/>
              </a:rPr>
              <a:t> </a:t>
            </a:r>
            <a:r>
              <a:rPr lang="en-US" sz="1800" dirty="0" smtClean="0">
                <a:latin typeface="Times New Roman"/>
                <a:cs typeface="Times New Roman"/>
              </a:rPr>
              <a:t>*</a:t>
            </a:r>
            <a:r>
              <a:rPr lang="en-US" sz="1800" spc="-5" dirty="0" smtClean="0">
                <a:latin typeface="Times New Roman"/>
                <a:cs typeface="Times New Roman"/>
              </a:rPr>
              <a:t> </a:t>
            </a:r>
            <a:r>
              <a:rPr lang="en-US" sz="1800" spc="-10" dirty="0" smtClean="0">
                <a:latin typeface="Times New Roman"/>
                <a:cs typeface="Times New Roman"/>
              </a:rPr>
              <a:t>10</a:t>
            </a:r>
            <a:r>
              <a:rPr lang="en-US" sz="1800" spc="-15" baseline="25525" dirty="0" smtClean="0">
                <a:latin typeface="Times New Roman"/>
                <a:cs typeface="Times New Roman"/>
              </a:rPr>
              <a:t>-</a:t>
            </a:r>
            <a:r>
              <a:rPr lang="en-US" sz="1800" baseline="25525" dirty="0" smtClean="0">
                <a:latin typeface="Times New Roman"/>
                <a:cs typeface="Times New Roman"/>
              </a:rPr>
              <a:t>3</a:t>
            </a:r>
            <a:r>
              <a:rPr lang="en-US" sz="1800" spc="337" baseline="25525" dirty="0" smtClean="0">
                <a:latin typeface="Times New Roman"/>
                <a:cs typeface="Times New Roman"/>
              </a:rPr>
              <a:t> </a:t>
            </a:r>
            <a:r>
              <a:rPr lang="en-US" sz="1800" spc="-50" dirty="0" smtClean="0">
                <a:latin typeface="Times New Roman"/>
                <a:cs typeface="Times New Roman"/>
              </a:rPr>
              <a:t>s</a:t>
            </a:r>
            <a:endParaRPr lang="en-US" sz="1800" dirty="0" smtClean="0">
              <a:latin typeface="Times New Roman"/>
              <a:cs typeface="Times New Roman"/>
            </a:endParaRPr>
          </a:p>
          <a:p>
            <a:pPr marL="3414395">
              <a:lnSpc>
                <a:spcPct val="100000"/>
              </a:lnSpc>
            </a:pPr>
            <a:r>
              <a:rPr lang="en-US" sz="1800" dirty="0" smtClean="0">
                <a:latin typeface="Times New Roman"/>
                <a:cs typeface="Times New Roman"/>
              </a:rPr>
              <a:t>=</a:t>
            </a:r>
            <a:r>
              <a:rPr lang="en-US" sz="1800" spc="-30" dirty="0" smtClean="0">
                <a:latin typeface="Times New Roman"/>
                <a:cs typeface="Times New Roman"/>
              </a:rPr>
              <a:t> </a:t>
            </a:r>
            <a:r>
              <a:rPr lang="en-US" sz="1800" dirty="0" smtClean="0">
                <a:latin typeface="Times New Roman"/>
                <a:cs typeface="Times New Roman"/>
              </a:rPr>
              <a:t>100</a:t>
            </a:r>
            <a:r>
              <a:rPr lang="en-US" sz="1800" spc="-25" dirty="0" smtClean="0">
                <a:latin typeface="Times New Roman"/>
                <a:cs typeface="Times New Roman"/>
              </a:rPr>
              <a:t> </a:t>
            </a:r>
            <a:r>
              <a:rPr lang="en-US" sz="1800" dirty="0" smtClean="0">
                <a:latin typeface="Times New Roman"/>
                <a:cs typeface="Times New Roman"/>
              </a:rPr>
              <a:t>*</a:t>
            </a:r>
            <a:r>
              <a:rPr lang="en-US" sz="1800" spc="-10" dirty="0" smtClean="0">
                <a:latin typeface="Times New Roman"/>
                <a:cs typeface="Times New Roman"/>
              </a:rPr>
              <a:t> 10</a:t>
            </a:r>
            <a:r>
              <a:rPr lang="en-US" sz="1800" spc="-15" baseline="25525" dirty="0" smtClean="0">
                <a:latin typeface="Times New Roman"/>
                <a:cs typeface="Times New Roman"/>
              </a:rPr>
              <a:t>-</a:t>
            </a:r>
            <a:r>
              <a:rPr lang="en-US" sz="1800" baseline="25525" dirty="0" smtClean="0">
                <a:latin typeface="Times New Roman"/>
                <a:cs typeface="Times New Roman"/>
              </a:rPr>
              <a:t>3</a:t>
            </a:r>
            <a:r>
              <a:rPr lang="en-US" sz="1800" spc="330" baseline="25525" dirty="0" smtClean="0">
                <a:latin typeface="Times New Roman"/>
                <a:cs typeface="Times New Roman"/>
              </a:rPr>
              <a:t> </a:t>
            </a:r>
            <a:r>
              <a:rPr lang="en-US" sz="1800" dirty="0" smtClean="0">
                <a:latin typeface="Times New Roman"/>
                <a:cs typeface="Times New Roman"/>
              </a:rPr>
              <a:t>*</a:t>
            </a:r>
            <a:r>
              <a:rPr lang="en-US" sz="1800" spc="-30" dirty="0" smtClean="0">
                <a:latin typeface="Times New Roman"/>
                <a:cs typeface="Times New Roman"/>
              </a:rPr>
              <a:t> </a:t>
            </a:r>
            <a:r>
              <a:rPr lang="en-US" sz="1800" dirty="0" smtClean="0">
                <a:latin typeface="Times New Roman"/>
                <a:cs typeface="Times New Roman"/>
              </a:rPr>
              <a:t>10</a:t>
            </a:r>
            <a:r>
              <a:rPr lang="en-US" sz="1800" baseline="25525" dirty="0" smtClean="0">
                <a:latin typeface="Times New Roman"/>
                <a:cs typeface="Times New Roman"/>
              </a:rPr>
              <a:t>6</a:t>
            </a:r>
            <a:r>
              <a:rPr lang="en-US" sz="1800" spc="330" baseline="25525" dirty="0" smtClean="0">
                <a:latin typeface="Times New Roman"/>
                <a:cs typeface="Times New Roman"/>
              </a:rPr>
              <a:t> </a:t>
            </a:r>
            <a:r>
              <a:rPr lang="en-US" sz="1800" spc="-25" dirty="0" err="1" smtClean="0">
                <a:latin typeface="Times New Roman"/>
                <a:cs typeface="Times New Roman"/>
              </a:rPr>
              <a:t>μs</a:t>
            </a:r>
            <a:endParaRPr lang="en-US" sz="1800" dirty="0" smtClean="0">
              <a:latin typeface="Times New Roman"/>
              <a:cs typeface="Times New Roman"/>
            </a:endParaRPr>
          </a:p>
          <a:p>
            <a:pPr marL="3414395">
              <a:lnSpc>
                <a:spcPct val="100000"/>
              </a:lnSpc>
              <a:spcBef>
                <a:spcPts val="15"/>
              </a:spcBef>
            </a:pPr>
            <a:r>
              <a:rPr lang="en-US" sz="1800" dirty="0" smtClean="0">
                <a:latin typeface="Times New Roman"/>
                <a:cs typeface="Times New Roman"/>
              </a:rPr>
              <a:t>=</a:t>
            </a:r>
            <a:r>
              <a:rPr lang="en-US" sz="1800" spc="-15" dirty="0" smtClean="0">
                <a:latin typeface="Times New Roman"/>
                <a:cs typeface="Times New Roman"/>
              </a:rPr>
              <a:t> </a:t>
            </a:r>
            <a:r>
              <a:rPr lang="en-US" sz="1800" dirty="0" smtClean="0">
                <a:latin typeface="Times New Roman"/>
                <a:cs typeface="Times New Roman"/>
              </a:rPr>
              <a:t>10</a:t>
            </a:r>
            <a:r>
              <a:rPr lang="en-US" sz="1800" baseline="25525" dirty="0" smtClean="0">
                <a:latin typeface="Times New Roman"/>
                <a:cs typeface="Times New Roman"/>
              </a:rPr>
              <a:t>5</a:t>
            </a:r>
            <a:r>
              <a:rPr lang="en-US" sz="1800" spc="337" baseline="25525" dirty="0" smtClean="0">
                <a:latin typeface="Times New Roman"/>
                <a:cs typeface="Times New Roman"/>
              </a:rPr>
              <a:t> </a:t>
            </a:r>
            <a:r>
              <a:rPr lang="en-US" sz="1800" spc="-25" dirty="0" err="1" smtClean="0">
                <a:latin typeface="Times New Roman"/>
                <a:cs typeface="Times New Roman"/>
              </a:rPr>
              <a:t>μs</a:t>
            </a:r>
            <a:endParaRPr lang="en-US"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7451037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7091" y="1914601"/>
            <a:ext cx="5979160" cy="2586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3116580">
              <a:lnSpc>
                <a:spcPts val="3354"/>
              </a:lnSpc>
              <a:spcBef>
                <a:spcPts val="15"/>
              </a:spcBef>
            </a:pP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1/f</a:t>
            </a:r>
            <a:endParaRPr sz="2800">
              <a:latin typeface="Times New Roman"/>
              <a:cs typeface="Times New Roman"/>
            </a:endParaRPr>
          </a:p>
          <a:p>
            <a:pPr marL="3388995">
              <a:lnSpc>
                <a:spcPts val="3354"/>
              </a:lnSpc>
            </a:pP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1/60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  <a:p>
            <a:pPr marL="3388995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0.0166</a:t>
            </a:r>
            <a:r>
              <a:rPr sz="2800" spc="-50" dirty="0">
                <a:latin typeface="Times New Roman"/>
                <a:cs typeface="Times New Roman"/>
              </a:rPr>
              <a:t> s</a:t>
            </a:r>
            <a:endParaRPr sz="2800">
              <a:latin typeface="Times New Roman"/>
              <a:cs typeface="Times New Roman"/>
            </a:endParaRPr>
          </a:p>
          <a:p>
            <a:pPr marL="3388995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0.0166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10</a:t>
            </a:r>
            <a:r>
              <a:rPr sz="2775" baseline="25525" dirty="0">
                <a:latin typeface="Times New Roman"/>
                <a:cs typeface="Times New Roman"/>
              </a:rPr>
              <a:t>3</a:t>
            </a:r>
            <a:r>
              <a:rPr sz="2775" spc="-37" baseline="2552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ms</a:t>
            </a:r>
            <a:endParaRPr sz="2800">
              <a:latin typeface="Times New Roman"/>
              <a:cs typeface="Times New Roman"/>
            </a:endParaRPr>
          </a:p>
          <a:p>
            <a:pPr marL="3388995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16.6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ms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9791" y="170814"/>
            <a:ext cx="4775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5" dirty="0">
                <a:latin typeface="Times New Roman"/>
                <a:cs typeface="Times New Roman"/>
              </a:rPr>
              <a:t>Eg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07340" y="979423"/>
            <a:ext cx="8528685" cy="8801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0"/>
              </a:spcBef>
            </a:pPr>
            <a:r>
              <a:rPr sz="2800" dirty="0"/>
              <a:t>The</a:t>
            </a:r>
            <a:r>
              <a:rPr sz="2800" spc="15" dirty="0"/>
              <a:t> </a:t>
            </a:r>
            <a:r>
              <a:rPr sz="2800" dirty="0"/>
              <a:t>power</a:t>
            </a:r>
            <a:r>
              <a:rPr sz="2800" spc="40" dirty="0"/>
              <a:t> </a:t>
            </a:r>
            <a:r>
              <a:rPr sz="2800" dirty="0"/>
              <a:t>we</a:t>
            </a:r>
            <a:r>
              <a:rPr sz="2800" spc="20" dirty="0"/>
              <a:t> </a:t>
            </a:r>
            <a:r>
              <a:rPr sz="2800" dirty="0"/>
              <a:t>use</a:t>
            </a:r>
            <a:r>
              <a:rPr sz="2800" spc="20" dirty="0"/>
              <a:t> </a:t>
            </a:r>
            <a:r>
              <a:rPr sz="2800" dirty="0"/>
              <a:t>at</a:t>
            </a:r>
            <a:r>
              <a:rPr sz="2800" spc="35" dirty="0"/>
              <a:t> </a:t>
            </a:r>
            <a:r>
              <a:rPr sz="2800" dirty="0"/>
              <a:t>home</a:t>
            </a:r>
            <a:r>
              <a:rPr sz="2800" spc="20" dirty="0"/>
              <a:t> </a:t>
            </a:r>
            <a:r>
              <a:rPr sz="2800" dirty="0"/>
              <a:t>has</a:t>
            </a:r>
            <a:r>
              <a:rPr sz="2800" spc="30" dirty="0"/>
              <a:t> </a:t>
            </a:r>
            <a:r>
              <a:rPr sz="2800" dirty="0"/>
              <a:t>a</a:t>
            </a:r>
            <a:r>
              <a:rPr sz="2800" spc="20" dirty="0"/>
              <a:t> </a:t>
            </a:r>
            <a:r>
              <a:rPr sz="2800" dirty="0"/>
              <a:t>frequency</a:t>
            </a:r>
            <a:r>
              <a:rPr sz="2800" spc="30" dirty="0"/>
              <a:t> </a:t>
            </a:r>
            <a:r>
              <a:rPr sz="2800" dirty="0"/>
              <a:t>of</a:t>
            </a:r>
            <a:r>
              <a:rPr sz="2800" spc="30" dirty="0"/>
              <a:t> </a:t>
            </a:r>
            <a:r>
              <a:rPr sz="2800" dirty="0"/>
              <a:t>60</a:t>
            </a:r>
            <a:r>
              <a:rPr sz="2800" spc="35" dirty="0"/>
              <a:t> </a:t>
            </a:r>
            <a:r>
              <a:rPr sz="2800" dirty="0"/>
              <a:t>Hz.</a:t>
            </a:r>
            <a:r>
              <a:rPr sz="2800" spc="20" dirty="0"/>
              <a:t> </a:t>
            </a:r>
            <a:r>
              <a:rPr sz="2800" spc="-20" dirty="0"/>
              <a:t>What </a:t>
            </a:r>
            <a:r>
              <a:rPr sz="2800" dirty="0"/>
              <a:t>is</a:t>
            </a:r>
            <a:r>
              <a:rPr sz="2800" spc="-35" dirty="0"/>
              <a:t> </a:t>
            </a:r>
            <a:r>
              <a:rPr sz="2800" dirty="0"/>
              <a:t>the</a:t>
            </a:r>
            <a:r>
              <a:rPr sz="2800" spc="-10" dirty="0"/>
              <a:t> </a:t>
            </a:r>
            <a:r>
              <a:rPr sz="2800" dirty="0"/>
              <a:t>period</a:t>
            </a:r>
            <a:r>
              <a:rPr sz="2800" spc="-25" dirty="0"/>
              <a:t> </a:t>
            </a:r>
            <a:r>
              <a:rPr sz="2800" dirty="0"/>
              <a:t>of</a:t>
            </a:r>
            <a:r>
              <a:rPr sz="2800" spc="-10" dirty="0"/>
              <a:t> </a:t>
            </a:r>
            <a:r>
              <a:rPr sz="2800" dirty="0"/>
              <a:t>that</a:t>
            </a:r>
            <a:r>
              <a:rPr sz="2800" spc="-15" dirty="0"/>
              <a:t> </a:t>
            </a:r>
            <a:r>
              <a:rPr sz="2800" spc="-10" dirty="0"/>
              <a:t>wave?</a:t>
            </a:r>
            <a:endParaRPr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07340" y="152526"/>
            <a:ext cx="4775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5" dirty="0">
                <a:latin typeface="Times New Roman"/>
                <a:cs typeface="Times New Roman"/>
              </a:rPr>
              <a:t>Eg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07340" y="1029080"/>
            <a:ext cx="8606790" cy="880744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0"/>
              </a:spcBef>
            </a:pPr>
            <a:r>
              <a:rPr sz="2800" dirty="0"/>
              <a:t>The</a:t>
            </a:r>
            <a:r>
              <a:rPr sz="2800" spc="260" dirty="0"/>
              <a:t> </a:t>
            </a:r>
            <a:r>
              <a:rPr sz="2800" dirty="0"/>
              <a:t>period</a:t>
            </a:r>
            <a:r>
              <a:rPr sz="2800" spc="275" dirty="0"/>
              <a:t> </a:t>
            </a:r>
            <a:r>
              <a:rPr sz="2800" dirty="0"/>
              <a:t>of</a:t>
            </a:r>
            <a:r>
              <a:rPr sz="2800" spc="265" dirty="0"/>
              <a:t> </a:t>
            </a:r>
            <a:r>
              <a:rPr sz="2800" dirty="0"/>
              <a:t>a</a:t>
            </a:r>
            <a:r>
              <a:rPr sz="2800" spc="260" dirty="0"/>
              <a:t> </a:t>
            </a:r>
            <a:r>
              <a:rPr sz="2800" dirty="0"/>
              <a:t>signal</a:t>
            </a:r>
            <a:r>
              <a:rPr sz="2800" spc="270" dirty="0"/>
              <a:t> </a:t>
            </a:r>
            <a:r>
              <a:rPr sz="2800" dirty="0"/>
              <a:t>is</a:t>
            </a:r>
            <a:r>
              <a:rPr sz="2800" spc="270" dirty="0"/>
              <a:t> </a:t>
            </a:r>
            <a:r>
              <a:rPr sz="2800" dirty="0"/>
              <a:t>100</a:t>
            </a:r>
            <a:r>
              <a:rPr sz="2800" spc="270" dirty="0"/>
              <a:t> </a:t>
            </a:r>
            <a:r>
              <a:rPr sz="2800" dirty="0"/>
              <a:t>ms.</a:t>
            </a:r>
            <a:r>
              <a:rPr sz="2800" spc="265" dirty="0"/>
              <a:t> </a:t>
            </a:r>
            <a:r>
              <a:rPr sz="2800" dirty="0"/>
              <a:t>What</a:t>
            </a:r>
            <a:r>
              <a:rPr sz="2800" spc="270" dirty="0"/>
              <a:t> </a:t>
            </a:r>
            <a:r>
              <a:rPr sz="2800" dirty="0"/>
              <a:t>is</a:t>
            </a:r>
            <a:r>
              <a:rPr sz="2800" spc="265" dirty="0"/>
              <a:t> </a:t>
            </a:r>
            <a:r>
              <a:rPr sz="2800" dirty="0"/>
              <a:t>its</a:t>
            </a:r>
            <a:r>
              <a:rPr sz="2800" spc="270" dirty="0"/>
              <a:t> </a:t>
            </a:r>
            <a:r>
              <a:rPr sz="2800" dirty="0"/>
              <a:t>frequency</a:t>
            </a:r>
            <a:r>
              <a:rPr sz="2800" spc="275" dirty="0"/>
              <a:t> </a:t>
            </a:r>
            <a:r>
              <a:rPr sz="2800" spc="-25" dirty="0"/>
              <a:t>in </a:t>
            </a:r>
            <a:r>
              <a:rPr sz="2800" spc="-10" dirty="0"/>
              <a:t>kilohertz?.</a:t>
            </a:r>
            <a:endParaRPr sz="2800"/>
          </a:p>
        </p:txBody>
      </p:sp>
      <p:sp>
        <p:nvSpPr>
          <p:cNvPr id="9" name="object 9"/>
          <p:cNvSpPr txBox="1"/>
          <p:nvPr/>
        </p:nvSpPr>
        <p:spPr>
          <a:xfrm>
            <a:off x="294640" y="1895601"/>
            <a:ext cx="863092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ts val="3354"/>
              </a:lnSpc>
              <a:spcBef>
                <a:spcPts val="95"/>
              </a:spcBef>
            </a:pP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25400" marR="17780">
              <a:lnSpc>
                <a:spcPts val="3370"/>
              </a:lnSpc>
              <a:spcBef>
                <a:spcPts val="85"/>
              </a:spcBef>
            </a:pPr>
            <a:r>
              <a:rPr sz="2800" dirty="0">
                <a:latin typeface="Times New Roman"/>
                <a:cs typeface="Times New Roman"/>
              </a:rPr>
              <a:t>First</a:t>
            </a:r>
            <a:r>
              <a:rPr sz="2800" spc="2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</a:t>
            </a:r>
            <a:r>
              <a:rPr sz="2800" spc="2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change</a:t>
            </a:r>
            <a:r>
              <a:rPr sz="2800" spc="2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100</a:t>
            </a:r>
            <a:r>
              <a:rPr sz="2800" spc="2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ms</a:t>
            </a:r>
            <a:r>
              <a:rPr sz="2800" spc="2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2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seconds,</a:t>
            </a:r>
            <a:r>
              <a:rPr sz="2800" spc="2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2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then</a:t>
            </a:r>
            <a:r>
              <a:rPr sz="2800" spc="2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</a:t>
            </a:r>
            <a:r>
              <a:rPr sz="2800" spc="2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calculate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frequency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period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(1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Hz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10</a:t>
            </a:r>
            <a:r>
              <a:rPr sz="2775" baseline="25525" dirty="0">
                <a:latin typeface="Times New Roman"/>
                <a:cs typeface="Times New Roman"/>
              </a:rPr>
              <a:t>–3</a:t>
            </a:r>
            <a:r>
              <a:rPr sz="2775" spc="315" baseline="255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kHz).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7401" y="3445560"/>
            <a:ext cx="6829171" cy="11069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Frequency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8589"/>
            <a:ext cx="6995795" cy="245935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0520" algn="l"/>
              </a:tabLst>
            </a:pPr>
            <a:r>
              <a:rPr sz="2400" dirty="0">
                <a:latin typeface="Times New Roman"/>
                <a:cs typeface="Times New Roman"/>
              </a:rPr>
              <a:t>Frequency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rate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respect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time</a:t>
            </a:r>
            <a:endParaRPr sz="2400">
              <a:latin typeface="Times New Roman"/>
              <a:cs typeface="Times New Roman"/>
            </a:endParaRPr>
          </a:p>
          <a:p>
            <a:pPr marL="350520" indent="-337820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0520" algn="l"/>
              </a:tabLst>
            </a:pPr>
            <a:r>
              <a:rPr sz="2400" dirty="0">
                <a:latin typeface="Times New Roman"/>
                <a:cs typeface="Times New Roman"/>
              </a:rPr>
              <a:t>Change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short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frequency</a:t>
            </a:r>
            <a:endParaRPr sz="2400">
              <a:latin typeface="Times New Roman"/>
              <a:cs typeface="Times New Roman"/>
            </a:endParaRPr>
          </a:p>
          <a:p>
            <a:pPr marL="350520" indent="-337820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0520" algn="l"/>
              </a:tabLst>
            </a:pPr>
            <a:r>
              <a:rPr sz="2400" dirty="0">
                <a:latin typeface="Times New Roman"/>
                <a:cs typeface="Times New Roman"/>
              </a:rPr>
              <a:t>Change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low</a:t>
            </a:r>
            <a:r>
              <a:rPr sz="2400" spc="-10" dirty="0">
                <a:latin typeface="Times New Roman"/>
                <a:cs typeface="Times New Roman"/>
              </a:rPr>
              <a:t> frequency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35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change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frequency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zero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changes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instantaneously,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frequency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infinite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4760595"/>
            <a:chOff x="-6917" y="19037"/>
            <a:chExt cx="9158605" cy="4760595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8599" y="916558"/>
              <a:ext cx="8534400" cy="2862580"/>
            </a:xfrm>
            <a:custGeom>
              <a:avLst/>
              <a:gdLst/>
              <a:ahLst/>
              <a:cxnLst/>
              <a:rect l="l" t="t" r="r" b="b"/>
              <a:pathLst>
                <a:path w="8534400" h="2862579">
                  <a:moveTo>
                    <a:pt x="8534146" y="0"/>
                  </a:moveTo>
                  <a:lnTo>
                    <a:pt x="0" y="0"/>
                  </a:lnTo>
                  <a:lnTo>
                    <a:pt x="0" y="2862326"/>
                  </a:lnTo>
                  <a:lnTo>
                    <a:pt x="8534146" y="2862326"/>
                  </a:lnTo>
                  <a:lnTo>
                    <a:pt x="85341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Phase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07340" y="1107186"/>
            <a:ext cx="8378190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term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PHASE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PHASE</a:t>
            </a:r>
            <a:r>
              <a:rPr sz="2000" u="sng" spc="1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SHIFT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describes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position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waveform </a:t>
            </a:r>
            <a:r>
              <a:rPr sz="2000" dirty="0">
                <a:latin typeface="Times New Roman"/>
                <a:cs typeface="Times New Roman"/>
              </a:rPr>
              <a:t>relative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complete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cycle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defined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360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degrees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phase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  <a:tab pos="1082675" algn="l"/>
                <a:tab pos="2239010" algn="l"/>
                <a:tab pos="2439035" algn="l"/>
                <a:tab pos="2981960" algn="l"/>
                <a:tab pos="3719195" algn="l"/>
                <a:tab pos="4432300" algn="l"/>
                <a:tab pos="5115560" algn="l"/>
                <a:tab pos="5314950" algn="l"/>
                <a:tab pos="5645785" algn="l"/>
                <a:tab pos="6554470" algn="l"/>
                <a:tab pos="6859270" algn="l"/>
              </a:tabLst>
            </a:pPr>
            <a:r>
              <a:rPr sz="2000" spc="-10" dirty="0">
                <a:latin typeface="Times New Roman"/>
                <a:cs typeface="Times New Roman"/>
              </a:rPr>
              <a:t>Phase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difference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also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called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phase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angle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in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degrees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is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conventionally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defined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greater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-180,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less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equal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</a:t>
            </a:r>
            <a:r>
              <a:rPr sz="2000" spc="-20" dirty="0">
                <a:latin typeface="Times New Roman"/>
                <a:cs typeface="Times New Roman"/>
              </a:rPr>
              <a:t>+180</a:t>
            </a:r>
            <a:endParaRPr sz="2000">
              <a:latin typeface="Times New Roman"/>
              <a:cs typeface="Times New Roman"/>
            </a:endParaRPr>
          </a:p>
          <a:p>
            <a:pPr marL="352425" marR="5715" indent="-339725" algn="just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Leading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phase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refers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wave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occurs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"ahead"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another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wave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	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frequency.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Lagging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phase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refers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wave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occurs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"behind"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another 	</a:t>
            </a:r>
            <a:r>
              <a:rPr sz="2000" dirty="0">
                <a:latin typeface="Times New Roman"/>
                <a:cs typeface="Times New Roman"/>
              </a:rPr>
              <a:t>wave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 </a:t>
            </a:r>
            <a:r>
              <a:rPr sz="2000" spc="-10" dirty="0">
                <a:latin typeface="Times New Roman"/>
                <a:cs typeface="Times New Roman"/>
              </a:rPr>
              <a:t>frequency.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4914" y="3267722"/>
            <a:ext cx="8610600" cy="1546225"/>
            <a:chOff x="304914" y="3267722"/>
            <a:chExt cx="8610600" cy="154622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86199" y="3267722"/>
              <a:ext cx="4067936" cy="71892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914" y="4082402"/>
              <a:ext cx="4067937" cy="73152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47082" y="4077004"/>
              <a:ext cx="4067937" cy="679678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Phase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1422"/>
            <a:ext cx="8528050" cy="358076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50520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ts val="2375"/>
              </a:lnSpc>
              <a:spcBef>
                <a:spcPts val="475"/>
              </a:spcBef>
              <a:tabLst>
                <a:tab pos="7562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sine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wave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offset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1/6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cycle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respect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0.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What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phase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  <a:p>
            <a:pPr marL="756285">
              <a:lnSpc>
                <a:spcPts val="2375"/>
              </a:lnSpc>
            </a:pPr>
            <a:r>
              <a:rPr sz="2000" dirty="0">
                <a:latin typeface="Times New Roman"/>
                <a:cs typeface="Times New Roman"/>
              </a:rPr>
              <a:t>degrees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radians?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>
              <a:latin typeface="Times New Roman"/>
              <a:cs typeface="Times New Roman"/>
            </a:endParaRPr>
          </a:p>
          <a:p>
            <a:pPr marL="350520" indent="-337820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0520" algn="l"/>
              </a:tabLst>
            </a:pPr>
            <a:r>
              <a:rPr sz="2400" spc="-70" dirty="0">
                <a:latin typeface="Times New Roman"/>
                <a:cs typeface="Times New Roman"/>
              </a:rPr>
              <a:t>We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know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complete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cycle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360°.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Therefore,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1/6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cycle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</a:t>
            </a:r>
            <a:endParaRPr sz="2400">
              <a:latin typeface="Times New Roman"/>
              <a:cs typeface="Times New Roman"/>
            </a:endParaRPr>
          </a:p>
          <a:p>
            <a:pPr marL="3083560">
              <a:lnSpc>
                <a:spcPct val="100000"/>
              </a:lnSpc>
              <a:spcBef>
                <a:spcPts val="1060"/>
              </a:spcBef>
            </a:pPr>
            <a:r>
              <a:rPr sz="2400" dirty="0">
                <a:latin typeface="Times New Roman"/>
                <a:cs typeface="Times New Roman"/>
              </a:rPr>
              <a:t>1/6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360</a:t>
            </a:r>
            <a:endParaRPr sz="2400">
              <a:latin typeface="Times New Roman"/>
              <a:cs typeface="Times New Roman"/>
            </a:endParaRPr>
          </a:p>
          <a:p>
            <a:pPr marL="285623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5" dirty="0">
                <a:latin typeface="Times New Roman"/>
                <a:cs typeface="Times New Roman"/>
              </a:rPr>
              <a:t> 60°</a:t>
            </a:r>
            <a:endParaRPr sz="2400">
              <a:latin typeface="Times New Roman"/>
              <a:cs typeface="Times New Roman"/>
            </a:endParaRPr>
          </a:p>
          <a:p>
            <a:pPr marL="2856230">
              <a:lnSpc>
                <a:spcPct val="100000"/>
              </a:lnSpc>
              <a:tabLst>
                <a:tab pos="3558540" algn="l"/>
              </a:tabLst>
            </a:pP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5" dirty="0">
                <a:latin typeface="Times New Roman"/>
                <a:cs typeface="Times New Roman"/>
              </a:rPr>
              <a:t> 60</a:t>
            </a:r>
            <a:r>
              <a:rPr sz="2400" dirty="0">
                <a:latin typeface="Times New Roman"/>
                <a:cs typeface="Times New Roman"/>
              </a:rPr>
              <a:t>	*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2Π/360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rad</a:t>
            </a:r>
            <a:endParaRPr sz="2400">
              <a:latin typeface="Times New Roman"/>
              <a:cs typeface="Times New Roman"/>
            </a:endParaRPr>
          </a:p>
          <a:p>
            <a:pPr marL="285623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Π/3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rad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Application</a:t>
            </a:r>
            <a:r>
              <a:rPr spc="-6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Simple</a:t>
            </a:r>
            <a:r>
              <a:rPr spc="-10" dirty="0"/>
              <a:t> Signals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0976"/>
            <a:ext cx="8529320" cy="197294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Simple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waves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daily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life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ts val="2850"/>
              </a:lnSpc>
              <a:spcBef>
                <a:spcPts val="56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We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send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single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sine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wave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carry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electric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energy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one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ts val="2850"/>
              </a:lnSpc>
            </a:pPr>
            <a:r>
              <a:rPr sz="2400" dirty="0">
                <a:latin typeface="Times New Roman"/>
                <a:cs typeface="Times New Roman"/>
              </a:rPr>
              <a:t>place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another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Eg: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electric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power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alarm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center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Signals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Communication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53060" indent="-340360" algn="just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353060" algn="l"/>
              </a:tabLst>
            </a:pPr>
            <a:r>
              <a:rPr spc="-20" dirty="0"/>
              <a:t>A</a:t>
            </a:r>
            <a:r>
              <a:rPr spc="-140" dirty="0"/>
              <a:t> </a:t>
            </a:r>
            <a:r>
              <a:rPr dirty="0"/>
              <a:t>single-frequency</a:t>
            </a:r>
            <a:r>
              <a:rPr spc="-55" dirty="0"/>
              <a:t> </a:t>
            </a:r>
            <a:r>
              <a:rPr dirty="0"/>
              <a:t>sine</a:t>
            </a:r>
            <a:r>
              <a:rPr spc="-15" dirty="0"/>
              <a:t> </a:t>
            </a:r>
            <a:r>
              <a:rPr dirty="0"/>
              <a:t>wave is</a:t>
            </a:r>
            <a:r>
              <a:rPr spc="-10" dirty="0"/>
              <a:t> </a:t>
            </a:r>
            <a:r>
              <a:rPr dirty="0"/>
              <a:t>not</a:t>
            </a:r>
            <a:r>
              <a:rPr spc="-10" dirty="0"/>
              <a:t> </a:t>
            </a:r>
            <a:r>
              <a:rPr dirty="0"/>
              <a:t>useful</a:t>
            </a:r>
            <a:r>
              <a:rPr spc="-1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spc="-10" dirty="0"/>
              <a:t>communications</a:t>
            </a:r>
          </a:p>
          <a:p>
            <a:pPr marL="353060" indent="-340360" algn="just">
              <a:lnSpc>
                <a:spcPts val="2850"/>
              </a:lnSpc>
              <a:spcBef>
                <a:spcPts val="565"/>
              </a:spcBef>
              <a:buFont typeface="Arial MT"/>
              <a:buChar char="•"/>
              <a:tabLst>
                <a:tab pos="353060" algn="l"/>
              </a:tabLst>
            </a:pPr>
            <a:r>
              <a:rPr spc="-50" dirty="0"/>
              <a:t>We</a:t>
            </a:r>
            <a:r>
              <a:rPr dirty="0"/>
              <a:t> need</a:t>
            </a:r>
            <a:r>
              <a:rPr spc="-1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send</a:t>
            </a:r>
            <a:r>
              <a:rPr spc="-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composite signal,</a:t>
            </a:r>
            <a:r>
              <a:rPr spc="-10" dirty="0"/>
              <a:t> </a:t>
            </a:r>
            <a:r>
              <a:rPr dirty="0"/>
              <a:t>a signal</a:t>
            </a:r>
            <a:r>
              <a:rPr spc="5" dirty="0"/>
              <a:t> </a:t>
            </a:r>
            <a:r>
              <a:rPr dirty="0"/>
              <a:t>made of</a:t>
            </a:r>
            <a:r>
              <a:rPr spc="-10" dirty="0"/>
              <a:t> </a:t>
            </a:r>
            <a:r>
              <a:rPr dirty="0"/>
              <a:t>many</a:t>
            </a:r>
            <a:r>
              <a:rPr spc="5" dirty="0"/>
              <a:t> </a:t>
            </a:r>
            <a:r>
              <a:rPr spc="-10" dirty="0"/>
              <a:t>simple</a:t>
            </a:r>
          </a:p>
          <a:p>
            <a:pPr marL="355600" algn="just">
              <a:lnSpc>
                <a:spcPts val="2850"/>
              </a:lnSpc>
            </a:pPr>
            <a:r>
              <a:rPr dirty="0"/>
              <a:t>sine</a:t>
            </a:r>
            <a:r>
              <a:rPr spc="-25" dirty="0"/>
              <a:t> </a:t>
            </a:r>
            <a:r>
              <a:rPr spc="-10" dirty="0"/>
              <a:t>waves</a:t>
            </a:r>
          </a:p>
          <a:p>
            <a:pPr marL="353060" marR="5080" indent="-340360" algn="just">
              <a:lnSpc>
                <a:spcPct val="992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According</a:t>
            </a:r>
            <a:r>
              <a:rPr spc="340" dirty="0"/>
              <a:t>  </a:t>
            </a:r>
            <a:r>
              <a:rPr dirty="0"/>
              <a:t>to</a:t>
            </a:r>
            <a:r>
              <a:rPr spc="345" dirty="0"/>
              <a:t>  </a:t>
            </a:r>
            <a:r>
              <a:rPr dirty="0"/>
              <a:t>Fourier</a:t>
            </a:r>
            <a:r>
              <a:rPr spc="345" dirty="0"/>
              <a:t>  </a:t>
            </a:r>
            <a:r>
              <a:rPr dirty="0"/>
              <a:t>analysis,</a:t>
            </a:r>
            <a:r>
              <a:rPr spc="335" dirty="0"/>
              <a:t>  </a:t>
            </a:r>
            <a:r>
              <a:rPr dirty="0"/>
              <a:t>any</a:t>
            </a:r>
            <a:r>
              <a:rPr spc="345" dirty="0"/>
              <a:t>  </a:t>
            </a:r>
            <a:r>
              <a:rPr dirty="0"/>
              <a:t>composite</a:t>
            </a:r>
            <a:r>
              <a:rPr spc="340" dirty="0"/>
              <a:t>  </a:t>
            </a:r>
            <a:r>
              <a:rPr dirty="0"/>
              <a:t>signal</a:t>
            </a:r>
            <a:r>
              <a:rPr spc="340" dirty="0"/>
              <a:t>  </a:t>
            </a:r>
            <a:r>
              <a:rPr dirty="0"/>
              <a:t>is</a:t>
            </a:r>
            <a:r>
              <a:rPr spc="335" dirty="0"/>
              <a:t>  </a:t>
            </a:r>
            <a:r>
              <a:rPr spc="-50" dirty="0"/>
              <a:t>a 	</a:t>
            </a:r>
            <a:r>
              <a:rPr dirty="0"/>
              <a:t>combination</a:t>
            </a:r>
            <a:r>
              <a:rPr spc="95" dirty="0"/>
              <a:t>  </a:t>
            </a:r>
            <a:r>
              <a:rPr dirty="0"/>
              <a:t>of</a:t>
            </a:r>
            <a:r>
              <a:rPr spc="90" dirty="0"/>
              <a:t>  </a:t>
            </a:r>
            <a:r>
              <a:rPr dirty="0"/>
              <a:t>simple</a:t>
            </a:r>
            <a:r>
              <a:rPr spc="95" dirty="0"/>
              <a:t>  </a:t>
            </a:r>
            <a:r>
              <a:rPr dirty="0"/>
              <a:t>sine</a:t>
            </a:r>
            <a:r>
              <a:rPr spc="95" dirty="0"/>
              <a:t>  </a:t>
            </a:r>
            <a:r>
              <a:rPr dirty="0"/>
              <a:t>waves</a:t>
            </a:r>
            <a:r>
              <a:rPr spc="100" dirty="0"/>
              <a:t>  </a:t>
            </a:r>
            <a:r>
              <a:rPr dirty="0"/>
              <a:t>with</a:t>
            </a:r>
            <a:r>
              <a:rPr spc="95" dirty="0"/>
              <a:t>  </a:t>
            </a:r>
            <a:r>
              <a:rPr dirty="0"/>
              <a:t>different</a:t>
            </a:r>
            <a:r>
              <a:rPr spc="95" dirty="0"/>
              <a:t>  </a:t>
            </a:r>
            <a:r>
              <a:rPr spc="-10" dirty="0"/>
              <a:t>frequencies, 	</a:t>
            </a:r>
            <a:r>
              <a:rPr dirty="0"/>
              <a:t>amplitudes,</a:t>
            </a:r>
            <a:r>
              <a:rPr spc="-5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phases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Composite</a:t>
            </a:r>
            <a:r>
              <a:rPr spc="-60" dirty="0"/>
              <a:t> </a:t>
            </a:r>
            <a:r>
              <a:rPr dirty="0"/>
              <a:t>Signals</a:t>
            </a:r>
            <a:r>
              <a:rPr spc="-2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Periodicity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287" rIns="0" bIns="0" rtlCol="0">
            <a:spAutoFit/>
          </a:bodyPr>
          <a:lstStyle/>
          <a:p>
            <a:pPr marL="355600" marR="5080" indent="-342900">
              <a:lnSpc>
                <a:spcPts val="2820"/>
              </a:lnSpc>
              <a:spcBef>
                <a:spcPts val="240"/>
              </a:spcBef>
              <a:buFont typeface="Arial MT"/>
              <a:buChar char="•"/>
              <a:tabLst>
                <a:tab pos="355600" algn="l"/>
                <a:tab pos="713105" algn="l"/>
                <a:tab pos="1240790" algn="l"/>
                <a:tab pos="2646045" algn="l"/>
                <a:tab pos="3527425" algn="l"/>
                <a:tab pos="3886835" algn="l"/>
                <a:tab pos="5112385" algn="l"/>
                <a:tab pos="5640070" algn="l"/>
                <a:tab pos="7586345" algn="l"/>
                <a:tab pos="8382000" algn="l"/>
              </a:tabLst>
            </a:pPr>
            <a:r>
              <a:rPr spc="-25" dirty="0"/>
              <a:t>If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spc="-10" dirty="0"/>
              <a:t>composite</a:t>
            </a:r>
            <a:r>
              <a:rPr dirty="0"/>
              <a:t>	</a:t>
            </a:r>
            <a:r>
              <a:rPr spc="-10" dirty="0"/>
              <a:t>signal</a:t>
            </a:r>
            <a:r>
              <a:rPr dirty="0"/>
              <a:t>	</a:t>
            </a:r>
            <a:r>
              <a:rPr spc="-25" dirty="0"/>
              <a:t>is</a:t>
            </a:r>
            <a:r>
              <a:rPr dirty="0"/>
              <a:t>	</a:t>
            </a:r>
            <a:r>
              <a:rPr spc="-10" dirty="0"/>
              <a:t>periodic,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spc="-10" dirty="0"/>
              <a:t>decomposition</a:t>
            </a:r>
            <a:r>
              <a:rPr dirty="0"/>
              <a:t>	</a:t>
            </a:r>
            <a:r>
              <a:rPr spc="-10" dirty="0"/>
              <a:t>gives</a:t>
            </a:r>
            <a:r>
              <a:rPr dirty="0"/>
              <a:t>	</a:t>
            </a:r>
            <a:r>
              <a:rPr spc="-50" dirty="0"/>
              <a:t>a </a:t>
            </a:r>
            <a:r>
              <a:rPr dirty="0"/>
              <a:t>series</a:t>
            </a:r>
            <a:r>
              <a:rPr spc="-3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signals</a:t>
            </a:r>
            <a:r>
              <a:rPr spc="-25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dirty="0"/>
              <a:t>discrete</a:t>
            </a:r>
            <a:r>
              <a:rPr spc="-40" dirty="0"/>
              <a:t> </a:t>
            </a:r>
            <a:r>
              <a:rPr spc="-10" dirty="0"/>
              <a:t>frequencies</a:t>
            </a:r>
          </a:p>
          <a:p>
            <a:pPr marL="355600" marR="5080" indent="-342900">
              <a:lnSpc>
                <a:spcPts val="2820"/>
              </a:lnSpc>
              <a:spcBef>
                <a:spcPts val="63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If</a:t>
            </a:r>
            <a:r>
              <a:rPr spc="100" dirty="0"/>
              <a:t> </a:t>
            </a:r>
            <a:r>
              <a:rPr dirty="0"/>
              <a:t>the</a:t>
            </a:r>
            <a:r>
              <a:rPr spc="110" dirty="0"/>
              <a:t> </a:t>
            </a:r>
            <a:r>
              <a:rPr dirty="0"/>
              <a:t>composite</a:t>
            </a:r>
            <a:r>
              <a:rPr spc="114" dirty="0"/>
              <a:t> </a:t>
            </a:r>
            <a:r>
              <a:rPr dirty="0"/>
              <a:t>signal</a:t>
            </a:r>
            <a:r>
              <a:rPr spc="110" dirty="0"/>
              <a:t> </a:t>
            </a:r>
            <a:r>
              <a:rPr dirty="0"/>
              <a:t>is</a:t>
            </a:r>
            <a:r>
              <a:rPr spc="110" dirty="0"/>
              <a:t> </a:t>
            </a:r>
            <a:r>
              <a:rPr spc="-10" dirty="0"/>
              <a:t>non-</a:t>
            </a:r>
            <a:r>
              <a:rPr dirty="0"/>
              <a:t>periodic,</a:t>
            </a:r>
            <a:r>
              <a:rPr spc="120" dirty="0"/>
              <a:t> </a:t>
            </a:r>
            <a:r>
              <a:rPr dirty="0"/>
              <a:t>the</a:t>
            </a:r>
            <a:r>
              <a:rPr spc="114" dirty="0"/>
              <a:t> </a:t>
            </a:r>
            <a:r>
              <a:rPr dirty="0"/>
              <a:t>decomposition</a:t>
            </a:r>
            <a:r>
              <a:rPr spc="110" dirty="0"/>
              <a:t> </a:t>
            </a:r>
            <a:r>
              <a:rPr dirty="0"/>
              <a:t>gives</a:t>
            </a:r>
            <a:r>
              <a:rPr spc="114" dirty="0"/>
              <a:t> </a:t>
            </a:r>
            <a:r>
              <a:rPr spc="-50" dirty="0"/>
              <a:t>a </a:t>
            </a:r>
            <a:r>
              <a:rPr dirty="0"/>
              <a:t>combination</a:t>
            </a:r>
            <a:r>
              <a:rPr spc="-7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sine</a:t>
            </a:r>
            <a:r>
              <a:rPr spc="-15" dirty="0"/>
              <a:t> </a:t>
            </a:r>
            <a:r>
              <a:rPr dirty="0"/>
              <a:t>waves</a:t>
            </a:r>
            <a:r>
              <a:rPr spc="-25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dirty="0"/>
              <a:t>continuous</a:t>
            </a:r>
            <a:r>
              <a:rPr spc="-40" dirty="0"/>
              <a:t> </a:t>
            </a:r>
            <a:r>
              <a:rPr spc="-10" dirty="0"/>
              <a:t>frequencies</a:t>
            </a:r>
          </a:p>
        </p:txBody>
      </p:sp>
      <p:sp>
        <p:nvSpPr>
          <p:cNvPr id="9" name="object 9"/>
          <p:cNvSpPr/>
          <p:nvPr/>
        </p:nvSpPr>
        <p:spPr>
          <a:xfrm>
            <a:off x="3347846" y="1851660"/>
            <a:ext cx="4032885" cy="793750"/>
          </a:xfrm>
          <a:custGeom>
            <a:avLst/>
            <a:gdLst/>
            <a:ahLst/>
            <a:cxnLst/>
            <a:rect l="l" t="t" r="r" b="b"/>
            <a:pathLst>
              <a:path w="4032884" h="793750">
                <a:moveTo>
                  <a:pt x="0" y="0"/>
                </a:moveTo>
                <a:lnTo>
                  <a:pt x="2376297" y="1650"/>
                </a:lnTo>
              </a:path>
              <a:path w="4032884" h="793750">
                <a:moveTo>
                  <a:pt x="1339341" y="792098"/>
                </a:moveTo>
                <a:lnTo>
                  <a:pt x="4032504" y="793622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Composite</a:t>
            </a:r>
            <a:r>
              <a:rPr spc="-50" dirty="0"/>
              <a:t> </a:t>
            </a:r>
            <a:r>
              <a:rPr dirty="0"/>
              <a:t>Period</a:t>
            </a:r>
            <a:r>
              <a:rPr spc="-20" dirty="0"/>
              <a:t> </a:t>
            </a:r>
            <a:r>
              <a:rPr spc="-10" dirty="0"/>
              <a:t>Signal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1062609"/>
            <a:ext cx="8396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Composite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collection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single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simple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signals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00" y="2391067"/>
            <a:ext cx="7512177" cy="17536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1424591" y="1119021"/>
            <a:ext cx="6773545" cy="3660140"/>
            <a:chOff x="1424591" y="1119021"/>
            <a:chExt cx="6773545" cy="366014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74087" y="3193969"/>
              <a:ext cx="0" cy="758825"/>
            </a:xfrm>
            <a:custGeom>
              <a:avLst/>
              <a:gdLst/>
              <a:ahLst/>
              <a:cxnLst/>
              <a:rect l="l" t="t" r="r" b="b"/>
              <a:pathLst>
                <a:path h="758825">
                  <a:moveTo>
                    <a:pt x="0" y="758439"/>
                  </a:moveTo>
                  <a:lnTo>
                    <a:pt x="0" y="0"/>
                  </a:lnTo>
                </a:path>
              </a:pathLst>
            </a:custGeom>
            <a:ln w="134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4591" y="3111041"/>
              <a:ext cx="99182" cy="12361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474087" y="3810237"/>
              <a:ext cx="6614159" cy="0"/>
            </a:xfrm>
            <a:custGeom>
              <a:avLst/>
              <a:gdLst/>
              <a:ahLst/>
              <a:cxnLst/>
              <a:rect l="l" t="t" r="r" b="b"/>
              <a:pathLst>
                <a:path w="6614159">
                  <a:moveTo>
                    <a:pt x="507665" y="0"/>
                  </a:moveTo>
                  <a:lnTo>
                    <a:pt x="1202392" y="0"/>
                  </a:lnTo>
                </a:path>
                <a:path w="6614159">
                  <a:moveTo>
                    <a:pt x="1261156" y="0"/>
                  </a:moveTo>
                  <a:lnTo>
                    <a:pt x="6613590" y="0"/>
                  </a:lnTo>
                </a:path>
                <a:path w="6614159">
                  <a:moveTo>
                    <a:pt x="0" y="0"/>
                  </a:moveTo>
                  <a:lnTo>
                    <a:pt x="448901" y="0"/>
                  </a:lnTo>
                </a:path>
              </a:pathLst>
            </a:custGeom>
            <a:ln w="10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33656" y="3772974"/>
              <a:ext cx="164427" cy="7606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998673" y="2874135"/>
            <a:ext cx="95250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200" dirty="0">
                <a:latin typeface="Times New Roman"/>
                <a:cs typeface="Times New Roman"/>
              </a:rPr>
              <a:t>Amplitude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92031" y="3798097"/>
            <a:ext cx="97790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100" dirty="0">
                <a:latin typeface="Times New Roman"/>
                <a:cs typeface="Times New Roman"/>
              </a:rPr>
              <a:t>f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97799" y="3814831"/>
            <a:ext cx="5288915" cy="6959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07670">
              <a:lnSpc>
                <a:spcPct val="100000"/>
              </a:lnSpc>
              <a:spcBef>
                <a:spcPts val="130"/>
              </a:spcBef>
              <a:tabLst>
                <a:tab pos="2567940" algn="l"/>
              </a:tabLst>
            </a:pPr>
            <a:r>
              <a:rPr sz="1250" spc="195" dirty="0">
                <a:latin typeface="Times New Roman"/>
                <a:cs typeface="Times New Roman"/>
              </a:rPr>
              <a:t>3f</a:t>
            </a:r>
            <a:r>
              <a:rPr sz="1250" dirty="0">
                <a:latin typeface="Times New Roman"/>
                <a:cs typeface="Times New Roman"/>
              </a:rPr>
              <a:t>	</a:t>
            </a:r>
            <a:r>
              <a:rPr sz="1875" spc="292" baseline="2222" dirty="0">
                <a:latin typeface="Times New Roman"/>
                <a:cs typeface="Times New Roman"/>
              </a:rPr>
              <a:t>9f</a:t>
            </a:r>
            <a:endParaRPr sz="1875" baseline="222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50" spc="165" dirty="0">
                <a:latin typeface="Times New Roman"/>
                <a:cs typeface="Times New Roman"/>
              </a:rPr>
              <a:t>b.</a:t>
            </a:r>
            <a:r>
              <a:rPr sz="1250" spc="120" dirty="0">
                <a:latin typeface="Times New Roman"/>
                <a:cs typeface="Times New Roman"/>
              </a:rPr>
              <a:t> </a:t>
            </a:r>
            <a:r>
              <a:rPr sz="1250" spc="210" dirty="0">
                <a:latin typeface="Times New Roman"/>
                <a:cs typeface="Times New Roman"/>
              </a:rPr>
              <a:t>Frequency-</a:t>
            </a:r>
            <a:r>
              <a:rPr sz="1250" spc="225" dirty="0">
                <a:latin typeface="Times New Roman"/>
                <a:cs typeface="Times New Roman"/>
              </a:rPr>
              <a:t>domain</a:t>
            </a:r>
            <a:r>
              <a:rPr sz="1250" spc="125" dirty="0">
                <a:latin typeface="Times New Roman"/>
                <a:cs typeface="Times New Roman"/>
              </a:rPr>
              <a:t> </a:t>
            </a:r>
            <a:r>
              <a:rPr sz="1250" spc="200" dirty="0">
                <a:latin typeface="Times New Roman"/>
                <a:cs typeface="Times New Roman"/>
              </a:rPr>
              <a:t>decomposition</a:t>
            </a:r>
            <a:r>
              <a:rPr sz="1250" spc="130" dirty="0">
                <a:latin typeface="Times New Roman"/>
                <a:cs typeface="Times New Roman"/>
              </a:rPr>
              <a:t> </a:t>
            </a:r>
            <a:r>
              <a:rPr sz="1250" spc="190" dirty="0">
                <a:latin typeface="Times New Roman"/>
                <a:cs typeface="Times New Roman"/>
              </a:rPr>
              <a:t>of</a:t>
            </a:r>
            <a:r>
              <a:rPr sz="1250" spc="125" dirty="0">
                <a:latin typeface="Times New Roman"/>
                <a:cs typeface="Times New Roman"/>
              </a:rPr>
              <a:t> </a:t>
            </a:r>
            <a:r>
              <a:rPr sz="1250" spc="180" dirty="0">
                <a:latin typeface="Times New Roman"/>
                <a:cs typeface="Times New Roman"/>
              </a:rPr>
              <a:t>the</a:t>
            </a:r>
            <a:r>
              <a:rPr sz="1250" spc="125" dirty="0">
                <a:latin typeface="Times New Roman"/>
                <a:cs typeface="Times New Roman"/>
              </a:rPr>
              <a:t> </a:t>
            </a:r>
            <a:r>
              <a:rPr sz="1250" spc="204" dirty="0">
                <a:latin typeface="Times New Roman"/>
                <a:cs typeface="Times New Roman"/>
              </a:rPr>
              <a:t>composite</a:t>
            </a:r>
            <a:r>
              <a:rPr sz="1250" spc="135" dirty="0">
                <a:latin typeface="Times New Roman"/>
                <a:cs typeface="Times New Roman"/>
              </a:rPr>
              <a:t> </a:t>
            </a:r>
            <a:r>
              <a:rPr sz="1250" spc="165" dirty="0">
                <a:latin typeface="Times New Roman"/>
                <a:cs typeface="Times New Roman"/>
              </a:rPr>
              <a:t>signal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11335" y="3871503"/>
            <a:ext cx="93916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200" dirty="0">
                <a:latin typeface="Times New Roman"/>
                <a:cs typeface="Times New Roman"/>
              </a:rPr>
              <a:t>Frequency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Decomposition</a:t>
            </a:r>
            <a:r>
              <a:rPr spc="-9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composite</a:t>
            </a:r>
            <a:r>
              <a:rPr spc="-75" dirty="0"/>
              <a:t> </a:t>
            </a:r>
            <a:r>
              <a:rPr dirty="0"/>
              <a:t>periodic</a:t>
            </a:r>
            <a:r>
              <a:rPr spc="-70" dirty="0"/>
              <a:t> </a:t>
            </a:r>
            <a:r>
              <a:rPr spc="-10" dirty="0"/>
              <a:t>signal</a:t>
            </a:r>
          </a:p>
        </p:txBody>
      </p:sp>
      <p:grpSp>
        <p:nvGrpSpPr>
          <p:cNvPr id="17" name="object 17"/>
          <p:cNvGrpSpPr/>
          <p:nvPr/>
        </p:nvGrpSpPr>
        <p:grpSpPr>
          <a:xfrm>
            <a:off x="1418516" y="1389580"/>
            <a:ext cx="6774815" cy="1132205"/>
            <a:chOff x="1418516" y="1389580"/>
            <a:chExt cx="6774815" cy="1132205"/>
          </a:xfrm>
        </p:grpSpPr>
        <p:sp>
          <p:nvSpPr>
            <p:cNvPr id="18" name="object 18"/>
            <p:cNvSpPr/>
            <p:nvPr/>
          </p:nvSpPr>
          <p:spPr>
            <a:xfrm>
              <a:off x="1468017" y="1472556"/>
              <a:ext cx="0" cy="1042035"/>
            </a:xfrm>
            <a:custGeom>
              <a:avLst/>
              <a:gdLst/>
              <a:ahLst/>
              <a:cxnLst/>
              <a:rect l="l" t="t" r="r" b="b"/>
              <a:pathLst>
                <a:path h="1042035">
                  <a:moveTo>
                    <a:pt x="0" y="1041662"/>
                  </a:moveTo>
                  <a:lnTo>
                    <a:pt x="0" y="0"/>
                  </a:lnTo>
                </a:path>
              </a:pathLst>
            </a:custGeom>
            <a:ln w="135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18516" y="1389580"/>
              <a:ext cx="99193" cy="12360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468017" y="2048499"/>
              <a:ext cx="6614795" cy="0"/>
            </a:xfrm>
            <a:custGeom>
              <a:avLst/>
              <a:gdLst/>
              <a:ahLst/>
              <a:cxnLst/>
              <a:rect l="l" t="t" r="r" b="b"/>
              <a:pathLst>
                <a:path w="6614795">
                  <a:moveTo>
                    <a:pt x="0" y="0"/>
                  </a:moveTo>
                  <a:lnTo>
                    <a:pt x="6614693" y="0"/>
                  </a:lnTo>
                </a:path>
              </a:pathLst>
            </a:custGeom>
            <a:ln w="10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28683" y="2011234"/>
              <a:ext cx="164445" cy="7453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992552" y="1153009"/>
            <a:ext cx="952500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200" dirty="0">
                <a:latin typeface="Times New Roman"/>
                <a:cs typeface="Times New Roman"/>
              </a:rPr>
              <a:t>Amplitude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17378" y="1780314"/>
            <a:ext cx="1101090" cy="52387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250" spc="155" dirty="0">
                <a:latin typeface="Times New Roman"/>
                <a:cs typeface="Times New Roman"/>
              </a:rPr>
              <a:t>•</a:t>
            </a:r>
            <a:r>
              <a:rPr sz="1250" spc="110" dirty="0">
                <a:latin typeface="Times New Roman"/>
                <a:cs typeface="Times New Roman"/>
              </a:rPr>
              <a:t> </a:t>
            </a:r>
            <a:r>
              <a:rPr sz="1250" spc="155" dirty="0">
                <a:latin typeface="Times New Roman"/>
                <a:cs typeface="Times New Roman"/>
              </a:rPr>
              <a:t>•</a:t>
            </a:r>
            <a:r>
              <a:rPr sz="1250" spc="120" dirty="0">
                <a:latin typeface="Times New Roman"/>
                <a:cs typeface="Times New Roman"/>
              </a:rPr>
              <a:t> </a:t>
            </a:r>
            <a:r>
              <a:rPr sz="1250" spc="105" dirty="0">
                <a:latin typeface="Times New Roman"/>
                <a:cs typeface="Times New Roman"/>
              </a:rPr>
              <a:t>•</a:t>
            </a:r>
            <a:endParaRPr sz="1250">
              <a:latin typeface="Times New Roman"/>
              <a:cs typeface="Times New Roman"/>
            </a:endParaRPr>
          </a:p>
          <a:p>
            <a:pPr marL="629285">
              <a:lnSpc>
                <a:spcPct val="100000"/>
              </a:lnSpc>
              <a:spcBef>
                <a:spcPts val="459"/>
              </a:spcBef>
            </a:pPr>
            <a:r>
              <a:rPr sz="1250" spc="215" dirty="0">
                <a:latin typeface="Times New Roman"/>
                <a:cs typeface="Times New Roman"/>
              </a:rPr>
              <a:t>Time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448167" y="1568771"/>
            <a:ext cx="5603240" cy="2271395"/>
            <a:chOff x="1448167" y="1568771"/>
            <a:chExt cx="5603240" cy="2271395"/>
          </a:xfrm>
        </p:grpSpPr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48167" y="1568771"/>
              <a:ext cx="5603116" cy="97663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951608" y="3353434"/>
              <a:ext cx="1905" cy="457834"/>
            </a:xfrm>
            <a:custGeom>
              <a:avLst/>
              <a:gdLst/>
              <a:ahLst/>
              <a:cxnLst/>
              <a:rect l="l" t="t" r="r" b="b"/>
              <a:pathLst>
                <a:path w="1905" h="457835">
                  <a:moveTo>
                    <a:pt x="0" y="0"/>
                  </a:moveTo>
                  <a:lnTo>
                    <a:pt x="1524" y="457834"/>
                  </a:lnTo>
                </a:path>
              </a:pathLst>
            </a:custGeom>
            <a:ln w="57240">
              <a:solidFill>
                <a:srgbClr val="EC1C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705100" y="3642868"/>
              <a:ext cx="1905" cy="160655"/>
            </a:xfrm>
            <a:custGeom>
              <a:avLst/>
              <a:gdLst/>
              <a:ahLst/>
              <a:cxnLst/>
              <a:rect l="l" t="t" r="r" b="b"/>
              <a:pathLst>
                <a:path w="1905" h="160654">
                  <a:moveTo>
                    <a:pt x="0" y="0"/>
                  </a:moveTo>
                  <a:lnTo>
                    <a:pt x="1524" y="160527"/>
                  </a:lnTo>
                </a:path>
              </a:pathLst>
            </a:custGeom>
            <a:ln w="57240">
              <a:solidFill>
                <a:srgbClr val="08BA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847082" y="3743959"/>
              <a:ext cx="1905" cy="62230"/>
            </a:xfrm>
            <a:custGeom>
              <a:avLst/>
              <a:gdLst/>
              <a:ahLst/>
              <a:cxnLst/>
              <a:rect l="l" t="t" r="r" b="b"/>
              <a:pathLst>
                <a:path w="1904" h="62229">
                  <a:moveTo>
                    <a:pt x="0" y="0"/>
                  </a:moveTo>
                  <a:lnTo>
                    <a:pt x="1523" y="61975"/>
                  </a:lnTo>
                </a:path>
              </a:pathLst>
            </a:custGeom>
            <a:ln w="57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965" y="1581175"/>
            <a:ext cx="8345170" cy="262686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dirty="0"/>
              <a:t>Decomposition</a:t>
            </a:r>
            <a:r>
              <a:rPr sz="2900" spc="-40" dirty="0"/>
              <a:t> </a:t>
            </a:r>
            <a:r>
              <a:rPr sz="2900" dirty="0"/>
              <a:t>of</a:t>
            </a:r>
            <a:r>
              <a:rPr sz="2900" spc="-35" dirty="0"/>
              <a:t> </a:t>
            </a:r>
            <a:r>
              <a:rPr sz="2900" dirty="0"/>
              <a:t>a</a:t>
            </a:r>
            <a:r>
              <a:rPr sz="2900" spc="-20" dirty="0"/>
              <a:t> </a:t>
            </a:r>
            <a:r>
              <a:rPr sz="2900" dirty="0"/>
              <a:t>composite</a:t>
            </a:r>
            <a:r>
              <a:rPr sz="2900" spc="-35" dirty="0"/>
              <a:t> </a:t>
            </a:r>
            <a:r>
              <a:rPr sz="2900" dirty="0"/>
              <a:t>non-periodic</a:t>
            </a:r>
            <a:r>
              <a:rPr sz="2900" spc="-70" dirty="0"/>
              <a:t> </a:t>
            </a:r>
            <a:r>
              <a:rPr sz="2900" spc="-10" dirty="0"/>
              <a:t>signal</a:t>
            </a:r>
            <a:endParaRPr sz="29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Bandwidth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287" rIns="0" bIns="0" rtlCol="0">
            <a:spAutoFit/>
          </a:bodyPr>
          <a:lstStyle/>
          <a:p>
            <a:pPr marL="355600" marR="5715" indent="-342900">
              <a:lnSpc>
                <a:spcPts val="2820"/>
              </a:lnSpc>
              <a:spcBef>
                <a:spcPts val="240"/>
              </a:spcBef>
              <a:buFont typeface="Arial MT"/>
              <a:buChar char="•"/>
              <a:tabLst>
                <a:tab pos="355600" algn="l"/>
                <a:tab pos="962025" algn="l"/>
                <a:tab pos="1771014" algn="l"/>
                <a:tab pos="2158365" algn="l"/>
                <a:tab pos="3696335" algn="l"/>
                <a:tab pos="5012055" algn="l"/>
                <a:tab pos="5382260" algn="l"/>
                <a:tab pos="5650230" algn="l"/>
                <a:tab pos="7034530" algn="l"/>
                <a:tab pos="7894320" algn="l"/>
                <a:tab pos="8230870" algn="l"/>
              </a:tabLst>
            </a:pPr>
            <a:r>
              <a:rPr spc="-25" dirty="0"/>
              <a:t>The</a:t>
            </a:r>
            <a:r>
              <a:rPr dirty="0"/>
              <a:t>	</a:t>
            </a:r>
            <a:r>
              <a:rPr spc="-20" dirty="0"/>
              <a:t>range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10" dirty="0"/>
              <a:t>frequencies</a:t>
            </a:r>
            <a:r>
              <a:rPr dirty="0"/>
              <a:t>	</a:t>
            </a:r>
            <a:r>
              <a:rPr spc="-10" dirty="0"/>
              <a:t>contained</a:t>
            </a:r>
            <a:r>
              <a:rPr dirty="0"/>
              <a:t>	</a:t>
            </a:r>
            <a:r>
              <a:rPr spc="-25" dirty="0"/>
              <a:t>in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</a:t>
            </a:r>
            <a:r>
              <a:rPr spc="-10" dirty="0"/>
              <a:t>composite</a:t>
            </a:r>
            <a:r>
              <a:rPr dirty="0"/>
              <a:t>	</a:t>
            </a:r>
            <a:r>
              <a:rPr spc="-10" dirty="0"/>
              <a:t>signal</a:t>
            </a:r>
            <a:r>
              <a:rPr dirty="0"/>
              <a:t>	</a:t>
            </a:r>
            <a:r>
              <a:rPr spc="-25" dirty="0"/>
              <a:t>is</a:t>
            </a:r>
            <a:r>
              <a:rPr dirty="0"/>
              <a:t>	</a:t>
            </a:r>
            <a:r>
              <a:rPr spc="-25" dirty="0"/>
              <a:t>its </a:t>
            </a:r>
            <a:r>
              <a:rPr spc="-10" dirty="0"/>
              <a:t>bandwidth</a:t>
            </a:r>
          </a:p>
          <a:p>
            <a:pPr marL="354965" indent="-342265">
              <a:lnSpc>
                <a:spcPct val="100000"/>
              </a:lnSpc>
              <a:spcBef>
                <a:spcPts val="42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The</a:t>
            </a:r>
            <a:r>
              <a:rPr spc="-35" dirty="0"/>
              <a:t> </a:t>
            </a:r>
            <a:r>
              <a:rPr dirty="0"/>
              <a:t>bandwidth</a:t>
            </a:r>
            <a:r>
              <a:rPr spc="-35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normally</a:t>
            </a:r>
            <a:r>
              <a:rPr spc="-2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difference</a:t>
            </a:r>
            <a:r>
              <a:rPr spc="-35" dirty="0"/>
              <a:t> </a:t>
            </a:r>
            <a:r>
              <a:rPr dirty="0"/>
              <a:t>between</a:t>
            </a:r>
            <a:r>
              <a:rPr spc="-35" dirty="0"/>
              <a:t> </a:t>
            </a:r>
            <a:r>
              <a:rPr dirty="0"/>
              <a:t>two</a:t>
            </a:r>
            <a:r>
              <a:rPr spc="-5" dirty="0"/>
              <a:t> </a:t>
            </a:r>
            <a:r>
              <a:rPr spc="-10" dirty="0"/>
              <a:t>numbers</a:t>
            </a: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pc="-25" dirty="0"/>
              <a:t>Eg:</a:t>
            </a:r>
          </a:p>
          <a:p>
            <a:pPr marL="756285" marR="5080" indent="-287020">
              <a:lnSpc>
                <a:spcPts val="2350"/>
              </a:lnSpc>
              <a:spcBef>
                <a:spcPts val="595"/>
              </a:spcBef>
              <a:tabLst>
                <a:tab pos="756285" algn="l"/>
                <a:tab pos="1042669" algn="l"/>
                <a:tab pos="1286510" algn="l"/>
                <a:tab pos="2456815" algn="l"/>
                <a:tab pos="3193415" algn="l"/>
                <a:tab pos="4167504" algn="l"/>
                <a:tab pos="5466080" algn="l"/>
                <a:tab pos="6441440" algn="l"/>
                <a:tab pos="7082155" algn="l"/>
                <a:tab pos="7578725" algn="l"/>
                <a:tab pos="827976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/>
              <a:t>if</a:t>
            </a:r>
            <a:r>
              <a:rPr sz="2000" dirty="0"/>
              <a:t>	</a:t>
            </a:r>
            <a:r>
              <a:rPr sz="2000" spc="-50" dirty="0"/>
              <a:t>a</a:t>
            </a:r>
            <a:r>
              <a:rPr sz="2000" dirty="0"/>
              <a:t>	</a:t>
            </a:r>
            <a:r>
              <a:rPr sz="2000" spc="-10" dirty="0"/>
              <a:t>composite</a:t>
            </a:r>
            <a:r>
              <a:rPr sz="2000" dirty="0"/>
              <a:t>	</a:t>
            </a:r>
            <a:r>
              <a:rPr sz="2000" spc="-10" dirty="0"/>
              <a:t>signal</a:t>
            </a:r>
            <a:r>
              <a:rPr sz="2000" dirty="0"/>
              <a:t>	</a:t>
            </a:r>
            <a:r>
              <a:rPr sz="2000" spc="-10" dirty="0"/>
              <a:t>contains</a:t>
            </a:r>
            <a:r>
              <a:rPr sz="2000" dirty="0"/>
              <a:t>	</a:t>
            </a:r>
            <a:r>
              <a:rPr sz="2000" spc="-10" dirty="0"/>
              <a:t>frequencies</a:t>
            </a:r>
            <a:r>
              <a:rPr sz="2000" dirty="0"/>
              <a:t>	</a:t>
            </a:r>
            <a:r>
              <a:rPr sz="2000" spc="-10" dirty="0"/>
              <a:t>between</a:t>
            </a:r>
            <a:r>
              <a:rPr sz="2000" dirty="0"/>
              <a:t>	</a:t>
            </a:r>
            <a:r>
              <a:rPr sz="2000" spc="-20" dirty="0"/>
              <a:t>1000</a:t>
            </a:r>
            <a:r>
              <a:rPr sz="2000" dirty="0"/>
              <a:t>	</a:t>
            </a:r>
            <a:r>
              <a:rPr sz="2000" spc="-25" dirty="0"/>
              <a:t>and</a:t>
            </a:r>
            <a:r>
              <a:rPr sz="2000" dirty="0"/>
              <a:t>	</a:t>
            </a:r>
            <a:r>
              <a:rPr sz="2000" spc="-10" dirty="0"/>
              <a:t>5000,</a:t>
            </a:r>
            <a:r>
              <a:rPr sz="2000" dirty="0"/>
              <a:t>	</a:t>
            </a:r>
            <a:r>
              <a:rPr sz="2000" spc="-25" dirty="0"/>
              <a:t>its </a:t>
            </a:r>
            <a:r>
              <a:rPr sz="2000" dirty="0"/>
              <a:t>bandwidth</a:t>
            </a:r>
            <a:r>
              <a:rPr sz="2000" spc="-50" dirty="0"/>
              <a:t> </a:t>
            </a:r>
            <a:r>
              <a:rPr sz="2000" dirty="0"/>
              <a:t>is</a:t>
            </a:r>
            <a:r>
              <a:rPr sz="2000" spc="-10" dirty="0"/>
              <a:t> </a:t>
            </a:r>
            <a:r>
              <a:rPr sz="2000" dirty="0"/>
              <a:t>5000</a:t>
            </a:r>
            <a:r>
              <a:rPr sz="2000" spc="-40" dirty="0"/>
              <a:t> </a:t>
            </a:r>
            <a:r>
              <a:rPr sz="2000" dirty="0"/>
              <a:t>− 1000,</a:t>
            </a:r>
            <a:r>
              <a:rPr sz="2000" spc="-45" dirty="0"/>
              <a:t> </a:t>
            </a:r>
            <a:r>
              <a:rPr sz="2000" dirty="0"/>
              <a:t>or</a:t>
            </a:r>
            <a:r>
              <a:rPr sz="2000" spc="-15" dirty="0"/>
              <a:t> </a:t>
            </a:r>
            <a:r>
              <a:rPr sz="2000" spc="-20" dirty="0"/>
              <a:t>4000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93113" y="1491488"/>
            <a:ext cx="6901180" cy="793750"/>
          </a:xfrm>
          <a:custGeom>
            <a:avLst/>
            <a:gdLst/>
            <a:ahLst/>
            <a:cxnLst/>
            <a:rect l="l" t="t" r="r" b="b"/>
            <a:pathLst>
              <a:path w="6901180" h="793750">
                <a:moveTo>
                  <a:pt x="0" y="0"/>
                </a:moveTo>
                <a:lnTo>
                  <a:pt x="2427859" y="1524"/>
                </a:lnTo>
              </a:path>
              <a:path w="6901180" h="793750">
                <a:moveTo>
                  <a:pt x="2990469" y="791972"/>
                </a:moveTo>
                <a:lnTo>
                  <a:pt x="6900799" y="793623"/>
                </a:lnTo>
              </a:path>
            </a:pathLst>
          </a:custGeom>
          <a:ln w="2844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6124" y="1335570"/>
            <a:ext cx="7309104" cy="29027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Bandwidth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514" y="1234795"/>
            <a:ext cx="7986649" cy="310464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Bandwidth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Bandwidth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6540" y="991422"/>
            <a:ext cx="8653780" cy="363664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401320" indent="-33782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401320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  <a:p>
            <a:pPr marL="520700">
              <a:lnSpc>
                <a:spcPts val="2375"/>
              </a:lnSpc>
              <a:spcBef>
                <a:spcPts val="475"/>
              </a:spcBef>
              <a:tabLst>
                <a:tab pos="8070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periodic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decomposed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five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sine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waves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frequencies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807085">
              <a:lnSpc>
                <a:spcPts val="2375"/>
              </a:lnSpc>
            </a:pPr>
            <a:r>
              <a:rPr sz="2000" dirty="0">
                <a:latin typeface="Times New Roman"/>
                <a:cs typeface="Times New Roman"/>
              </a:rPr>
              <a:t>100,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300,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500,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700,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900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Hz,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what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bandwidth?</a:t>
            </a:r>
            <a:endParaRPr sz="20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475"/>
              </a:spcBef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>
              <a:latin typeface="Times New Roman"/>
              <a:cs typeface="Times New Roman"/>
            </a:endParaRPr>
          </a:p>
          <a:p>
            <a:pPr marL="401320" indent="-337820">
              <a:lnSpc>
                <a:spcPts val="2850"/>
              </a:lnSpc>
              <a:spcBef>
                <a:spcPts val="565"/>
              </a:spcBef>
              <a:buFont typeface="Arial MT"/>
              <a:buChar char="•"/>
              <a:tabLst>
                <a:tab pos="401320" algn="l"/>
              </a:tabLst>
            </a:pPr>
            <a:r>
              <a:rPr sz="2400" dirty="0">
                <a:latin typeface="Times New Roman"/>
                <a:cs typeface="Times New Roman"/>
              </a:rPr>
              <a:t>Let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baseline="-20833" dirty="0">
                <a:latin typeface="Times New Roman"/>
                <a:cs typeface="Times New Roman"/>
              </a:rPr>
              <a:t>h</a:t>
            </a:r>
            <a:r>
              <a:rPr sz="2400" spc="644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highest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frequency,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baseline="-20833" dirty="0">
                <a:latin typeface="Times New Roman"/>
                <a:cs typeface="Times New Roman"/>
              </a:rPr>
              <a:t>l</a:t>
            </a:r>
            <a:r>
              <a:rPr sz="2400" spc="637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lowest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frequency,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BW</a:t>
            </a:r>
            <a:endParaRPr sz="2400">
              <a:latin typeface="Times New Roman"/>
              <a:cs typeface="Times New Roman"/>
            </a:endParaRPr>
          </a:p>
          <a:p>
            <a:pPr marL="401320">
              <a:lnSpc>
                <a:spcPts val="2850"/>
              </a:lnSpc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bandwidth.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Then,</a:t>
            </a:r>
            <a:endParaRPr sz="2400">
              <a:latin typeface="Times New Roman"/>
              <a:cs typeface="Times New Roman"/>
            </a:endParaRPr>
          </a:p>
          <a:p>
            <a:pPr marL="3489960">
              <a:lnSpc>
                <a:spcPct val="100000"/>
              </a:lnSpc>
              <a:spcBef>
                <a:spcPts val="505"/>
              </a:spcBef>
            </a:pPr>
            <a:r>
              <a:rPr sz="2400" dirty="0">
                <a:latin typeface="Times New Roman"/>
                <a:cs typeface="Times New Roman"/>
              </a:rPr>
              <a:t>BW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baseline="-20833" dirty="0">
                <a:latin typeface="Times New Roman"/>
                <a:cs typeface="Times New Roman"/>
              </a:rPr>
              <a:t>h</a:t>
            </a:r>
            <a:r>
              <a:rPr sz="2400" spc="300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f</a:t>
            </a:r>
            <a:r>
              <a:rPr sz="2400" spc="-37" baseline="-20833" dirty="0">
                <a:latin typeface="Times New Roman"/>
                <a:cs typeface="Times New Roman"/>
              </a:rPr>
              <a:t>l</a:t>
            </a:r>
            <a:endParaRPr sz="2400" baseline="-20833">
              <a:latin typeface="Times New Roman"/>
              <a:cs typeface="Times New Roman"/>
            </a:endParaRPr>
          </a:p>
          <a:p>
            <a:pPr marL="4024629">
              <a:lnSpc>
                <a:spcPct val="100000"/>
              </a:lnSpc>
              <a:spcBef>
                <a:spcPts val="495"/>
              </a:spcBef>
            </a:pP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900 –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100</a:t>
            </a:r>
            <a:endParaRPr sz="2400">
              <a:latin typeface="Times New Roman"/>
              <a:cs typeface="Times New Roman"/>
            </a:endParaRPr>
          </a:p>
          <a:p>
            <a:pPr marL="4024629">
              <a:lnSpc>
                <a:spcPct val="100000"/>
              </a:lnSpc>
              <a:spcBef>
                <a:spcPts val="505"/>
              </a:spcBef>
            </a:pP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800 </a:t>
            </a:r>
            <a:r>
              <a:rPr sz="2400" spc="-25" dirty="0">
                <a:latin typeface="Times New Roman"/>
                <a:cs typeface="Times New Roman"/>
              </a:rPr>
              <a:t>Hz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Bandwidth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31140" y="991422"/>
            <a:ext cx="8693785" cy="363664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426720" indent="-33782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426720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  <a:p>
            <a:pPr marL="546100">
              <a:lnSpc>
                <a:spcPts val="2375"/>
              </a:lnSpc>
              <a:spcBef>
                <a:spcPts val="475"/>
              </a:spcBef>
              <a:tabLst>
                <a:tab pos="8324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periodic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bandwidth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20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Hz.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highest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frequency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60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Hz.</a:t>
            </a:r>
            <a:endParaRPr sz="2000">
              <a:latin typeface="Times New Roman"/>
              <a:cs typeface="Times New Roman"/>
            </a:endParaRPr>
          </a:p>
          <a:p>
            <a:pPr marL="832485">
              <a:lnSpc>
                <a:spcPts val="2375"/>
              </a:lnSpc>
            </a:pPr>
            <a:r>
              <a:rPr sz="2000" dirty="0">
                <a:latin typeface="Times New Roman"/>
                <a:cs typeface="Times New Roman"/>
              </a:rPr>
              <a:t>What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lowest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frequency?</a:t>
            </a:r>
            <a:endParaRPr sz="20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475"/>
              </a:spcBef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>
              <a:latin typeface="Times New Roman"/>
              <a:cs typeface="Times New Roman"/>
            </a:endParaRPr>
          </a:p>
          <a:p>
            <a:pPr marL="426720" indent="-337820">
              <a:lnSpc>
                <a:spcPts val="2850"/>
              </a:lnSpc>
              <a:spcBef>
                <a:spcPts val="565"/>
              </a:spcBef>
              <a:buFont typeface="Arial MT"/>
              <a:buChar char="•"/>
              <a:tabLst>
                <a:tab pos="426720" algn="l"/>
              </a:tabLst>
            </a:pPr>
            <a:r>
              <a:rPr sz="2400" dirty="0">
                <a:latin typeface="Times New Roman"/>
                <a:cs typeface="Times New Roman"/>
              </a:rPr>
              <a:t>Let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baseline="-20833" dirty="0">
                <a:latin typeface="Times New Roman"/>
                <a:cs typeface="Times New Roman"/>
              </a:rPr>
              <a:t>h</a:t>
            </a:r>
            <a:r>
              <a:rPr sz="2400" spc="457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highest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frequency,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baseline="-20833" dirty="0">
                <a:latin typeface="Times New Roman"/>
                <a:cs typeface="Times New Roman"/>
              </a:rPr>
              <a:t>l</a:t>
            </a:r>
            <a:r>
              <a:rPr sz="2400" spc="450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lowest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frequency,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426720">
              <a:lnSpc>
                <a:spcPts val="2850"/>
              </a:lnSpc>
            </a:pPr>
            <a:r>
              <a:rPr sz="2400" dirty="0">
                <a:latin typeface="Times New Roman"/>
                <a:cs typeface="Times New Roman"/>
              </a:rPr>
              <a:t>bandwidth.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Then,</a:t>
            </a:r>
            <a:endParaRPr sz="2400">
              <a:latin typeface="Times New Roman"/>
              <a:cs typeface="Times New Roman"/>
            </a:endParaRPr>
          </a:p>
          <a:p>
            <a:pPr marL="3747135">
              <a:lnSpc>
                <a:spcPct val="100000"/>
              </a:lnSpc>
              <a:spcBef>
                <a:spcPts val="505"/>
              </a:spcBef>
            </a:pPr>
            <a:r>
              <a:rPr sz="2400" dirty="0">
                <a:latin typeface="Times New Roman"/>
                <a:cs typeface="Times New Roman"/>
              </a:rPr>
              <a:t>B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baseline="-20833" dirty="0">
                <a:latin typeface="Times New Roman"/>
                <a:cs typeface="Times New Roman"/>
              </a:rPr>
              <a:t>h</a:t>
            </a:r>
            <a:r>
              <a:rPr sz="2400" spc="315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5" dirty="0">
                <a:latin typeface="Times New Roman"/>
                <a:cs typeface="Times New Roman"/>
              </a:rPr>
              <a:t> f</a:t>
            </a:r>
            <a:r>
              <a:rPr sz="2400" spc="-37" baseline="-20833" dirty="0">
                <a:latin typeface="Times New Roman"/>
                <a:cs typeface="Times New Roman"/>
              </a:rPr>
              <a:t>l</a:t>
            </a:r>
            <a:endParaRPr sz="2400" baseline="-20833">
              <a:latin typeface="Times New Roman"/>
              <a:cs typeface="Times New Roman"/>
            </a:endParaRPr>
          </a:p>
          <a:p>
            <a:pPr marR="3623310" algn="r">
              <a:lnSpc>
                <a:spcPct val="100000"/>
              </a:lnSpc>
              <a:spcBef>
                <a:spcPts val="495"/>
              </a:spcBef>
              <a:tabLst>
                <a:tab pos="532765" algn="l"/>
              </a:tabLst>
            </a:pPr>
            <a:r>
              <a:rPr sz="2400" spc="-25" dirty="0">
                <a:latin typeface="Times New Roman"/>
                <a:cs typeface="Times New Roman"/>
              </a:rPr>
              <a:t>20</a:t>
            </a:r>
            <a:r>
              <a:rPr sz="2400" dirty="0">
                <a:latin typeface="Times New Roman"/>
                <a:cs typeface="Times New Roman"/>
              </a:rPr>
              <a:t>	=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60 – </a:t>
            </a:r>
            <a:r>
              <a:rPr sz="2400" spc="-25" dirty="0">
                <a:latin typeface="Times New Roman"/>
                <a:cs typeface="Times New Roman"/>
              </a:rPr>
              <a:t>f</a:t>
            </a:r>
            <a:r>
              <a:rPr sz="2400" spc="-37" baseline="-20833" dirty="0">
                <a:latin typeface="Times New Roman"/>
                <a:cs typeface="Times New Roman"/>
              </a:rPr>
              <a:t>l</a:t>
            </a:r>
            <a:endParaRPr sz="2400" baseline="-20833">
              <a:latin typeface="Times New Roman"/>
              <a:cs typeface="Times New Roman"/>
            </a:endParaRPr>
          </a:p>
          <a:p>
            <a:pPr marR="3646804" algn="r">
              <a:lnSpc>
                <a:spcPct val="100000"/>
              </a:lnSpc>
              <a:spcBef>
                <a:spcPts val="505"/>
              </a:spcBef>
            </a:pP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baseline="-20833" dirty="0">
                <a:latin typeface="Times New Roman"/>
                <a:cs typeface="Times New Roman"/>
              </a:rPr>
              <a:t>l</a:t>
            </a:r>
            <a:r>
              <a:rPr sz="2400" spc="300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40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Hz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Bandwidth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1422"/>
            <a:ext cx="8531225" cy="252158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50520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  <a:p>
            <a:pPr marL="753110" marR="5080" indent="-283845" algn="just">
              <a:lnSpc>
                <a:spcPct val="99300"/>
              </a:lnSpc>
              <a:spcBef>
                <a:spcPts val="490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-20" dirty="0">
                <a:latin typeface="Arial MT"/>
                <a:cs typeface="Arial MT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non-</a:t>
            </a:r>
            <a:r>
              <a:rPr sz="2000" dirty="0">
                <a:latin typeface="Times New Roman"/>
                <a:cs typeface="Times New Roman"/>
              </a:rPr>
              <a:t>periodic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composite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 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bandwidth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200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kHz,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middle </a:t>
            </a:r>
            <a:r>
              <a:rPr sz="2000" dirty="0">
                <a:latin typeface="Times New Roman"/>
                <a:cs typeface="Times New Roman"/>
              </a:rPr>
              <a:t>frequency  of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140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kHz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peak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amplitude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20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V.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extreme </a:t>
            </a:r>
            <a:r>
              <a:rPr sz="2000" dirty="0">
                <a:latin typeface="Times New Roman"/>
                <a:cs typeface="Times New Roman"/>
              </a:rPr>
              <a:t>frequencies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amplitude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0.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Draw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frequency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domain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signal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>
              <a:latin typeface="Times New Roman"/>
              <a:cs typeface="Times New Roman"/>
            </a:endParaRPr>
          </a:p>
          <a:p>
            <a:pPr marL="350520" indent="-337820">
              <a:lnSpc>
                <a:spcPct val="100000"/>
              </a:lnSpc>
              <a:spcBef>
                <a:spcPts val="425"/>
              </a:spcBef>
              <a:buFont typeface="Arial MT"/>
              <a:buChar char="•"/>
              <a:tabLst>
                <a:tab pos="35052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lowest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frequency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must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40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kHz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highest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240</a:t>
            </a:r>
            <a:r>
              <a:rPr sz="2000" spc="-25" dirty="0">
                <a:latin typeface="Times New Roman"/>
                <a:cs typeface="Times New Roman"/>
              </a:rPr>
              <a:t> kHz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09673" y="3623398"/>
            <a:ext cx="4592192" cy="12524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Fourier</a:t>
            </a:r>
            <a:r>
              <a:rPr spc="-22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287" rIns="0" bIns="0" rtlCol="0">
            <a:spAutoFit/>
          </a:bodyPr>
          <a:lstStyle/>
          <a:p>
            <a:pPr marL="355600" marR="5080" indent="-342900">
              <a:lnSpc>
                <a:spcPts val="2820"/>
              </a:lnSpc>
              <a:spcBef>
                <a:spcPts val="24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Fourier</a:t>
            </a:r>
            <a:r>
              <a:rPr spc="265" dirty="0"/>
              <a:t> </a:t>
            </a:r>
            <a:r>
              <a:rPr dirty="0"/>
              <a:t>analysis</a:t>
            </a:r>
            <a:r>
              <a:rPr spc="275" dirty="0"/>
              <a:t> </a:t>
            </a:r>
            <a:r>
              <a:rPr dirty="0"/>
              <a:t>is</a:t>
            </a:r>
            <a:r>
              <a:rPr spc="280" dirty="0"/>
              <a:t> </a:t>
            </a:r>
            <a:r>
              <a:rPr dirty="0"/>
              <a:t>a</a:t>
            </a:r>
            <a:r>
              <a:rPr spc="270" dirty="0"/>
              <a:t> </a:t>
            </a:r>
            <a:r>
              <a:rPr dirty="0"/>
              <a:t>tool</a:t>
            </a:r>
            <a:r>
              <a:rPr spc="270" dirty="0"/>
              <a:t> </a:t>
            </a:r>
            <a:r>
              <a:rPr dirty="0"/>
              <a:t>that</a:t>
            </a:r>
            <a:r>
              <a:rPr spc="265" dirty="0"/>
              <a:t> </a:t>
            </a:r>
            <a:r>
              <a:rPr dirty="0"/>
              <a:t>changes</a:t>
            </a:r>
            <a:r>
              <a:rPr spc="275" dirty="0"/>
              <a:t> </a:t>
            </a:r>
            <a:r>
              <a:rPr dirty="0"/>
              <a:t>a</a:t>
            </a:r>
            <a:r>
              <a:rPr spc="265" dirty="0"/>
              <a:t> </a:t>
            </a:r>
            <a:r>
              <a:rPr dirty="0"/>
              <a:t>time</a:t>
            </a:r>
            <a:r>
              <a:rPr spc="280" dirty="0"/>
              <a:t> </a:t>
            </a:r>
            <a:r>
              <a:rPr dirty="0"/>
              <a:t>domain</a:t>
            </a:r>
            <a:r>
              <a:rPr spc="280" dirty="0"/>
              <a:t> </a:t>
            </a:r>
            <a:r>
              <a:rPr dirty="0"/>
              <a:t>signal</a:t>
            </a:r>
            <a:r>
              <a:rPr spc="270" dirty="0"/>
              <a:t> </a:t>
            </a:r>
            <a:r>
              <a:rPr dirty="0"/>
              <a:t>to</a:t>
            </a:r>
            <a:r>
              <a:rPr spc="265" dirty="0"/>
              <a:t> </a:t>
            </a:r>
            <a:r>
              <a:rPr spc="-50" dirty="0"/>
              <a:t>a </a:t>
            </a:r>
            <a:r>
              <a:rPr dirty="0"/>
              <a:t>frequency</a:t>
            </a:r>
            <a:r>
              <a:rPr spc="-45" dirty="0"/>
              <a:t> </a:t>
            </a:r>
            <a:r>
              <a:rPr dirty="0"/>
              <a:t>domain signal</a:t>
            </a:r>
            <a:r>
              <a:rPr spc="-3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vice</a:t>
            </a:r>
            <a:r>
              <a:rPr spc="-25" dirty="0"/>
              <a:t> </a:t>
            </a:r>
            <a:r>
              <a:rPr spc="-10" dirty="0"/>
              <a:t>versa</a:t>
            </a:r>
          </a:p>
          <a:p>
            <a:pPr marL="354965" indent="-342265">
              <a:lnSpc>
                <a:spcPct val="100000"/>
              </a:lnSpc>
              <a:spcBef>
                <a:spcPts val="42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Time</a:t>
            </a:r>
            <a:r>
              <a:rPr spc="-55" dirty="0"/>
              <a:t> </a:t>
            </a:r>
            <a:r>
              <a:rPr dirty="0"/>
              <a:t>domain</a:t>
            </a:r>
            <a:r>
              <a:rPr spc="-30" dirty="0"/>
              <a:t> </a:t>
            </a:r>
            <a:r>
              <a:rPr dirty="0"/>
              <a:t>↔</a:t>
            </a:r>
            <a:r>
              <a:rPr spc="-30" dirty="0"/>
              <a:t> </a:t>
            </a:r>
            <a:r>
              <a:rPr dirty="0"/>
              <a:t>frequency</a:t>
            </a:r>
            <a:r>
              <a:rPr spc="-50" dirty="0"/>
              <a:t> </a:t>
            </a:r>
            <a:r>
              <a:rPr spc="-10" dirty="0"/>
              <a:t>domain</a:t>
            </a:r>
          </a:p>
        </p:txBody>
      </p:sp>
      <p:sp>
        <p:nvSpPr>
          <p:cNvPr id="9" name="object 9"/>
          <p:cNvSpPr/>
          <p:nvPr/>
        </p:nvSpPr>
        <p:spPr>
          <a:xfrm>
            <a:off x="736193" y="1491488"/>
            <a:ext cx="6639559" cy="361950"/>
          </a:xfrm>
          <a:custGeom>
            <a:avLst/>
            <a:gdLst/>
            <a:ahLst/>
            <a:cxnLst/>
            <a:rect l="l" t="t" r="r" b="b"/>
            <a:pathLst>
              <a:path w="6639559" h="361950">
                <a:moveTo>
                  <a:pt x="5131841" y="0"/>
                </a:moveTo>
                <a:lnTo>
                  <a:pt x="6639458" y="1524"/>
                </a:lnTo>
              </a:path>
              <a:path w="6639559" h="361950">
                <a:moveTo>
                  <a:pt x="0" y="360045"/>
                </a:moveTo>
                <a:lnTo>
                  <a:pt x="2006625" y="361569"/>
                </a:lnTo>
              </a:path>
            </a:pathLst>
          </a:custGeom>
          <a:ln w="2844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Digital</a:t>
            </a:r>
            <a:r>
              <a:rPr spc="-30" dirty="0"/>
              <a:t> </a:t>
            </a:r>
            <a:r>
              <a:rPr spc="-10" dirty="0"/>
              <a:t>Signals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287" rIns="0" bIns="0" rtlCol="0">
            <a:spAutoFit/>
          </a:bodyPr>
          <a:lstStyle/>
          <a:p>
            <a:pPr marL="355600" marR="5080" indent="-342900">
              <a:lnSpc>
                <a:spcPts val="2820"/>
              </a:lnSpc>
              <a:spcBef>
                <a:spcPts val="24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In</a:t>
            </a:r>
            <a:r>
              <a:rPr spc="220" dirty="0"/>
              <a:t> </a:t>
            </a:r>
            <a:r>
              <a:rPr dirty="0"/>
              <a:t>addition</a:t>
            </a:r>
            <a:r>
              <a:rPr spc="210" dirty="0"/>
              <a:t> </a:t>
            </a:r>
            <a:r>
              <a:rPr dirty="0"/>
              <a:t>to</a:t>
            </a:r>
            <a:r>
              <a:rPr spc="225" dirty="0"/>
              <a:t> </a:t>
            </a:r>
            <a:r>
              <a:rPr dirty="0"/>
              <a:t>being</a:t>
            </a:r>
            <a:r>
              <a:rPr spc="215" dirty="0"/>
              <a:t> </a:t>
            </a:r>
            <a:r>
              <a:rPr dirty="0"/>
              <a:t>represented</a:t>
            </a:r>
            <a:r>
              <a:rPr spc="220" dirty="0"/>
              <a:t> </a:t>
            </a:r>
            <a:r>
              <a:rPr dirty="0"/>
              <a:t>by</a:t>
            </a:r>
            <a:r>
              <a:rPr spc="210" dirty="0"/>
              <a:t> </a:t>
            </a:r>
            <a:r>
              <a:rPr dirty="0"/>
              <a:t>an</a:t>
            </a:r>
            <a:r>
              <a:rPr spc="220" dirty="0"/>
              <a:t> </a:t>
            </a:r>
            <a:r>
              <a:rPr dirty="0"/>
              <a:t>analog</a:t>
            </a:r>
            <a:r>
              <a:rPr spc="229" dirty="0"/>
              <a:t> </a:t>
            </a:r>
            <a:r>
              <a:rPr dirty="0"/>
              <a:t>signal,</a:t>
            </a:r>
            <a:r>
              <a:rPr spc="220" dirty="0"/>
              <a:t> </a:t>
            </a:r>
            <a:r>
              <a:rPr spc="-10" dirty="0"/>
              <a:t>information </a:t>
            </a:r>
            <a:r>
              <a:rPr dirty="0"/>
              <a:t>can</a:t>
            </a:r>
            <a:r>
              <a:rPr spc="-30" dirty="0"/>
              <a:t> </a:t>
            </a:r>
            <a:r>
              <a:rPr dirty="0"/>
              <a:t>also</a:t>
            </a:r>
            <a:r>
              <a:rPr spc="-20" dirty="0"/>
              <a:t> </a:t>
            </a:r>
            <a:r>
              <a:rPr dirty="0"/>
              <a:t>be</a:t>
            </a:r>
            <a:r>
              <a:rPr spc="-15" dirty="0"/>
              <a:t> </a:t>
            </a:r>
            <a:r>
              <a:rPr dirty="0"/>
              <a:t>represented</a:t>
            </a:r>
            <a:r>
              <a:rPr spc="-40" dirty="0"/>
              <a:t> </a:t>
            </a:r>
            <a:r>
              <a:rPr dirty="0"/>
              <a:t>by</a:t>
            </a:r>
            <a:r>
              <a:rPr spc="-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digital</a:t>
            </a:r>
            <a:r>
              <a:rPr spc="-40" dirty="0"/>
              <a:t> </a:t>
            </a:r>
            <a:r>
              <a:rPr spc="-10" dirty="0"/>
              <a:t>signal</a:t>
            </a:r>
          </a:p>
          <a:p>
            <a:pPr marL="354965" indent="-342265">
              <a:lnSpc>
                <a:spcPct val="100000"/>
              </a:lnSpc>
              <a:spcBef>
                <a:spcPts val="425"/>
              </a:spcBef>
              <a:buFont typeface="Arial MT"/>
              <a:buChar char="•"/>
              <a:tabLst>
                <a:tab pos="354965" algn="l"/>
              </a:tabLst>
            </a:pPr>
            <a:r>
              <a:rPr spc="-25" dirty="0"/>
              <a:t>Eg:</a:t>
            </a:r>
          </a:p>
          <a:p>
            <a:pPr marL="469900">
              <a:lnSpc>
                <a:spcPct val="100000"/>
              </a:lnSpc>
              <a:spcBef>
                <a:spcPts val="425"/>
              </a:spcBef>
              <a:tabLst>
                <a:tab pos="7562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/>
              <a:t>1</a:t>
            </a:r>
            <a:r>
              <a:rPr sz="2000" spc="-15" dirty="0"/>
              <a:t> </a:t>
            </a:r>
            <a:r>
              <a:rPr sz="2000" dirty="0"/>
              <a:t>can</a:t>
            </a:r>
            <a:r>
              <a:rPr sz="2000" spc="-15" dirty="0"/>
              <a:t> </a:t>
            </a:r>
            <a:r>
              <a:rPr sz="2000" dirty="0"/>
              <a:t>be</a:t>
            </a:r>
            <a:r>
              <a:rPr sz="2000" spc="-10" dirty="0"/>
              <a:t> </a:t>
            </a:r>
            <a:r>
              <a:rPr sz="2000" dirty="0"/>
              <a:t>encoded</a:t>
            </a:r>
            <a:r>
              <a:rPr sz="2000" spc="-35" dirty="0"/>
              <a:t> </a:t>
            </a:r>
            <a:r>
              <a:rPr sz="2000" dirty="0"/>
              <a:t>as</a:t>
            </a:r>
            <a:r>
              <a:rPr sz="2000" spc="-5" dirty="0"/>
              <a:t> </a:t>
            </a:r>
            <a:r>
              <a:rPr sz="2000" dirty="0"/>
              <a:t>a positive</a:t>
            </a:r>
            <a:r>
              <a:rPr sz="2000" spc="-45" dirty="0"/>
              <a:t> </a:t>
            </a:r>
            <a:r>
              <a:rPr sz="2000" dirty="0"/>
              <a:t>voltage</a:t>
            </a:r>
            <a:r>
              <a:rPr sz="2000" spc="-40" dirty="0"/>
              <a:t> </a:t>
            </a:r>
            <a:r>
              <a:rPr sz="2000" dirty="0"/>
              <a:t>and</a:t>
            </a:r>
            <a:r>
              <a:rPr sz="2000" spc="-10" dirty="0"/>
              <a:t> </a:t>
            </a:r>
            <a:r>
              <a:rPr sz="2000" dirty="0"/>
              <a:t>a 0</a:t>
            </a:r>
            <a:r>
              <a:rPr sz="2000" spc="-5" dirty="0"/>
              <a:t> </a:t>
            </a:r>
            <a:r>
              <a:rPr sz="2000" dirty="0"/>
              <a:t>as</a:t>
            </a:r>
            <a:r>
              <a:rPr sz="2000" spc="-10" dirty="0"/>
              <a:t> </a:t>
            </a:r>
            <a:r>
              <a:rPr sz="2000" dirty="0"/>
              <a:t>zero</a:t>
            </a:r>
            <a:r>
              <a:rPr sz="2000" spc="-25" dirty="0"/>
              <a:t> </a:t>
            </a:r>
            <a:r>
              <a:rPr sz="2000" spc="-10" dirty="0"/>
              <a:t>voltage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pc="-20" dirty="0"/>
              <a:t>A</a:t>
            </a:r>
            <a:r>
              <a:rPr spc="-140" dirty="0"/>
              <a:t> </a:t>
            </a:r>
            <a:r>
              <a:rPr dirty="0"/>
              <a:t>digital</a:t>
            </a:r>
            <a:r>
              <a:rPr spc="-55" dirty="0"/>
              <a:t> </a:t>
            </a:r>
            <a:r>
              <a:rPr dirty="0"/>
              <a:t>signal</a:t>
            </a:r>
            <a:r>
              <a:rPr spc="-20" dirty="0"/>
              <a:t> </a:t>
            </a:r>
            <a:r>
              <a:rPr dirty="0"/>
              <a:t>can</a:t>
            </a:r>
            <a:r>
              <a:rPr spc="-15" dirty="0"/>
              <a:t> </a:t>
            </a:r>
            <a:r>
              <a:rPr dirty="0"/>
              <a:t>have</a:t>
            </a:r>
            <a:r>
              <a:rPr spc="-25" dirty="0"/>
              <a:t> </a:t>
            </a:r>
            <a:r>
              <a:rPr dirty="0"/>
              <a:t>more</a:t>
            </a:r>
            <a:r>
              <a:rPr spc="5" dirty="0"/>
              <a:t> </a:t>
            </a:r>
            <a:r>
              <a:rPr dirty="0"/>
              <a:t>than</a:t>
            </a:r>
            <a:r>
              <a:rPr spc="-15" dirty="0"/>
              <a:t> </a:t>
            </a:r>
            <a:r>
              <a:rPr dirty="0"/>
              <a:t>two</a:t>
            </a:r>
            <a:r>
              <a:rPr spc="-15" dirty="0"/>
              <a:t> </a:t>
            </a:r>
            <a:r>
              <a:rPr spc="-10" dirty="0"/>
              <a:t>levels</a:t>
            </a:r>
          </a:p>
        </p:txBody>
      </p:sp>
      <p:sp>
        <p:nvSpPr>
          <p:cNvPr id="9" name="object 9"/>
          <p:cNvSpPr/>
          <p:nvPr/>
        </p:nvSpPr>
        <p:spPr>
          <a:xfrm>
            <a:off x="3800221" y="3075432"/>
            <a:ext cx="2428240" cy="1905"/>
          </a:xfrm>
          <a:custGeom>
            <a:avLst/>
            <a:gdLst/>
            <a:ahLst/>
            <a:cxnLst/>
            <a:rect l="l" t="t" r="r" b="b"/>
            <a:pathLst>
              <a:path w="2428240" h="1905">
                <a:moveTo>
                  <a:pt x="0" y="0"/>
                </a:moveTo>
                <a:lnTo>
                  <a:pt x="2427731" y="1650"/>
                </a:lnTo>
              </a:path>
            </a:pathLst>
          </a:custGeom>
          <a:ln w="2844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3872" y="1236268"/>
            <a:ext cx="6409055" cy="321729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Digital</a:t>
            </a:r>
            <a:r>
              <a:rPr spc="-30" dirty="0"/>
              <a:t> </a:t>
            </a:r>
            <a:r>
              <a:rPr spc="-10" dirty="0"/>
              <a:t>Signal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3233" y="1034326"/>
            <a:ext cx="6437502" cy="394195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Digital</a:t>
            </a:r>
            <a:r>
              <a:rPr spc="-30" dirty="0"/>
              <a:t> </a:t>
            </a:r>
            <a:r>
              <a:rPr spc="-10" dirty="0"/>
              <a:t>Signal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Digital</a:t>
            </a:r>
            <a:r>
              <a:rPr spc="-30" dirty="0"/>
              <a:t> </a:t>
            </a:r>
            <a:r>
              <a:rPr spc="-10" dirty="0"/>
              <a:t>Signal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4640" y="998714"/>
            <a:ext cx="7848600" cy="360362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63220" indent="-33782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63220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  <a:p>
            <a:pPr marL="482600">
              <a:lnSpc>
                <a:spcPct val="100000"/>
              </a:lnSpc>
              <a:spcBef>
                <a:spcPts val="430"/>
              </a:spcBef>
              <a:tabLst>
                <a:tab pos="7689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digital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eight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levels.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level?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20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>
              <a:latin typeface="Times New Roman"/>
              <a:cs typeface="Times New Roman"/>
            </a:endParaRPr>
          </a:p>
          <a:p>
            <a:pPr marR="2350135" algn="r">
              <a:lnSpc>
                <a:spcPct val="100000"/>
              </a:lnSpc>
              <a:spcBef>
                <a:spcPts val="1295"/>
              </a:spcBef>
            </a:pP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levels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2</a:t>
            </a:r>
            <a:r>
              <a:rPr sz="2400" spc="-37" baseline="24305" dirty="0">
                <a:latin typeface="Times New Roman"/>
                <a:cs typeface="Times New Roman"/>
              </a:rPr>
              <a:t>n</a:t>
            </a:r>
            <a:endParaRPr sz="2400" baseline="24305">
              <a:latin typeface="Times New Roman"/>
              <a:cs typeface="Times New Roman"/>
            </a:endParaRPr>
          </a:p>
          <a:p>
            <a:pPr marR="2338070" algn="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8 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2</a:t>
            </a:r>
            <a:r>
              <a:rPr sz="2400" spc="-37" baseline="24305" dirty="0">
                <a:latin typeface="Times New Roman"/>
                <a:cs typeface="Times New Roman"/>
              </a:rPr>
              <a:t>n</a:t>
            </a:r>
            <a:endParaRPr sz="2400" baseline="24305">
              <a:latin typeface="Times New Roman"/>
              <a:cs typeface="Times New Roman"/>
            </a:endParaRPr>
          </a:p>
          <a:p>
            <a:pPr marL="4237990" marR="1762760" indent="-127635" algn="ctr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log</a:t>
            </a:r>
            <a:r>
              <a:rPr sz="2400" baseline="-20833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8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log</a:t>
            </a:r>
            <a:r>
              <a:rPr sz="2400" spc="-15" baseline="-20833" dirty="0">
                <a:latin typeface="Times New Roman"/>
                <a:cs typeface="Times New Roman"/>
              </a:rPr>
              <a:t>2</a:t>
            </a:r>
            <a:r>
              <a:rPr sz="2400" spc="-10" dirty="0">
                <a:latin typeface="Times New Roman"/>
                <a:cs typeface="Times New Roman"/>
              </a:rPr>
              <a:t>2</a:t>
            </a:r>
            <a:r>
              <a:rPr sz="2400" spc="-15" baseline="24305" dirty="0">
                <a:latin typeface="Times New Roman"/>
                <a:cs typeface="Times New Roman"/>
              </a:rPr>
              <a:t>n </a:t>
            </a:r>
            <a:r>
              <a:rPr sz="2400" dirty="0">
                <a:latin typeface="Times New Roman"/>
                <a:cs typeface="Times New Roman"/>
              </a:rPr>
              <a:t>log</a:t>
            </a:r>
            <a:r>
              <a:rPr sz="2400" baseline="-20833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8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 </a:t>
            </a:r>
            <a:r>
              <a:rPr sz="2400" spc="-20" dirty="0">
                <a:latin typeface="Times New Roman"/>
                <a:cs typeface="Times New Roman"/>
              </a:rPr>
              <a:t>log</a:t>
            </a:r>
            <a:r>
              <a:rPr sz="2400" spc="-30" baseline="-20833" dirty="0">
                <a:latin typeface="Times New Roman"/>
                <a:cs typeface="Times New Roman"/>
              </a:rPr>
              <a:t>2</a:t>
            </a:r>
            <a:r>
              <a:rPr sz="2400" spc="-20" dirty="0">
                <a:latin typeface="Times New Roman"/>
                <a:cs typeface="Times New Roman"/>
              </a:rPr>
              <a:t>2 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Digital</a:t>
            </a:r>
            <a:r>
              <a:rPr spc="-30" dirty="0"/>
              <a:t> </a:t>
            </a:r>
            <a:r>
              <a:rPr spc="-10" dirty="0"/>
              <a:t>Signal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8714"/>
            <a:ext cx="7757159" cy="81470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430"/>
              </a:spcBef>
              <a:tabLst>
                <a:tab pos="7562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digital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nine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levels.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level?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Bit</a:t>
            </a:r>
            <a:r>
              <a:rPr spc="-30" dirty="0"/>
              <a:t> </a:t>
            </a:r>
            <a:r>
              <a:rPr spc="-20" dirty="0"/>
              <a:t>Rate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term</a:t>
            </a:r>
            <a:r>
              <a:rPr spc="-30" dirty="0"/>
              <a:t> </a:t>
            </a:r>
            <a:r>
              <a:rPr dirty="0"/>
              <a:t>Bit</a:t>
            </a:r>
            <a:r>
              <a:rPr spc="-15" dirty="0"/>
              <a:t> </a:t>
            </a:r>
            <a:r>
              <a:rPr dirty="0"/>
              <a:t>Rate</a:t>
            </a:r>
            <a:r>
              <a:rPr spc="-25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used</a:t>
            </a:r>
            <a:r>
              <a:rPr spc="-1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describe</a:t>
            </a:r>
            <a:r>
              <a:rPr spc="-35" dirty="0"/>
              <a:t> </a:t>
            </a:r>
            <a:r>
              <a:rPr dirty="0"/>
              <a:t>digital</a:t>
            </a:r>
            <a:r>
              <a:rPr spc="-40" dirty="0"/>
              <a:t> </a:t>
            </a:r>
            <a:r>
              <a:rPr spc="-10" dirty="0"/>
              <a:t>signals</a:t>
            </a:r>
          </a:p>
          <a:p>
            <a:pPr marL="354965" indent="-342265">
              <a:lnSpc>
                <a:spcPts val="2850"/>
              </a:lnSpc>
              <a:spcBef>
                <a:spcPts val="56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The</a:t>
            </a:r>
            <a:r>
              <a:rPr spc="155" dirty="0"/>
              <a:t> </a:t>
            </a:r>
            <a:r>
              <a:rPr dirty="0"/>
              <a:t>bit</a:t>
            </a:r>
            <a:r>
              <a:rPr spc="155" dirty="0"/>
              <a:t> </a:t>
            </a:r>
            <a:r>
              <a:rPr dirty="0"/>
              <a:t>rate</a:t>
            </a:r>
            <a:r>
              <a:rPr spc="145" dirty="0"/>
              <a:t> </a:t>
            </a:r>
            <a:r>
              <a:rPr dirty="0"/>
              <a:t>is</a:t>
            </a:r>
            <a:r>
              <a:rPr spc="145" dirty="0"/>
              <a:t> </a:t>
            </a:r>
            <a:r>
              <a:rPr dirty="0"/>
              <a:t>the</a:t>
            </a:r>
            <a:r>
              <a:rPr spc="165" dirty="0"/>
              <a:t> </a:t>
            </a:r>
            <a:r>
              <a:rPr dirty="0"/>
              <a:t>number</a:t>
            </a:r>
            <a:r>
              <a:rPr spc="160" dirty="0"/>
              <a:t> </a:t>
            </a:r>
            <a:r>
              <a:rPr dirty="0"/>
              <a:t>of</a:t>
            </a:r>
            <a:r>
              <a:rPr spc="150" dirty="0"/>
              <a:t> </a:t>
            </a:r>
            <a:r>
              <a:rPr dirty="0"/>
              <a:t>bits</a:t>
            </a:r>
            <a:r>
              <a:rPr spc="155" dirty="0"/>
              <a:t> </a:t>
            </a:r>
            <a:r>
              <a:rPr dirty="0"/>
              <a:t>sent</a:t>
            </a:r>
            <a:r>
              <a:rPr spc="155" dirty="0"/>
              <a:t> </a:t>
            </a:r>
            <a:r>
              <a:rPr dirty="0"/>
              <a:t>in</a:t>
            </a:r>
            <a:r>
              <a:rPr spc="145" dirty="0"/>
              <a:t> </a:t>
            </a:r>
            <a:r>
              <a:rPr dirty="0"/>
              <a:t>1s,</a:t>
            </a:r>
            <a:r>
              <a:rPr spc="150" dirty="0"/>
              <a:t> </a:t>
            </a:r>
            <a:r>
              <a:rPr dirty="0"/>
              <a:t>expressed</a:t>
            </a:r>
            <a:r>
              <a:rPr spc="155" dirty="0"/>
              <a:t> </a:t>
            </a:r>
            <a:r>
              <a:rPr dirty="0"/>
              <a:t>in</a:t>
            </a:r>
            <a:r>
              <a:rPr spc="155" dirty="0"/>
              <a:t> </a:t>
            </a:r>
            <a:r>
              <a:rPr dirty="0"/>
              <a:t>bits</a:t>
            </a:r>
            <a:r>
              <a:rPr spc="160" dirty="0"/>
              <a:t> </a:t>
            </a:r>
            <a:r>
              <a:rPr spc="-25" dirty="0"/>
              <a:t>per</a:t>
            </a:r>
          </a:p>
          <a:p>
            <a:pPr marL="355600">
              <a:lnSpc>
                <a:spcPts val="2850"/>
              </a:lnSpc>
            </a:pPr>
            <a:r>
              <a:rPr dirty="0"/>
              <a:t>second</a:t>
            </a:r>
            <a:r>
              <a:rPr spc="-20" dirty="0"/>
              <a:t> </a:t>
            </a:r>
            <a:r>
              <a:rPr spc="-10" dirty="0"/>
              <a:t>(bps).</a:t>
            </a:r>
          </a:p>
        </p:txBody>
      </p:sp>
      <p:sp>
        <p:nvSpPr>
          <p:cNvPr id="9" name="object 9"/>
          <p:cNvSpPr/>
          <p:nvPr/>
        </p:nvSpPr>
        <p:spPr>
          <a:xfrm>
            <a:off x="3092704" y="1923542"/>
            <a:ext cx="2938145" cy="1905"/>
          </a:xfrm>
          <a:custGeom>
            <a:avLst/>
            <a:gdLst/>
            <a:ahLst/>
            <a:cxnLst/>
            <a:rect l="l" t="t" r="r" b="b"/>
            <a:pathLst>
              <a:path w="2938145" h="1905">
                <a:moveTo>
                  <a:pt x="0" y="0"/>
                </a:moveTo>
                <a:lnTo>
                  <a:pt x="2938018" y="1524"/>
                </a:lnTo>
              </a:path>
            </a:pathLst>
          </a:custGeom>
          <a:ln w="2844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2671142" y="1119021"/>
            <a:ext cx="6163945" cy="3660140"/>
            <a:chOff x="2671142" y="1119021"/>
            <a:chExt cx="6163945" cy="366014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584193" y="1491488"/>
              <a:ext cx="5236210" cy="1153795"/>
            </a:xfrm>
            <a:custGeom>
              <a:avLst/>
              <a:gdLst/>
              <a:ahLst/>
              <a:cxnLst/>
              <a:rect l="l" t="t" r="r" b="b"/>
              <a:pathLst>
                <a:path w="5236209" h="1153795">
                  <a:moveTo>
                    <a:pt x="2648077" y="0"/>
                  </a:moveTo>
                  <a:lnTo>
                    <a:pt x="5075935" y="1524"/>
                  </a:lnTo>
                </a:path>
                <a:path w="5236209" h="1153795">
                  <a:moveTo>
                    <a:pt x="531748" y="791972"/>
                  </a:moveTo>
                  <a:lnTo>
                    <a:pt x="2355850" y="793623"/>
                  </a:lnTo>
                </a:path>
                <a:path w="5236209" h="1153795">
                  <a:moveTo>
                    <a:pt x="4596764" y="791972"/>
                  </a:moveTo>
                  <a:lnTo>
                    <a:pt x="5236209" y="793623"/>
                  </a:lnTo>
                </a:path>
                <a:path w="5236209" h="1153795">
                  <a:moveTo>
                    <a:pt x="0" y="1152017"/>
                  </a:moveTo>
                  <a:lnTo>
                    <a:pt x="1132839" y="1153541"/>
                  </a:lnTo>
                </a:path>
              </a:pathLst>
            </a:custGeom>
            <a:ln w="2844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44340" y="3472941"/>
              <a:ext cx="1655445" cy="537210"/>
            </a:xfrm>
            <a:custGeom>
              <a:avLst/>
              <a:gdLst/>
              <a:ahLst/>
              <a:cxnLst/>
              <a:rect l="l" t="t" r="r" b="b"/>
              <a:pathLst>
                <a:path w="1655445" h="537210">
                  <a:moveTo>
                    <a:pt x="0" y="89407"/>
                  </a:moveTo>
                  <a:lnTo>
                    <a:pt x="7042" y="54596"/>
                  </a:lnTo>
                  <a:lnTo>
                    <a:pt x="26241" y="26177"/>
                  </a:lnTo>
                  <a:lnTo>
                    <a:pt x="54703" y="7022"/>
                  </a:lnTo>
                  <a:lnTo>
                    <a:pt x="89535" y="0"/>
                  </a:lnTo>
                  <a:lnTo>
                    <a:pt x="1565783" y="0"/>
                  </a:lnTo>
                  <a:lnTo>
                    <a:pt x="1600614" y="7022"/>
                  </a:lnTo>
                  <a:lnTo>
                    <a:pt x="1629076" y="26177"/>
                  </a:lnTo>
                  <a:lnTo>
                    <a:pt x="1648275" y="54596"/>
                  </a:lnTo>
                  <a:lnTo>
                    <a:pt x="1655318" y="89407"/>
                  </a:lnTo>
                  <a:lnTo>
                    <a:pt x="1655318" y="447281"/>
                  </a:lnTo>
                  <a:lnTo>
                    <a:pt x="1648275" y="482101"/>
                  </a:lnTo>
                  <a:lnTo>
                    <a:pt x="1629076" y="510536"/>
                  </a:lnTo>
                  <a:lnTo>
                    <a:pt x="1600614" y="529709"/>
                  </a:lnTo>
                  <a:lnTo>
                    <a:pt x="1565783" y="536740"/>
                  </a:lnTo>
                  <a:lnTo>
                    <a:pt x="89535" y="536740"/>
                  </a:lnTo>
                  <a:lnTo>
                    <a:pt x="54703" y="529709"/>
                  </a:lnTo>
                  <a:lnTo>
                    <a:pt x="26241" y="510536"/>
                  </a:lnTo>
                  <a:lnTo>
                    <a:pt x="7042" y="482101"/>
                  </a:lnTo>
                  <a:lnTo>
                    <a:pt x="0" y="447281"/>
                  </a:lnTo>
                  <a:lnTo>
                    <a:pt x="0" y="89407"/>
                  </a:lnTo>
                  <a:close/>
                </a:path>
              </a:pathLst>
            </a:custGeom>
            <a:ln w="284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Transmission</a:t>
            </a:r>
            <a:r>
              <a:rPr spc="-160" dirty="0"/>
              <a:t> </a:t>
            </a:r>
            <a:r>
              <a:rPr spc="-10" dirty="0"/>
              <a:t>Impairment</a:t>
            </a:r>
          </a:p>
        </p:txBody>
      </p:sp>
      <p:sp>
        <p:nvSpPr>
          <p:cNvPr id="11" name="object 11"/>
          <p:cNvSpPr/>
          <p:nvPr/>
        </p:nvSpPr>
        <p:spPr>
          <a:xfrm>
            <a:off x="755281" y="2643504"/>
            <a:ext cx="936625" cy="1905"/>
          </a:xfrm>
          <a:custGeom>
            <a:avLst/>
            <a:gdLst/>
            <a:ahLst/>
            <a:cxnLst/>
            <a:rect l="l" t="t" r="r" b="b"/>
            <a:pathLst>
              <a:path w="936625" h="1905">
                <a:moveTo>
                  <a:pt x="0" y="0"/>
                </a:moveTo>
                <a:lnTo>
                  <a:pt x="936358" y="1524"/>
                </a:lnTo>
              </a:path>
            </a:pathLst>
          </a:custGeom>
          <a:ln w="2844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07340" y="1070228"/>
            <a:ext cx="8529955" cy="295211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53060" marR="5080" indent="-340360" algn="just">
              <a:lnSpc>
                <a:spcPts val="2820"/>
              </a:lnSpc>
              <a:spcBef>
                <a:spcPts val="24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Signals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travel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transmission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media,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perfect, 	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imperfection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causes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impairment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(damage/loss/weak)</a:t>
            </a:r>
            <a:endParaRPr sz="2400">
              <a:latin typeface="Times New Roman"/>
              <a:cs typeface="Times New Roman"/>
            </a:endParaRPr>
          </a:p>
          <a:p>
            <a:pPr marL="353060" marR="5080" indent="-340360" algn="just">
              <a:lnSpc>
                <a:spcPct val="99000"/>
              </a:lnSpc>
              <a:spcBef>
                <a:spcPts val="51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means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beginning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medium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not 	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medium.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not 	</a:t>
            </a: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received</a:t>
            </a:r>
            <a:endParaRPr sz="2400">
              <a:latin typeface="Times New Roman"/>
              <a:cs typeface="Times New Roman"/>
            </a:endParaRPr>
          </a:p>
          <a:p>
            <a:pPr marL="353060" indent="-340360" algn="just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dirty="0">
                <a:latin typeface="Times New Roman"/>
                <a:cs typeface="Times New Roman"/>
              </a:rPr>
              <a:t>Three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causes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impairment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attenuation,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distortion,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noise</a:t>
            </a:r>
            <a:endParaRPr sz="2400">
              <a:latin typeface="Times New Roman"/>
              <a:cs typeface="Times New Roman"/>
            </a:endParaRPr>
          </a:p>
          <a:p>
            <a:pPr marL="3730625" marR="3725545" algn="ctr">
              <a:lnSpc>
                <a:spcPct val="100000"/>
              </a:lnSpc>
              <a:spcBef>
                <a:spcPts val="484"/>
              </a:spcBef>
            </a:pPr>
            <a:r>
              <a:rPr sz="1800" spc="-10" dirty="0">
                <a:latin typeface="Times New Roman"/>
                <a:cs typeface="Times New Roman"/>
              </a:rPr>
              <a:t>Impairment causes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44340" y="4472635"/>
            <a:ext cx="1655445" cy="367030"/>
          </a:xfrm>
          <a:custGeom>
            <a:avLst/>
            <a:gdLst/>
            <a:ahLst/>
            <a:cxnLst/>
            <a:rect l="l" t="t" r="r" b="b"/>
            <a:pathLst>
              <a:path w="1655445" h="367029">
                <a:moveTo>
                  <a:pt x="0" y="61087"/>
                </a:moveTo>
                <a:lnTo>
                  <a:pt x="4794" y="37311"/>
                </a:lnTo>
                <a:lnTo>
                  <a:pt x="17875" y="17894"/>
                </a:lnTo>
                <a:lnTo>
                  <a:pt x="37290" y="4801"/>
                </a:lnTo>
                <a:lnTo>
                  <a:pt x="61087" y="0"/>
                </a:lnTo>
                <a:lnTo>
                  <a:pt x="1594231" y="0"/>
                </a:lnTo>
                <a:lnTo>
                  <a:pt x="1618027" y="4801"/>
                </a:lnTo>
                <a:lnTo>
                  <a:pt x="1637442" y="17894"/>
                </a:lnTo>
                <a:lnTo>
                  <a:pt x="1650523" y="37311"/>
                </a:lnTo>
                <a:lnTo>
                  <a:pt x="1655318" y="61087"/>
                </a:lnTo>
                <a:lnTo>
                  <a:pt x="1655318" y="305409"/>
                </a:lnTo>
                <a:lnTo>
                  <a:pt x="1650523" y="329182"/>
                </a:lnTo>
                <a:lnTo>
                  <a:pt x="1637442" y="348595"/>
                </a:lnTo>
                <a:lnTo>
                  <a:pt x="1618027" y="361684"/>
                </a:lnTo>
                <a:lnTo>
                  <a:pt x="1594231" y="366483"/>
                </a:lnTo>
                <a:lnTo>
                  <a:pt x="61087" y="366483"/>
                </a:lnTo>
                <a:lnTo>
                  <a:pt x="37290" y="361684"/>
                </a:lnTo>
                <a:lnTo>
                  <a:pt x="17875" y="348595"/>
                </a:lnTo>
                <a:lnTo>
                  <a:pt x="4794" y="329182"/>
                </a:lnTo>
                <a:lnTo>
                  <a:pt x="0" y="305409"/>
                </a:lnTo>
                <a:lnTo>
                  <a:pt x="0" y="61087"/>
                </a:lnTo>
                <a:close/>
              </a:path>
            </a:pathLst>
          </a:custGeom>
          <a:ln w="284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095369" y="4499559"/>
            <a:ext cx="95376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Distortion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727961" y="4467605"/>
            <a:ext cx="1655445" cy="367030"/>
          </a:xfrm>
          <a:custGeom>
            <a:avLst/>
            <a:gdLst/>
            <a:ahLst/>
            <a:cxnLst/>
            <a:rect l="l" t="t" r="r" b="b"/>
            <a:pathLst>
              <a:path w="1655445" h="367029">
                <a:moveTo>
                  <a:pt x="0" y="61074"/>
                </a:moveTo>
                <a:lnTo>
                  <a:pt x="4812" y="37301"/>
                </a:lnTo>
                <a:lnTo>
                  <a:pt x="17922" y="17887"/>
                </a:lnTo>
                <a:lnTo>
                  <a:pt x="37343" y="4799"/>
                </a:lnTo>
                <a:lnTo>
                  <a:pt x="61087" y="0"/>
                </a:lnTo>
                <a:lnTo>
                  <a:pt x="1594230" y="0"/>
                </a:lnTo>
                <a:lnTo>
                  <a:pt x="1618027" y="4799"/>
                </a:lnTo>
                <a:lnTo>
                  <a:pt x="1637442" y="17887"/>
                </a:lnTo>
                <a:lnTo>
                  <a:pt x="1650523" y="37301"/>
                </a:lnTo>
                <a:lnTo>
                  <a:pt x="1655317" y="61074"/>
                </a:lnTo>
                <a:lnTo>
                  <a:pt x="1655317" y="305396"/>
                </a:lnTo>
                <a:lnTo>
                  <a:pt x="1650523" y="329170"/>
                </a:lnTo>
                <a:lnTo>
                  <a:pt x="1637442" y="348583"/>
                </a:lnTo>
                <a:lnTo>
                  <a:pt x="1618027" y="361671"/>
                </a:lnTo>
                <a:lnTo>
                  <a:pt x="1594230" y="366471"/>
                </a:lnTo>
                <a:lnTo>
                  <a:pt x="61087" y="366471"/>
                </a:lnTo>
                <a:lnTo>
                  <a:pt x="37343" y="361671"/>
                </a:lnTo>
                <a:lnTo>
                  <a:pt x="17922" y="348583"/>
                </a:lnTo>
                <a:lnTo>
                  <a:pt x="4812" y="329170"/>
                </a:lnTo>
                <a:lnTo>
                  <a:pt x="0" y="305396"/>
                </a:lnTo>
                <a:lnTo>
                  <a:pt x="0" y="61074"/>
                </a:lnTo>
                <a:close/>
              </a:path>
            </a:pathLst>
          </a:custGeom>
          <a:ln w="284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002282" y="4494682"/>
            <a:ext cx="1106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Attenuation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90946" y="4462564"/>
            <a:ext cx="1655445" cy="367030"/>
          </a:xfrm>
          <a:custGeom>
            <a:avLst/>
            <a:gdLst/>
            <a:ahLst/>
            <a:cxnLst/>
            <a:rect l="l" t="t" r="r" b="b"/>
            <a:pathLst>
              <a:path w="1655445" h="367029">
                <a:moveTo>
                  <a:pt x="0" y="61074"/>
                </a:moveTo>
                <a:lnTo>
                  <a:pt x="4794" y="37301"/>
                </a:lnTo>
                <a:lnTo>
                  <a:pt x="17875" y="17887"/>
                </a:lnTo>
                <a:lnTo>
                  <a:pt x="37290" y="4799"/>
                </a:lnTo>
                <a:lnTo>
                  <a:pt x="61087" y="0"/>
                </a:lnTo>
                <a:lnTo>
                  <a:pt x="1594230" y="0"/>
                </a:lnTo>
                <a:lnTo>
                  <a:pt x="1617974" y="4799"/>
                </a:lnTo>
                <a:lnTo>
                  <a:pt x="1637395" y="17887"/>
                </a:lnTo>
                <a:lnTo>
                  <a:pt x="1650505" y="37301"/>
                </a:lnTo>
                <a:lnTo>
                  <a:pt x="1655318" y="61074"/>
                </a:lnTo>
                <a:lnTo>
                  <a:pt x="1655318" y="305396"/>
                </a:lnTo>
                <a:lnTo>
                  <a:pt x="1650505" y="329170"/>
                </a:lnTo>
                <a:lnTo>
                  <a:pt x="1637395" y="348583"/>
                </a:lnTo>
                <a:lnTo>
                  <a:pt x="1617974" y="361671"/>
                </a:lnTo>
                <a:lnTo>
                  <a:pt x="1594230" y="366471"/>
                </a:lnTo>
                <a:lnTo>
                  <a:pt x="61087" y="366471"/>
                </a:lnTo>
                <a:lnTo>
                  <a:pt x="37290" y="361671"/>
                </a:lnTo>
                <a:lnTo>
                  <a:pt x="17875" y="348583"/>
                </a:lnTo>
                <a:lnTo>
                  <a:pt x="4794" y="329170"/>
                </a:lnTo>
                <a:lnTo>
                  <a:pt x="0" y="305396"/>
                </a:lnTo>
                <a:lnTo>
                  <a:pt x="0" y="61074"/>
                </a:lnTo>
                <a:close/>
              </a:path>
            </a:pathLst>
          </a:custGeom>
          <a:ln w="284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340221" y="4489500"/>
            <a:ext cx="5588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Noise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513203" y="4009859"/>
            <a:ext cx="4147820" cy="462915"/>
          </a:xfrm>
          <a:custGeom>
            <a:avLst/>
            <a:gdLst/>
            <a:ahLst/>
            <a:cxnLst/>
            <a:rect l="l" t="t" r="r" b="b"/>
            <a:pathLst>
              <a:path w="4147820" h="462914">
                <a:moveTo>
                  <a:pt x="4147820" y="366483"/>
                </a:moveTo>
                <a:lnTo>
                  <a:pt x="4119372" y="366483"/>
                </a:lnTo>
                <a:lnTo>
                  <a:pt x="4119372" y="240118"/>
                </a:lnTo>
                <a:lnTo>
                  <a:pt x="4119372" y="218046"/>
                </a:lnTo>
                <a:lnTo>
                  <a:pt x="4113022" y="211683"/>
                </a:lnTo>
                <a:lnTo>
                  <a:pt x="2073148" y="211683"/>
                </a:lnTo>
                <a:lnTo>
                  <a:pt x="2073148" y="198551"/>
                </a:lnTo>
                <a:lnTo>
                  <a:pt x="2073148" y="0"/>
                </a:lnTo>
                <a:lnTo>
                  <a:pt x="2072894" y="0"/>
                </a:lnTo>
                <a:lnTo>
                  <a:pt x="2044700" y="0"/>
                </a:lnTo>
                <a:lnTo>
                  <a:pt x="2044446" y="0"/>
                </a:lnTo>
                <a:lnTo>
                  <a:pt x="2044446" y="214198"/>
                </a:lnTo>
                <a:lnTo>
                  <a:pt x="34798" y="214198"/>
                </a:lnTo>
                <a:lnTo>
                  <a:pt x="28448" y="220560"/>
                </a:lnTo>
                <a:lnTo>
                  <a:pt x="28448" y="371513"/>
                </a:lnTo>
                <a:lnTo>
                  <a:pt x="0" y="371513"/>
                </a:lnTo>
                <a:lnTo>
                  <a:pt x="42672" y="456844"/>
                </a:lnTo>
                <a:lnTo>
                  <a:pt x="78117" y="385737"/>
                </a:lnTo>
                <a:lnTo>
                  <a:pt x="85217" y="371513"/>
                </a:lnTo>
                <a:lnTo>
                  <a:pt x="56896" y="371513"/>
                </a:lnTo>
                <a:lnTo>
                  <a:pt x="56896" y="242633"/>
                </a:lnTo>
                <a:lnTo>
                  <a:pt x="2044712" y="242633"/>
                </a:lnTo>
                <a:lnTo>
                  <a:pt x="2044814" y="377113"/>
                </a:lnTo>
                <a:lnTo>
                  <a:pt x="2016379" y="377126"/>
                </a:lnTo>
                <a:lnTo>
                  <a:pt x="2059178" y="462419"/>
                </a:lnTo>
                <a:lnTo>
                  <a:pt x="2094611" y="391325"/>
                </a:lnTo>
                <a:lnTo>
                  <a:pt x="2044827" y="391325"/>
                </a:lnTo>
                <a:lnTo>
                  <a:pt x="2094611" y="391312"/>
                </a:lnTo>
                <a:lnTo>
                  <a:pt x="2101723" y="377063"/>
                </a:lnTo>
                <a:lnTo>
                  <a:pt x="2073262" y="377088"/>
                </a:lnTo>
                <a:lnTo>
                  <a:pt x="2073173" y="240118"/>
                </a:lnTo>
                <a:lnTo>
                  <a:pt x="4091051" y="240118"/>
                </a:lnTo>
                <a:lnTo>
                  <a:pt x="4091051" y="366483"/>
                </a:lnTo>
                <a:lnTo>
                  <a:pt x="4062603" y="366483"/>
                </a:lnTo>
                <a:lnTo>
                  <a:pt x="4105275" y="451802"/>
                </a:lnTo>
                <a:lnTo>
                  <a:pt x="4140720" y="380695"/>
                </a:lnTo>
                <a:lnTo>
                  <a:pt x="4147820" y="3664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8600" y="1047610"/>
            <a:ext cx="8686800" cy="3733800"/>
            <a:chOff x="228600" y="1047610"/>
            <a:chExt cx="8686800" cy="3733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" y="1047610"/>
              <a:ext cx="8686419" cy="373354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129533" y="1885822"/>
              <a:ext cx="4899025" cy="1944370"/>
            </a:xfrm>
            <a:custGeom>
              <a:avLst/>
              <a:gdLst/>
              <a:ahLst/>
              <a:cxnLst/>
              <a:rect l="l" t="t" r="r" b="b"/>
              <a:pathLst>
                <a:path w="4899025" h="1944370">
                  <a:moveTo>
                    <a:pt x="0" y="0"/>
                  </a:moveTo>
                  <a:lnTo>
                    <a:pt x="1658366" y="0"/>
                  </a:lnTo>
                </a:path>
                <a:path w="4899025" h="1944370">
                  <a:moveTo>
                    <a:pt x="3074416" y="1152270"/>
                  </a:moveTo>
                  <a:lnTo>
                    <a:pt x="4898898" y="1152270"/>
                  </a:lnTo>
                </a:path>
                <a:path w="4899025" h="1944370">
                  <a:moveTo>
                    <a:pt x="948055" y="1944370"/>
                  </a:moveTo>
                  <a:lnTo>
                    <a:pt x="2954655" y="1944370"/>
                  </a:lnTo>
                </a:path>
              </a:pathLst>
            </a:custGeom>
            <a:ln w="2844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Impairment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Impairment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62609"/>
            <a:ext cx="37420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Attenuation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Amplification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514" y="2152804"/>
            <a:ext cx="1266482" cy="106169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40943" y="2021776"/>
            <a:ext cx="7482205" cy="2350135"/>
            <a:chOff x="840943" y="2021776"/>
            <a:chExt cx="7482205" cy="235013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0943" y="3405936"/>
              <a:ext cx="7324521" cy="96554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67148" y="2021776"/>
              <a:ext cx="1423797" cy="10962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56373" y="2137217"/>
              <a:ext cx="1266482" cy="109264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Impairment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43840" y="998589"/>
            <a:ext cx="8670290" cy="379666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76200" algn="just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latin typeface="Times New Roman"/>
                <a:cs typeface="Times New Roman"/>
              </a:rPr>
              <a:t>Attenuation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Amplification</a:t>
            </a:r>
            <a:endParaRPr sz="2400">
              <a:latin typeface="Times New Roman"/>
              <a:cs typeface="Times New Roman"/>
            </a:endParaRPr>
          </a:p>
          <a:p>
            <a:pPr marL="416559" indent="-340360" algn="just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416559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  <a:p>
            <a:pPr marL="819785" marR="81280" indent="-287020" algn="just">
              <a:lnSpc>
                <a:spcPct val="99000"/>
              </a:lnSpc>
              <a:spcBef>
                <a:spcPts val="495"/>
              </a:spcBef>
            </a:pPr>
            <a:r>
              <a:rPr sz="2000" dirty="0">
                <a:latin typeface="Arial MT"/>
                <a:cs typeface="Arial MT"/>
              </a:rPr>
              <a:t>–  </a:t>
            </a:r>
            <a:r>
              <a:rPr sz="2000" dirty="0">
                <a:latin typeface="Times New Roman"/>
                <a:cs typeface="Times New Roman"/>
              </a:rPr>
              <a:t>Suppose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travels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transmission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medium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power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 </a:t>
            </a:r>
            <a:r>
              <a:rPr sz="2000" dirty="0">
                <a:latin typeface="Times New Roman"/>
                <a:cs typeface="Times New Roman"/>
              </a:rPr>
              <a:t>reduced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half.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 means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1950" baseline="-21367" dirty="0">
                <a:latin typeface="Times New Roman"/>
                <a:cs typeface="Times New Roman"/>
              </a:rPr>
              <a:t>2</a:t>
            </a:r>
            <a:r>
              <a:rPr sz="1950" spc="262" baseline="-21367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0.5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1950" baseline="-21367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case,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attenuation </a:t>
            </a:r>
            <a:r>
              <a:rPr sz="2000" dirty="0">
                <a:latin typeface="Times New Roman"/>
                <a:cs typeface="Times New Roman"/>
              </a:rPr>
              <a:t>(loss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power)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calculated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as</a:t>
            </a:r>
            <a:endParaRPr sz="2000">
              <a:latin typeface="Times New Roman"/>
              <a:cs typeface="Times New Roman"/>
            </a:endParaRPr>
          </a:p>
          <a:p>
            <a:pPr marL="76200">
              <a:lnSpc>
                <a:spcPts val="2850"/>
              </a:lnSpc>
              <a:spcBef>
                <a:spcPts val="475"/>
              </a:spcBef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>
              <a:latin typeface="Times New Roman"/>
              <a:cs typeface="Times New Roman"/>
            </a:endParaRPr>
          </a:p>
          <a:p>
            <a:pPr marL="3618229">
              <a:lnSpc>
                <a:spcPts val="2370"/>
              </a:lnSpc>
            </a:pP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log</a:t>
            </a:r>
            <a:r>
              <a:rPr sz="1950" baseline="-21367" dirty="0">
                <a:latin typeface="Times New Roman"/>
                <a:cs typeface="Times New Roman"/>
              </a:rPr>
              <a:t>10</a:t>
            </a:r>
            <a:r>
              <a:rPr sz="1950" spc="-30" baseline="-21367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P</a:t>
            </a:r>
            <a:r>
              <a:rPr sz="1950" spc="-30" baseline="-21367" dirty="0">
                <a:latin typeface="Times New Roman"/>
                <a:cs typeface="Times New Roman"/>
              </a:rPr>
              <a:t>2</a:t>
            </a:r>
            <a:r>
              <a:rPr sz="2000" spc="-20" dirty="0">
                <a:latin typeface="Times New Roman"/>
                <a:cs typeface="Times New Roman"/>
              </a:rPr>
              <a:t>/P</a:t>
            </a:r>
            <a:r>
              <a:rPr sz="1950" spc="-30" baseline="-21367" dirty="0">
                <a:latin typeface="Times New Roman"/>
                <a:cs typeface="Times New Roman"/>
              </a:rPr>
              <a:t>1</a:t>
            </a:r>
            <a:endParaRPr sz="1950" baseline="-21367">
              <a:latin typeface="Times New Roman"/>
              <a:cs typeface="Times New Roman"/>
            </a:endParaRPr>
          </a:p>
          <a:p>
            <a:pPr marL="34290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 log</a:t>
            </a:r>
            <a:r>
              <a:rPr sz="1950" baseline="-21367" dirty="0">
                <a:latin typeface="Times New Roman"/>
                <a:cs typeface="Times New Roman"/>
              </a:rPr>
              <a:t>10</a:t>
            </a:r>
            <a:r>
              <a:rPr sz="1950" spc="-22" baseline="-21367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(0.5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</a:t>
            </a:r>
            <a:r>
              <a:rPr sz="1950" spc="-15" baseline="-21367" dirty="0">
                <a:latin typeface="Times New Roman"/>
                <a:cs typeface="Times New Roman"/>
              </a:rPr>
              <a:t>1</a:t>
            </a:r>
            <a:r>
              <a:rPr sz="2000" spc="-10" dirty="0">
                <a:latin typeface="Times New Roman"/>
                <a:cs typeface="Times New Roman"/>
              </a:rPr>
              <a:t>/P</a:t>
            </a:r>
            <a:r>
              <a:rPr sz="1950" spc="-15" baseline="-21367" dirty="0">
                <a:latin typeface="Times New Roman"/>
                <a:cs typeface="Times New Roman"/>
              </a:rPr>
              <a:t>1</a:t>
            </a:r>
            <a:r>
              <a:rPr sz="2000" spc="-1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34290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log</a:t>
            </a:r>
            <a:r>
              <a:rPr sz="1950" baseline="-21367" dirty="0">
                <a:latin typeface="Times New Roman"/>
                <a:cs typeface="Times New Roman"/>
              </a:rPr>
              <a:t>10</a:t>
            </a:r>
            <a:r>
              <a:rPr sz="1950" spc="-22" baseline="-21367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(0.5)</a:t>
            </a:r>
            <a:endParaRPr sz="2000">
              <a:latin typeface="Times New Roman"/>
              <a:cs typeface="Times New Roman"/>
            </a:endParaRPr>
          </a:p>
          <a:p>
            <a:pPr marL="34290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(-</a:t>
            </a:r>
            <a:r>
              <a:rPr sz="2000" spc="-20" dirty="0">
                <a:latin typeface="Times New Roman"/>
                <a:cs typeface="Times New Roman"/>
              </a:rPr>
              <a:t>0.3)</a:t>
            </a:r>
            <a:endParaRPr sz="2000">
              <a:latin typeface="Times New Roman"/>
              <a:cs typeface="Times New Roman"/>
            </a:endParaRPr>
          </a:p>
          <a:p>
            <a:pPr marL="34290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-3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dB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Impairment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43840" y="998589"/>
            <a:ext cx="8670290" cy="374967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76200" algn="just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latin typeface="Times New Roman"/>
                <a:cs typeface="Times New Roman"/>
              </a:rPr>
              <a:t>Attenuation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Amplification</a:t>
            </a:r>
            <a:endParaRPr sz="2400">
              <a:latin typeface="Times New Roman"/>
              <a:cs typeface="Times New Roman"/>
            </a:endParaRPr>
          </a:p>
          <a:p>
            <a:pPr marL="416559" indent="-340360" algn="just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416559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  <a:p>
            <a:pPr marL="819785" marR="81280" indent="-287020" algn="just">
              <a:lnSpc>
                <a:spcPct val="99000"/>
              </a:lnSpc>
              <a:spcBef>
                <a:spcPts val="495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-10" dirty="0">
                <a:latin typeface="Arial MT"/>
                <a:cs typeface="Arial MT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travels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amplifier,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power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increased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times.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means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1950" baseline="-21367" dirty="0">
                <a:latin typeface="Times New Roman"/>
                <a:cs typeface="Times New Roman"/>
              </a:rPr>
              <a:t>2</a:t>
            </a:r>
            <a:r>
              <a:rPr sz="1950" spc="547" baseline="-21367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10P</a:t>
            </a:r>
            <a:r>
              <a:rPr sz="1950" baseline="-21367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case,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amplification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(gain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power)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calculated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as</a:t>
            </a:r>
            <a:endParaRPr sz="2000">
              <a:latin typeface="Times New Roman"/>
              <a:cs typeface="Times New Roman"/>
            </a:endParaRPr>
          </a:p>
          <a:p>
            <a:pPr marL="76200">
              <a:lnSpc>
                <a:spcPts val="2660"/>
              </a:lnSpc>
              <a:spcBef>
                <a:spcPts val="475"/>
              </a:spcBef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>
              <a:latin typeface="Times New Roman"/>
              <a:cs typeface="Times New Roman"/>
            </a:endParaRPr>
          </a:p>
          <a:p>
            <a:pPr marL="3542029">
              <a:lnSpc>
                <a:spcPts val="2180"/>
              </a:lnSpc>
            </a:pP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log</a:t>
            </a:r>
            <a:r>
              <a:rPr sz="1950" baseline="-21367" dirty="0">
                <a:latin typeface="Times New Roman"/>
                <a:cs typeface="Times New Roman"/>
              </a:rPr>
              <a:t>10</a:t>
            </a:r>
            <a:r>
              <a:rPr sz="1950" spc="-30" baseline="-21367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P</a:t>
            </a:r>
            <a:r>
              <a:rPr sz="1950" spc="-30" baseline="-21367" dirty="0">
                <a:latin typeface="Times New Roman"/>
                <a:cs typeface="Times New Roman"/>
              </a:rPr>
              <a:t>2</a:t>
            </a:r>
            <a:r>
              <a:rPr sz="2000" spc="-20" dirty="0">
                <a:latin typeface="Times New Roman"/>
                <a:cs typeface="Times New Roman"/>
              </a:rPr>
              <a:t>/P</a:t>
            </a:r>
            <a:r>
              <a:rPr sz="1950" spc="-30" baseline="-21367" dirty="0">
                <a:latin typeface="Times New Roman"/>
                <a:cs typeface="Times New Roman"/>
              </a:rPr>
              <a:t>1</a:t>
            </a:r>
            <a:endParaRPr sz="1950" baseline="-21367">
              <a:latin typeface="Times New Roman"/>
              <a:cs typeface="Times New Roman"/>
            </a:endParaRPr>
          </a:p>
          <a:p>
            <a:pPr marL="335343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log</a:t>
            </a:r>
            <a:r>
              <a:rPr sz="1950" baseline="-21367" dirty="0">
                <a:latin typeface="Times New Roman"/>
                <a:cs typeface="Times New Roman"/>
              </a:rPr>
              <a:t>10</a:t>
            </a:r>
            <a:r>
              <a:rPr sz="1950" spc="-15" baseline="-21367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(10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</a:t>
            </a:r>
            <a:r>
              <a:rPr sz="1950" spc="-15" baseline="-21367" dirty="0">
                <a:latin typeface="Times New Roman"/>
                <a:cs typeface="Times New Roman"/>
              </a:rPr>
              <a:t>1</a:t>
            </a:r>
            <a:r>
              <a:rPr sz="2000" spc="-10" dirty="0">
                <a:latin typeface="Times New Roman"/>
                <a:cs typeface="Times New Roman"/>
              </a:rPr>
              <a:t>/P</a:t>
            </a:r>
            <a:r>
              <a:rPr sz="1950" spc="-15" baseline="-21367" dirty="0">
                <a:latin typeface="Times New Roman"/>
                <a:cs typeface="Times New Roman"/>
              </a:rPr>
              <a:t>1</a:t>
            </a:r>
            <a:r>
              <a:rPr sz="2000" spc="-1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335343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 log</a:t>
            </a:r>
            <a:r>
              <a:rPr sz="1950" baseline="-21367" dirty="0">
                <a:latin typeface="Times New Roman"/>
                <a:cs typeface="Times New Roman"/>
              </a:rPr>
              <a:t>10</a:t>
            </a:r>
            <a:r>
              <a:rPr sz="1950" spc="-15" baseline="-21367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(10)</a:t>
            </a:r>
            <a:endParaRPr sz="2000">
              <a:latin typeface="Times New Roman"/>
              <a:cs typeface="Times New Roman"/>
            </a:endParaRPr>
          </a:p>
          <a:p>
            <a:pPr marL="335343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(1)</a:t>
            </a:r>
            <a:endParaRPr sz="2000">
              <a:latin typeface="Times New Roman"/>
              <a:cs typeface="Times New Roman"/>
            </a:endParaRPr>
          </a:p>
          <a:p>
            <a:pPr marL="335343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dB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Impairment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8589"/>
            <a:ext cx="6655434" cy="167068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latin typeface="Times New Roman"/>
                <a:cs typeface="Times New Roman"/>
              </a:rPr>
              <a:t>Attenuation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Amplification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425"/>
              </a:spcBef>
              <a:tabLst>
                <a:tab pos="7562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much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total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gain/loss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32053" y="3147898"/>
            <a:ext cx="7877809" cy="1362075"/>
            <a:chOff x="632053" y="3147898"/>
            <a:chExt cx="7877809" cy="136207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2053" y="3147898"/>
              <a:ext cx="3101085" cy="136182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33927" y="3224098"/>
              <a:ext cx="2437892" cy="128562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72961" y="3185998"/>
              <a:ext cx="2336799" cy="1323721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Impairment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43840" y="998589"/>
            <a:ext cx="8670925" cy="3754754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76200" algn="just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latin typeface="Times New Roman"/>
                <a:cs typeface="Times New Roman"/>
              </a:rPr>
              <a:t>Attenuation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Amplification</a:t>
            </a:r>
            <a:endParaRPr sz="2400">
              <a:latin typeface="Times New Roman"/>
              <a:cs typeface="Times New Roman"/>
            </a:endParaRPr>
          </a:p>
          <a:p>
            <a:pPr marL="416559" indent="-340360" algn="just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416559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  <a:p>
            <a:pPr marL="819785" marR="81280" indent="-287020" algn="just">
              <a:lnSpc>
                <a:spcPct val="100000"/>
              </a:lnSpc>
              <a:spcBef>
                <a:spcPts val="470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-10" dirty="0">
                <a:latin typeface="Arial MT"/>
                <a:cs typeface="Arial MT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Sometimes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decibel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measure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power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milliwatts.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this </a:t>
            </a:r>
            <a:r>
              <a:rPr sz="2000" dirty="0">
                <a:latin typeface="Times New Roman"/>
                <a:cs typeface="Times New Roman"/>
              </a:rPr>
              <a:t>case,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referred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dB</a:t>
            </a:r>
            <a:r>
              <a:rPr sz="1950" baseline="-21367" dirty="0">
                <a:latin typeface="Times New Roman"/>
                <a:cs typeface="Times New Roman"/>
              </a:rPr>
              <a:t>m</a:t>
            </a:r>
            <a:r>
              <a:rPr sz="1950" spc="352" baseline="-21367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calculated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dB</a:t>
            </a:r>
            <a:r>
              <a:rPr sz="1950" baseline="-21367" dirty="0">
                <a:latin typeface="Times New Roman"/>
                <a:cs typeface="Times New Roman"/>
              </a:rPr>
              <a:t>m</a:t>
            </a:r>
            <a:r>
              <a:rPr sz="1950" spc="367" baseline="-21367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log10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1950" baseline="-21367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where 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1950" baseline="-21367" dirty="0">
                <a:latin typeface="Times New Roman"/>
                <a:cs typeface="Times New Roman"/>
              </a:rPr>
              <a:t>m</a:t>
            </a:r>
            <a:r>
              <a:rPr sz="1950" spc="517" baseline="-21367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power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milliwatts.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Calculate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power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dB</a:t>
            </a:r>
            <a:r>
              <a:rPr sz="1950" baseline="-21367" dirty="0">
                <a:latin typeface="Times New Roman"/>
                <a:cs typeface="Times New Roman"/>
              </a:rPr>
              <a:t>m</a:t>
            </a:r>
            <a:r>
              <a:rPr sz="1950" spc="525" baseline="-21367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=</a:t>
            </a:r>
            <a:endParaRPr sz="2000">
              <a:latin typeface="Times New Roman"/>
              <a:cs typeface="Times New Roman"/>
            </a:endParaRPr>
          </a:p>
          <a:p>
            <a:pPr marR="6623684" algn="ctr">
              <a:lnSpc>
                <a:spcPts val="2355"/>
              </a:lnSpc>
            </a:pPr>
            <a:r>
              <a:rPr sz="2000" spc="-25" dirty="0">
                <a:latin typeface="Times New Roman"/>
                <a:cs typeface="Times New Roman"/>
              </a:rPr>
              <a:t>−30</a:t>
            </a:r>
            <a:endParaRPr sz="2000">
              <a:latin typeface="Times New Roman"/>
              <a:cs typeface="Times New Roman"/>
            </a:endParaRPr>
          </a:p>
          <a:p>
            <a:pPr marR="7476490" algn="ctr">
              <a:lnSpc>
                <a:spcPct val="100000"/>
              </a:lnSpc>
              <a:spcBef>
                <a:spcPts val="480"/>
              </a:spcBef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>
              <a:latin typeface="Times New Roman"/>
              <a:cs typeface="Times New Roman"/>
            </a:endParaRPr>
          </a:p>
          <a:p>
            <a:pPr marL="3200400" marR="3840479" algn="ctr">
              <a:lnSpc>
                <a:spcPct val="100000"/>
              </a:lnSpc>
              <a:spcBef>
                <a:spcPts val="565"/>
              </a:spcBef>
            </a:pPr>
            <a:r>
              <a:rPr sz="1800" dirty="0">
                <a:latin typeface="Times New Roman"/>
                <a:cs typeface="Times New Roman"/>
              </a:rPr>
              <a:t>10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</a:t>
            </a:r>
            <a:r>
              <a:rPr sz="1800" baseline="-20833" dirty="0">
                <a:latin typeface="Times New Roman"/>
                <a:cs typeface="Times New Roman"/>
              </a:rPr>
              <a:t>10</a:t>
            </a:r>
            <a:r>
              <a:rPr sz="1800" spc="-7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</a:t>
            </a:r>
            <a:r>
              <a:rPr sz="1800" baseline="-20833" dirty="0">
                <a:latin typeface="Times New Roman"/>
                <a:cs typeface="Times New Roman"/>
              </a:rPr>
              <a:t>m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dB</a:t>
            </a:r>
            <a:r>
              <a:rPr sz="1800" spc="-37" baseline="-20833" dirty="0">
                <a:latin typeface="Times New Roman"/>
                <a:cs typeface="Times New Roman"/>
              </a:rPr>
              <a:t>m </a:t>
            </a:r>
            <a:r>
              <a:rPr sz="1800" dirty="0">
                <a:latin typeface="Times New Roman"/>
                <a:cs typeface="Times New Roman"/>
              </a:rPr>
              <a:t>10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</a:t>
            </a:r>
            <a:r>
              <a:rPr sz="1800" baseline="-20833" dirty="0">
                <a:latin typeface="Times New Roman"/>
                <a:cs typeface="Times New Roman"/>
              </a:rPr>
              <a:t>10</a:t>
            </a:r>
            <a:r>
              <a:rPr sz="1800" spc="-7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</a:t>
            </a:r>
            <a:r>
              <a:rPr sz="1800" baseline="-20833" dirty="0">
                <a:latin typeface="Times New Roman"/>
                <a:cs typeface="Times New Roman"/>
              </a:rPr>
              <a:t>m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-</a:t>
            </a:r>
            <a:r>
              <a:rPr sz="1800" spc="-25" dirty="0">
                <a:latin typeface="Times New Roman"/>
                <a:cs typeface="Times New Roman"/>
              </a:rPr>
              <a:t>30 </a:t>
            </a:r>
            <a:r>
              <a:rPr sz="1800" dirty="0">
                <a:latin typeface="Times New Roman"/>
                <a:cs typeface="Times New Roman"/>
              </a:rPr>
              <a:t>log</a:t>
            </a:r>
            <a:r>
              <a:rPr sz="1800" baseline="-20833" dirty="0">
                <a:latin typeface="Times New Roman"/>
                <a:cs typeface="Times New Roman"/>
              </a:rPr>
              <a:t>10</a:t>
            </a:r>
            <a:r>
              <a:rPr sz="1800" spc="-30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</a:t>
            </a:r>
            <a:r>
              <a:rPr sz="1800" baseline="-20833" dirty="0">
                <a:latin typeface="Times New Roman"/>
                <a:cs typeface="Times New Roman"/>
              </a:rPr>
              <a:t>m</a:t>
            </a:r>
            <a:r>
              <a:rPr sz="1800" spc="7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-</a:t>
            </a:r>
            <a:r>
              <a:rPr sz="1800" spc="-50" dirty="0"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  <a:p>
            <a:pPr marL="579120" algn="ctr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P</a:t>
            </a:r>
            <a:r>
              <a:rPr sz="1800" baseline="-20833" dirty="0">
                <a:latin typeface="Times New Roman"/>
                <a:cs typeface="Times New Roman"/>
              </a:rPr>
              <a:t>m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10</a:t>
            </a:r>
            <a:r>
              <a:rPr sz="1800" spc="-15" baseline="25462" dirty="0">
                <a:latin typeface="Times New Roman"/>
                <a:cs typeface="Times New Roman"/>
              </a:rPr>
              <a:t>-</a:t>
            </a:r>
            <a:r>
              <a:rPr sz="1800" baseline="25462" dirty="0">
                <a:latin typeface="Times New Roman"/>
                <a:cs typeface="Times New Roman"/>
              </a:rPr>
              <a:t>3 </a:t>
            </a:r>
            <a:r>
              <a:rPr sz="1800" spc="-25" dirty="0">
                <a:latin typeface="Times New Roman"/>
                <a:cs typeface="Times New Roman"/>
              </a:rPr>
              <a:t>mW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Impairment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8589"/>
            <a:ext cx="8529955" cy="185420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latin typeface="Times New Roman"/>
                <a:cs typeface="Times New Roman"/>
              </a:rPr>
              <a:t>Attenuation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Amplification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  <a:p>
            <a:pPr marL="756285" marR="5080" indent="-287020" algn="just">
              <a:lnSpc>
                <a:spcPct val="99000"/>
              </a:lnSpc>
              <a:spcBef>
                <a:spcPts val="495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-10" dirty="0">
                <a:latin typeface="Arial MT"/>
                <a:cs typeface="Arial MT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loss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usually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defined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decibels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kilometer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(dB/km).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If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beginning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−0.3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dB/km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power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2 mW,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what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power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km?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340" y="2887472"/>
            <a:ext cx="1059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20594" y="2972816"/>
            <a:ext cx="366649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Loss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cable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(-</a:t>
            </a:r>
            <a:r>
              <a:rPr sz="1800" dirty="0">
                <a:latin typeface="Times New Roman"/>
                <a:cs typeface="Times New Roman"/>
              </a:rPr>
              <a:t>0.3)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 5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-</a:t>
            </a:r>
            <a:r>
              <a:rPr sz="1800" dirty="0">
                <a:latin typeface="Times New Roman"/>
                <a:cs typeface="Times New Roman"/>
              </a:rPr>
              <a:t>1.5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dB </a:t>
            </a:r>
            <a:r>
              <a:rPr sz="1800" spc="-20" dirty="0">
                <a:latin typeface="Times New Roman"/>
                <a:cs typeface="Times New Roman"/>
              </a:rPr>
              <a:t>Now,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power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calculated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as</a:t>
            </a:r>
            <a:r>
              <a:rPr sz="1800" spc="5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</a:t>
            </a:r>
            <a:r>
              <a:rPr sz="1800" baseline="-20833" dirty="0">
                <a:latin typeface="Times New Roman"/>
                <a:cs typeface="Times New Roman"/>
              </a:rPr>
              <a:t>10</a:t>
            </a:r>
            <a:r>
              <a:rPr sz="1800" spc="-7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</a:t>
            </a:r>
            <a:r>
              <a:rPr sz="1800" baseline="-20833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/P</a:t>
            </a:r>
            <a:r>
              <a:rPr sz="1800" baseline="-20833" dirty="0">
                <a:latin typeface="Times New Roman"/>
                <a:cs typeface="Times New Roman"/>
              </a:rPr>
              <a:t>1</a:t>
            </a:r>
            <a:r>
              <a:rPr sz="1800" spc="-22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-</a:t>
            </a:r>
            <a:r>
              <a:rPr sz="1800" spc="-25" dirty="0">
                <a:latin typeface="Times New Roman"/>
                <a:cs typeface="Times New Roman"/>
              </a:rPr>
              <a:t>1.5</a:t>
            </a:r>
            <a:endParaRPr sz="1800">
              <a:latin typeface="Times New Roman"/>
              <a:cs typeface="Times New Roman"/>
            </a:endParaRPr>
          </a:p>
          <a:p>
            <a:pPr marL="32131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log</a:t>
            </a:r>
            <a:r>
              <a:rPr sz="1800" baseline="-20833" dirty="0">
                <a:latin typeface="Times New Roman"/>
                <a:cs typeface="Times New Roman"/>
              </a:rPr>
              <a:t>10</a:t>
            </a:r>
            <a:r>
              <a:rPr sz="1800" spc="-30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</a:t>
            </a:r>
            <a:r>
              <a:rPr sz="1800" baseline="-20833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/P</a:t>
            </a:r>
            <a:r>
              <a:rPr sz="1800" baseline="-20833" dirty="0">
                <a:latin typeface="Times New Roman"/>
                <a:cs typeface="Times New Roman"/>
              </a:rPr>
              <a:t>1</a:t>
            </a:r>
            <a:r>
              <a:rPr sz="1800" spc="-7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-</a:t>
            </a:r>
            <a:r>
              <a:rPr sz="1800" spc="-20" dirty="0">
                <a:latin typeface="Times New Roman"/>
                <a:cs typeface="Times New Roman"/>
              </a:rPr>
              <a:t>0.15</a:t>
            </a:r>
            <a:endParaRPr sz="1800">
              <a:latin typeface="Times New Roman"/>
              <a:cs typeface="Times New Roman"/>
            </a:endParaRPr>
          </a:p>
          <a:p>
            <a:pPr marL="77724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P</a:t>
            </a:r>
            <a:r>
              <a:rPr sz="1800" baseline="-20833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/P</a:t>
            </a:r>
            <a:r>
              <a:rPr sz="1800" baseline="-20833" dirty="0">
                <a:latin typeface="Times New Roman"/>
                <a:cs typeface="Times New Roman"/>
              </a:rPr>
              <a:t>1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10</a:t>
            </a:r>
            <a:r>
              <a:rPr sz="1800" spc="-15" baseline="25462" dirty="0">
                <a:latin typeface="Times New Roman"/>
                <a:cs typeface="Times New Roman"/>
              </a:rPr>
              <a:t>-</a:t>
            </a:r>
            <a:r>
              <a:rPr sz="1800" baseline="25462" dirty="0">
                <a:latin typeface="Times New Roman"/>
                <a:cs typeface="Times New Roman"/>
              </a:rPr>
              <a:t>0.15 </a:t>
            </a:r>
            <a:r>
              <a:rPr sz="1800" dirty="0">
                <a:latin typeface="Times New Roman"/>
                <a:cs typeface="Times New Roman"/>
              </a:rPr>
              <a:t>= </a:t>
            </a:r>
            <a:r>
              <a:rPr sz="1800" spc="-25" dirty="0">
                <a:latin typeface="Times New Roman"/>
                <a:cs typeface="Times New Roman"/>
              </a:rPr>
              <a:t>0.7</a:t>
            </a:r>
            <a:endParaRPr sz="1800">
              <a:latin typeface="Times New Roman"/>
              <a:cs typeface="Times New Roman"/>
            </a:endParaRPr>
          </a:p>
          <a:p>
            <a:pPr marL="106362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P</a:t>
            </a:r>
            <a:r>
              <a:rPr sz="1800" baseline="-20833" dirty="0">
                <a:latin typeface="Times New Roman"/>
                <a:cs typeface="Times New Roman"/>
              </a:rPr>
              <a:t>2</a:t>
            </a:r>
            <a:r>
              <a:rPr sz="1800" spc="209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0.7P</a:t>
            </a:r>
            <a:r>
              <a:rPr sz="1800" spc="-15" baseline="-20833" dirty="0">
                <a:latin typeface="Times New Roman"/>
                <a:cs typeface="Times New Roman"/>
              </a:rPr>
              <a:t>1</a:t>
            </a:r>
            <a:endParaRPr sz="1800" baseline="-20833">
              <a:latin typeface="Times New Roman"/>
              <a:cs typeface="Times New Roman"/>
            </a:endParaRPr>
          </a:p>
          <a:p>
            <a:pPr marL="106362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P</a:t>
            </a:r>
            <a:r>
              <a:rPr sz="1800" baseline="-20833" dirty="0">
                <a:latin typeface="Times New Roman"/>
                <a:cs typeface="Times New Roman"/>
              </a:rPr>
              <a:t>2</a:t>
            </a:r>
            <a:r>
              <a:rPr sz="1800" spc="202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0.7*2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1.4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mW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Impairment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8589"/>
            <a:ext cx="8530590" cy="3637279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400" spc="-10" dirty="0">
                <a:latin typeface="Times New Roman"/>
                <a:cs typeface="Times New Roman"/>
              </a:rPr>
              <a:t>Distortion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Distortion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10" dirty="0">
                <a:latin typeface="Times New Roman"/>
                <a:cs typeface="Times New Roman"/>
              </a:rPr>
              <a:t>shape</a:t>
            </a:r>
            <a:endParaRPr sz="2400">
              <a:latin typeface="Times New Roman"/>
              <a:cs typeface="Times New Roman"/>
            </a:endParaRPr>
          </a:p>
          <a:p>
            <a:pPr marL="353060" marR="5715" indent="-340360" algn="just">
              <a:lnSpc>
                <a:spcPts val="2830"/>
              </a:lnSpc>
              <a:spcBef>
                <a:spcPts val="69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Distortion</a:t>
            </a:r>
            <a:r>
              <a:rPr sz="2400" spc="5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occur</a:t>
            </a:r>
            <a:r>
              <a:rPr sz="2400" spc="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5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composite</a:t>
            </a:r>
            <a:r>
              <a:rPr sz="2400" spc="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signal</a:t>
            </a:r>
            <a:r>
              <a:rPr sz="2400" spc="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made</a:t>
            </a:r>
            <a:r>
              <a:rPr sz="2400" spc="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5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different 	frequencies</a:t>
            </a:r>
            <a:endParaRPr sz="2400">
              <a:latin typeface="Times New Roman"/>
              <a:cs typeface="Times New Roman"/>
            </a:endParaRPr>
          </a:p>
          <a:p>
            <a:pPr marL="353060" marR="5080" indent="-340360" algn="just">
              <a:lnSpc>
                <a:spcPct val="99000"/>
              </a:lnSpc>
              <a:spcBef>
                <a:spcPts val="49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component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own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propagation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speed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 	</a:t>
            </a:r>
            <a:r>
              <a:rPr sz="2400" dirty="0">
                <a:latin typeface="Times New Roman"/>
                <a:cs typeface="Times New Roman"/>
              </a:rPr>
              <a:t>medium</a:t>
            </a:r>
            <a:r>
              <a:rPr sz="2400" spc="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and,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therefore,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own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delay</a:t>
            </a:r>
            <a:r>
              <a:rPr sz="2400" spc="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arriving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final 	destination</a:t>
            </a:r>
            <a:endParaRPr sz="2400">
              <a:latin typeface="Times New Roman"/>
              <a:cs typeface="Times New Roman"/>
            </a:endParaRPr>
          </a:p>
          <a:p>
            <a:pPr marL="353060" marR="6350" indent="-340360" algn="just">
              <a:lnSpc>
                <a:spcPts val="2820"/>
              </a:lnSpc>
              <a:spcBef>
                <a:spcPts val="71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Differences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delay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create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difference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phase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delay 	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exactly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 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period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duration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03643" y="1923542"/>
            <a:ext cx="6986905" cy="2384425"/>
          </a:xfrm>
          <a:custGeom>
            <a:avLst/>
            <a:gdLst/>
            <a:ahLst/>
            <a:cxnLst/>
            <a:rect l="l" t="t" r="r" b="b"/>
            <a:pathLst>
              <a:path w="6986905" h="2384425">
                <a:moveTo>
                  <a:pt x="3076003" y="0"/>
                </a:moveTo>
                <a:lnTo>
                  <a:pt x="6986333" y="0"/>
                </a:lnTo>
              </a:path>
              <a:path w="6986905" h="2384425">
                <a:moveTo>
                  <a:pt x="4012374" y="1223899"/>
                </a:moveTo>
                <a:lnTo>
                  <a:pt x="6682803" y="1223899"/>
                </a:lnTo>
              </a:path>
              <a:path w="6986905" h="2384425">
                <a:moveTo>
                  <a:pt x="0" y="2384132"/>
                </a:moveTo>
                <a:lnTo>
                  <a:pt x="2428176" y="2384132"/>
                </a:lnTo>
              </a:path>
              <a:path w="6986905" h="2384425">
                <a:moveTo>
                  <a:pt x="4156392" y="2372702"/>
                </a:moveTo>
                <a:lnTo>
                  <a:pt x="6584251" y="2372702"/>
                </a:lnTo>
              </a:path>
            </a:pathLst>
          </a:custGeom>
          <a:ln w="2844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686879" y="1119021"/>
            <a:ext cx="7978140" cy="3760470"/>
            <a:chOff x="686879" y="1119021"/>
            <a:chExt cx="7978140" cy="376047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6879" y="1635505"/>
              <a:ext cx="3891661" cy="169849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57801" y="3180575"/>
              <a:ext cx="3907028" cy="1698498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Impairment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07340" y="1062609"/>
            <a:ext cx="1606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Distortion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Impairment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8589"/>
            <a:ext cx="8529320" cy="3481704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400" spc="-10" dirty="0">
                <a:latin typeface="Times New Roman"/>
                <a:cs typeface="Times New Roman"/>
              </a:rPr>
              <a:t>Noise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Noise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another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cause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impairment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830"/>
              </a:lnSpc>
              <a:spcBef>
                <a:spcPts val="690"/>
              </a:spcBef>
              <a:buFont typeface="Arial MT"/>
              <a:buChar char="•"/>
              <a:tabLst>
                <a:tab pos="355600" algn="l"/>
                <a:tab pos="1433195" algn="l"/>
                <a:tab pos="2242185" algn="l"/>
                <a:tab pos="2661285" algn="l"/>
                <a:tab pos="3545840" algn="l"/>
                <a:tab pos="4271010" algn="l"/>
                <a:tab pos="4690110" algn="l"/>
                <a:tab pos="5786120" algn="l"/>
                <a:tab pos="6668770" algn="l"/>
                <a:tab pos="7798434" algn="l"/>
              </a:tabLst>
            </a:pPr>
            <a:r>
              <a:rPr sz="2400" spc="-10" dirty="0">
                <a:latin typeface="Times New Roman"/>
                <a:cs typeface="Times New Roman"/>
              </a:rPr>
              <a:t>Several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types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noise,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such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thermal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noise,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induced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noise, </a:t>
            </a:r>
            <a:r>
              <a:rPr sz="2400" dirty="0">
                <a:latin typeface="Times New Roman"/>
                <a:cs typeface="Times New Roman"/>
              </a:rPr>
              <a:t>crosstalk,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etc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corrupt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signal</a:t>
            </a:r>
            <a:endParaRPr sz="2400">
              <a:latin typeface="Times New Roman"/>
              <a:cs typeface="Times New Roman"/>
            </a:endParaRPr>
          </a:p>
          <a:p>
            <a:pPr marL="756285" marR="6350" lvl="1" indent="-287020">
              <a:lnSpc>
                <a:spcPts val="2350"/>
              </a:lnSpc>
              <a:spcBef>
                <a:spcPts val="509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Thermal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noise is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andom motion</a:t>
            </a:r>
            <a:r>
              <a:rPr sz="2000" u="heavy" spc="2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2000" u="heavy" spc="1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electron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wire,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creates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 </a:t>
            </a:r>
            <a:r>
              <a:rPr sz="2000" dirty="0">
                <a:latin typeface="Times New Roman"/>
                <a:cs typeface="Times New Roman"/>
              </a:rPr>
              <a:t>extra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originally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transmitter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2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Induced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noise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urces</a:t>
            </a:r>
            <a:r>
              <a:rPr sz="2000" u="heavy" spc="-4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such</a:t>
            </a:r>
            <a:r>
              <a:rPr sz="2000" u="heavy" spc="-3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as</a:t>
            </a:r>
            <a:r>
              <a:rPr sz="2000" u="heavy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heavy" spc="-1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motor</a:t>
            </a:r>
            <a:r>
              <a:rPr sz="2000" spc="-10" dirty="0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Crosstalk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effect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ne</a:t>
            </a:r>
            <a:r>
              <a:rPr sz="2000" u="heavy" spc="-3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wire</a:t>
            </a:r>
            <a:r>
              <a:rPr sz="2000" u="heavy" spc="-3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on</a:t>
            </a:r>
            <a:r>
              <a:rPr sz="2000" u="heavy" spc="-1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2000" u="heavy" spc="-3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heavy" spc="-1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othe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Noise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measured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terms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SNR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Noise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Ratio)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22476" y="1119021"/>
            <a:ext cx="6762750" cy="3660140"/>
            <a:chOff x="1122476" y="1119021"/>
            <a:chExt cx="6762750" cy="36601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0" y="3569398"/>
              <a:ext cx="6305042" cy="37331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2476" y="2013432"/>
              <a:ext cx="1163154" cy="15105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81273" y="1969261"/>
              <a:ext cx="2160397" cy="157962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0800" y="1888236"/>
              <a:ext cx="1483868" cy="159512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Impairment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1062609"/>
            <a:ext cx="736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Noise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0115" y="1119021"/>
            <a:ext cx="7283450" cy="3660140"/>
            <a:chOff x="870115" y="1119021"/>
            <a:chExt cx="7283450" cy="36601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0115" y="1420622"/>
              <a:ext cx="7283196" cy="153174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0115" y="3264839"/>
              <a:ext cx="7283196" cy="113544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50" dirty="0"/>
              <a:t>Two</a:t>
            </a:r>
            <a:r>
              <a:rPr sz="2900" spc="-35" dirty="0"/>
              <a:t> </a:t>
            </a:r>
            <a:r>
              <a:rPr sz="2900" dirty="0"/>
              <a:t>cases</a:t>
            </a:r>
            <a:r>
              <a:rPr sz="2900" spc="-35" dirty="0"/>
              <a:t> </a:t>
            </a:r>
            <a:r>
              <a:rPr sz="2900" dirty="0"/>
              <a:t>of</a:t>
            </a:r>
            <a:r>
              <a:rPr sz="2900" spc="-30" dirty="0"/>
              <a:t> </a:t>
            </a:r>
            <a:r>
              <a:rPr sz="2900" dirty="0"/>
              <a:t>SNR:</a:t>
            </a:r>
            <a:r>
              <a:rPr sz="2900" spc="-20" dirty="0"/>
              <a:t> </a:t>
            </a:r>
            <a:r>
              <a:rPr sz="2900" dirty="0"/>
              <a:t>a</a:t>
            </a:r>
            <a:r>
              <a:rPr sz="2900" spc="-30" dirty="0"/>
              <a:t> </a:t>
            </a:r>
            <a:r>
              <a:rPr sz="2900" dirty="0"/>
              <a:t>high</a:t>
            </a:r>
            <a:r>
              <a:rPr sz="2900" spc="-35" dirty="0"/>
              <a:t> </a:t>
            </a:r>
            <a:r>
              <a:rPr sz="2900" dirty="0"/>
              <a:t>SNR</a:t>
            </a:r>
            <a:r>
              <a:rPr sz="2900" spc="-20" dirty="0"/>
              <a:t> </a:t>
            </a:r>
            <a:r>
              <a:rPr sz="2900" dirty="0"/>
              <a:t>and</a:t>
            </a:r>
            <a:r>
              <a:rPr sz="2900" spc="-30" dirty="0"/>
              <a:t> </a:t>
            </a:r>
            <a:r>
              <a:rPr sz="2900" dirty="0"/>
              <a:t>a</a:t>
            </a:r>
            <a:r>
              <a:rPr sz="2900" spc="-35" dirty="0"/>
              <a:t> </a:t>
            </a:r>
            <a:r>
              <a:rPr sz="2900" dirty="0"/>
              <a:t>low</a:t>
            </a:r>
            <a:r>
              <a:rPr sz="2900" spc="-15" dirty="0"/>
              <a:t> </a:t>
            </a:r>
            <a:r>
              <a:rPr sz="2900" spc="-25" dirty="0"/>
              <a:t>SNR</a:t>
            </a:r>
            <a:endParaRPr sz="29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340" y="152526"/>
            <a:ext cx="8529319" cy="492443"/>
          </a:xfrm>
        </p:spPr>
        <p:txBody>
          <a:bodyPr/>
          <a:lstStyle/>
          <a:p>
            <a:r>
              <a:rPr lang="en-US" dirty="0" smtClean="0"/>
              <a:t>How to Calculate SNR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337" y="1123950"/>
            <a:ext cx="6087325" cy="297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59357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SNR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6540" y="991422"/>
            <a:ext cx="8607425" cy="382841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405765" indent="-3422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405765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 dirty="0">
              <a:latin typeface="Times New Roman"/>
              <a:cs typeface="Times New Roman"/>
            </a:endParaRPr>
          </a:p>
          <a:p>
            <a:pPr marL="520700">
              <a:lnSpc>
                <a:spcPts val="2375"/>
              </a:lnSpc>
              <a:spcBef>
                <a:spcPts val="475"/>
              </a:spcBef>
              <a:tabLst>
                <a:tab pos="8070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power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mW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power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noise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μW.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What</a:t>
            </a:r>
            <a:endParaRPr sz="2000" dirty="0">
              <a:latin typeface="Times New Roman"/>
              <a:cs typeface="Times New Roman"/>
            </a:endParaRPr>
          </a:p>
          <a:p>
            <a:pPr marL="807085">
              <a:lnSpc>
                <a:spcPts val="2375"/>
              </a:lnSpc>
            </a:pP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SNR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SNR</a:t>
            </a:r>
            <a:r>
              <a:rPr sz="1950" spc="-15" baseline="-21367" dirty="0">
                <a:latin typeface="Times New Roman"/>
                <a:cs typeface="Times New Roman"/>
              </a:rPr>
              <a:t>dB</a:t>
            </a:r>
            <a:r>
              <a:rPr sz="2000" spc="-10" dirty="0">
                <a:latin typeface="Times New Roman"/>
                <a:cs typeface="Times New Roman"/>
              </a:rPr>
              <a:t>?</a:t>
            </a:r>
            <a:endParaRPr sz="2000" dirty="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475"/>
              </a:spcBef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 dirty="0">
              <a:latin typeface="Times New Roman"/>
              <a:cs typeface="Times New Roman"/>
            </a:endParaRPr>
          </a:p>
          <a:p>
            <a:pPr marL="4057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40576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SNR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SNR</a:t>
            </a:r>
            <a:r>
              <a:rPr sz="2400" baseline="-20833" dirty="0">
                <a:latin typeface="Times New Roman"/>
                <a:cs typeface="Times New Roman"/>
              </a:rPr>
              <a:t>dB</a:t>
            </a:r>
            <a:r>
              <a:rPr sz="2400" spc="284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calculated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follows:</a:t>
            </a:r>
            <a:endParaRPr sz="2400" dirty="0">
              <a:latin typeface="Times New Roman"/>
              <a:cs typeface="Times New Roman"/>
            </a:endParaRPr>
          </a:p>
          <a:p>
            <a:pPr marL="563245" algn="ctr">
              <a:lnSpc>
                <a:spcPct val="100000"/>
              </a:lnSpc>
              <a:spcBef>
                <a:spcPts val="1575"/>
              </a:spcBef>
            </a:pPr>
            <a:r>
              <a:rPr sz="1800" dirty="0">
                <a:latin typeface="Times New Roman"/>
                <a:cs typeface="Times New Roman"/>
              </a:rPr>
              <a:t>SNR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 10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10</a:t>
            </a:r>
            <a:r>
              <a:rPr sz="1800" spc="-15" baseline="25462" dirty="0">
                <a:latin typeface="Times New Roman"/>
                <a:cs typeface="Times New Roman"/>
              </a:rPr>
              <a:t>-3</a:t>
            </a:r>
            <a:r>
              <a:rPr sz="1800" spc="-10" dirty="0">
                <a:latin typeface="Times New Roman"/>
                <a:cs typeface="Times New Roman"/>
              </a:rPr>
              <a:t>/10</a:t>
            </a:r>
            <a:r>
              <a:rPr sz="1800" spc="-15" baseline="25462" dirty="0">
                <a:latin typeface="Times New Roman"/>
                <a:cs typeface="Times New Roman"/>
              </a:rPr>
              <a:t>-</a:t>
            </a:r>
            <a:r>
              <a:rPr sz="1800" spc="-75" baseline="25462" dirty="0">
                <a:latin typeface="Times New Roman"/>
                <a:cs typeface="Times New Roman"/>
              </a:rPr>
              <a:t>6</a:t>
            </a:r>
            <a:endParaRPr sz="1800" baseline="25462" dirty="0">
              <a:latin typeface="Times New Roman"/>
              <a:cs typeface="Times New Roman"/>
            </a:endParaRPr>
          </a:p>
          <a:p>
            <a:pPr marL="617855" algn="ctr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10</a:t>
            </a:r>
            <a:r>
              <a:rPr sz="1800" spc="-37" baseline="25462" dirty="0">
                <a:latin typeface="Times New Roman"/>
                <a:cs typeface="Times New Roman"/>
              </a:rPr>
              <a:t>3</a:t>
            </a:r>
            <a:endParaRPr sz="1800" baseline="25462" dirty="0">
              <a:latin typeface="Times New Roman"/>
              <a:cs typeface="Times New Roman"/>
            </a:endParaRPr>
          </a:p>
          <a:p>
            <a:pPr marL="3512185" marR="2921000" indent="62611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10000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 smtClean="0">
                <a:latin typeface="Times New Roman"/>
                <a:cs typeface="Times New Roman"/>
              </a:rPr>
              <a:t>dB </a:t>
            </a:r>
            <a:r>
              <a:rPr sz="1800" dirty="0">
                <a:latin typeface="Times New Roman"/>
                <a:cs typeface="Times New Roman"/>
              </a:rPr>
              <a:t>SNR</a:t>
            </a:r>
            <a:r>
              <a:rPr sz="1800" baseline="-20833" dirty="0">
                <a:latin typeface="Times New Roman"/>
                <a:cs typeface="Times New Roman"/>
              </a:rPr>
              <a:t>dB</a:t>
            </a:r>
            <a:r>
              <a:rPr sz="1800" spc="209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log</a:t>
            </a:r>
            <a:r>
              <a:rPr sz="1800" spc="-15" baseline="-20833" dirty="0">
                <a:latin typeface="Times New Roman"/>
                <a:cs typeface="Times New Roman"/>
              </a:rPr>
              <a:t>10</a:t>
            </a:r>
            <a:r>
              <a:rPr sz="1800" spc="-10" dirty="0">
                <a:latin typeface="Times New Roman"/>
                <a:cs typeface="Times New Roman"/>
              </a:rPr>
              <a:t>10000</a:t>
            </a:r>
            <a:endParaRPr sz="1800" dirty="0">
              <a:latin typeface="Times New Roman"/>
              <a:cs typeface="Times New Roman"/>
            </a:endParaRPr>
          </a:p>
          <a:p>
            <a:pPr marL="419608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</a:t>
            </a:r>
            <a:r>
              <a:rPr sz="1800" spc="-10" dirty="0">
                <a:latin typeface="Times New Roman"/>
                <a:cs typeface="Times New Roman"/>
              </a:rPr>
              <a:t> log</a:t>
            </a:r>
            <a:r>
              <a:rPr sz="1800" spc="-15" baseline="-20833" dirty="0">
                <a:latin typeface="Times New Roman"/>
                <a:cs typeface="Times New Roman"/>
              </a:rPr>
              <a:t>10</a:t>
            </a:r>
            <a:r>
              <a:rPr sz="1800" spc="-10" dirty="0">
                <a:latin typeface="Times New Roman"/>
                <a:cs typeface="Times New Roman"/>
              </a:rPr>
              <a:t>10</a:t>
            </a:r>
            <a:r>
              <a:rPr sz="1800" spc="-15" baseline="25462" dirty="0">
                <a:latin typeface="Times New Roman"/>
                <a:cs typeface="Times New Roman"/>
              </a:rPr>
              <a:t>4</a:t>
            </a:r>
            <a:endParaRPr sz="1800" baseline="25462" dirty="0">
              <a:latin typeface="Times New Roman"/>
              <a:cs typeface="Times New Roman"/>
            </a:endParaRPr>
          </a:p>
          <a:p>
            <a:pPr marL="419608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40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dB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SNR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69240" y="998589"/>
            <a:ext cx="7476490" cy="3032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43180" indent="342265">
              <a:lnSpc>
                <a:spcPct val="117600"/>
              </a:lnSpc>
              <a:spcBef>
                <a:spcPts val="95"/>
              </a:spcBef>
              <a:buFont typeface="Arial MT"/>
              <a:buChar char="•"/>
              <a:tabLst>
                <a:tab pos="39306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SNR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SNR</a:t>
            </a:r>
            <a:r>
              <a:rPr sz="2400" baseline="-20833" dirty="0">
                <a:latin typeface="Times New Roman"/>
                <a:cs typeface="Times New Roman"/>
              </a:rPr>
              <a:t>dB</a:t>
            </a:r>
            <a:r>
              <a:rPr sz="2400" spc="270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noiseless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channel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are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>
              <a:latin typeface="Times New Roman"/>
              <a:cs typeface="Times New Roman"/>
            </a:endParaRPr>
          </a:p>
          <a:p>
            <a:pPr marL="2481580">
              <a:lnSpc>
                <a:spcPct val="100000"/>
              </a:lnSpc>
              <a:spcBef>
                <a:spcPts val="2625"/>
              </a:spcBef>
            </a:pPr>
            <a:r>
              <a:rPr sz="1800" dirty="0">
                <a:latin typeface="Times New Roman"/>
                <a:cs typeface="Times New Roman"/>
              </a:rPr>
              <a:t>SNR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(signal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power)/0</a:t>
            </a:r>
            <a:endParaRPr sz="1800">
              <a:latin typeface="Times New Roman"/>
              <a:cs typeface="Times New Roman"/>
            </a:endParaRPr>
          </a:p>
          <a:p>
            <a:pPr marR="1133475" algn="ctr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∞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248158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SNR</a:t>
            </a:r>
            <a:r>
              <a:rPr sz="1800" baseline="-20833" dirty="0">
                <a:latin typeface="Times New Roman"/>
                <a:cs typeface="Times New Roman"/>
              </a:rPr>
              <a:t>dB</a:t>
            </a:r>
            <a:r>
              <a:rPr sz="1800" spc="195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</a:t>
            </a:r>
            <a:r>
              <a:rPr sz="1800" baseline="-20833" dirty="0">
                <a:latin typeface="Times New Roman"/>
                <a:cs typeface="Times New Roman"/>
              </a:rPr>
              <a:t>10</a:t>
            </a:r>
            <a:r>
              <a:rPr sz="1800" spc="209" baseline="-20833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∞</a:t>
            </a:r>
            <a:endParaRPr sz="1800">
              <a:latin typeface="Times New Roman"/>
              <a:cs typeface="Times New Roman"/>
            </a:endParaRPr>
          </a:p>
          <a:p>
            <a:pPr marR="788670" algn="ctr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∞</a:t>
            </a:r>
            <a:endParaRPr sz="1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595"/>
              </a:spcBef>
            </a:pPr>
            <a:r>
              <a:rPr sz="2400" spc="-70" dirty="0">
                <a:latin typeface="Times New Roman"/>
                <a:cs typeface="Times New Roman"/>
              </a:rPr>
              <a:t>We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never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achieve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ratio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life;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ideal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8600" y="1047610"/>
            <a:ext cx="8686800" cy="3733800"/>
            <a:chOff x="228600" y="1047610"/>
            <a:chExt cx="8686800" cy="3733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" y="1047610"/>
              <a:ext cx="8686419" cy="373354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32955" y="1818766"/>
              <a:ext cx="2428240" cy="0"/>
            </a:xfrm>
            <a:custGeom>
              <a:avLst/>
              <a:gdLst/>
              <a:ahLst/>
              <a:cxnLst/>
              <a:rect l="l" t="t" r="r" b="b"/>
              <a:pathLst>
                <a:path w="2428240">
                  <a:moveTo>
                    <a:pt x="0" y="0"/>
                  </a:moveTo>
                  <a:lnTo>
                    <a:pt x="2427820" y="0"/>
                  </a:lnTo>
                </a:path>
              </a:pathLst>
            </a:custGeom>
            <a:ln w="2844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Noiseless</a:t>
            </a:r>
            <a:r>
              <a:rPr spc="-75" dirty="0"/>
              <a:t> </a:t>
            </a:r>
            <a:r>
              <a:rPr dirty="0"/>
              <a:t>Channel:</a:t>
            </a:r>
            <a:r>
              <a:rPr spc="-80" dirty="0"/>
              <a:t> </a:t>
            </a:r>
            <a:r>
              <a:rPr dirty="0"/>
              <a:t>Nyquist</a:t>
            </a:r>
            <a:r>
              <a:rPr spc="-80" dirty="0"/>
              <a:t> </a:t>
            </a:r>
            <a:r>
              <a:rPr spc="-20" dirty="0"/>
              <a:t>Rate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Nyquist</a:t>
            </a:r>
            <a:r>
              <a:rPr spc="-45" dirty="0"/>
              <a:t> </a:t>
            </a:r>
            <a:r>
              <a:rPr spc="-20" dirty="0"/>
              <a:t>Rate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54965" algn="l"/>
              </a:tabLst>
            </a:pPr>
            <a:r>
              <a:rPr spc="-25" dirty="0"/>
              <a:t>Eg:</a:t>
            </a:r>
          </a:p>
          <a:p>
            <a:pPr marL="469900">
              <a:lnSpc>
                <a:spcPts val="2375"/>
              </a:lnSpc>
              <a:spcBef>
                <a:spcPts val="475"/>
              </a:spcBef>
              <a:tabLst>
                <a:tab pos="7562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/>
              <a:t>Consider</a:t>
            </a:r>
            <a:r>
              <a:rPr sz="2000" spc="229" dirty="0"/>
              <a:t> </a:t>
            </a:r>
            <a:r>
              <a:rPr sz="2000" dirty="0"/>
              <a:t>a</a:t>
            </a:r>
            <a:r>
              <a:rPr sz="2000" spc="215" dirty="0"/>
              <a:t> </a:t>
            </a:r>
            <a:r>
              <a:rPr sz="2000" dirty="0"/>
              <a:t>noiseless</a:t>
            </a:r>
            <a:r>
              <a:rPr sz="2000" spc="220" dirty="0"/>
              <a:t> </a:t>
            </a:r>
            <a:r>
              <a:rPr sz="2000" dirty="0"/>
              <a:t>channel</a:t>
            </a:r>
            <a:r>
              <a:rPr sz="2000" spc="210" dirty="0"/>
              <a:t> </a:t>
            </a:r>
            <a:r>
              <a:rPr sz="2000" dirty="0"/>
              <a:t>with</a:t>
            </a:r>
            <a:r>
              <a:rPr sz="2000" spc="235" dirty="0"/>
              <a:t> </a:t>
            </a:r>
            <a:r>
              <a:rPr sz="2000" dirty="0"/>
              <a:t>a</a:t>
            </a:r>
            <a:r>
              <a:rPr sz="2000" spc="200" dirty="0"/>
              <a:t> </a:t>
            </a:r>
            <a:r>
              <a:rPr sz="2000" dirty="0"/>
              <a:t>bandwidth</a:t>
            </a:r>
            <a:r>
              <a:rPr sz="2000" spc="215" dirty="0"/>
              <a:t> </a:t>
            </a:r>
            <a:r>
              <a:rPr sz="2000" dirty="0"/>
              <a:t>of</a:t>
            </a:r>
            <a:r>
              <a:rPr sz="2000" spc="220" dirty="0"/>
              <a:t> </a:t>
            </a:r>
            <a:r>
              <a:rPr sz="2000" dirty="0"/>
              <a:t>3000</a:t>
            </a:r>
            <a:r>
              <a:rPr sz="2000" spc="215" dirty="0"/>
              <a:t> </a:t>
            </a:r>
            <a:r>
              <a:rPr sz="2000" dirty="0"/>
              <a:t>Hz</a:t>
            </a:r>
            <a:r>
              <a:rPr sz="2000" spc="225" dirty="0"/>
              <a:t> </a:t>
            </a:r>
            <a:r>
              <a:rPr sz="2000" dirty="0"/>
              <a:t>transmitting</a:t>
            </a:r>
            <a:r>
              <a:rPr sz="2000" spc="225" dirty="0"/>
              <a:t> </a:t>
            </a:r>
            <a:r>
              <a:rPr sz="2000" spc="-50" dirty="0"/>
              <a:t>a</a:t>
            </a:r>
            <a:endParaRPr sz="2000">
              <a:latin typeface="Arial MT"/>
              <a:cs typeface="Arial MT"/>
            </a:endParaRPr>
          </a:p>
          <a:p>
            <a:pPr marL="756285">
              <a:lnSpc>
                <a:spcPts val="2375"/>
              </a:lnSpc>
            </a:pPr>
            <a:r>
              <a:rPr sz="2000" dirty="0"/>
              <a:t>signal</a:t>
            </a:r>
            <a:r>
              <a:rPr sz="2000" spc="-60" dirty="0"/>
              <a:t> </a:t>
            </a:r>
            <a:r>
              <a:rPr sz="2000" dirty="0"/>
              <a:t>with</a:t>
            </a:r>
            <a:r>
              <a:rPr sz="2000" spc="-25" dirty="0"/>
              <a:t> </a:t>
            </a:r>
            <a:r>
              <a:rPr sz="2000" dirty="0"/>
              <a:t>two</a:t>
            </a:r>
            <a:r>
              <a:rPr sz="2000" spc="-20" dirty="0"/>
              <a:t> </a:t>
            </a:r>
            <a:r>
              <a:rPr sz="2000" dirty="0"/>
              <a:t>signal</a:t>
            </a:r>
            <a:r>
              <a:rPr sz="2000" spc="-45" dirty="0"/>
              <a:t> </a:t>
            </a:r>
            <a:r>
              <a:rPr sz="2000" dirty="0"/>
              <a:t>levels.</a:t>
            </a:r>
            <a:r>
              <a:rPr sz="2000" spc="-60" dirty="0"/>
              <a:t> </a:t>
            </a:r>
            <a:r>
              <a:rPr sz="2000" dirty="0"/>
              <a:t>The</a:t>
            </a:r>
            <a:r>
              <a:rPr sz="2000" spc="-25" dirty="0"/>
              <a:t> </a:t>
            </a:r>
            <a:r>
              <a:rPr sz="2000" dirty="0"/>
              <a:t>maximum</a:t>
            </a:r>
            <a:r>
              <a:rPr sz="2000" spc="-10" dirty="0"/>
              <a:t> </a:t>
            </a:r>
            <a:r>
              <a:rPr sz="2000" dirty="0"/>
              <a:t>bit</a:t>
            </a:r>
            <a:r>
              <a:rPr sz="2000" spc="-20" dirty="0"/>
              <a:t> </a:t>
            </a:r>
            <a:r>
              <a:rPr sz="2000" dirty="0"/>
              <a:t>rate</a:t>
            </a:r>
            <a:r>
              <a:rPr sz="2000" spc="-30" dirty="0"/>
              <a:t> </a:t>
            </a:r>
            <a:r>
              <a:rPr sz="2000" dirty="0"/>
              <a:t>can</a:t>
            </a:r>
            <a:r>
              <a:rPr sz="2000" spc="-25" dirty="0"/>
              <a:t> </a:t>
            </a:r>
            <a:r>
              <a:rPr sz="2000" dirty="0"/>
              <a:t>be</a:t>
            </a:r>
            <a:r>
              <a:rPr sz="2000" spc="-15" dirty="0"/>
              <a:t> </a:t>
            </a:r>
            <a:r>
              <a:rPr sz="2000" dirty="0"/>
              <a:t>calculated</a:t>
            </a:r>
            <a:r>
              <a:rPr sz="2000" spc="-30" dirty="0"/>
              <a:t> </a:t>
            </a:r>
            <a:r>
              <a:rPr sz="2000" spc="-25" dirty="0"/>
              <a:t>as</a:t>
            </a:r>
            <a:endParaRPr sz="2000"/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pc="-10" dirty="0">
                <a:solidFill>
                  <a:srgbClr val="FF0000"/>
                </a:solidFill>
              </a:rPr>
              <a:t>Solution</a:t>
            </a:r>
          </a:p>
          <a:p>
            <a:pPr marL="708025" algn="ctr">
              <a:lnSpc>
                <a:spcPct val="100000"/>
              </a:lnSpc>
              <a:spcBef>
                <a:spcPts val="2630"/>
              </a:spcBef>
            </a:pPr>
            <a:r>
              <a:rPr sz="1800" dirty="0"/>
              <a:t>Bit</a:t>
            </a:r>
            <a:r>
              <a:rPr sz="1800" spc="-30" dirty="0"/>
              <a:t> </a:t>
            </a:r>
            <a:r>
              <a:rPr sz="1800" dirty="0"/>
              <a:t>rate =</a:t>
            </a:r>
            <a:r>
              <a:rPr sz="1800" spc="-20" dirty="0"/>
              <a:t> </a:t>
            </a:r>
            <a:r>
              <a:rPr sz="1800" dirty="0"/>
              <a:t>2 *</a:t>
            </a:r>
            <a:r>
              <a:rPr sz="1800" spc="-10" dirty="0"/>
              <a:t> </a:t>
            </a:r>
            <a:r>
              <a:rPr sz="1800" dirty="0"/>
              <a:t>3000</a:t>
            </a:r>
            <a:r>
              <a:rPr sz="1800" spc="-15" dirty="0"/>
              <a:t> </a:t>
            </a:r>
            <a:r>
              <a:rPr sz="1800" dirty="0"/>
              <a:t>*</a:t>
            </a:r>
            <a:r>
              <a:rPr sz="1800" spc="-15" dirty="0"/>
              <a:t> </a:t>
            </a:r>
            <a:r>
              <a:rPr sz="1800" spc="-20" dirty="0"/>
              <a:t>log</a:t>
            </a:r>
            <a:r>
              <a:rPr sz="1800" spc="-30" baseline="-20833" dirty="0"/>
              <a:t>2</a:t>
            </a:r>
            <a:r>
              <a:rPr sz="1800" spc="-20" dirty="0"/>
              <a:t>2</a:t>
            </a:r>
            <a:endParaRPr sz="1800"/>
          </a:p>
          <a:p>
            <a:pPr marL="774065" algn="ctr">
              <a:lnSpc>
                <a:spcPct val="100000"/>
              </a:lnSpc>
            </a:pPr>
            <a:r>
              <a:rPr sz="1800" dirty="0"/>
              <a:t>=</a:t>
            </a:r>
            <a:r>
              <a:rPr sz="1800" spc="-5" dirty="0"/>
              <a:t> </a:t>
            </a:r>
            <a:r>
              <a:rPr sz="1800" dirty="0"/>
              <a:t>6000</a:t>
            </a:r>
            <a:r>
              <a:rPr sz="1800" spc="-5" dirty="0"/>
              <a:t> </a:t>
            </a:r>
            <a:r>
              <a:rPr sz="1800" spc="-25" dirty="0"/>
              <a:t>bps</a:t>
            </a:r>
            <a:endParaRPr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Nyquist</a:t>
            </a:r>
            <a:r>
              <a:rPr spc="-45" dirty="0"/>
              <a:t> </a:t>
            </a:r>
            <a:r>
              <a:rPr spc="-20" dirty="0"/>
              <a:t>Rate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54965" algn="l"/>
              </a:tabLst>
            </a:pPr>
            <a:r>
              <a:rPr spc="-25" dirty="0"/>
              <a:t>Eg:</a:t>
            </a:r>
          </a:p>
          <a:p>
            <a:pPr marL="469900">
              <a:lnSpc>
                <a:spcPts val="2375"/>
              </a:lnSpc>
              <a:spcBef>
                <a:spcPts val="475"/>
              </a:spcBef>
              <a:tabLst>
                <a:tab pos="7562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/>
              <a:t>Consider</a:t>
            </a:r>
            <a:r>
              <a:rPr sz="2000" spc="290" dirty="0"/>
              <a:t> </a:t>
            </a:r>
            <a:r>
              <a:rPr sz="2000" dirty="0"/>
              <a:t>the</a:t>
            </a:r>
            <a:r>
              <a:rPr sz="2000" spc="290" dirty="0"/>
              <a:t> </a:t>
            </a:r>
            <a:r>
              <a:rPr sz="2000" dirty="0"/>
              <a:t>same</a:t>
            </a:r>
            <a:r>
              <a:rPr sz="2000" spc="280" dirty="0"/>
              <a:t> </a:t>
            </a:r>
            <a:r>
              <a:rPr sz="2000" dirty="0"/>
              <a:t>noiseless</a:t>
            </a:r>
            <a:r>
              <a:rPr sz="2000" spc="280" dirty="0"/>
              <a:t> </a:t>
            </a:r>
            <a:r>
              <a:rPr sz="2000" dirty="0"/>
              <a:t>channel</a:t>
            </a:r>
            <a:r>
              <a:rPr sz="2000" spc="285" dirty="0"/>
              <a:t> </a:t>
            </a:r>
            <a:r>
              <a:rPr sz="2000" dirty="0"/>
              <a:t>transmitting</a:t>
            </a:r>
            <a:r>
              <a:rPr sz="2000" spc="285" dirty="0"/>
              <a:t> </a:t>
            </a:r>
            <a:r>
              <a:rPr sz="2000" dirty="0"/>
              <a:t>a</a:t>
            </a:r>
            <a:r>
              <a:rPr sz="2000" spc="285" dirty="0"/>
              <a:t> </a:t>
            </a:r>
            <a:r>
              <a:rPr sz="2000" dirty="0"/>
              <a:t>signal</a:t>
            </a:r>
            <a:r>
              <a:rPr sz="2000" spc="285" dirty="0"/>
              <a:t> </a:t>
            </a:r>
            <a:r>
              <a:rPr sz="2000" dirty="0"/>
              <a:t>with</a:t>
            </a:r>
            <a:r>
              <a:rPr sz="2000" spc="275" dirty="0"/>
              <a:t> </a:t>
            </a:r>
            <a:r>
              <a:rPr sz="2000" dirty="0"/>
              <a:t>2</a:t>
            </a:r>
            <a:r>
              <a:rPr sz="2000" spc="295" dirty="0"/>
              <a:t> </a:t>
            </a:r>
            <a:r>
              <a:rPr sz="2000" dirty="0"/>
              <a:t>bits</a:t>
            </a:r>
            <a:r>
              <a:rPr sz="2000" spc="265" dirty="0"/>
              <a:t> </a:t>
            </a:r>
            <a:r>
              <a:rPr sz="2000" spc="-25" dirty="0"/>
              <a:t>for</a:t>
            </a:r>
            <a:endParaRPr sz="2000">
              <a:latin typeface="Arial MT"/>
              <a:cs typeface="Arial MT"/>
            </a:endParaRPr>
          </a:p>
          <a:p>
            <a:pPr marL="756285">
              <a:lnSpc>
                <a:spcPts val="2375"/>
              </a:lnSpc>
            </a:pPr>
            <a:r>
              <a:rPr sz="2000" dirty="0"/>
              <a:t>each</a:t>
            </a:r>
            <a:r>
              <a:rPr sz="2000" spc="-40" dirty="0"/>
              <a:t> </a:t>
            </a:r>
            <a:r>
              <a:rPr sz="2000" dirty="0"/>
              <a:t>level.</a:t>
            </a:r>
            <a:r>
              <a:rPr sz="2000" spc="-65" dirty="0"/>
              <a:t> </a:t>
            </a:r>
            <a:r>
              <a:rPr sz="2000" dirty="0"/>
              <a:t>The</a:t>
            </a:r>
            <a:r>
              <a:rPr sz="2000" spc="-15" dirty="0"/>
              <a:t> </a:t>
            </a:r>
            <a:r>
              <a:rPr sz="2000" dirty="0"/>
              <a:t>maximum</a:t>
            </a:r>
            <a:r>
              <a:rPr sz="2000" spc="-15" dirty="0"/>
              <a:t> </a:t>
            </a:r>
            <a:r>
              <a:rPr sz="2000" dirty="0"/>
              <a:t>bit</a:t>
            </a:r>
            <a:r>
              <a:rPr sz="2000" spc="-35" dirty="0"/>
              <a:t> </a:t>
            </a:r>
            <a:r>
              <a:rPr sz="2000" dirty="0"/>
              <a:t>rate</a:t>
            </a:r>
            <a:r>
              <a:rPr sz="2000" spc="-35" dirty="0"/>
              <a:t> </a:t>
            </a:r>
            <a:r>
              <a:rPr sz="2000" dirty="0"/>
              <a:t>can</a:t>
            </a:r>
            <a:r>
              <a:rPr sz="2000" spc="-20" dirty="0"/>
              <a:t> </a:t>
            </a:r>
            <a:r>
              <a:rPr sz="2000" dirty="0"/>
              <a:t>be</a:t>
            </a:r>
            <a:r>
              <a:rPr sz="2000" spc="-20" dirty="0"/>
              <a:t> </a:t>
            </a:r>
            <a:r>
              <a:rPr sz="2000" dirty="0"/>
              <a:t>calculated</a:t>
            </a:r>
            <a:r>
              <a:rPr sz="2000" spc="-50" dirty="0"/>
              <a:t> </a:t>
            </a:r>
            <a:r>
              <a:rPr sz="2000" spc="-25" dirty="0"/>
              <a:t>as</a:t>
            </a:r>
            <a:endParaRPr sz="2000"/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pc="-10" dirty="0">
                <a:solidFill>
                  <a:srgbClr val="FF0000"/>
                </a:solidFill>
              </a:rPr>
              <a:t>Solution</a:t>
            </a:r>
          </a:p>
          <a:p>
            <a:pPr marL="708025" algn="ctr">
              <a:lnSpc>
                <a:spcPct val="100000"/>
              </a:lnSpc>
              <a:spcBef>
                <a:spcPts val="2630"/>
              </a:spcBef>
            </a:pPr>
            <a:r>
              <a:rPr sz="1800" dirty="0"/>
              <a:t>Bit</a:t>
            </a:r>
            <a:r>
              <a:rPr sz="1800" spc="-30" dirty="0"/>
              <a:t> </a:t>
            </a:r>
            <a:r>
              <a:rPr sz="1800" dirty="0"/>
              <a:t>rate =</a:t>
            </a:r>
            <a:r>
              <a:rPr sz="1800" spc="-20" dirty="0"/>
              <a:t> </a:t>
            </a:r>
            <a:r>
              <a:rPr sz="1800" dirty="0"/>
              <a:t>2 *</a:t>
            </a:r>
            <a:r>
              <a:rPr sz="1800" spc="-10" dirty="0"/>
              <a:t> </a:t>
            </a:r>
            <a:r>
              <a:rPr sz="1800" dirty="0"/>
              <a:t>3000</a:t>
            </a:r>
            <a:r>
              <a:rPr sz="1800" spc="-15" dirty="0"/>
              <a:t> </a:t>
            </a:r>
            <a:r>
              <a:rPr sz="1800" dirty="0"/>
              <a:t>*</a:t>
            </a:r>
            <a:r>
              <a:rPr sz="1800" spc="-15" dirty="0"/>
              <a:t> </a:t>
            </a:r>
            <a:r>
              <a:rPr sz="1800" spc="-20" dirty="0"/>
              <a:t>log</a:t>
            </a:r>
            <a:r>
              <a:rPr sz="1800" spc="-30" baseline="-20833" dirty="0"/>
              <a:t>2</a:t>
            </a:r>
            <a:r>
              <a:rPr sz="1800" spc="-20" dirty="0"/>
              <a:t>4</a:t>
            </a:r>
            <a:endParaRPr sz="1800"/>
          </a:p>
          <a:p>
            <a:pPr marL="888365" algn="ctr">
              <a:lnSpc>
                <a:spcPct val="100000"/>
              </a:lnSpc>
            </a:pPr>
            <a:r>
              <a:rPr sz="1800" dirty="0"/>
              <a:t>=</a:t>
            </a:r>
            <a:r>
              <a:rPr sz="1800" spc="-5" dirty="0"/>
              <a:t> </a:t>
            </a:r>
            <a:r>
              <a:rPr sz="1800" dirty="0"/>
              <a:t>12000</a:t>
            </a:r>
            <a:r>
              <a:rPr sz="1800" spc="-5" dirty="0"/>
              <a:t> </a:t>
            </a:r>
            <a:r>
              <a:rPr sz="1800" spc="-25" dirty="0"/>
              <a:t>bps</a:t>
            </a:r>
            <a:endParaRPr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8600" y="1047610"/>
            <a:ext cx="8686800" cy="3733800"/>
            <a:chOff x="228600" y="1047610"/>
            <a:chExt cx="8686800" cy="3733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" y="1047610"/>
              <a:ext cx="8686419" cy="373354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991990" y="2654934"/>
              <a:ext cx="2207895" cy="0"/>
            </a:xfrm>
            <a:custGeom>
              <a:avLst/>
              <a:gdLst/>
              <a:ahLst/>
              <a:cxnLst/>
              <a:rect l="l" t="t" r="r" b="b"/>
              <a:pathLst>
                <a:path w="2207895">
                  <a:moveTo>
                    <a:pt x="0" y="0"/>
                  </a:moveTo>
                  <a:lnTo>
                    <a:pt x="2207387" y="0"/>
                  </a:lnTo>
                </a:path>
              </a:pathLst>
            </a:custGeom>
            <a:ln w="2844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Noisy</a:t>
            </a:r>
            <a:r>
              <a:rPr spc="-40" dirty="0"/>
              <a:t> </a:t>
            </a:r>
            <a:r>
              <a:rPr dirty="0"/>
              <a:t>Channel:</a:t>
            </a:r>
            <a:r>
              <a:rPr spc="-55" dirty="0"/>
              <a:t> </a:t>
            </a:r>
            <a:r>
              <a:rPr dirty="0"/>
              <a:t>Shannon</a:t>
            </a:r>
            <a:r>
              <a:rPr spc="-65" dirty="0"/>
              <a:t> </a:t>
            </a:r>
            <a:r>
              <a:rPr spc="-10" dirty="0"/>
              <a:t>Capacity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Noisy</a:t>
            </a:r>
            <a:r>
              <a:rPr spc="-40" dirty="0"/>
              <a:t> </a:t>
            </a:r>
            <a:r>
              <a:rPr dirty="0"/>
              <a:t>Channel:</a:t>
            </a:r>
            <a:r>
              <a:rPr spc="-55" dirty="0"/>
              <a:t> </a:t>
            </a:r>
            <a:r>
              <a:rPr dirty="0"/>
              <a:t>Shannon</a:t>
            </a:r>
            <a:r>
              <a:rPr spc="-65" dirty="0"/>
              <a:t> </a:t>
            </a:r>
            <a:r>
              <a:rPr spc="-10" dirty="0"/>
              <a:t>Capacity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81940" y="991305"/>
            <a:ext cx="8581390" cy="364871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370"/>
              </a:spcBef>
              <a:buFont typeface="Arial MT"/>
              <a:buChar char="•"/>
              <a:tabLst>
                <a:tab pos="380365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  <a:p>
            <a:pPr marL="495300">
              <a:lnSpc>
                <a:spcPts val="2255"/>
              </a:lnSpc>
              <a:spcBef>
                <a:spcPts val="235"/>
              </a:spcBef>
              <a:tabLst>
                <a:tab pos="7816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Consider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extremely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noisy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channel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signal-</a:t>
            </a:r>
            <a:r>
              <a:rPr sz="2000" spc="-25" dirty="0">
                <a:latin typeface="Times New Roman"/>
                <a:cs typeface="Times New Roman"/>
              </a:rPr>
              <a:t>to-</a:t>
            </a:r>
            <a:endParaRPr sz="2000">
              <a:latin typeface="Times New Roman"/>
              <a:cs typeface="Times New Roman"/>
            </a:endParaRPr>
          </a:p>
          <a:p>
            <a:pPr marL="781685">
              <a:lnSpc>
                <a:spcPts val="2255"/>
              </a:lnSpc>
            </a:pPr>
            <a:r>
              <a:rPr sz="2000" dirty="0">
                <a:latin typeface="Times New Roman"/>
                <a:cs typeface="Times New Roman"/>
              </a:rPr>
              <a:t>noise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ratio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almost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zero.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channel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capacity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calculated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as</a:t>
            </a:r>
            <a:endParaRPr sz="2000">
              <a:latin typeface="Times New Roman"/>
              <a:cs typeface="Times New Roman"/>
            </a:endParaRPr>
          </a:p>
          <a:p>
            <a:pPr marL="38100">
              <a:lnSpc>
                <a:spcPts val="2820"/>
              </a:lnSpc>
              <a:spcBef>
                <a:spcPts val="190"/>
              </a:spcBef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>
              <a:latin typeface="Times New Roman"/>
              <a:cs typeface="Times New Roman"/>
            </a:endParaRPr>
          </a:p>
          <a:p>
            <a:pPr marL="2476500">
              <a:lnSpc>
                <a:spcPts val="2100"/>
              </a:lnSpc>
            </a:pPr>
            <a:r>
              <a:rPr sz="1800" dirty="0">
                <a:latin typeface="Times New Roman"/>
                <a:cs typeface="Times New Roman"/>
              </a:rPr>
              <a:t>C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BW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 log</a:t>
            </a:r>
            <a:r>
              <a:rPr sz="1800" baseline="-20833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(1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SNR)</a:t>
            </a:r>
            <a:endParaRPr sz="1800">
              <a:latin typeface="Times New Roman"/>
              <a:cs typeface="Times New Roman"/>
            </a:endParaRPr>
          </a:p>
          <a:p>
            <a:pPr marL="270383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BW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log</a:t>
            </a:r>
            <a:r>
              <a:rPr sz="1800" spc="-15" baseline="-20833" dirty="0">
                <a:latin typeface="Times New Roman"/>
                <a:cs typeface="Times New Roman"/>
              </a:rPr>
              <a:t>2</a:t>
            </a:r>
            <a:r>
              <a:rPr sz="1800" spc="-10" dirty="0">
                <a:latin typeface="Times New Roman"/>
                <a:cs typeface="Times New Roman"/>
              </a:rPr>
              <a:t>(1+0)</a:t>
            </a:r>
            <a:endParaRPr sz="1800">
              <a:latin typeface="Times New Roman"/>
              <a:cs typeface="Times New Roman"/>
            </a:endParaRPr>
          </a:p>
          <a:p>
            <a:pPr marL="270383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BW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 marL="270383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 marL="378460" marR="30480" indent="-340360" algn="just">
              <a:lnSpc>
                <a:spcPct val="89000"/>
              </a:lnSpc>
              <a:spcBef>
                <a:spcPts val="1350"/>
              </a:spcBef>
              <a:buFont typeface="Arial MT"/>
              <a:buChar char="•"/>
              <a:tabLst>
                <a:tab pos="381000" algn="l"/>
              </a:tabLst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means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capacity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channel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zero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regardless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 	</a:t>
            </a:r>
            <a:r>
              <a:rPr sz="2400" dirty="0">
                <a:latin typeface="Times New Roman"/>
                <a:cs typeface="Times New Roman"/>
              </a:rPr>
              <a:t>the bandwidth.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 other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words, we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cannot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receive any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through 	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channel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Noisy</a:t>
            </a:r>
            <a:r>
              <a:rPr spc="-40" dirty="0"/>
              <a:t> </a:t>
            </a:r>
            <a:r>
              <a:rPr dirty="0"/>
              <a:t>Channel:</a:t>
            </a:r>
            <a:r>
              <a:rPr spc="-55" dirty="0"/>
              <a:t> </a:t>
            </a:r>
            <a:r>
              <a:rPr dirty="0"/>
              <a:t>Shannon</a:t>
            </a:r>
            <a:r>
              <a:rPr spc="-65" dirty="0"/>
              <a:t> </a:t>
            </a:r>
            <a:r>
              <a:rPr spc="-10" dirty="0"/>
              <a:t>Capacity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4640" y="991422"/>
            <a:ext cx="8555990" cy="112649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67665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  <a:p>
            <a:pPr marL="482600">
              <a:lnSpc>
                <a:spcPts val="2375"/>
              </a:lnSpc>
              <a:spcBef>
                <a:spcPts val="475"/>
              </a:spcBef>
              <a:tabLst>
                <a:tab pos="768985" algn="l"/>
                <a:tab pos="1725930" algn="l"/>
                <a:tab pos="2242820" algn="l"/>
                <a:tab pos="3075305" algn="l"/>
                <a:tab pos="3355340" algn="l"/>
                <a:tab pos="3747135" algn="l"/>
                <a:tab pos="4253230" algn="l"/>
                <a:tab pos="4701540" algn="l"/>
                <a:tab pos="5628005" algn="l"/>
                <a:tab pos="6836409" algn="l"/>
                <a:tab pos="7145020" algn="l"/>
                <a:tab pos="7411720" algn="l"/>
                <a:tab pos="8135620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Assume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that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SNR</a:t>
            </a:r>
            <a:r>
              <a:rPr sz="1950" spc="-30" baseline="-21367" dirty="0">
                <a:latin typeface="Times New Roman"/>
                <a:cs typeface="Times New Roman"/>
              </a:rPr>
              <a:t>dB</a:t>
            </a:r>
            <a:r>
              <a:rPr sz="1950" baseline="-21367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=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36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channel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bandwidth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is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2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MHz.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768985">
              <a:lnSpc>
                <a:spcPts val="2375"/>
              </a:lnSpc>
            </a:pPr>
            <a:r>
              <a:rPr sz="2000" dirty="0">
                <a:latin typeface="Times New Roman"/>
                <a:cs typeface="Times New Roman"/>
              </a:rPr>
              <a:t>theoretical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channel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capacity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calculated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340" y="2152650"/>
            <a:ext cx="1059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89477" y="2514422"/>
            <a:ext cx="11569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1235" algn="l"/>
              </a:tabLst>
            </a:pPr>
            <a:r>
              <a:rPr sz="1200" spc="-25" dirty="0">
                <a:latin typeface="Times New Roman"/>
                <a:cs typeface="Times New Roman"/>
              </a:rPr>
              <a:t>dB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5" dirty="0">
                <a:latin typeface="Times New Roman"/>
                <a:cs typeface="Times New Roman"/>
              </a:rPr>
              <a:t>10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45994" y="2381834"/>
            <a:ext cx="20434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0560" algn="l"/>
                <a:tab pos="1586865" algn="l"/>
              </a:tabLst>
            </a:pPr>
            <a:r>
              <a:rPr sz="1800" spc="-25" dirty="0">
                <a:latin typeface="Times New Roman"/>
                <a:cs typeface="Times New Roman"/>
              </a:rPr>
              <a:t>SNR</a:t>
            </a:r>
            <a:r>
              <a:rPr sz="1800" dirty="0">
                <a:latin typeface="Times New Roman"/>
                <a:cs typeface="Times New Roman"/>
              </a:rPr>
              <a:t>	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log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Times New Roman"/>
                <a:cs typeface="Times New Roman"/>
              </a:rPr>
              <a:t>SNR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77057" y="2656458"/>
            <a:ext cx="2583815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36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</a:t>
            </a:r>
            <a:r>
              <a:rPr sz="1800" spc="-10" dirty="0">
                <a:latin typeface="Times New Roman"/>
                <a:cs typeface="Times New Roman"/>
              </a:rPr>
              <a:t> log</a:t>
            </a:r>
            <a:r>
              <a:rPr sz="1800" spc="-15" baseline="-20833" dirty="0">
                <a:latin typeface="Times New Roman"/>
                <a:cs typeface="Times New Roman"/>
              </a:rPr>
              <a:t>10</a:t>
            </a:r>
            <a:r>
              <a:rPr sz="1800" spc="-10" dirty="0">
                <a:latin typeface="Times New Roman"/>
                <a:cs typeface="Times New Roman"/>
              </a:rPr>
              <a:t>SNR</a:t>
            </a:r>
            <a:endParaRPr sz="1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SNR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10</a:t>
            </a:r>
            <a:r>
              <a:rPr sz="1800" spc="-15" baseline="25462" dirty="0">
                <a:latin typeface="Times New Roman"/>
                <a:cs typeface="Times New Roman"/>
              </a:rPr>
              <a:t>3.6</a:t>
            </a:r>
            <a:endParaRPr sz="1800" baseline="25462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SNR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3981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33718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C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BW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log</a:t>
            </a:r>
            <a:r>
              <a:rPr sz="1800" spc="-15" baseline="-20833" dirty="0">
                <a:latin typeface="Times New Roman"/>
                <a:cs typeface="Times New Roman"/>
              </a:rPr>
              <a:t>2</a:t>
            </a:r>
            <a:r>
              <a:rPr sz="1800" spc="-10" dirty="0">
                <a:latin typeface="Times New Roman"/>
                <a:cs typeface="Times New Roman"/>
              </a:rPr>
              <a:t>(1+SNR)</a:t>
            </a:r>
            <a:endParaRPr sz="1800">
              <a:latin typeface="Times New Roman"/>
              <a:cs typeface="Times New Roman"/>
            </a:endParaRPr>
          </a:p>
          <a:p>
            <a:pPr marL="56578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</a:t>
            </a:r>
            <a:r>
              <a:rPr sz="1800" baseline="25462" dirty="0">
                <a:latin typeface="Times New Roman"/>
                <a:cs typeface="Times New Roman"/>
              </a:rPr>
              <a:t>6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-10" dirty="0">
                <a:latin typeface="Times New Roman"/>
                <a:cs typeface="Times New Roman"/>
              </a:rPr>
              <a:t> log</a:t>
            </a:r>
            <a:r>
              <a:rPr sz="1800" spc="-15" baseline="-20833" dirty="0">
                <a:latin typeface="Times New Roman"/>
                <a:cs typeface="Times New Roman"/>
              </a:rPr>
              <a:t>2</a:t>
            </a:r>
            <a:r>
              <a:rPr sz="1800" spc="-10" dirty="0">
                <a:latin typeface="Times New Roman"/>
                <a:cs typeface="Times New Roman"/>
              </a:rPr>
              <a:t>3982</a:t>
            </a:r>
            <a:endParaRPr sz="1800">
              <a:latin typeface="Times New Roman"/>
              <a:cs typeface="Times New Roman"/>
            </a:endParaRPr>
          </a:p>
          <a:p>
            <a:pPr marL="56578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</a:t>
            </a:r>
            <a:r>
              <a:rPr sz="1800" baseline="25462" dirty="0">
                <a:latin typeface="Times New Roman"/>
                <a:cs typeface="Times New Roman"/>
              </a:rPr>
              <a:t>6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11.95</a:t>
            </a:r>
            <a:endParaRPr sz="1800">
              <a:latin typeface="Times New Roman"/>
              <a:cs typeface="Times New Roman"/>
            </a:endParaRPr>
          </a:p>
          <a:p>
            <a:pPr marL="56578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24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Mbps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Noisy</a:t>
            </a:r>
            <a:r>
              <a:rPr spc="-40" dirty="0"/>
              <a:t> </a:t>
            </a:r>
            <a:r>
              <a:rPr dirty="0"/>
              <a:t>Channel:</a:t>
            </a:r>
            <a:r>
              <a:rPr spc="-55" dirty="0"/>
              <a:t> </a:t>
            </a:r>
            <a:r>
              <a:rPr dirty="0"/>
              <a:t>Shannon</a:t>
            </a:r>
            <a:r>
              <a:rPr spc="-65" dirty="0"/>
              <a:t> </a:t>
            </a:r>
            <a:r>
              <a:rPr spc="-10" dirty="0"/>
              <a:t>Capacity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1422"/>
            <a:ext cx="8529955" cy="226822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ts val="2375"/>
              </a:lnSpc>
              <a:spcBef>
                <a:spcPts val="47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channel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1-</a:t>
            </a:r>
            <a:r>
              <a:rPr sz="2000" dirty="0">
                <a:latin typeface="Times New Roman"/>
                <a:cs typeface="Times New Roman"/>
              </a:rPr>
              <a:t>MHz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bandwidth.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SNR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channel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</a:t>
            </a:r>
            <a:endParaRPr sz="2000">
              <a:latin typeface="Times New Roman"/>
              <a:cs typeface="Times New Roman"/>
            </a:endParaRPr>
          </a:p>
          <a:p>
            <a:pPr marL="756285">
              <a:lnSpc>
                <a:spcPts val="2375"/>
              </a:lnSpc>
            </a:pPr>
            <a:r>
              <a:rPr sz="2000" dirty="0">
                <a:latin typeface="Times New Roman"/>
                <a:cs typeface="Times New Roman"/>
              </a:rPr>
              <a:t>63.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What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appropriate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level?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First,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Shannon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formula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upper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limit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Then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Nyquist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formula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levels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2761" y="3678428"/>
            <a:ext cx="22720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C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BW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 </a:t>
            </a:r>
            <a:r>
              <a:rPr sz="1800" spc="-10" dirty="0">
                <a:latin typeface="Times New Roman"/>
                <a:cs typeface="Times New Roman"/>
              </a:rPr>
              <a:t>log</a:t>
            </a:r>
            <a:r>
              <a:rPr sz="1800" spc="-15" baseline="-20833" dirty="0">
                <a:latin typeface="Times New Roman"/>
                <a:cs typeface="Times New Roman"/>
              </a:rPr>
              <a:t>2</a:t>
            </a:r>
            <a:r>
              <a:rPr sz="1800" spc="-10" dirty="0">
                <a:latin typeface="Times New Roman"/>
                <a:cs typeface="Times New Roman"/>
              </a:rPr>
              <a:t>(1+SNR)</a:t>
            </a:r>
            <a:endParaRPr sz="1800">
              <a:latin typeface="Times New Roman"/>
              <a:cs typeface="Times New Roman"/>
            </a:endParaRPr>
          </a:p>
          <a:p>
            <a:pPr marL="26479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</a:t>
            </a:r>
            <a:r>
              <a:rPr sz="1800" baseline="25462" dirty="0">
                <a:latin typeface="Times New Roman"/>
                <a:cs typeface="Times New Roman"/>
              </a:rPr>
              <a:t>6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-10" dirty="0">
                <a:latin typeface="Times New Roman"/>
                <a:cs typeface="Times New Roman"/>
              </a:rPr>
              <a:t> log</a:t>
            </a:r>
            <a:r>
              <a:rPr sz="1800" spc="-15" baseline="-20833" dirty="0">
                <a:latin typeface="Times New Roman"/>
                <a:cs typeface="Times New Roman"/>
              </a:rPr>
              <a:t>2</a:t>
            </a:r>
            <a:r>
              <a:rPr sz="1800" spc="-10" dirty="0">
                <a:latin typeface="Times New Roman"/>
                <a:cs typeface="Times New Roman"/>
              </a:rPr>
              <a:t>64</a:t>
            </a:r>
            <a:endParaRPr sz="1800">
              <a:latin typeface="Times New Roman"/>
              <a:cs typeface="Times New Roman"/>
            </a:endParaRPr>
          </a:p>
          <a:p>
            <a:pPr marL="26479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6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Mbps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20309" y="3750361"/>
            <a:ext cx="2440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Bit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rate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BW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log</a:t>
            </a:r>
            <a:r>
              <a:rPr sz="1800" spc="-15" baseline="-20833" dirty="0">
                <a:latin typeface="Times New Roman"/>
                <a:cs typeface="Times New Roman"/>
              </a:rPr>
              <a:t>2</a:t>
            </a:r>
            <a:r>
              <a:rPr sz="1800" spc="-10" dirty="0">
                <a:latin typeface="Times New Roman"/>
                <a:cs typeface="Times New Roman"/>
              </a:rPr>
              <a:t>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49567" y="4157268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15685" y="4024680"/>
            <a:ext cx="157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6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90285" y="4299000"/>
            <a:ext cx="9772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L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baseline="25462" dirty="0">
                <a:latin typeface="Times New Roman"/>
                <a:cs typeface="Times New Roman"/>
              </a:rPr>
              <a:t>3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8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8600" y="1047610"/>
            <a:ext cx="8686800" cy="3733800"/>
            <a:chOff x="228600" y="1047610"/>
            <a:chExt cx="8686800" cy="3733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" y="1047610"/>
              <a:ext cx="8686419" cy="373354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61682" y="1482851"/>
              <a:ext cx="8037195" cy="368935"/>
            </a:xfrm>
            <a:custGeom>
              <a:avLst/>
              <a:gdLst/>
              <a:ahLst/>
              <a:cxnLst/>
              <a:rect l="l" t="t" r="r" b="b"/>
              <a:pathLst>
                <a:path w="8037195" h="368935">
                  <a:moveTo>
                    <a:pt x="4126344" y="0"/>
                  </a:moveTo>
                  <a:lnTo>
                    <a:pt x="8036674" y="0"/>
                  </a:lnTo>
                </a:path>
                <a:path w="8037195" h="368935">
                  <a:moveTo>
                    <a:pt x="0" y="368808"/>
                  </a:moveTo>
                  <a:lnTo>
                    <a:pt x="1029957" y="368808"/>
                  </a:lnTo>
                </a:path>
              </a:pathLst>
            </a:custGeom>
            <a:ln w="2844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Latency</a:t>
            </a:r>
            <a:r>
              <a:rPr spc="-65" dirty="0"/>
              <a:t> </a:t>
            </a:r>
            <a:r>
              <a:rPr dirty="0"/>
              <a:t>or</a:t>
            </a:r>
            <a:r>
              <a:rPr spc="-15" dirty="0"/>
              <a:t> </a:t>
            </a:r>
            <a:r>
              <a:rPr spc="-10" dirty="0"/>
              <a:t>Delay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Types</a:t>
            </a:r>
            <a:r>
              <a:rPr spc="-95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spc="-20" dirty="0"/>
              <a:t>delay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8714"/>
            <a:ext cx="8529955" cy="22733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Propagation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speed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speed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travels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though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medium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</a:t>
            </a:r>
            <a:r>
              <a:rPr sz="2000" spc="-10" dirty="0">
                <a:latin typeface="Times New Roman"/>
                <a:cs typeface="Times New Roman"/>
              </a:rPr>
              <a:t>destination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080"/>
              </a:spcBef>
              <a:buFont typeface="Arial MT"/>
              <a:buChar char="–"/>
            </a:pP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Transmission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speed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ts val="2375"/>
              </a:lnSpc>
              <a:spcBef>
                <a:spcPts val="475"/>
              </a:spcBef>
              <a:buFont typeface="Arial MT"/>
              <a:buChar char="–"/>
              <a:tabLst>
                <a:tab pos="756285" algn="l"/>
                <a:tab pos="1204595" algn="l"/>
                <a:tab pos="1918970" algn="l"/>
                <a:tab pos="2237740" algn="l"/>
                <a:tab pos="2997200" algn="l"/>
                <a:tab pos="3385820" algn="l"/>
                <a:tab pos="3832225" algn="l"/>
                <a:tab pos="4335145" algn="l"/>
                <a:tab pos="4670425" algn="l"/>
                <a:tab pos="4920615" algn="l"/>
                <a:tab pos="5915660" algn="l"/>
                <a:tab pos="6642734" algn="l"/>
                <a:tab pos="6962775" algn="l"/>
                <a:tab pos="7407909" algn="l"/>
              </a:tabLst>
            </a:pP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speed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which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all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bits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in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message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arrive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destination</a:t>
            </a:r>
            <a:endParaRPr sz="2000">
              <a:latin typeface="Times New Roman"/>
              <a:cs typeface="Times New Roman"/>
            </a:endParaRPr>
          </a:p>
          <a:p>
            <a:pPr marL="756285">
              <a:lnSpc>
                <a:spcPts val="2375"/>
              </a:lnSpc>
            </a:pPr>
            <a:r>
              <a:rPr sz="2000" dirty="0">
                <a:latin typeface="Times New Roman"/>
                <a:cs typeface="Times New Roman"/>
              </a:rPr>
              <a:t>(difference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arrival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first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last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bit)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Types</a:t>
            </a:r>
            <a:r>
              <a:rPr spc="-95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spc="-20" dirty="0"/>
              <a:t>delay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991422"/>
            <a:ext cx="8529320" cy="191198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Queuing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delay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ts val="2375"/>
              </a:lnSpc>
              <a:spcBef>
                <a:spcPts val="47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spent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 the packet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queue,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waiting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be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transmitted onto 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756285">
              <a:lnSpc>
                <a:spcPts val="2375"/>
              </a:lnSpc>
            </a:pPr>
            <a:r>
              <a:rPr sz="2000" spc="-20" dirty="0">
                <a:latin typeface="Times New Roman"/>
                <a:cs typeface="Times New Roman"/>
              </a:rPr>
              <a:t>link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Processing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delay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taken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routers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header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Bandwidth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1070228"/>
            <a:ext cx="8529955" cy="225933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55600" marR="5080" indent="-342900">
              <a:lnSpc>
                <a:spcPts val="2820"/>
              </a:lnSpc>
              <a:spcBef>
                <a:spcPts val="240"/>
              </a:spcBef>
              <a:buFont typeface="Arial MT"/>
              <a:buChar char="•"/>
              <a:tabLst>
                <a:tab pos="355600" algn="l"/>
                <a:tab pos="1148080" algn="l"/>
                <a:tab pos="3051810" algn="l"/>
                <a:tab pos="3792220" algn="l"/>
                <a:tab pos="5208270" algn="l"/>
                <a:tab pos="6490335" algn="l"/>
                <a:tab pos="8311515" algn="l"/>
              </a:tabLst>
            </a:pPr>
            <a:r>
              <a:rPr sz="2400" spc="-25" dirty="0">
                <a:latin typeface="Times New Roman"/>
                <a:cs typeface="Times New Roman"/>
              </a:rPr>
              <a:t>One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characteristic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that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measures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network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performance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is </a:t>
            </a:r>
            <a:r>
              <a:rPr sz="2400" spc="-10" dirty="0">
                <a:latin typeface="Times New Roman"/>
                <a:cs typeface="Times New Roman"/>
              </a:rPr>
              <a:t>bandwidth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820"/>
              </a:lnSpc>
              <a:spcBef>
                <a:spcPts val="63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However,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term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contexts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two </a:t>
            </a: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measuring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values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4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bandwidth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hertz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bandwidth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bits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second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Bandwidth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2682" rIns="0" bIns="0" rtlCol="0">
            <a:spAutoFit/>
          </a:bodyPr>
          <a:lstStyle/>
          <a:p>
            <a:pPr marL="353060" marR="5080" indent="-340360" algn="just">
              <a:lnSpc>
                <a:spcPct val="99000"/>
              </a:lnSpc>
              <a:spcBef>
                <a:spcPts val="1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The</a:t>
            </a:r>
            <a:r>
              <a:rPr spc="-15" dirty="0"/>
              <a:t> </a:t>
            </a:r>
            <a:r>
              <a:rPr dirty="0"/>
              <a:t>first,</a:t>
            </a:r>
            <a:r>
              <a:rPr spc="-15" dirty="0"/>
              <a:t> </a:t>
            </a:r>
            <a:r>
              <a:rPr dirty="0"/>
              <a:t>bandwidth</a:t>
            </a:r>
            <a:r>
              <a:rPr spc="-2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hertz,</a:t>
            </a:r>
            <a:r>
              <a:rPr spc="-25" dirty="0"/>
              <a:t> </a:t>
            </a:r>
            <a:r>
              <a:rPr dirty="0"/>
              <a:t>refers</a:t>
            </a:r>
            <a:r>
              <a:rPr spc="-1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range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frequencies</a:t>
            </a:r>
            <a:r>
              <a:rPr spc="-1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50" dirty="0"/>
              <a:t>a 	</a:t>
            </a:r>
            <a:r>
              <a:rPr dirty="0"/>
              <a:t>composite</a:t>
            </a:r>
            <a:r>
              <a:rPr spc="375" dirty="0"/>
              <a:t> </a:t>
            </a:r>
            <a:r>
              <a:rPr dirty="0"/>
              <a:t>signal</a:t>
            </a:r>
            <a:r>
              <a:rPr spc="385" dirty="0"/>
              <a:t> </a:t>
            </a:r>
            <a:r>
              <a:rPr dirty="0"/>
              <a:t>or</a:t>
            </a:r>
            <a:r>
              <a:rPr spc="385" dirty="0"/>
              <a:t> </a:t>
            </a:r>
            <a:r>
              <a:rPr dirty="0"/>
              <a:t>the</a:t>
            </a:r>
            <a:r>
              <a:rPr spc="365" dirty="0"/>
              <a:t> </a:t>
            </a:r>
            <a:r>
              <a:rPr dirty="0"/>
              <a:t>range</a:t>
            </a:r>
            <a:r>
              <a:rPr spc="385" dirty="0"/>
              <a:t> </a:t>
            </a:r>
            <a:r>
              <a:rPr dirty="0"/>
              <a:t>of</a:t>
            </a:r>
            <a:r>
              <a:rPr spc="370" dirty="0"/>
              <a:t> </a:t>
            </a:r>
            <a:r>
              <a:rPr dirty="0"/>
              <a:t>frequencies</a:t>
            </a:r>
            <a:r>
              <a:rPr spc="375" dirty="0"/>
              <a:t> </a:t>
            </a:r>
            <a:r>
              <a:rPr dirty="0"/>
              <a:t>that</a:t>
            </a:r>
            <a:r>
              <a:rPr spc="380" dirty="0"/>
              <a:t> </a:t>
            </a:r>
            <a:r>
              <a:rPr dirty="0"/>
              <a:t>a</a:t>
            </a:r>
            <a:r>
              <a:rPr spc="385" dirty="0"/>
              <a:t> </a:t>
            </a:r>
            <a:r>
              <a:rPr dirty="0"/>
              <a:t>channel</a:t>
            </a:r>
            <a:r>
              <a:rPr spc="375" dirty="0"/>
              <a:t> </a:t>
            </a:r>
            <a:r>
              <a:rPr spc="-25" dirty="0"/>
              <a:t>can 	</a:t>
            </a:r>
            <a:r>
              <a:rPr spc="-20" dirty="0"/>
              <a:t>pass</a:t>
            </a:r>
          </a:p>
          <a:p>
            <a:pPr marL="353060" marR="5080" indent="-340360" algn="just">
              <a:lnSpc>
                <a:spcPts val="2820"/>
              </a:lnSpc>
              <a:spcBef>
                <a:spcPts val="71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The second,</a:t>
            </a:r>
            <a:r>
              <a:rPr spc="-25" dirty="0"/>
              <a:t> </a:t>
            </a:r>
            <a:r>
              <a:rPr dirty="0"/>
              <a:t>bandwidth</a:t>
            </a:r>
            <a:r>
              <a:rPr spc="-10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bits</a:t>
            </a:r>
            <a:r>
              <a:rPr spc="-10" dirty="0"/>
              <a:t> </a:t>
            </a:r>
            <a:r>
              <a:rPr dirty="0"/>
              <a:t>per</a:t>
            </a:r>
            <a:r>
              <a:rPr spc="-10" dirty="0"/>
              <a:t> </a:t>
            </a:r>
            <a:r>
              <a:rPr dirty="0"/>
              <a:t>second,</a:t>
            </a:r>
            <a:r>
              <a:rPr spc="-15" dirty="0"/>
              <a:t> </a:t>
            </a:r>
            <a:r>
              <a:rPr dirty="0"/>
              <a:t>refers</a:t>
            </a:r>
            <a:r>
              <a:rPr spc="-2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the speed</a:t>
            </a:r>
            <a:r>
              <a:rPr spc="-1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25" dirty="0"/>
              <a:t>bit 	</a:t>
            </a:r>
            <a:r>
              <a:rPr dirty="0"/>
              <a:t>transmission</a:t>
            </a:r>
            <a:r>
              <a:rPr spc="-60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a channel</a:t>
            </a:r>
            <a:r>
              <a:rPr spc="-35" dirty="0"/>
              <a:t> </a:t>
            </a:r>
            <a:r>
              <a:rPr dirty="0"/>
              <a:t>or</a:t>
            </a:r>
            <a:r>
              <a:rPr spc="-10" dirty="0"/>
              <a:t> </a:t>
            </a:r>
            <a:r>
              <a:rPr dirty="0"/>
              <a:t>link,</a:t>
            </a:r>
            <a:r>
              <a:rPr spc="-30" dirty="0"/>
              <a:t> </a:t>
            </a:r>
            <a:r>
              <a:rPr dirty="0"/>
              <a:t>often</a:t>
            </a:r>
            <a:r>
              <a:rPr spc="-10" dirty="0"/>
              <a:t> </a:t>
            </a:r>
            <a:r>
              <a:rPr dirty="0"/>
              <a:t>referred</a:t>
            </a:r>
            <a:r>
              <a:rPr spc="-2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as</a:t>
            </a:r>
            <a:r>
              <a:rPr spc="-15" dirty="0"/>
              <a:t> </a:t>
            </a:r>
            <a:r>
              <a:rPr spc="-10" dirty="0"/>
              <a:t>Capacity</a:t>
            </a:r>
          </a:p>
        </p:txBody>
      </p:sp>
      <p:sp>
        <p:nvSpPr>
          <p:cNvPr id="9" name="object 9"/>
          <p:cNvSpPr/>
          <p:nvPr/>
        </p:nvSpPr>
        <p:spPr>
          <a:xfrm>
            <a:off x="6012053" y="1491488"/>
            <a:ext cx="2810510" cy="1174115"/>
          </a:xfrm>
          <a:custGeom>
            <a:avLst/>
            <a:gdLst/>
            <a:ahLst/>
            <a:cxnLst/>
            <a:rect l="l" t="t" r="r" b="b"/>
            <a:pathLst>
              <a:path w="2810509" h="1174114">
                <a:moveTo>
                  <a:pt x="0" y="0"/>
                </a:moveTo>
                <a:lnTo>
                  <a:pt x="2427731" y="0"/>
                </a:lnTo>
              </a:path>
              <a:path w="2810509" h="1174114">
                <a:moveTo>
                  <a:pt x="1439926" y="1173988"/>
                </a:moveTo>
                <a:lnTo>
                  <a:pt x="2810510" y="1173988"/>
                </a:lnTo>
              </a:path>
            </a:pathLst>
          </a:custGeom>
          <a:ln w="2844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Throughput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287" rIns="0" bIns="0" rtlCol="0">
            <a:spAutoFit/>
          </a:bodyPr>
          <a:lstStyle/>
          <a:p>
            <a:pPr marL="355600" marR="10795" indent="-342900">
              <a:lnSpc>
                <a:spcPts val="2820"/>
              </a:lnSpc>
              <a:spcBef>
                <a:spcPts val="24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The</a:t>
            </a:r>
            <a:r>
              <a:rPr spc="10" dirty="0"/>
              <a:t> </a:t>
            </a:r>
            <a:r>
              <a:rPr dirty="0"/>
              <a:t>throughput</a:t>
            </a:r>
            <a:r>
              <a:rPr spc="20" dirty="0"/>
              <a:t> </a:t>
            </a:r>
            <a:r>
              <a:rPr dirty="0"/>
              <a:t>is</a:t>
            </a:r>
            <a:r>
              <a:rPr spc="15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dirty="0"/>
              <a:t>measure</a:t>
            </a:r>
            <a:r>
              <a:rPr spc="20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how</a:t>
            </a:r>
            <a:r>
              <a:rPr spc="20" dirty="0"/>
              <a:t> </a:t>
            </a:r>
            <a:r>
              <a:rPr dirty="0"/>
              <a:t>fast</a:t>
            </a:r>
            <a:r>
              <a:rPr spc="25" dirty="0"/>
              <a:t> </a:t>
            </a:r>
            <a:r>
              <a:rPr dirty="0"/>
              <a:t>we</a:t>
            </a:r>
            <a:r>
              <a:rPr spc="15" dirty="0"/>
              <a:t> </a:t>
            </a:r>
            <a:r>
              <a:rPr dirty="0"/>
              <a:t>can</a:t>
            </a:r>
            <a:r>
              <a:rPr spc="15" dirty="0"/>
              <a:t> </a:t>
            </a:r>
            <a:r>
              <a:rPr dirty="0"/>
              <a:t>actually</a:t>
            </a:r>
            <a:r>
              <a:rPr spc="15" dirty="0"/>
              <a:t> </a:t>
            </a:r>
            <a:r>
              <a:rPr dirty="0"/>
              <a:t>send</a:t>
            </a:r>
            <a:r>
              <a:rPr spc="25" dirty="0"/>
              <a:t> </a:t>
            </a:r>
            <a:r>
              <a:rPr spc="-20" dirty="0"/>
              <a:t>data </a:t>
            </a:r>
            <a:r>
              <a:rPr dirty="0"/>
              <a:t>through</a:t>
            </a:r>
            <a:r>
              <a:rPr spc="-35" dirty="0"/>
              <a:t> </a:t>
            </a:r>
            <a:r>
              <a:rPr dirty="0"/>
              <a:t>a </a:t>
            </a:r>
            <a:r>
              <a:rPr spc="-10" dirty="0"/>
              <a:t>network</a:t>
            </a: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25" dirty="0"/>
              <a:t>OR</a:t>
            </a:r>
          </a:p>
          <a:p>
            <a:pPr marL="355600" marR="11430" indent="-342900">
              <a:lnSpc>
                <a:spcPts val="2830"/>
              </a:lnSpc>
              <a:spcBef>
                <a:spcPts val="69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How</a:t>
            </a:r>
            <a:r>
              <a:rPr spc="120" dirty="0"/>
              <a:t> </a:t>
            </a:r>
            <a:r>
              <a:rPr dirty="0"/>
              <a:t>much</a:t>
            </a:r>
            <a:r>
              <a:rPr spc="120" dirty="0"/>
              <a:t> </a:t>
            </a:r>
            <a:r>
              <a:rPr dirty="0"/>
              <a:t>data</a:t>
            </a:r>
            <a:r>
              <a:rPr spc="114" dirty="0"/>
              <a:t> </a:t>
            </a:r>
            <a:r>
              <a:rPr dirty="0"/>
              <a:t>can</a:t>
            </a:r>
            <a:r>
              <a:rPr spc="130" dirty="0"/>
              <a:t> </a:t>
            </a:r>
            <a:r>
              <a:rPr dirty="0"/>
              <a:t>be</a:t>
            </a:r>
            <a:r>
              <a:rPr spc="105" dirty="0"/>
              <a:t> </a:t>
            </a:r>
            <a:r>
              <a:rPr dirty="0"/>
              <a:t>transferred</a:t>
            </a:r>
            <a:r>
              <a:rPr spc="114" dirty="0"/>
              <a:t> </a:t>
            </a:r>
            <a:r>
              <a:rPr dirty="0"/>
              <a:t>from</a:t>
            </a:r>
            <a:r>
              <a:rPr spc="95" dirty="0"/>
              <a:t> </a:t>
            </a:r>
            <a:r>
              <a:rPr dirty="0"/>
              <a:t>source</a:t>
            </a:r>
            <a:r>
              <a:rPr spc="110" dirty="0"/>
              <a:t> </a:t>
            </a:r>
            <a:r>
              <a:rPr dirty="0"/>
              <a:t>to</a:t>
            </a:r>
            <a:r>
              <a:rPr spc="120" dirty="0"/>
              <a:t> </a:t>
            </a:r>
            <a:r>
              <a:rPr dirty="0"/>
              <a:t>destination</a:t>
            </a:r>
            <a:r>
              <a:rPr spc="120" dirty="0"/>
              <a:t> </a:t>
            </a:r>
            <a:r>
              <a:rPr dirty="0"/>
              <a:t>in</a:t>
            </a:r>
            <a:r>
              <a:rPr spc="95" dirty="0"/>
              <a:t> </a:t>
            </a:r>
            <a:r>
              <a:rPr spc="-50" dirty="0"/>
              <a:t>a </a:t>
            </a:r>
            <a:r>
              <a:rPr dirty="0"/>
              <a:t>given</a:t>
            </a:r>
            <a:r>
              <a:rPr spc="-45" dirty="0"/>
              <a:t> </a:t>
            </a:r>
            <a:r>
              <a:rPr dirty="0"/>
              <a:t>time</a:t>
            </a:r>
            <a:r>
              <a:rPr spc="-15" dirty="0"/>
              <a:t> </a:t>
            </a:r>
            <a:r>
              <a:rPr spc="-20" dirty="0"/>
              <a:t>frame</a:t>
            </a:r>
          </a:p>
          <a:p>
            <a:pPr marL="355600" marR="5080" indent="-342900">
              <a:lnSpc>
                <a:spcPts val="2820"/>
              </a:lnSpc>
              <a:spcBef>
                <a:spcPts val="61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A</a:t>
            </a:r>
            <a:r>
              <a:rPr spc="-35" dirty="0"/>
              <a:t> </a:t>
            </a:r>
            <a:r>
              <a:rPr dirty="0"/>
              <a:t>link</a:t>
            </a:r>
            <a:r>
              <a:rPr spc="110" dirty="0"/>
              <a:t> </a:t>
            </a:r>
            <a:r>
              <a:rPr dirty="0"/>
              <a:t>may</a:t>
            </a:r>
            <a:r>
              <a:rPr spc="105" dirty="0"/>
              <a:t> </a:t>
            </a:r>
            <a:r>
              <a:rPr dirty="0"/>
              <a:t>have</a:t>
            </a:r>
            <a:r>
              <a:rPr spc="95" dirty="0"/>
              <a:t> </a:t>
            </a:r>
            <a:r>
              <a:rPr dirty="0"/>
              <a:t>a</a:t>
            </a:r>
            <a:r>
              <a:rPr spc="110" dirty="0"/>
              <a:t> </a:t>
            </a:r>
            <a:r>
              <a:rPr dirty="0"/>
              <a:t>bandwidth</a:t>
            </a:r>
            <a:r>
              <a:rPr spc="110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BW</a:t>
            </a:r>
            <a:r>
              <a:rPr spc="45" dirty="0"/>
              <a:t> </a:t>
            </a:r>
            <a:r>
              <a:rPr dirty="0"/>
              <a:t>bps,</a:t>
            </a:r>
            <a:r>
              <a:rPr spc="105" dirty="0"/>
              <a:t> </a:t>
            </a:r>
            <a:r>
              <a:rPr dirty="0"/>
              <a:t>but</a:t>
            </a:r>
            <a:r>
              <a:rPr spc="110" dirty="0"/>
              <a:t> </a:t>
            </a:r>
            <a:r>
              <a:rPr dirty="0"/>
              <a:t>we</a:t>
            </a:r>
            <a:r>
              <a:rPr spc="105" dirty="0"/>
              <a:t> </a:t>
            </a:r>
            <a:r>
              <a:rPr dirty="0"/>
              <a:t>can</a:t>
            </a:r>
            <a:r>
              <a:rPr spc="110" dirty="0"/>
              <a:t> </a:t>
            </a:r>
            <a:r>
              <a:rPr dirty="0"/>
              <a:t>only</a:t>
            </a:r>
            <a:r>
              <a:rPr spc="95" dirty="0"/>
              <a:t> </a:t>
            </a:r>
            <a:r>
              <a:rPr dirty="0"/>
              <a:t>send</a:t>
            </a:r>
            <a:r>
              <a:rPr spc="105" dirty="0"/>
              <a:t> </a:t>
            </a:r>
            <a:r>
              <a:rPr spc="-50" dirty="0"/>
              <a:t>T </a:t>
            </a:r>
            <a:r>
              <a:rPr dirty="0"/>
              <a:t>bps</a:t>
            </a:r>
            <a:r>
              <a:rPr spc="-25" dirty="0"/>
              <a:t> </a:t>
            </a:r>
            <a:r>
              <a:rPr dirty="0"/>
              <a:t>through</a:t>
            </a:r>
            <a:r>
              <a:rPr spc="-30" dirty="0"/>
              <a:t> </a:t>
            </a:r>
            <a:r>
              <a:rPr dirty="0"/>
              <a:t>this</a:t>
            </a:r>
            <a:r>
              <a:rPr spc="-15" dirty="0"/>
              <a:t> </a:t>
            </a:r>
            <a:r>
              <a:rPr dirty="0"/>
              <a:t>link</a:t>
            </a:r>
            <a:r>
              <a:rPr spc="-2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dirty="0"/>
              <a:t>always</a:t>
            </a:r>
            <a:r>
              <a:rPr spc="-20" dirty="0"/>
              <a:t> </a:t>
            </a:r>
            <a:r>
              <a:rPr dirty="0"/>
              <a:t>less</a:t>
            </a:r>
            <a:r>
              <a:rPr spc="-10" dirty="0"/>
              <a:t> </a:t>
            </a:r>
            <a:r>
              <a:rPr dirty="0"/>
              <a:t>than</a:t>
            </a:r>
            <a:r>
              <a:rPr spc="-25" dirty="0"/>
              <a:t> </a:t>
            </a:r>
            <a:r>
              <a:rPr dirty="0"/>
              <a:t>B</a:t>
            </a:r>
            <a:r>
              <a:rPr spc="-15" dirty="0"/>
              <a:t> </a:t>
            </a:r>
            <a:r>
              <a:rPr dirty="0"/>
              <a:t>(T</a:t>
            </a:r>
            <a:r>
              <a:rPr spc="-60" dirty="0"/>
              <a:t> </a:t>
            </a:r>
            <a:r>
              <a:rPr dirty="0"/>
              <a:t>&lt;</a:t>
            </a:r>
            <a:r>
              <a:rPr spc="-15" dirty="0"/>
              <a:t> </a:t>
            </a:r>
            <a:r>
              <a:rPr spc="-25" dirty="0"/>
              <a:t>B)</a:t>
            </a:r>
          </a:p>
        </p:txBody>
      </p:sp>
      <p:sp>
        <p:nvSpPr>
          <p:cNvPr id="9" name="object 9"/>
          <p:cNvSpPr/>
          <p:nvPr/>
        </p:nvSpPr>
        <p:spPr>
          <a:xfrm>
            <a:off x="683285" y="1491488"/>
            <a:ext cx="7506334" cy="1584325"/>
          </a:xfrm>
          <a:custGeom>
            <a:avLst/>
            <a:gdLst/>
            <a:ahLst/>
            <a:cxnLst/>
            <a:rect l="l" t="t" r="r" b="b"/>
            <a:pathLst>
              <a:path w="7506334" h="1584325">
                <a:moveTo>
                  <a:pt x="3951706" y="0"/>
                </a:moveTo>
                <a:lnTo>
                  <a:pt x="7506309" y="0"/>
                </a:lnTo>
              </a:path>
              <a:path w="7506334" h="1584325">
                <a:moveTo>
                  <a:pt x="0" y="1224026"/>
                </a:moveTo>
                <a:lnTo>
                  <a:pt x="2006574" y="1224026"/>
                </a:lnTo>
              </a:path>
              <a:path w="7506334" h="1584325">
                <a:moveTo>
                  <a:pt x="21958" y="1583944"/>
                </a:moveTo>
                <a:lnTo>
                  <a:pt x="2028545" y="1583944"/>
                </a:lnTo>
              </a:path>
            </a:pathLst>
          </a:custGeom>
          <a:ln w="2844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Bandwidth-Delay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340" y="1062609"/>
            <a:ext cx="76085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Bandwidth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delay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performance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metrics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link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66685" y="1828850"/>
            <a:ext cx="6781800" cy="1685925"/>
            <a:chOff x="1066685" y="1828850"/>
            <a:chExt cx="6781800" cy="168592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95623" y="2390774"/>
              <a:ext cx="4252722" cy="40932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6685" y="2357323"/>
              <a:ext cx="2274443" cy="47591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09872" y="1828850"/>
              <a:ext cx="3914267" cy="34272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83611" y="3234982"/>
              <a:ext cx="3943096" cy="279361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2671142" y="1119021"/>
            <a:ext cx="4370705" cy="3660140"/>
            <a:chOff x="2671142" y="1119021"/>
            <a:chExt cx="4370705" cy="366014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2211" y="1148626"/>
              <a:ext cx="3599941" cy="809713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Bandwidth-Delay</a:t>
            </a: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2593" y="1193657"/>
            <a:ext cx="626425" cy="68450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33153" y="1121648"/>
            <a:ext cx="626425" cy="68450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13891" y="1914270"/>
            <a:ext cx="6045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Sender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8688" y="3779225"/>
            <a:ext cx="64516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dirty="0">
                <a:latin typeface="Times New Roman"/>
                <a:cs typeface="Times New Roman"/>
              </a:rPr>
              <a:t>After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5 </a:t>
            </a:r>
            <a:r>
              <a:rPr sz="1400" spc="-50" dirty="0">
                <a:latin typeface="Times New Roman"/>
                <a:cs typeface="Times New Roman"/>
              </a:rPr>
              <a:t>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15504" y="1875281"/>
            <a:ext cx="7277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Receiver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178854" y="2209545"/>
          <a:ext cx="6868795" cy="221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2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22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925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L="9525" algn="ctr">
                        <a:lnSpc>
                          <a:spcPts val="2145"/>
                        </a:lnSpc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st</a:t>
                      </a:r>
                      <a:r>
                        <a:rPr sz="1800" spc="195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bit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L="8890" algn="ctr">
                        <a:lnSpc>
                          <a:spcPts val="2140"/>
                        </a:lnSpc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nd</a:t>
                      </a:r>
                      <a:r>
                        <a:rPr sz="1800" spc="195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bit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140"/>
                        </a:lnSpc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st</a:t>
                      </a:r>
                      <a:r>
                        <a:rPr sz="1800" spc="195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bit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800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rd</a:t>
                      </a:r>
                      <a:r>
                        <a:rPr sz="1800" spc="187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bit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nd</a:t>
                      </a:r>
                      <a:r>
                        <a:rPr sz="1800" spc="195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bit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st</a:t>
                      </a:r>
                      <a:r>
                        <a:rPr sz="1800" spc="195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bit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800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th</a:t>
                      </a:r>
                      <a:r>
                        <a:rPr sz="1800" spc="179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bit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800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rd</a:t>
                      </a:r>
                      <a:r>
                        <a:rPr sz="1800" spc="187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bit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nd</a:t>
                      </a:r>
                      <a:r>
                        <a:rPr sz="1800" spc="195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bit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st</a:t>
                      </a:r>
                      <a:r>
                        <a:rPr sz="1800" spc="195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bit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1800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th</a:t>
                      </a:r>
                      <a:r>
                        <a:rPr sz="1800" spc="179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bit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800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th</a:t>
                      </a:r>
                      <a:r>
                        <a:rPr sz="1800" spc="179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bit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800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rd</a:t>
                      </a:r>
                      <a:r>
                        <a:rPr sz="1800" spc="187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bit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nd</a:t>
                      </a:r>
                      <a:r>
                        <a:rPr sz="1800" spc="195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bit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4311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st</a:t>
                      </a:r>
                      <a:r>
                        <a:rPr sz="1800" spc="195" baseline="25462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bit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5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266801" y="2484841"/>
            <a:ext cx="657225" cy="124269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805"/>
              </a:spcBef>
            </a:pPr>
            <a:r>
              <a:rPr sz="1400" dirty="0">
                <a:latin typeface="Times New Roman"/>
                <a:cs typeface="Times New Roman"/>
              </a:rPr>
              <a:t>After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 </a:t>
            </a:r>
            <a:r>
              <a:rPr sz="1400" spc="-50" dirty="0">
                <a:latin typeface="Times New Roman"/>
                <a:cs typeface="Times New Roman"/>
              </a:rPr>
              <a:t>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400" dirty="0">
                <a:latin typeface="Times New Roman"/>
                <a:cs typeface="Times New Roman"/>
              </a:rPr>
              <a:t>After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 </a:t>
            </a:r>
            <a:r>
              <a:rPr sz="1400" spc="-50" dirty="0">
                <a:latin typeface="Times New Roman"/>
                <a:cs typeface="Times New Roman"/>
              </a:rPr>
              <a:t>s</a:t>
            </a:r>
            <a:endParaRPr sz="1400">
              <a:latin typeface="Times New Roman"/>
              <a:cs typeface="Times New Roman"/>
            </a:endParaRPr>
          </a:p>
          <a:p>
            <a:pPr marL="24130">
              <a:lnSpc>
                <a:spcPct val="100000"/>
              </a:lnSpc>
              <a:spcBef>
                <a:spcPts val="835"/>
              </a:spcBef>
            </a:pPr>
            <a:r>
              <a:rPr sz="1400" dirty="0">
                <a:latin typeface="Times New Roman"/>
                <a:cs typeface="Times New Roman"/>
              </a:rPr>
              <a:t>After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3 </a:t>
            </a:r>
            <a:r>
              <a:rPr sz="1400" spc="-50" dirty="0">
                <a:latin typeface="Times New Roman"/>
                <a:cs typeface="Times New Roman"/>
              </a:rPr>
              <a:t>s</a:t>
            </a:r>
            <a:endParaRPr sz="1400">
              <a:latin typeface="Times New Roman"/>
              <a:cs typeface="Times New Roman"/>
            </a:endParaRPr>
          </a:p>
          <a:p>
            <a:pPr marL="24130">
              <a:lnSpc>
                <a:spcPct val="100000"/>
              </a:lnSpc>
              <a:spcBef>
                <a:spcPts val="615"/>
              </a:spcBef>
            </a:pPr>
            <a:r>
              <a:rPr sz="1400" dirty="0">
                <a:latin typeface="Times New Roman"/>
                <a:cs typeface="Times New Roman"/>
              </a:rPr>
              <a:t>After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4 </a:t>
            </a:r>
            <a:r>
              <a:rPr sz="1400" spc="-50" dirty="0">
                <a:latin typeface="Times New Roman"/>
                <a:cs typeface="Times New Roman"/>
              </a:rPr>
              <a:t>s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2578989" y="1119021"/>
            <a:ext cx="4462780" cy="3660140"/>
            <a:chOff x="2578989" y="1119021"/>
            <a:chExt cx="4462780" cy="366014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142" y="1119021"/>
              <a:ext cx="4370425" cy="366005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8989" y="1196263"/>
              <a:ext cx="3591305" cy="75852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Bandwidth-Delay</a:t>
            </a: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2593" y="1193657"/>
            <a:ext cx="626425" cy="68450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33153" y="1121648"/>
            <a:ext cx="626425" cy="68450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13891" y="1914270"/>
            <a:ext cx="6045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Sender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15504" y="1875281"/>
            <a:ext cx="7277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Receiver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195463" y="4130179"/>
            <a:ext cx="6864984" cy="318135"/>
            <a:chOff x="1195463" y="4130179"/>
            <a:chExt cx="6864984" cy="318135"/>
          </a:xfrm>
        </p:grpSpPr>
        <p:sp>
          <p:nvSpPr>
            <p:cNvPr id="15" name="object 15"/>
            <p:cNvSpPr/>
            <p:nvPr/>
          </p:nvSpPr>
          <p:spPr>
            <a:xfrm>
              <a:off x="1208163" y="4146473"/>
              <a:ext cx="6839584" cy="289560"/>
            </a:xfrm>
            <a:custGeom>
              <a:avLst/>
              <a:gdLst/>
              <a:ahLst/>
              <a:cxnLst/>
              <a:rect l="l" t="t" r="r" b="b"/>
              <a:pathLst>
                <a:path w="6839584" h="289560">
                  <a:moveTo>
                    <a:pt x="0" y="289090"/>
                  </a:moveTo>
                  <a:lnTo>
                    <a:pt x="6839584" y="289090"/>
                  </a:lnTo>
                  <a:lnTo>
                    <a:pt x="6839584" y="1447"/>
                  </a:lnTo>
                  <a:lnTo>
                    <a:pt x="0" y="1447"/>
                  </a:lnTo>
                  <a:lnTo>
                    <a:pt x="0" y="289090"/>
                  </a:lnTo>
                  <a:close/>
                </a:path>
                <a:path w="6839584" h="289560">
                  <a:moveTo>
                    <a:pt x="0" y="289090"/>
                  </a:moveTo>
                  <a:lnTo>
                    <a:pt x="273964" y="289090"/>
                  </a:lnTo>
                  <a:lnTo>
                    <a:pt x="273964" y="1447"/>
                  </a:lnTo>
                  <a:lnTo>
                    <a:pt x="0" y="1447"/>
                  </a:lnTo>
                  <a:lnTo>
                    <a:pt x="0" y="289090"/>
                  </a:lnTo>
                  <a:close/>
                </a:path>
                <a:path w="6839584" h="289560">
                  <a:moveTo>
                    <a:pt x="274307" y="289090"/>
                  </a:moveTo>
                  <a:lnTo>
                    <a:pt x="548271" y="289090"/>
                  </a:lnTo>
                  <a:lnTo>
                    <a:pt x="548271" y="1447"/>
                  </a:lnTo>
                  <a:lnTo>
                    <a:pt x="274307" y="1447"/>
                  </a:lnTo>
                  <a:lnTo>
                    <a:pt x="274307" y="289090"/>
                  </a:lnTo>
                  <a:close/>
                </a:path>
                <a:path w="6839584" h="289560">
                  <a:moveTo>
                    <a:pt x="548627" y="289090"/>
                  </a:moveTo>
                  <a:lnTo>
                    <a:pt x="822591" y="289090"/>
                  </a:lnTo>
                  <a:lnTo>
                    <a:pt x="822591" y="1447"/>
                  </a:lnTo>
                  <a:lnTo>
                    <a:pt x="548627" y="1447"/>
                  </a:lnTo>
                  <a:lnTo>
                    <a:pt x="548627" y="289090"/>
                  </a:lnTo>
                  <a:close/>
                </a:path>
                <a:path w="6839584" h="289560">
                  <a:moveTo>
                    <a:pt x="822947" y="289090"/>
                  </a:moveTo>
                  <a:lnTo>
                    <a:pt x="1096911" y="289090"/>
                  </a:lnTo>
                  <a:lnTo>
                    <a:pt x="1096911" y="1447"/>
                  </a:lnTo>
                  <a:lnTo>
                    <a:pt x="822947" y="1447"/>
                  </a:lnTo>
                  <a:lnTo>
                    <a:pt x="822947" y="289090"/>
                  </a:lnTo>
                  <a:close/>
                </a:path>
                <a:path w="6839584" h="289560">
                  <a:moveTo>
                    <a:pt x="1097267" y="289090"/>
                  </a:moveTo>
                  <a:lnTo>
                    <a:pt x="1371231" y="289090"/>
                  </a:lnTo>
                  <a:lnTo>
                    <a:pt x="1371231" y="1447"/>
                  </a:lnTo>
                  <a:lnTo>
                    <a:pt x="1097267" y="1447"/>
                  </a:lnTo>
                  <a:lnTo>
                    <a:pt x="1097267" y="289090"/>
                  </a:lnTo>
                  <a:close/>
                </a:path>
                <a:path w="6839584" h="289560">
                  <a:moveTo>
                    <a:pt x="1079" y="287642"/>
                  </a:moveTo>
                  <a:lnTo>
                    <a:pt x="275043" y="287642"/>
                  </a:lnTo>
                  <a:lnTo>
                    <a:pt x="275043" y="0"/>
                  </a:lnTo>
                  <a:lnTo>
                    <a:pt x="1079" y="0"/>
                  </a:lnTo>
                  <a:lnTo>
                    <a:pt x="1079" y="287642"/>
                  </a:lnTo>
                  <a:close/>
                </a:path>
                <a:path w="6839584" h="289560">
                  <a:moveTo>
                    <a:pt x="275450" y="287642"/>
                  </a:moveTo>
                  <a:lnTo>
                    <a:pt x="549414" y="287642"/>
                  </a:lnTo>
                  <a:lnTo>
                    <a:pt x="549414" y="0"/>
                  </a:lnTo>
                  <a:lnTo>
                    <a:pt x="275450" y="0"/>
                  </a:lnTo>
                  <a:lnTo>
                    <a:pt x="275450" y="287642"/>
                  </a:lnTo>
                  <a:close/>
                </a:path>
                <a:path w="6839584" h="289560">
                  <a:moveTo>
                    <a:pt x="549770" y="287642"/>
                  </a:moveTo>
                  <a:lnTo>
                    <a:pt x="823734" y="287642"/>
                  </a:lnTo>
                  <a:lnTo>
                    <a:pt x="823734" y="0"/>
                  </a:lnTo>
                  <a:lnTo>
                    <a:pt x="549770" y="0"/>
                  </a:lnTo>
                  <a:lnTo>
                    <a:pt x="549770" y="287642"/>
                  </a:lnTo>
                  <a:close/>
                </a:path>
                <a:path w="6839584" h="289560">
                  <a:moveTo>
                    <a:pt x="824090" y="287642"/>
                  </a:moveTo>
                  <a:lnTo>
                    <a:pt x="1098054" y="287642"/>
                  </a:lnTo>
                  <a:lnTo>
                    <a:pt x="1098054" y="0"/>
                  </a:lnTo>
                  <a:lnTo>
                    <a:pt x="824090" y="0"/>
                  </a:lnTo>
                  <a:lnTo>
                    <a:pt x="824090" y="287642"/>
                  </a:lnTo>
                  <a:close/>
                </a:path>
                <a:path w="6839584" h="289560">
                  <a:moveTo>
                    <a:pt x="1098410" y="287642"/>
                  </a:moveTo>
                  <a:lnTo>
                    <a:pt x="1372374" y="287642"/>
                  </a:lnTo>
                  <a:lnTo>
                    <a:pt x="1372374" y="0"/>
                  </a:lnTo>
                  <a:lnTo>
                    <a:pt x="1098410" y="0"/>
                  </a:lnTo>
                  <a:lnTo>
                    <a:pt x="1098410" y="287642"/>
                  </a:lnTo>
                  <a:close/>
                </a:path>
                <a:path w="6839584" h="289560">
                  <a:moveTo>
                    <a:pt x="1371968" y="287642"/>
                  </a:moveTo>
                  <a:lnTo>
                    <a:pt x="1645932" y="287642"/>
                  </a:lnTo>
                  <a:lnTo>
                    <a:pt x="1645932" y="0"/>
                  </a:lnTo>
                  <a:lnTo>
                    <a:pt x="1371968" y="0"/>
                  </a:lnTo>
                  <a:lnTo>
                    <a:pt x="1371968" y="287642"/>
                  </a:lnTo>
                  <a:close/>
                </a:path>
                <a:path w="6839584" h="289560">
                  <a:moveTo>
                    <a:pt x="1646288" y="287642"/>
                  </a:moveTo>
                  <a:lnTo>
                    <a:pt x="1920252" y="287642"/>
                  </a:lnTo>
                  <a:lnTo>
                    <a:pt x="1920252" y="0"/>
                  </a:lnTo>
                  <a:lnTo>
                    <a:pt x="1646288" y="0"/>
                  </a:lnTo>
                  <a:lnTo>
                    <a:pt x="1646288" y="287642"/>
                  </a:lnTo>
                  <a:close/>
                </a:path>
                <a:path w="6839584" h="289560">
                  <a:moveTo>
                    <a:pt x="1920608" y="287642"/>
                  </a:moveTo>
                  <a:lnTo>
                    <a:pt x="2194572" y="287642"/>
                  </a:lnTo>
                  <a:lnTo>
                    <a:pt x="2194572" y="0"/>
                  </a:lnTo>
                  <a:lnTo>
                    <a:pt x="1920608" y="0"/>
                  </a:lnTo>
                  <a:lnTo>
                    <a:pt x="1920608" y="287642"/>
                  </a:lnTo>
                  <a:close/>
                </a:path>
                <a:path w="6839584" h="289560">
                  <a:moveTo>
                    <a:pt x="2194928" y="287642"/>
                  </a:moveTo>
                  <a:lnTo>
                    <a:pt x="2468892" y="287642"/>
                  </a:lnTo>
                  <a:lnTo>
                    <a:pt x="2468892" y="0"/>
                  </a:lnTo>
                  <a:lnTo>
                    <a:pt x="2194928" y="0"/>
                  </a:lnTo>
                  <a:lnTo>
                    <a:pt x="2194928" y="287642"/>
                  </a:lnTo>
                  <a:close/>
                </a:path>
                <a:path w="6839584" h="289560">
                  <a:moveTo>
                    <a:pt x="2469248" y="287642"/>
                  </a:moveTo>
                  <a:lnTo>
                    <a:pt x="2743212" y="287642"/>
                  </a:lnTo>
                  <a:lnTo>
                    <a:pt x="2743212" y="0"/>
                  </a:lnTo>
                  <a:lnTo>
                    <a:pt x="2469248" y="0"/>
                  </a:lnTo>
                  <a:lnTo>
                    <a:pt x="2469248" y="28764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06715" y="4142879"/>
              <a:ext cx="548640" cy="287655"/>
            </a:xfrm>
            <a:custGeom>
              <a:avLst/>
              <a:gdLst/>
              <a:ahLst/>
              <a:cxnLst/>
              <a:rect l="l" t="t" r="r" b="b"/>
              <a:pathLst>
                <a:path w="548639" h="287654">
                  <a:moveTo>
                    <a:pt x="273964" y="0"/>
                  </a:moveTo>
                  <a:lnTo>
                    <a:pt x="0" y="0"/>
                  </a:lnTo>
                  <a:lnTo>
                    <a:pt x="0" y="287642"/>
                  </a:lnTo>
                  <a:lnTo>
                    <a:pt x="273964" y="287642"/>
                  </a:lnTo>
                  <a:lnTo>
                    <a:pt x="273964" y="0"/>
                  </a:lnTo>
                  <a:close/>
                </a:path>
                <a:path w="548639" h="287654">
                  <a:moveTo>
                    <a:pt x="548322" y="0"/>
                  </a:moveTo>
                  <a:lnTo>
                    <a:pt x="274358" y="0"/>
                  </a:lnTo>
                  <a:lnTo>
                    <a:pt x="274358" y="287642"/>
                  </a:lnTo>
                  <a:lnTo>
                    <a:pt x="548322" y="287642"/>
                  </a:lnTo>
                  <a:lnTo>
                    <a:pt x="548322" y="0"/>
                  </a:lnTo>
                  <a:close/>
                </a:path>
              </a:pathLst>
            </a:custGeom>
            <a:solidFill>
              <a:srgbClr val="92C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81073" y="4142879"/>
              <a:ext cx="274320" cy="287655"/>
            </a:xfrm>
            <a:custGeom>
              <a:avLst/>
              <a:gdLst/>
              <a:ahLst/>
              <a:cxnLst/>
              <a:rect l="l" t="t" r="r" b="b"/>
              <a:pathLst>
                <a:path w="274319" h="287654">
                  <a:moveTo>
                    <a:pt x="0" y="287642"/>
                  </a:moveTo>
                  <a:lnTo>
                    <a:pt x="273964" y="287642"/>
                  </a:lnTo>
                  <a:lnTo>
                    <a:pt x="273964" y="0"/>
                  </a:lnTo>
                  <a:lnTo>
                    <a:pt x="0" y="0"/>
                  </a:lnTo>
                  <a:lnTo>
                    <a:pt x="0" y="28764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55393" y="4142879"/>
              <a:ext cx="274320" cy="287655"/>
            </a:xfrm>
            <a:custGeom>
              <a:avLst/>
              <a:gdLst/>
              <a:ahLst/>
              <a:cxnLst/>
              <a:rect l="l" t="t" r="r" b="b"/>
              <a:pathLst>
                <a:path w="274319" h="287654">
                  <a:moveTo>
                    <a:pt x="273964" y="0"/>
                  </a:moveTo>
                  <a:lnTo>
                    <a:pt x="0" y="0"/>
                  </a:lnTo>
                  <a:lnTo>
                    <a:pt x="0" y="287642"/>
                  </a:lnTo>
                  <a:lnTo>
                    <a:pt x="273964" y="287642"/>
                  </a:lnTo>
                  <a:lnTo>
                    <a:pt x="273964" y="0"/>
                  </a:lnTo>
                  <a:close/>
                </a:path>
              </a:pathLst>
            </a:custGeom>
            <a:solidFill>
              <a:srgbClr val="92C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55393" y="4142879"/>
              <a:ext cx="274320" cy="287655"/>
            </a:xfrm>
            <a:custGeom>
              <a:avLst/>
              <a:gdLst/>
              <a:ahLst/>
              <a:cxnLst/>
              <a:rect l="l" t="t" r="r" b="b"/>
              <a:pathLst>
                <a:path w="274319" h="287654">
                  <a:moveTo>
                    <a:pt x="0" y="287642"/>
                  </a:moveTo>
                  <a:lnTo>
                    <a:pt x="273964" y="287642"/>
                  </a:lnTo>
                  <a:lnTo>
                    <a:pt x="273964" y="0"/>
                  </a:lnTo>
                  <a:lnTo>
                    <a:pt x="0" y="0"/>
                  </a:lnTo>
                  <a:lnTo>
                    <a:pt x="0" y="28764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29713" y="4142879"/>
              <a:ext cx="274320" cy="287655"/>
            </a:xfrm>
            <a:custGeom>
              <a:avLst/>
              <a:gdLst/>
              <a:ahLst/>
              <a:cxnLst/>
              <a:rect l="l" t="t" r="r" b="b"/>
              <a:pathLst>
                <a:path w="274319" h="287654">
                  <a:moveTo>
                    <a:pt x="273964" y="0"/>
                  </a:moveTo>
                  <a:lnTo>
                    <a:pt x="0" y="0"/>
                  </a:lnTo>
                  <a:lnTo>
                    <a:pt x="0" y="287642"/>
                  </a:lnTo>
                  <a:lnTo>
                    <a:pt x="273964" y="287642"/>
                  </a:lnTo>
                  <a:lnTo>
                    <a:pt x="273964" y="0"/>
                  </a:lnTo>
                  <a:close/>
                </a:path>
              </a:pathLst>
            </a:custGeom>
            <a:solidFill>
              <a:srgbClr val="92C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29713" y="4142879"/>
              <a:ext cx="274320" cy="287655"/>
            </a:xfrm>
            <a:custGeom>
              <a:avLst/>
              <a:gdLst/>
              <a:ahLst/>
              <a:cxnLst/>
              <a:rect l="l" t="t" r="r" b="b"/>
              <a:pathLst>
                <a:path w="274319" h="287654">
                  <a:moveTo>
                    <a:pt x="0" y="287642"/>
                  </a:moveTo>
                  <a:lnTo>
                    <a:pt x="273964" y="287642"/>
                  </a:lnTo>
                  <a:lnTo>
                    <a:pt x="273964" y="0"/>
                  </a:lnTo>
                  <a:lnTo>
                    <a:pt x="0" y="0"/>
                  </a:lnTo>
                  <a:lnTo>
                    <a:pt x="0" y="28764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04033" y="4142879"/>
              <a:ext cx="274320" cy="287655"/>
            </a:xfrm>
            <a:custGeom>
              <a:avLst/>
              <a:gdLst/>
              <a:ahLst/>
              <a:cxnLst/>
              <a:rect l="l" t="t" r="r" b="b"/>
              <a:pathLst>
                <a:path w="274319" h="287654">
                  <a:moveTo>
                    <a:pt x="273964" y="0"/>
                  </a:moveTo>
                  <a:lnTo>
                    <a:pt x="0" y="0"/>
                  </a:lnTo>
                  <a:lnTo>
                    <a:pt x="0" y="287642"/>
                  </a:lnTo>
                  <a:lnTo>
                    <a:pt x="273964" y="287642"/>
                  </a:lnTo>
                  <a:lnTo>
                    <a:pt x="273964" y="0"/>
                  </a:lnTo>
                  <a:close/>
                </a:path>
              </a:pathLst>
            </a:custGeom>
            <a:solidFill>
              <a:srgbClr val="92C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04033" y="4142879"/>
              <a:ext cx="4393565" cy="292735"/>
            </a:xfrm>
            <a:custGeom>
              <a:avLst/>
              <a:gdLst/>
              <a:ahLst/>
              <a:cxnLst/>
              <a:rect l="l" t="t" r="r" b="b"/>
              <a:pathLst>
                <a:path w="4393565" h="292735">
                  <a:moveTo>
                    <a:pt x="0" y="287642"/>
                  </a:moveTo>
                  <a:lnTo>
                    <a:pt x="273964" y="287642"/>
                  </a:lnTo>
                  <a:lnTo>
                    <a:pt x="273964" y="0"/>
                  </a:lnTo>
                  <a:lnTo>
                    <a:pt x="0" y="0"/>
                  </a:lnTo>
                  <a:lnTo>
                    <a:pt x="0" y="287642"/>
                  </a:lnTo>
                  <a:close/>
                </a:path>
                <a:path w="4393565" h="292735">
                  <a:moveTo>
                    <a:pt x="277876" y="287642"/>
                  </a:moveTo>
                  <a:lnTo>
                    <a:pt x="551840" y="287642"/>
                  </a:lnTo>
                  <a:lnTo>
                    <a:pt x="551840" y="0"/>
                  </a:lnTo>
                  <a:lnTo>
                    <a:pt x="277876" y="0"/>
                  </a:lnTo>
                  <a:lnTo>
                    <a:pt x="277876" y="287642"/>
                  </a:lnTo>
                  <a:close/>
                </a:path>
                <a:path w="4393565" h="292735">
                  <a:moveTo>
                    <a:pt x="552196" y="287642"/>
                  </a:moveTo>
                  <a:lnTo>
                    <a:pt x="826160" y="287642"/>
                  </a:lnTo>
                  <a:lnTo>
                    <a:pt x="826160" y="0"/>
                  </a:lnTo>
                  <a:lnTo>
                    <a:pt x="552196" y="0"/>
                  </a:lnTo>
                  <a:lnTo>
                    <a:pt x="552196" y="287642"/>
                  </a:lnTo>
                  <a:close/>
                </a:path>
                <a:path w="4393565" h="292735">
                  <a:moveTo>
                    <a:pt x="826516" y="287642"/>
                  </a:moveTo>
                  <a:lnTo>
                    <a:pt x="1100480" y="287642"/>
                  </a:lnTo>
                  <a:lnTo>
                    <a:pt x="1100480" y="0"/>
                  </a:lnTo>
                  <a:lnTo>
                    <a:pt x="826516" y="0"/>
                  </a:lnTo>
                  <a:lnTo>
                    <a:pt x="826516" y="287642"/>
                  </a:lnTo>
                  <a:close/>
                </a:path>
                <a:path w="4393565" h="292735">
                  <a:moveTo>
                    <a:pt x="1100836" y="287642"/>
                  </a:moveTo>
                  <a:lnTo>
                    <a:pt x="1374800" y="287642"/>
                  </a:lnTo>
                  <a:lnTo>
                    <a:pt x="1374800" y="0"/>
                  </a:lnTo>
                  <a:lnTo>
                    <a:pt x="1100836" y="0"/>
                  </a:lnTo>
                  <a:lnTo>
                    <a:pt x="1100836" y="287642"/>
                  </a:lnTo>
                  <a:close/>
                </a:path>
                <a:path w="4393565" h="292735">
                  <a:moveTo>
                    <a:pt x="1375156" y="287642"/>
                  </a:moveTo>
                  <a:lnTo>
                    <a:pt x="1649120" y="287642"/>
                  </a:lnTo>
                  <a:lnTo>
                    <a:pt x="1649120" y="0"/>
                  </a:lnTo>
                  <a:lnTo>
                    <a:pt x="1375156" y="0"/>
                  </a:lnTo>
                  <a:lnTo>
                    <a:pt x="1375156" y="287642"/>
                  </a:lnTo>
                  <a:close/>
                </a:path>
                <a:path w="4393565" h="292735">
                  <a:moveTo>
                    <a:pt x="1648714" y="287642"/>
                  </a:moveTo>
                  <a:lnTo>
                    <a:pt x="1922678" y="287642"/>
                  </a:lnTo>
                  <a:lnTo>
                    <a:pt x="1922678" y="0"/>
                  </a:lnTo>
                  <a:lnTo>
                    <a:pt x="1648714" y="0"/>
                  </a:lnTo>
                  <a:lnTo>
                    <a:pt x="1648714" y="287642"/>
                  </a:lnTo>
                  <a:close/>
                </a:path>
                <a:path w="4393565" h="292735">
                  <a:moveTo>
                    <a:pt x="1923033" y="287642"/>
                  </a:moveTo>
                  <a:lnTo>
                    <a:pt x="2196998" y="287642"/>
                  </a:lnTo>
                  <a:lnTo>
                    <a:pt x="2196998" y="0"/>
                  </a:lnTo>
                  <a:lnTo>
                    <a:pt x="1923033" y="0"/>
                  </a:lnTo>
                  <a:lnTo>
                    <a:pt x="1923033" y="287642"/>
                  </a:lnTo>
                  <a:close/>
                </a:path>
                <a:path w="4393565" h="292735">
                  <a:moveTo>
                    <a:pt x="2197354" y="287642"/>
                  </a:moveTo>
                  <a:lnTo>
                    <a:pt x="2471318" y="287642"/>
                  </a:lnTo>
                  <a:lnTo>
                    <a:pt x="2471318" y="0"/>
                  </a:lnTo>
                  <a:lnTo>
                    <a:pt x="2197354" y="0"/>
                  </a:lnTo>
                  <a:lnTo>
                    <a:pt x="2197354" y="287642"/>
                  </a:lnTo>
                  <a:close/>
                </a:path>
                <a:path w="4393565" h="292735">
                  <a:moveTo>
                    <a:pt x="2471674" y="287642"/>
                  </a:moveTo>
                  <a:lnTo>
                    <a:pt x="2745638" y="287642"/>
                  </a:lnTo>
                  <a:lnTo>
                    <a:pt x="2745638" y="0"/>
                  </a:lnTo>
                  <a:lnTo>
                    <a:pt x="2471674" y="0"/>
                  </a:lnTo>
                  <a:lnTo>
                    <a:pt x="2471674" y="287642"/>
                  </a:lnTo>
                  <a:close/>
                </a:path>
                <a:path w="4393565" h="292735">
                  <a:moveTo>
                    <a:pt x="2745994" y="287642"/>
                  </a:moveTo>
                  <a:lnTo>
                    <a:pt x="3019958" y="287642"/>
                  </a:lnTo>
                  <a:lnTo>
                    <a:pt x="3019958" y="0"/>
                  </a:lnTo>
                  <a:lnTo>
                    <a:pt x="2745994" y="0"/>
                  </a:lnTo>
                  <a:lnTo>
                    <a:pt x="2745994" y="287642"/>
                  </a:lnTo>
                  <a:close/>
                </a:path>
                <a:path w="4393565" h="292735">
                  <a:moveTo>
                    <a:pt x="5715" y="292315"/>
                  </a:moveTo>
                  <a:lnTo>
                    <a:pt x="279679" y="292315"/>
                  </a:lnTo>
                  <a:lnTo>
                    <a:pt x="279679" y="4673"/>
                  </a:lnTo>
                  <a:lnTo>
                    <a:pt x="5715" y="4673"/>
                  </a:lnTo>
                  <a:lnTo>
                    <a:pt x="5715" y="292315"/>
                  </a:lnTo>
                  <a:close/>
                </a:path>
                <a:path w="4393565" h="292735">
                  <a:moveTo>
                    <a:pt x="276098" y="292315"/>
                  </a:moveTo>
                  <a:lnTo>
                    <a:pt x="550062" y="292315"/>
                  </a:lnTo>
                  <a:lnTo>
                    <a:pt x="550062" y="4673"/>
                  </a:lnTo>
                  <a:lnTo>
                    <a:pt x="276098" y="4673"/>
                  </a:lnTo>
                  <a:lnTo>
                    <a:pt x="276098" y="292315"/>
                  </a:lnTo>
                  <a:close/>
                </a:path>
                <a:path w="4393565" h="292735">
                  <a:moveTo>
                    <a:pt x="550418" y="292315"/>
                  </a:moveTo>
                  <a:lnTo>
                    <a:pt x="824382" y="292315"/>
                  </a:lnTo>
                  <a:lnTo>
                    <a:pt x="824382" y="4673"/>
                  </a:lnTo>
                  <a:lnTo>
                    <a:pt x="550418" y="4673"/>
                  </a:lnTo>
                  <a:lnTo>
                    <a:pt x="550418" y="292315"/>
                  </a:lnTo>
                  <a:close/>
                </a:path>
                <a:path w="4393565" h="292735">
                  <a:moveTo>
                    <a:pt x="824738" y="292315"/>
                  </a:moveTo>
                  <a:lnTo>
                    <a:pt x="1098702" y="292315"/>
                  </a:lnTo>
                  <a:lnTo>
                    <a:pt x="1098702" y="4673"/>
                  </a:lnTo>
                  <a:lnTo>
                    <a:pt x="824738" y="4673"/>
                  </a:lnTo>
                  <a:lnTo>
                    <a:pt x="824738" y="292315"/>
                  </a:lnTo>
                  <a:close/>
                </a:path>
                <a:path w="4393565" h="292735">
                  <a:moveTo>
                    <a:pt x="1099058" y="292315"/>
                  </a:moveTo>
                  <a:lnTo>
                    <a:pt x="1373022" y="292315"/>
                  </a:lnTo>
                  <a:lnTo>
                    <a:pt x="1373022" y="4673"/>
                  </a:lnTo>
                  <a:lnTo>
                    <a:pt x="1099058" y="4673"/>
                  </a:lnTo>
                  <a:lnTo>
                    <a:pt x="1099058" y="292315"/>
                  </a:lnTo>
                  <a:close/>
                </a:path>
                <a:path w="4393565" h="292735">
                  <a:moveTo>
                    <a:pt x="1373378" y="292315"/>
                  </a:moveTo>
                  <a:lnTo>
                    <a:pt x="1647342" y="292315"/>
                  </a:lnTo>
                  <a:lnTo>
                    <a:pt x="1647342" y="4673"/>
                  </a:lnTo>
                  <a:lnTo>
                    <a:pt x="1373378" y="4673"/>
                  </a:lnTo>
                  <a:lnTo>
                    <a:pt x="1373378" y="292315"/>
                  </a:lnTo>
                  <a:close/>
                </a:path>
                <a:path w="4393565" h="292735">
                  <a:moveTo>
                    <a:pt x="1651254" y="292315"/>
                  </a:moveTo>
                  <a:lnTo>
                    <a:pt x="1925218" y="292315"/>
                  </a:lnTo>
                  <a:lnTo>
                    <a:pt x="1925218" y="4673"/>
                  </a:lnTo>
                  <a:lnTo>
                    <a:pt x="1651254" y="4673"/>
                  </a:lnTo>
                  <a:lnTo>
                    <a:pt x="1651254" y="292315"/>
                  </a:lnTo>
                  <a:close/>
                </a:path>
                <a:path w="4393565" h="292735">
                  <a:moveTo>
                    <a:pt x="1925574" y="292315"/>
                  </a:moveTo>
                  <a:lnTo>
                    <a:pt x="2199538" y="292315"/>
                  </a:lnTo>
                  <a:lnTo>
                    <a:pt x="2199538" y="4673"/>
                  </a:lnTo>
                  <a:lnTo>
                    <a:pt x="1925574" y="4673"/>
                  </a:lnTo>
                  <a:lnTo>
                    <a:pt x="1925574" y="292315"/>
                  </a:lnTo>
                  <a:close/>
                </a:path>
                <a:path w="4393565" h="292735">
                  <a:moveTo>
                    <a:pt x="2199894" y="292315"/>
                  </a:moveTo>
                  <a:lnTo>
                    <a:pt x="2473858" y="292315"/>
                  </a:lnTo>
                  <a:lnTo>
                    <a:pt x="2473858" y="4673"/>
                  </a:lnTo>
                  <a:lnTo>
                    <a:pt x="2199894" y="4673"/>
                  </a:lnTo>
                  <a:lnTo>
                    <a:pt x="2199894" y="292315"/>
                  </a:lnTo>
                  <a:close/>
                </a:path>
                <a:path w="4393565" h="292735">
                  <a:moveTo>
                    <a:pt x="2474214" y="292315"/>
                  </a:moveTo>
                  <a:lnTo>
                    <a:pt x="2748178" y="292315"/>
                  </a:lnTo>
                  <a:lnTo>
                    <a:pt x="2748178" y="4673"/>
                  </a:lnTo>
                  <a:lnTo>
                    <a:pt x="2474214" y="4673"/>
                  </a:lnTo>
                  <a:lnTo>
                    <a:pt x="2474214" y="292315"/>
                  </a:lnTo>
                  <a:close/>
                </a:path>
                <a:path w="4393565" h="292735">
                  <a:moveTo>
                    <a:pt x="2748534" y="292315"/>
                  </a:moveTo>
                  <a:lnTo>
                    <a:pt x="3022498" y="292315"/>
                  </a:lnTo>
                  <a:lnTo>
                    <a:pt x="3022498" y="4673"/>
                  </a:lnTo>
                  <a:lnTo>
                    <a:pt x="2748534" y="4673"/>
                  </a:lnTo>
                  <a:lnTo>
                    <a:pt x="2748534" y="292315"/>
                  </a:lnTo>
                  <a:close/>
                </a:path>
                <a:path w="4393565" h="292735">
                  <a:moveTo>
                    <a:pt x="3022219" y="292315"/>
                  </a:moveTo>
                  <a:lnTo>
                    <a:pt x="3296183" y="292315"/>
                  </a:lnTo>
                  <a:lnTo>
                    <a:pt x="3296183" y="4673"/>
                  </a:lnTo>
                  <a:lnTo>
                    <a:pt x="3022219" y="4673"/>
                  </a:lnTo>
                  <a:lnTo>
                    <a:pt x="3022219" y="292315"/>
                  </a:lnTo>
                  <a:close/>
                </a:path>
                <a:path w="4393565" h="292735">
                  <a:moveTo>
                    <a:pt x="3296539" y="292315"/>
                  </a:moveTo>
                  <a:lnTo>
                    <a:pt x="3570503" y="292315"/>
                  </a:lnTo>
                  <a:lnTo>
                    <a:pt x="3570503" y="4673"/>
                  </a:lnTo>
                  <a:lnTo>
                    <a:pt x="3296539" y="4673"/>
                  </a:lnTo>
                  <a:lnTo>
                    <a:pt x="3296539" y="292315"/>
                  </a:lnTo>
                  <a:close/>
                </a:path>
                <a:path w="4393565" h="292735">
                  <a:moveTo>
                    <a:pt x="3570858" y="292315"/>
                  </a:moveTo>
                  <a:lnTo>
                    <a:pt x="3844823" y="292315"/>
                  </a:lnTo>
                  <a:lnTo>
                    <a:pt x="3844823" y="4673"/>
                  </a:lnTo>
                  <a:lnTo>
                    <a:pt x="3570858" y="4673"/>
                  </a:lnTo>
                  <a:lnTo>
                    <a:pt x="3570858" y="292315"/>
                  </a:lnTo>
                  <a:close/>
                </a:path>
                <a:path w="4393565" h="292735">
                  <a:moveTo>
                    <a:pt x="3845179" y="292315"/>
                  </a:moveTo>
                  <a:lnTo>
                    <a:pt x="4119143" y="292315"/>
                  </a:lnTo>
                  <a:lnTo>
                    <a:pt x="4119143" y="4673"/>
                  </a:lnTo>
                  <a:lnTo>
                    <a:pt x="3845179" y="4673"/>
                  </a:lnTo>
                  <a:lnTo>
                    <a:pt x="3845179" y="292315"/>
                  </a:lnTo>
                  <a:close/>
                </a:path>
                <a:path w="4393565" h="292735">
                  <a:moveTo>
                    <a:pt x="4119499" y="292315"/>
                  </a:moveTo>
                  <a:lnTo>
                    <a:pt x="4393463" y="292315"/>
                  </a:lnTo>
                  <a:lnTo>
                    <a:pt x="4393463" y="4673"/>
                  </a:lnTo>
                  <a:lnTo>
                    <a:pt x="4119499" y="4673"/>
                  </a:lnTo>
                  <a:lnTo>
                    <a:pt x="4119499" y="29231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11402" y="4146842"/>
              <a:ext cx="1360805" cy="287655"/>
            </a:xfrm>
            <a:custGeom>
              <a:avLst/>
              <a:gdLst/>
              <a:ahLst/>
              <a:cxnLst/>
              <a:rect l="l" t="t" r="r" b="b"/>
              <a:pathLst>
                <a:path w="1360805" h="287654">
                  <a:moveTo>
                    <a:pt x="273964" y="0"/>
                  </a:moveTo>
                  <a:lnTo>
                    <a:pt x="0" y="0"/>
                  </a:lnTo>
                  <a:lnTo>
                    <a:pt x="0" y="287642"/>
                  </a:lnTo>
                  <a:lnTo>
                    <a:pt x="273964" y="287642"/>
                  </a:lnTo>
                  <a:lnTo>
                    <a:pt x="273964" y="0"/>
                  </a:lnTo>
                  <a:close/>
                </a:path>
                <a:path w="1360805" h="287654">
                  <a:moveTo>
                    <a:pt x="548322" y="0"/>
                  </a:moveTo>
                  <a:lnTo>
                    <a:pt x="274370" y="0"/>
                  </a:lnTo>
                  <a:lnTo>
                    <a:pt x="274370" y="287642"/>
                  </a:lnTo>
                  <a:lnTo>
                    <a:pt x="548322" y="287642"/>
                  </a:lnTo>
                  <a:lnTo>
                    <a:pt x="548322" y="0"/>
                  </a:lnTo>
                  <a:close/>
                </a:path>
                <a:path w="1360805" h="287654">
                  <a:moveTo>
                    <a:pt x="822655" y="0"/>
                  </a:moveTo>
                  <a:lnTo>
                    <a:pt x="548690" y="0"/>
                  </a:lnTo>
                  <a:lnTo>
                    <a:pt x="548690" y="287642"/>
                  </a:lnTo>
                  <a:lnTo>
                    <a:pt x="822655" y="287642"/>
                  </a:lnTo>
                  <a:lnTo>
                    <a:pt x="822655" y="0"/>
                  </a:lnTo>
                  <a:close/>
                </a:path>
                <a:path w="1360805" h="287654">
                  <a:moveTo>
                    <a:pt x="1096975" y="0"/>
                  </a:moveTo>
                  <a:lnTo>
                    <a:pt x="823010" y="0"/>
                  </a:lnTo>
                  <a:lnTo>
                    <a:pt x="823010" y="287642"/>
                  </a:lnTo>
                  <a:lnTo>
                    <a:pt x="1096975" y="287642"/>
                  </a:lnTo>
                  <a:lnTo>
                    <a:pt x="1096975" y="0"/>
                  </a:lnTo>
                  <a:close/>
                </a:path>
                <a:path w="1360805" h="287654">
                  <a:moveTo>
                    <a:pt x="1360474" y="0"/>
                  </a:moveTo>
                  <a:lnTo>
                    <a:pt x="1097330" y="0"/>
                  </a:lnTo>
                  <a:lnTo>
                    <a:pt x="1097330" y="287642"/>
                  </a:lnTo>
                  <a:lnTo>
                    <a:pt x="1360474" y="287642"/>
                  </a:lnTo>
                  <a:lnTo>
                    <a:pt x="1360474" y="0"/>
                  </a:lnTo>
                  <a:close/>
                </a:path>
              </a:pathLst>
            </a:custGeom>
            <a:solidFill>
              <a:srgbClr val="2058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308732" y="4146842"/>
              <a:ext cx="274320" cy="287655"/>
            </a:xfrm>
            <a:custGeom>
              <a:avLst/>
              <a:gdLst/>
              <a:ahLst/>
              <a:cxnLst/>
              <a:rect l="l" t="t" r="r" b="b"/>
              <a:pathLst>
                <a:path w="274319" h="287654">
                  <a:moveTo>
                    <a:pt x="0" y="287642"/>
                  </a:moveTo>
                  <a:lnTo>
                    <a:pt x="273964" y="287642"/>
                  </a:lnTo>
                  <a:lnTo>
                    <a:pt x="273964" y="0"/>
                  </a:lnTo>
                  <a:lnTo>
                    <a:pt x="0" y="0"/>
                  </a:lnTo>
                  <a:lnTo>
                    <a:pt x="0" y="28764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571877" y="4146842"/>
              <a:ext cx="1371600" cy="287655"/>
            </a:xfrm>
            <a:custGeom>
              <a:avLst/>
              <a:gdLst/>
              <a:ahLst/>
              <a:cxnLst/>
              <a:rect l="l" t="t" r="r" b="b"/>
              <a:pathLst>
                <a:path w="1371600" h="287654">
                  <a:moveTo>
                    <a:pt x="273964" y="0"/>
                  </a:moveTo>
                  <a:lnTo>
                    <a:pt x="0" y="0"/>
                  </a:lnTo>
                  <a:lnTo>
                    <a:pt x="0" y="287642"/>
                  </a:lnTo>
                  <a:lnTo>
                    <a:pt x="273964" y="287642"/>
                  </a:lnTo>
                  <a:lnTo>
                    <a:pt x="273964" y="0"/>
                  </a:lnTo>
                  <a:close/>
                </a:path>
                <a:path w="1371600" h="287654">
                  <a:moveTo>
                    <a:pt x="548284" y="0"/>
                  </a:moveTo>
                  <a:lnTo>
                    <a:pt x="274320" y="0"/>
                  </a:lnTo>
                  <a:lnTo>
                    <a:pt x="274320" y="287642"/>
                  </a:lnTo>
                  <a:lnTo>
                    <a:pt x="548284" y="287642"/>
                  </a:lnTo>
                  <a:lnTo>
                    <a:pt x="548284" y="0"/>
                  </a:lnTo>
                  <a:close/>
                </a:path>
                <a:path w="1371600" h="287654">
                  <a:moveTo>
                    <a:pt x="822604" y="0"/>
                  </a:moveTo>
                  <a:lnTo>
                    <a:pt x="548640" y="0"/>
                  </a:lnTo>
                  <a:lnTo>
                    <a:pt x="548640" y="287642"/>
                  </a:lnTo>
                  <a:lnTo>
                    <a:pt x="822604" y="287642"/>
                  </a:lnTo>
                  <a:lnTo>
                    <a:pt x="822604" y="0"/>
                  </a:lnTo>
                  <a:close/>
                </a:path>
                <a:path w="1371600" h="287654">
                  <a:moveTo>
                    <a:pt x="1096924" y="0"/>
                  </a:moveTo>
                  <a:lnTo>
                    <a:pt x="822960" y="0"/>
                  </a:lnTo>
                  <a:lnTo>
                    <a:pt x="822960" y="287642"/>
                  </a:lnTo>
                  <a:lnTo>
                    <a:pt x="1096924" y="287642"/>
                  </a:lnTo>
                  <a:lnTo>
                    <a:pt x="1096924" y="0"/>
                  </a:lnTo>
                  <a:close/>
                </a:path>
                <a:path w="1371600" h="287654">
                  <a:moveTo>
                    <a:pt x="1371244" y="0"/>
                  </a:moveTo>
                  <a:lnTo>
                    <a:pt x="1097280" y="0"/>
                  </a:lnTo>
                  <a:lnTo>
                    <a:pt x="1097280" y="287642"/>
                  </a:lnTo>
                  <a:lnTo>
                    <a:pt x="1371244" y="287642"/>
                  </a:lnTo>
                  <a:lnTo>
                    <a:pt x="1371244" y="0"/>
                  </a:lnTo>
                  <a:close/>
                </a:path>
              </a:pathLst>
            </a:custGeom>
            <a:solidFill>
              <a:srgbClr val="3085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941318" y="4146842"/>
              <a:ext cx="1371600" cy="287655"/>
            </a:xfrm>
            <a:custGeom>
              <a:avLst/>
              <a:gdLst/>
              <a:ahLst/>
              <a:cxnLst/>
              <a:rect l="l" t="t" r="r" b="b"/>
              <a:pathLst>
                <a:path w="1371600" h="287654">
                  <a:moveTo>
                    <a:pt x="273964" y="0"/>
                  </a:moveTo>
                  <a:lnTo>
                    <a:pt x="0" y="0"/>
                  </a:lnTo>
                  <a:lnTo>
                    <a:pt x="0" y="287642"/>
                  </a:lnTo>
                  <a:lnTo>
                    <a:pt x="273964" y="287642"/>
                  </a:lnTo>
                  <a:lnTo>
                    <a:pt x="273964" y="0"/>
                  </a:lnTo>
                  <a:close/>
                </a:path>
                <a:path w="1371600" h="287654">
                  <a:moveTo>
                    <a:pt x="548284" y="0"/>
                  </a:moveTo>
                  <a:lnTo>
                    <a:pt x="274320" y="0"/>
                  </a:lnTo>
                  <a:lnTo>
                    <a:pt x="274320" y="287642"/>
                  </a:lnTo>
                  <a:lnTo>
                    <a:pt x="548284" y="287642"/>
                  </a:lnTo>
                  <a:lnTo>
                    <a:pt x="548284" y="0"/>
                  </a:lnTo>
                  <a:close/>
                </a:path>
                <a:path w="1371600" h="287654">
                  <a:moveTo>
                    <a:pt x="822604" y="0"/>
                  </a:moveTo>
                  <a:lnTo>
                    <a:pt x="548640" y="0"/>
                  </a:lnTo>
                  <a:lnTo>
                    <a:pt x="548640" y="287642"/>
                  </a:lnTo>
                  <a:lnTo>
                    <a:pt x="822604" y="287642"/>
                  </a:lnTo>
                  <a:lnTo>
                    <a:pt x="822604" y="0"/>
                  </a:lnTo>
                  <a:close/>
                </a:path>
                <a:path w="1371600" h="287654">
                  <a:moveTo>
                    <a:pt x="1096924" y="0"/>
                  </a:moveTo>
                  <a:lnTo>
                    <a:pt x="822960" y="0"/>
                  </a:lnTo>
                  <a:lnTo>
                    <a:pt x="822960" y="287642"/>
                  </a:lnTo>
                  <a:lnTo>
                    <a:pt x="1096924" y="287642"/>
                  </a:lnTo>
                  <a:lnTo>
                    <a:pt x="1096924" y="0"/>
                  </a:lnTo>
                  <a:close/>
                </a:path>
                <a:path w="1371600" h="287654">
                  <a:moveTo>
                    <a:pt x="1371244" y="0"/>
                  </a:moveTo>
                  <a:lnTo>
                    <a:pt x="1097280" y="0"/>
                  </a:lnTo>
                  <a:lnTo>
                    <a:pt x="1097280" y="287642"/>
                  </a:lnTo>
                  <a:lnTo>
                    <a:pt x="1371244" y="287642"/>
                  </a:lnTo>
                  <a:lnTo>
                    <a:pt x="1371244" y="0"/>
                  </a:lnTo>
                  <a:close/>
                </a:path>
              </a:pathLst>
            </a:custGeom>
            <a:solidFill>
              <a:srgbClr val="92C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16474" y="4146842"/>
              <a:ext cx="1371600" cy="287655"/>
            </a:xfrm>
            <a:custGeom>
              <a:avLst/>
              <a:gdLst/>
              <a:ahLst/>
              <a:cxnLst/>
              <a:rect l="l" t="t" r="r" b="b"/>
              <a:pathLst>
                <a:path w="1371600" h="287654">
                  <a:moveTo>
                    <a:pt x="273964" y="0"/>
                  </a:moveTo>
                  <a:lnTo>
                    <a:pt x="0" y="0"/>
                  </a:lnTo>
                  <a:lnTo>
                    <a:pt x="0" y="287642"/>
                  </a:lnTo>
                  <a:lnTo>
                    <a:pt x="273964" y="287642"/>
                  </a:lnTo>
                  <a:lnTo>
                    <a:pt x="273964" y="0"/>
                  </a:lnTo>
                  <a:close/>
                </a:path>
                <a:path w="1371600" h="287654">
                  <a:moveTo>
                    <a:pt x="548284" y="0"/>
                  </a:moveTo>
                  <a:lnTo>
                    <a:pt x="274320" y="0"/>
                  </a:lnTo>
                  <a:lnTo>
                    <a:pt x="274320" y="287642"/>
                  </a:lnTo>
                  <a:lnTo>
                    <a:pt x="548284" y="287642"/>
                  </a:lnTo>
                  <a:lnTo>
                    <a:pt x="548284" y="0"/>
                  </a:lnTo>
                  <a:close/>
                </a:path>
                <a:path w="1371600" h="287654">
                  <a:moveTo>
                    <a:pt x="822604" y="0"/>
                  </a:moveTo>
                  <a:lnTo>
                    <a:pt x="548640" y="0"/>
                  </a:lnTo>
                  <a:lnTo>
                    <a:pt x="548640" y="287642"/>
                  </a:lnTo>
                  <a:lnTo>
                    <a:pt x="822604" y="287642"/>
                  </a:lnTo>
                  <a:lnTo>
                    <a:pt x="822604" y="0"/>
                  </a:lnTo>
                  <a:close/>
                </a:path>
                <a:path w="1371600" h="287654">
                  <a:moveTo>
                    <a:pt x="1096924" y="0"/>
                  </a:moveTo>
                  <a:lnTo>
                    <a:pt x="822960" y="0"/>
                  </a:lnTo>
                  <a:lnTo>
                    <a:pt x="822960" y="287642"/>
                  </a:lnTo>
                  <a:lnTo>
                    <a:pt x="1096924" y="287642"/>
                  </a:lnTo>
                  <a:lnTo>
                    <a:pt x="1096924" y="0"/>
                  </a:lnTo>
                  <a:close/>
                </a:path>
                <a:path w="1371600" h="287654">
                  <a:moveTo>
                    <a:pt x="1371244" y="0"/>
                  </a:moveTo>
                  <a:lnTo>
                    <a:pt x="1097280" y="0"/>
                  </a:lnTo>
                  <a:lnTo>
                    <a:pt x="1097280" y="287642"/>
                  </a:lnTo>
                  <a:lnTo>
                    <a:pt x="1371244" y="287642"/>
                  </a:lnTo>
                  <a:lnTo>
                    <a:pt x="1371244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1177952" y="2222245"/>
          <a:ext cx="6868151" cy="2207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8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4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7431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7495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7495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7431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7431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7876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331470">
                <a:tc gridSpan="2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 gridSpan="1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 grid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2C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2C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2C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2C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2C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30859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30859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30859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30859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30859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C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C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C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C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C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2058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2058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2058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2058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2058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0859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0859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0859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0859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0859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2C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2C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2C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2C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2C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560">
                <a:tc gridSpan="2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7DEE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7DEE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7DEE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7DEE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B7DEE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DBEDF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DBEDF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DBEDF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DBEDF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DBEDF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DB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" name="object 31"/>
          <p:cNvSpPr txBox="1"/>
          <p:nvPr/>
        </p:nvSpPr>
        <p:spPr>
          <a:xfrm>
            <a:off x="278688" y="3779225"/>
            <a:ext cx="64516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dirty="0">
                <a:latin typeface="Times New Roman"/>
                <a:cs typeface="Times New Roman"/>
              </a:rPr>
              <a:t>After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5 </a:t>
            </a:r>
            <a:r>
              <a:rPr sz="1400" spc="-50" dirty="0">
                <a:latin typeface="Times New Roman"/>
                <a:cs typeface="Times New Roman"/>
              </a:rPr>
              <a:t>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6801" y="2484841"/>
            <a:ext cx="657225" cy="124269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805"/>
              </a:spcBef>
            </a:pPr>
            <a:r>
              <a:rPr sz="1400" dirty="0">
                <a:latin typeface="Times New Roman"/>
                <a:cs typeface="Times New Roman"/>
              </a:rPr>
              <a:t>After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 </a:t>
            </a:r>
            <a:r>
              <a:rPr sz="1400" spc="-50" dirty="0">
                <a:latin typeface="Times New Roman"/>
                <a:cs typeface="Times New Roman"/>
              </a:rPr>
              <a:t>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400" dirty="0">
                <a:latin typeface="Times New Roman"/>
                <a:cs typeface="Times New Roman"/>
              </a:rPr>
              <a:t>After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 </a:t>
            </a:r>
            <a:r>
              <a:rPr sz="1400" spc="-50" dirty="0">
                <a:latin typeface="Times New Roman"/>
                <a:cs typeface="Times New Roman"/>
              </a:rPr>
              <a:t>s</a:t>
            </a:r>
            <a:endParaRPr sz="1400">
              <a:latin typeface="Times New Roman"/>
              <a:cs typeface="Times New Roman"/>
            </a:endParaRPr>
          </a:p>
          <a:p>
            <a:pPr marL="24130">
              <a:lnSpc>
                <a:spcPct val="100000"/>
              </a:lnSpc>
              <a:spcBef>
                <a:spcPts val="835"/>
              </a:spcBef>
            </a:pPr>
            <a:r>
              <a:rPr sz="1400" dirty="0">
                <a:latin typeface="Times New Roman"/>
                <a:cs typeface="Times New Roman"/>
              </a:rPr>
              <a:t>After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3 </a:t>
            </a:r>
            <a:r>
              <a:rPr sz="1400" spc="-50" dirty="0">
                <a:latin typeface="Times New Roman"/>
                <a:cs typeface="Times New Roman"/>
              </a:rPr>
              <a:t>s</a:t>
            </a:r>
            <a:endParaRPr sz="1400">
              <a:latin typeface="Times New Roman"/>
              <a:cs typeface="Times New Roman"/>
            </a:endParaRPr>
          </a:p>
          <a:p>
            <a:pPr marL="24130">
              <a:lnSpc>
                <a:spcPct val="100000"/>
              </a:lnSpc>
              <a:spcBef>
                <a:spcPts val="615"/>
              </a:spcBef>
            </a:pPr>
            <a:r>
              <a:rPr sz="1400" dirty="0">
                <a:latin typeface="Times New Roman"/>
                <a:cs typeface="Times New Roman"/>
              </a:rPr>
              <a:t>After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4 </a:t>
            </a:r>
            <a:r>
              <a:rPr sz="1400" spc="-50" dirty="0">
                <a:latin typeface="Times New Roman"/>
                <a:cs typeface="Times New Roman"/>
              </a:rPr>
              <a:t>s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Delay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811259" y="4978230"/>
            <a:ext cx="2540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151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6540" y="991422"/>
            <a:ext cx="8594725" cy="326072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405765" indent="-3422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405765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  <a:p>
            <a:pPr marL="807085" marR="17780" indent="-287020" algn="just">
              <a:lnSpc>
                <a:spcPct val="99000"/>
              </a:lnSpc>
              <a:spcBef>
                <a:spcPts val="500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-10" dirty="0">
                <a:latin typeface="Arial MT"/>
                <a:cs typeface="Arial MT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bandwidth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Mbps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pass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average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12,000 </a:t>
            </a:r>
            <a:r>
              <a:rPr sz="2000" dirty="0">
                <a:latin typeface="Times New Roman"/>
                <a:cs typeface="Times New Roman"/>
              </a:rPr>
              <a:t>frames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 minute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carrying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 average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10,000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bits.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What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throughput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network?</a:t>
            </a:r>
            <a:endParaRPr sz="20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475"/>
              </a:spcBef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>
              <a:latin typeface="Times New Roman"/>
              <a:cs typeface="Times New Roman"/>
            </a:endParaRPr>
          </a:p>
          <a:p>
            <a:pPr marL="4057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405765" algn="l"/>
              </a:tabLst>
            </a:pPr>
            <a:r>
              <a:rPr sz="2400" spc="-65" dirty="0">
                <a:latin typeface="Times New Roman"/>
                <a:cs typeface="Times New Roman"/>
              </a:rPr>
              <a:t>We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calculate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throughput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as</a:t>
            </a:r>
            <a:endParaRPr sz="2400">
              <a:latin typeface="Times New Roman"/>
              <a:cs typeface="Times New Roman"/>
            </a:endParaRPr>
          </a:p>
          <a:p>
            <a:pPr marR="447040" algn="ctr">
              <a:lnSpc>
                <a:spcPct val="100000"/>
              </a:lnSpc>
              <a:spcBef>
                <a:spcPts val="1180"/>
              </a:spcBef>
            </a:pPr>
            <a:r>
              <a:rPr sz="1800" dirty="0">
                <a:latin typeface="Times New Roman"/>
                <a:cs typeface="Times New Roman"/>
              </a:rPr>
              <a:t>Throughput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(12000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10000)/60</a:t>
            </a:r>
            <a:endParaRPr sz="1800">
              <a:latin typeface="Times New Roman"/>
              <a:cs typeface="Times New Roman"/>
            </a:endParaRPr>
          </a:p>
          <a:p>
            <a:pPr marR="469900" algn="ctr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10</a:t>
            </a:r>
            <a:r>
              <a:rPr sz="1800" spc="-37" baseline="25462" dirty="0">
                <a:latin typeface="Times New Roman"/>
                <a:cs typeface="Times New Roman"/>
              </a:rPr>
              <a:t>6</a:t>
            </a:r>
            <a:endParaRPr sz="1800" baseline="25462">
              <a:latin typeface="Times New Roman"/>
              <a:cs typeface="Times New Roman"/>
            </a:endParaRPr>
          </a:p>
          <a:p>
            <a:pPr marR="426084"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Mbps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Delay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6540" y="991422"/>
            <a:ext cx="8604885" cy="298005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405765" indent="-3422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405765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  <a:p>
            <a:pPr marL="520700">
              <a:lnSpc>
                <a:spcPts val="2375"/>
              </a:lnSpc>
              <a:spcBef>
                <a:spcPts val="475"/>
              </a:spcBef>
              <a:tabLst>
                <a:tab pos="8070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What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propagation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distance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points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</a:t>
            </a:r>
            <a:endParaRPr sz="2000">
              <a:latin typeface="Times New Roman"/>
              <a:cs typeface="Times New Roman"/>
            </a:endParaRPr>
          </a:p>
          <a:p>
            <a:pPr marL="807085">
              <a:lnSpc>
                <a:spcPts val="2375"/>
              </a:lnSpc>
            </a:pPr>
            <a:r>
              <a:rPr sz="2000" dirty="0">
                <a:latin typeface="Times New Roman"/>
                <a:cs typeface="Times New Roman"/>
              </a:rPr>
              <a:t>12,000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km?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Assume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propagation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2.4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×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1950" baseline="25641" dirty="0">
                <a:latin typeface="Times New Roman"/>
                <a:cs typeface="Times New Roman"/>
              </a:rPr>
              <a:t>8</a:t>
            </a:r>
            <a:r>
              <a:rPr sz="1950" spc="209" baseline="2564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m/s in</a:t>
            </a:r>
            <a:r>
              <a:rPr sz="2000" spc="-10" dirty="0">
                <a:latin typeface="Times New Roman"/>
                <a:cs typeface="Times New Roman"/>
              </a:rPr>
              <a:t> cable</a:t>
            </a:r>
            <a:endParaRPr sz="20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475"/>
              </a:spcBef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>
              <a:latin typeface="Times New Roman"/>
              <a:cs typeface="Times New Roman"/>
            </a:endParaRPr>
          </a:p>
          <a:p>
            <a:pPr marL="4057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405765" algn="l"/>
              </a:tabLst>
            </a:pPr>
            <a:r>
              <a:rPr sz="2400" spc="-70" dirty="0">
                <a:latin typeface="Times New Roman"/>
                <a:cs typeface="Times New Roman"/>
              </a:rPr>
              <a:t>We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calculate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propagation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as</a:t>
            </a:r>
            <a:endParaRPr sz="2400">
              <a:latin typeface="Times New Roman"/>
              <a:cs typeface="Times New Roman"/>
            </a:endParaRPr>
          </a:p>
          <a:p>
            <a:pPr marL="713105" algn="ctr">
              <a:lnSpc>
                <a:spcPct val="100000"/>
              </a:lnSpc>
              <a:spcBef>
                <a:spcPts val="1375"/>
              </a:spcBef>
            </a:pPr>
            <a:r>
              <a:rPr sz="1800" spc="-10" dirty="0">
                <a:latin typeface="Times New Roman"/>
                <a:cs typeface="Times New Roman"/>
              </a:rPr>
              <a:t>Propagation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Time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(12000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1000)/(2.4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10</a:t>
            </a:r>
            <a:r>
              <a:rPr sz="1800" spc="-30" baseline="25462" dirty="0">
                <a:latin typeface="Times New Roman"/>
                <a:cs typeface="Times New Roman"/>
              </a:rPr>
              <a:t>8</a:t>
            </a:r>
            <a:r>
              <a:rPr sz="1800" spc="-20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550545" algn="ctr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0.05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  <a:p>
            <a:pPr marL="554355" algn="ctr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50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ms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Delay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4640" y="991422"/>
            <a:ext cx="8556625" cy="1736089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67665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  <a:p>
            <a:pPr marL="768985" marR="17780" indent="-287020" algn="just">
              <a:lnSpc>
                <a:spcPct val="99300"/>
              </a:lnSpc>
              <a:spcBef>
                <a:spcPts val="490"/>
              </a:spcBef>
            </a:pPr>
            <a:r>
              <a:rPr sz="2000" dirty="0">
                <a:latin typeface="Arial MT"/>
                <a:cs typeface="Arial MT"/>
              </a:rPr>
              <a:t>–  </a:t>
            </a:r>
            <a:r>
              <a:rPr sz="2000" dirty="0">
                <a:latin typeface="Times New Roman"/>
                <a:cs typeface="Times New Roman"/>
              </a:rPr>
              <a:t>What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propagation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transmission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2.5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KB </a:t>
            </a:r>
            <a:r>
              <a:rPr sz="2000" dirty="0">
                <a:latin typeface="Times New Roman"/>
                <a:cs typeface="Times New Roman"/>
              </a:rPr>
              <a:t>message  if  the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bandwidth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is  1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Gbps?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Assume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that 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distance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receiver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12,000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km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light </a:t>
            </a:r>
            <a:r>
              <a:rPr sz="2000" dirty="0">
                <a:latin typeface="Times New Roman"/>
                <a:cs typeface="Times New Roman"/>
              </a:rPr>
              <a:t>travels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2.4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×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1950" baseline="25641" dirty="0">
                <a:latin typeface="Times New Roman"/>
                <a:cs typeface="Times New Roman"/>
              </a:rPr>
              <a:t>8</a:t>
            </a:r>
            <a:r>
              <a:rPr sz="1950" spc="225" baseline="25641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m/s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340" y="2762504"/>
            <a:ext cx="1059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44775" y="2978911"/>
            <a:ext cx="4465955" cy="1687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Propagation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Time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(12000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1000)/(2.4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10</a:t>
            </a:r>
            <a:r>
              <a:rPr sz="1800" spc="-30" baseline="25462" dirty="0">
                <a:latin typeface="Times New Roman"/>
                <a:cs typeface="Times New Roman"/>
              </a:rPr>
              <a:t>8</a:t>
            </a:r>
            <a:r>
              <a:rPr sz="1800" spc="-20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182372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0.05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  <a:p>
            <a:pPr marL="182372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50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ms</a:t>
            </a:r>
            <a:endParaRPr sz="1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800" spc="-10" dirty="0">
                <a:latin typeface="Times New Roman"/>
                <a:cs typeface="Times New Roman"/>
              </a:rPr>
              <a:t>Transmission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Time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(2.5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</a:t>
            </a:r>
            <a:r>
              <a:rPr sz="1800" baseline="25462" dirty="0">
                <a:latin typeface="Times New Roman"/>
                <a:cs typeface="Times New Roman"/>
              </a:rPr>
              <a:t>3</a:t>
            </a:r>
            <a:r>
              <a:rPr sz="1800" spc="202" baseline="25462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8)/(10</a:t>
            </a:r>
            <a:r>
              <a:rPr sz="1800" spc="-15" baseline="25462" dirty="0">
                <a:latin typeface="Times New Roman"/>
                <a:cs typeface="Times New Roman"/>
              </a:rPr>
              <a:t>9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186245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20000/10</a:t>
            </a:r>
            <a:r>
              <a:rPr sz="1800" spc="-15" baseline="25462" dirty="0">
                <a:latin typeface="Times New Roman"/>
                <a:cs typeface="Times New Roman"/>
              </a:rPr>
              <a:t>9</a:t>
            </a:r>
            <a:endParaRPr sz="1800" baseline="25462">
              <a:latin typeface="Times New Roman"/>
              <a:cs typeface="Times New Roman"/>
            </a:endParaRPr>
          </a:p>
          <a:p>
            <a:pPr marL="186245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0.00002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0.02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ms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17" y="19037"/>
            <a:ext cx="9158605" cy="871219"/>
            <a:chOff x="-6917" y="19037"/>
            <a:chExt cx="9158605" cy="871219"/>
          </a:xfrm>
        </p:grpSpPr>
        <p:sp>
          <p:nvSpPr>
            <p:cNvPr id="3" name="object 3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9145778" y="0"/>
                  </a:moveTo>
                  <a:lnTo>
                    <a:pt x="0" y="0"/>
                  </a:lnTo>
                  <a:lnTo>
                    <a:pt x="0" y="35999"/>
                  </a:lnTo>
                  <a:lnTo>
                    <a:pt x="9145778" y="35999"/>
                  </a:lnTo>
                  <a:lnTo>
                    <a:pt x="9145778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567" y="847539"/>
              <a:ext cx="9145905" cy="36195"/>
            </a:xfrm>
            <a:custGeom>
              <a:avLst/>
              <a:gdLst/>
              <a:ahLst/>
              <a:cxnLst/>
              <a:rect l="l" t="t" r="r" b="b"/>
              <a:pathLst>
                <a:path w="9145905" h="36194">
                  <a:moveTo>
                    <a:pt x="0" y="35999"/>
                  </a:moveTo>
                  <a:lnTo>
                    <a:pt x="9145778" y="35999"/>
                  </a:lnTo>
                  <a:lnTo>
                    <a:pt x="9145778" y="0"/>
                  </a:lnTo>
                  <a:lnTo>
                    <a:pt x="0" y="0"/>
                  </a:lnTo>
                  <a:lnTo>
                    <a:pt x="0" y="35999"/>
                  </a:lnTo>
                  <a:close/>
                </a:path>
              </a:pathLst>
            </a:custGeom>
            <a:ln w="12700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0178" y="19037"/>
              <a:ext cx="831278" cy="80633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Delay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4640" y="991422"/>
            <a:ext cx="8556625" cy="1736089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67665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  <a:p>
            <a:pPr marL="768985" marR="17780" indent="-287020" algn="just">
              <a:lnSpc>
                <a:spcPct val="99300"/>
              </a:lnSpc>
              <a:spcBef>
                <a:spcPts val="490"/>
              </a:spcBef>
            </a:pPr>
            <a:r>
              <a:rPr sz="2000" dirty="0">
                <a:latin typeface="Arial MT"/>
                <a:cs typeface="Arial MT"/>
              </a:rPr>
              <a:t>–  </a:t>
            </a:r>
            <a:r>
              <a:rPr sz="2000" dirty="0">
                <a:latin typeface="Times New Roman"/>
                <a:cs typeface="Times New Roman"/>
              </a:rPr>
              <a:t>What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propagation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transmission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  5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MB </a:t>
            </a:r>
            <a:r>
              <a:rPr sz="2000" dirty="0">
                <a:latin typeface="Times New Roman"/>
                <a:cs typeface="Times New Roman"/>
              </a:rPr>
              <a:t>message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bandwidth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Mbps?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Assume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distance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receiver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12,000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km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light </a:t>
            </a:r>
            <a:r>
              <a:rPr sz="2000" dirty="0">
                <a:latin typeface="Times New Roman"/>
                <a:cs typeface="Times New Roman"/>
              </a:rPr>
              <a:t>travels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2.4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×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1950" baseline="25641" dirty="0">
                <a:latin typeface="Times New Roman"/>
                <a:cs typeface="Times New Roman"/>
              </a:rPr>
              <a:t>8</a:t>
            </a:r>
            <a:r>
              <a:rPr sz="1950" spc="225" baseline="25641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m/s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340" y="2762504"/>
            <a:ext cx="1059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20594" y="2978911"/>
            <a:ext cx="43897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Propagation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Time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(12000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1000)/(2.4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10</a:t>
            </a:r>
            <a:r>
              <a:rPr sz="1800" spc="-30" baseline="25462" dirty="0">
                <a:latin typeface="Times New Roman"/>
                <a:cs typeface="Times New Roman"/>
              </a:rPr>
              <a:t>8</a:t>
            </a:r>
            <a:r>
              <a:rPr sz="1800" spc="-20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R="151130" algn="ctr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50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ms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44775" y="3817416"/>
            <a:ext cx="37299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Transmission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Time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(5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</a:t>
            </a:r>
            <a:r>
              <a:rPr sz="1800" baseline="25462" dirty="0">
                <a:latin typeface="Times New Roman"/>
                <a:cs typeface="Times New Roman"/>
              </a:rPr>
              <a:t>6</a:t>
            </a:r>
            <a:r>
              <a:rPr sz="1800" spc="202" baseline="25462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8)/(10</a:t>
            </a:r>
            <a:r>
              <a:rPr sz="1800" spc="-15" baseline="25462" dirty="0">
                <a:latin typeface="Times New Roman"/>
                <a:cs typeface="Times New Roman"/>
              </a:rPr>
              <a:t>6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553720" algn="ctr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40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18786</TotalTime>
  <Words>4516</Words>
  <Application>Microsoft Office PowerPoint</Application>
  <PresentationFormat>On-screen Show (16:9)</PresentationFormat>
  <Paragraphs>1149</Paragraphs>
  <Slides>156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156</vt:i4>
      </vt:variant>
    </vt:vector>
  </HeadingPairs>
  <TitlesOfParts>
    <vt:vector size="160" baseType="lpstr">
      <vt:lpstr>Arial MT</vt:lpstr>
      <vt:lpstr>Calibri</vt:lpstr>
      <vt:lpstr>Times New Roman</vt:lpstr>
      <vt:lpstr>Office Theme</vt:lpstr>
      <vt:lpstr>GLA UNIVERSITY</vt:lpstr>
      <vt:lpstr>Outline</vt:lpstr>
      <vt:lpstr>Introduction Concepts</vt:lpstr>
      <vt:lpstr>Introduction</vt:lpstr>
      <vt:lpstr>Introduction</vt:lpstr>
      <vt:lpstr>Goals of network</vt:lpstr>
      <vt:lpstr>Application of network</vt:lpstr>
      <vt:lpstr>Network architecture</vt:lpstr>
      <vt:lpstr>Network architecture</vt:lpstr>
      <vt:lpstr>P2P architecture</vt:lpstr>
      <vt:lpstr>P2P architecture</vt:lpstr>
      <vt:lpstr>Client-Server architecture</vt:lpstr>
      <vt:lpstr>Client-Server architecture</vt:lpstr>
      <vt:lpstr>Network topology</vt:lpstr>
      <vt:lpstr>Network topology</vt:lpstr>
      <vt:lpstr>Network topology</vt:lpstr>
      <vt:lpstr>Network topology</vt:lpstr>
      <vt:lpstr>Network topology</vt:lpstr>
      <vt:lpstr>Network topology</vt:lpstr>
      <vt:lpstr>Network Technologies</vt:lpstr>
      <vt:lpstr>Network Technologies</vt:lpstr>
      <vt:lpstr>Network Technologies</vt:lpstr>
      <vt:lpstr>Network Technologies</vt:lpstr>
      <vt:lpstr>Network Technologies</vt:lpstr>
      <vt:lpstr>Network Technologies</vt:lpstr>
      <vt:lpstr>What is a network?</vt:lpstr>
      <vt:lpstr>Why Layered Architecture?</vt:lpstr>
      <vt:lpstr>OSI reference model</vt:lpstr>
      <vt:lpstr>OSI reference model (terminology)</vt:lpstr>
      <vt:lpstr>OSI reference model</vt:lpstr>
      <vt:lpstr>OSI reference model and its services</vt:lpstr>
      <vt:lpstr>OSI reference model and its services</vt:lpstr>
      <vt:lpstr>OSI reference model and its services</vt:lpstr>
      <vt:lpstr>OSI reference model and its services</vt:lpstr>
      <vt:lpstr>OSI reference model and its services</vt:lpstr>
      <vt:lpstr>OSI reference model and its services</vt:lpstr>
      <vt:lpstr>OSI reference model and its services</vt:lpstr>
      <vt:lpstr>OSI reference model and its services (in brief)</vt:lpstr>
      <vt:lpstr>OSI reference model and its services (review)</vt:lpstr>
      <vt:lpstr>OSI reference model and its services (review)</vt:lpstr>
      <vt:lpstr>OSI reference model and its services (review)</vt:lpstr>
      <vt:lpstr>OSI reference model and its services (review)</vt:lpstr>
      <vt:lpstr>OSI reference model and its services (review)</vt:lpstr>
      <vt:lpstr>OSI reference model and its services (review)</vt:lpstr>
      <vt:lpstr>OSI reference model and its services (review)</vt:lpstr>
      <vt:lpstr>OSI reference model and its services (review)</vt:lpstr>
      <vt:lpstr>OSI reference model and its services (review)</vt:lpstr>
      <vt:lpstr>OSI reference model and its services (review)</vt:lpstr>
      <vt:lpstr>OSI reference model and its services (review)</vt:lpstr>
      <vt:lpstr>OSI reference model and its services (review)</vt:lpstr>
      <vt:lpstr>OSI reference model and its services (review)</vt:lpstr>
      <vt:lpstr>OSI reference model and its services (review)</vt:lpstr>
      <vt:lpstr>OSI reference model and its services (review)</vt:lpstr>
      <vt:lpstr>OSI reference model and its services (review)</vt:lpstr>
      <vt:lpstr>OSI reference model and its services (review)</vt:lpstr>
      <vt:lpstr>An exchange using OSI reference model</vt:lpstr>
      <vt:lpstr>TCP/IP reference model</vt:lpstr>
      <vt:lpstr>TCP/IP reference model</vt:lpstr>
      <vt:lpstr>TCP/IP reference model</vt:lpstr>
      <vt:lpstr>Transmission Mode</vt:lpstr>
      <vt:lpstr>Transmission Mode</vt:lpstr>
      <vt:lpstr>Transmission Mode</vt:lpstr>
      <vt:lpstr>Transmission Mode</vt:lpstr>
      <vt:lpstr>Networking Hardware</vt:lpstr>
      <vt:lpstr>Networking Hardware</vt:lpstr>
      <vt:lpstr>Networking Hardware</vt:lpstr>
      <vt:lpstr>Networking Hardware</vt:lpstr>
      <vt:lpstr>Networking Hardware</vt:lpstr>
      <vt:lpstr>Networking Hardware</vt:lpstr>
      <vt:lpstr>Networking Hardware</vt:lpstr>
      <vt:lpstr>Networking Hardware</vt:lpstr>
      <vt:lpstr>Networking Hardware</vt:lpstr>
      <vt:lpstr>Networking Hardware</vt:lpstr>
      <vt:lpstr>Networking Hardware</vt:lpstr>
      <vt:lpstr>Difference</vt:lpstr>
      <vt:lpstr>Difference</vt:lpstr>
      <vt:lpstr>Addressing</vt:lpstr>
      <vt:lpstr>Addressing</vt:lpstr>
      <vt:lpstr>Addressing</vt:lpstr>
      <vt:lpstr>Addressing</vt:lpstr>
      <vt:lpstr>Addressing</vt:lpstr>
      <vt:lpstr>Addressing</vt:lpstr>
      <vt:lpstr>Addressing</vt:lpstr>
      <vt:lpstr>Addressing</vt:lpstr>
      <vt:lpstr>Analog and Digital data</vt:lpstr>
      <vt:lpstr>Data and Signals</vt:lpstr>
      <vt:lpstr>Analog and Digital signal</vt:lpstr>
      <vt:lpstr>Difference</vt:lpstr>
      <vt:lpstr>Periodic and Non-periodic</vt:lpstr>
      <vt:lpstr>Periodic and Non-periodic</vt:lpstr>
      <vt:lpstr>Periodic and Non-periodic</vt:lpstr>
      <vt:lpstr>Periodic and Non-periodic</vt:lpstr>
      <vt:lpstr>Signal</vt:lpstr>
      <vt:lpstr>Units of period and frequency</vt:lpstr>
      <vt:lpstr>PowerPoint Presentation</vt:lpstr>
      <vt:lpstr>PowerPoint Presentation</vt:lpstr>
      <vt:lpstr>The power we use at home has a frequency of 60 Hz. What is the period of that wave?</vt:lpstr>
      <vt:lpstr>The period of a signal is 100 ms. What is its frequency in kilohertz?.</vt:lpstr>
      <vt:lpstr>Frequency</vt:lpstr>
      <vt:lpstr>Phase</vt:lpstr>
      <vt:lpstr>Phase</vt:lpstr>
      <vt:lpstr>Application of Simple Signals</vt:lpstr>
      <vt:lpstr>Signals and Communication</vt:lpstr>
      <vt:lpstr>Composite Signals and Periodicity</vt:lpstr>
      <vt:lpstr>Composite Period Signal</vt:lpstr>
      <vt:lpstr>Decomposition of a composite periodic signal</vt:lpstr>
      <vt:lpstr>Decomposition of a composite non-periodic signal</vt:lpstr>
      <vt:lpstr>Bandwidth</vt:lpstr>
      <vt:lpstr>Bandwidth</vt:lpstr>
      <vt:lpstr>Bandwidth</vt:lpstr>
      <vt:lpstr>Bandwidth</vt:lpstr>
      <vt:lpstr>Bandwidth</vt:lpstr>
      <vt:lpstr>Bandwidth</vt:lpstr>
      <vt:lpstr>Fourier Analysis</vt:lpstr>
      <vt:lpstr>Digital Signals</vt:lpstr>
      <vt:lpstr>Digital Signal</vt:lpstr>
      <vt:lpstr>Digital Signal</vt:lpstr>
      <vt:lpstr>Digital Signal</vt:lpstr>
      <vt:lpstr>Digital Signal</vt:lpstr>
      <vt:lpstr>Bit Rate</vt:lpstr>
      <vt:lpstr>Transmission Impairment</vt:lpstr>
      <vt:lpstr>Impairment</vt:lpstr>
      <vt:lpstr>Impairment</vt:lpstr>
      <vt:lpstr>Impairment</vt:lpstr>
      <vt:lpstr>Impairment</vt:lpstr>
      <vt:lpstr>Impairment</vt:lpstr>
      <vt:lpstr>Impairment</vt:lpstr>
      <vt:lpstr>Impairment</vt:lpstr>
      <vt:lpstr>Impairment</vt:lpstr>
      <vt:lpstr>Impairment</vt:lpstr>
      <vt:lpstr>Impairment</vt:lpstr>
      <vt:lpstr>Impairment</vt:lpstr>
      <vt:lpstr>Two cases of SNR: a high SNR and a low SNR</vt:lpstr>
      <vt:lpstr>How to Calculate SNR</vt:lpstr>
      <vt:lpstr>SNR</vt:lpstr>
      <vt:lpstr>SNR</vt:lpstr>
      <vt:lpstr>Noiseless Channel: Nyquist Rate</vt:lpstr>
      <vt:lpstr>Nyquist Rate</vt:lpstr>
      <vt:lpstr>Nyquist Rate</vt:lpstr>
      <vt:lpstr>Noisy Channel: Shannon Capacity</vt:lpstr>
      <vt:lpstr>Noisy Channel: Shannon Capacity</vt:lpstr>
      <vt:lpstr>Noisy Channel: Shannon Capacity</vt:lpstr>
      <vt:lpstr>Noisy Channel: Shannon Capacity</vt:lpstr>
      <vt:lpstr>Latency or Delay</vt:lpstr>
      <vt:lpstr>Types of delay</vt:lpstr>
      <vt:lpstr>Types of delay</vt:lpstr>
      <vt:lpstr>Bandwidth</vt:lpstr>
      <vt:lpstr>Bandwidth</vt:lpstr>
      <vt:lpstr>Throughput</vt:lpstr>
      <vt:lpstr>Bandwidth-Delay</vt:lpstr>
      <vt:lpstr>Bandwidth-Delay</vt:lpstr>
      <vt:lpstr>Bandwidth-Delay</vt:lpstr>
      <vt:lpstr>Delay</vt:lpstr>
      <vt:lpstr>Delay</vt:lpstr>
      <vt:lpstr>Delay</vt:lpstr>
      <vt:lpstr>Delay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RadheyKrishna</dc:creator>
  <cp:lastModifiedBy>Admin</cp:lastModifiedBy>
  <cp:revision>5</cp:revision>
  <dcterms:created xsi:type="dcterms:W3CDTF">2024-08-06T04:49:46Z</dcterms:created>
  <dcterms:modified xsi:type="dcterms:W3CDTF">2025-01-10T07:15:24Z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2021-10-03T00:00:00Z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2024-08-06T00:00:00Z</vt:filetime>
  </property>
  <property fmtid="{D5CDD505-2E9C-101B-9397-08002B2CF9AE}" pid="5" name="Producer">
    <vt:lpwstr>Microsoft® Office PowerPoint® 2007</vt:lpwstr>
  </property>
</Properties>
</file>
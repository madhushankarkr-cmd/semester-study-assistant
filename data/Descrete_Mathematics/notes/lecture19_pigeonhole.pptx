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72" r:id="rId4"/>
    <p:sldId id="270" r:id="rId5"/>
    <p:sldId id="263" r:id="rId6"/>
    <p:sldId id="264" r:id="rId7"/>
    <p:sldId id="267" r:id="rId8"/>
    <p:sldId id="268" r:id="rId9"/>
    <p:sldId id="259" r:id="rId10"/>
    <p:sldId id="260" r:id="rId11"/>
    <p:sldId id="265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2158D-B949-486B-AA81-55B5A49A8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D85D2-A0DA-4C52-B2CF-E3B06FA67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D46FF9-225D-4422-A32E-163F9B08F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5960F-BF5C-4D84-8537-84FAF1F54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3EDF9-F614-4748-86E7-5242C8AC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9821-B37D-4C84-A443-F2B5DE16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F8143-E6A4-4901-817C-900C38638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396EA-CD34-4920-93BA-43A5B4872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671B0-32BD-4C58-B49A-A2B3E1706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8B47A-7782-4596-B192-13B66AC7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911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AFA2D-C96F-432B-AEF8-494EA672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3D5766-E5FA-4D3D-A731-83F7ED6A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B5ED8-1101-4C6A-959F-649F2EE51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DAD71-CB56-4585-87F2-96CB321F1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485BC-9807-4245-A009-37ADE8177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02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17125-8901-4A52-9156-564DBFC61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5E747-0596-43A1-988D-07664B0F25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F7755A-727C-4AE9-9D8B-CCE98309E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7B882-318B-4D81-80E2-87B2B1DA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6B29E-9E5F-4155-912D-F644A6D21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1D1EC-B696-4653-9AA7-24C455317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3647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03E3-A80A-47D2-8CF5-68C0E35B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8C7B8-357B-4D81-9131-224A71A63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F39DA-07D9-4175-BBA3-5AEA86040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654F8-F289-4281-9FD2-D9AD15BC2F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C91A23-CA2E-47DA-AB51-15F476D3A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FD723B-3E15-4567-9A04-0ED67F089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17AF0-99CF-4D49-9E0A-2744A739B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E9978F-EAEE-4B22-83EA-4E4A16253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46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3F208-0ED4-448E-81E0-9F30CA157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4CC565-D2B1-45AA-98CF-A99D398C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C8D17-49A7-4D28-8E3A-BAD0ACA05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6B5AF0-0418-4C55-88F0-6C27287D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6270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D6DCE6-A64A-4BA5-A959-3F93C8624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B86CA1-C362-4E2D-A712-133B70BF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E569-EE87-4D49-A18A-7BA9A153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3306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A20EB-9AB9-4A18-987E-67C5481C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E2B36-93CE-4CC7-8F51-66CBE216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6F03F-A09B-4554-83F8-FD18F2EEE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060DC2-1AEC-4F5B-B99C-8D0CF117E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F846A-DE07-4258-8000-358561D50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C7BB3-A3FB-4521-B945-61862F2A7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858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E1AA-2AC3-4FA7-AC60-1FB2F53D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CD554C-6D15-4C6F-8759-04B0FC8EB6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6EF80E-4137-47C1-BA69-04085DF90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BB2B92-8F64-47C0-8EE2-99E8E5CD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794461-38DE-47E8-BF42-D0E6B449F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AF397-DF80-415B-8904-D3D72854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15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DBEE-E4D1-49B2-884E-74C00346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0422918-2245-492D-905E-DF71DAA5A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CEA67-0FA1-4218-AB7B-F630EBDAC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C60A7-0C48-449D-B96F-75D5244EB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B534-29B5-494C-894F-C6030EE9D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51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3B2BF0-9C49-4B95-A66B-E17A22B7CD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CD468C-A6A5-4111-9FF0-E9F61B8FF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F7F3E-CAEB-40E5-BA51-8BD5AB60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3CB52-9574-4AFC-920F-80266E363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13BD0-8198-40A7-B776-D25A2B608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228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2304EE-DB91-4EC6-9765-BFF5E32EB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1C1FFC-C877-4441-A03B-83940F34F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7C6A8-7490-497E-88F4-5D83E169FC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515A0-E2A4-42FB-B102-F092FC12D6EB}" type="datetimeFigureOut">
              <a:rPr lang="en-IN" smtClean="0"/>
              <a:t>10-09-2020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0A34A-664C-4CD8-80AE-876858D06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B02C6-FE06-4FB8-852B-55F4A1633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78067-9CD1-49E6-9219-147EA67D8DF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22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3E0A-BCFA-4CCB-AAB1-1AC1AC8E1E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BCSC0010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0BCE1-2001-4D6A-8AF3-40E100FF7F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567943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200" dirty="0"/>
          </a:p>
          <a:p>
            <a:r>
              <a:rPr lang="en-IN" sz="5200" dirty="0"/>
              <a:t>Pigeonhole Principle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468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018A-9CF2-4B5C-876D-11B38E6D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u="none" strike="noStrike" baseline="0" dirty="0">
                <a:latin typeface="Times-Bold"/>
              </a:rPr>
              <a:t>Pigeonhole Principle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9D92E-88E3-43A4-AA25-C2D14CD14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3600" b="0" i="0" u="none" strike="noStrike" baseline="0" dirty="0">
                <a:latin typeface="Times-Roman"/>
              </a:rPr>
              <a:t>If </a:t>
            </a:r>
            <a:r>
              <a:rPr lang="en-US" sz="3600" b="0" i="1" u="none" strike="noStrike" baseline="0" dirty="0">
                <a:latin typeface="Times-Italic"/>
              </a:rPr>
              <a:t>n </a:t>
            </a:r>
            <a:r>
              <a:rPr lang="en-US" sz="3600" b="0" u="none" strike="noStrike" baseline="0" dirty="0">
                <a:latin typeface="Times-Italic"/>
              </a:rPr>
              <a:t>is a positive integer and </a:t>
            </a:r>
            <a:r>
              <a:rPr lang="en-US" sz="3600" b="0" u="none" strike="noStrike" baseline="0" dirty="0">
                <a:latin typeface="Times-Roman"/>
              </a:rPr>
              <a:t> </a:t>
            </a:r>
            <a:r>
              <a:rPr lang="en-US" sz="3600" b="0" i="1" u="none" strike="noStrike" baseline="0" dirty="0">
                <a:latin typeface="MTMI"/>
              </a:rPr>
              <a:t>n </a:t>
            </a:r>
            <a:r>
              <a:rPr lang="en-US" sz="3600" b="0" i="0" u="none" strike="noStrike" baseline="0" dirty="0">
                <a:latin typeface="MTSYN"/>
              </a:rPr>
              <a:t>+ </a:t>
            </a:r>
            <a:r>
              <a:rPr lang="en-US" sz="3600" b="0" i="0" u="none" strike="noStrike" baseline="0" dirty="0">
                <a:latin typeface="Times-Roman"/>
              </a:rPr>
              <a:t>1 or more objects (pigeons) are placed into n boxes (pigeonholes) , then there </a:t>
            </a:r>
            <a:r>
              <a:rPr lang="en-US" sz="3600" dirty="0">
                <a:latin typeface="Times-Roman"/>
              </a:rPr>
              <a:t>will be </a:t>
            </a:r>
            <a:r>
              <a:rPr lang="en-US" sz="3600" b="0" i="0" u="none" strike="noStrike" baseline="0" dirty="0">
                <a:latin typeface="Times-Roman"/>
              </a:rPr>
              <a:t>at least one box containing two or more of the objects. </a:t>
            </a:r>
          </a:p>
          <a:p>
            <a:pPr algn="just"/>
            <a:endParaRPr lang="en-US" b="0" i="0" u="none" strike="noStrike" baseline="0" dirty="0">
              <a:latin typeface="Times-Roman"/>
            </a:endParaRPr>
          </a:p>
          <a:p>
            <a:pPr algn="l"/>
            <a:endParaRPr lang="en-IN" sz="1800" dirty="0">
              <a:latin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4089364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5D2A4A-21B4-462C-84D6-E0039231A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2301" y="1908152"/>
            <a:ext cx="8940185" cy="439499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CD7BCDA-2E96-41D7-AA50-FD33BD6286DF}"/>
              </a:ext>
            </a:extLst>
          </p:cNvPr>
          <p:cNvSpPr txBox="1"/>
          <p:nvPr/>
        </p:nvSpPr>
        <p:spPr>
          <a:xfrm>
            <a:off x="1555811" y="814071"/>
            <a:ext cx="6094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i="0" u="none" strike="noStrike" baseline="0" dirty="0">
                <a:latin typeface="Times-Bold"/>
              </a:rPr>
              <a:t>Pigeonhole Principle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557806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B4B60-35C9-4DAE-BF77-D14E2AB8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baseline="0" dirty="0">
                <a:latin typeface="Times-Roman"/>
              </a:rPr>
              <a:t>Example </a:t>
            </a:r>
            <a:br>
              <a:rPr lang="en-US" b="1" i="0" u="none" strike="noStrike" baseline="0" dirty="0">
                <a:latin typeface="Times-Roman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225DB-407B-43E4-BA4C-5ED661C3E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0" i="0" u="none" strike="noStrike" baseline="0" dirty="0">
                <a:latin typeface="Times-Roman"/>
              </a:rPr>
              <a:t>Suppose a class contains 13 students, then at least two of the students (pigeons) were born in the same </a:t>
            </a:r>
            <a:r>
              <a:rPr lang="en-IN" sz="3200" b="0" i="0" u="none" strike="noStrike" baseline="0" dirty="0">
                <a:latin typeface="Times-Roman"/>
              </a:rPr>
              <a:t>month (pigeonholes).</a:t>
            </a:r>
          </a:p>
          <a:p>
            <a:pPr algn="just"/>
            <a:endParaRPr lang="en-IN" sz="3200" b="0" i="0" u="none" strike="noStrike" baseline="0" dirty="0">
              <a:latin typeface="Times-Roman"/>
            </a:endParaRPr>
          </a:p>
          <a:p>
            <a:pPr algn="just"/>
            <a:r>
              <a:rPr lang="en-IN" sz="3200" dirty="0">
                <a:latin typeface="Times-Roman"/>
              </a:rPr>
              <a:t>Among 27 English words, at least 2 words begin with same letter</a:t>
            </a:r>
            <a:endParaRPr lang="en-IN" sz="3200" b="0" i="0" u="none" strike="noStrike" baseline="0" dirty="0">
              <a:latin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3219192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C3059-5B75-4C6B-8DF7-68D5BC1BD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CAA3E-5592-4301-8014-CCC12F64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Grade scale 0,……,100 points</a:t>
            </a:r>
          </a:p>
          <a:p>
            <a:r>
              <a:rPr lang="en-IN" dirty="0"/>
              <a:t>How many students must be in a class to guarantee that at least two students receive the same score in the final exam</a:t>
            </a:r>
          </a:p>
          <a:p>
            <a:endParaRPr lang="en-IN" dirty="0"/>
          </a:p>
          <a:p>
            <a:r>
              <a:rPr lang="en-IN" dirty="0"/>
              <a:t>Total grades: 101 points</a:t>
            </a:r>
          </a:p>
          <a:p>
            <a:r>
              <a:rPr lang="en-IN" dirty="0"/>
              <a:t>Minimum 102 students must be there so that at least two students receive the same score in the final exam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9485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09B2-A9B8-4BB5-952C-709D722C8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029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Generalized Pigeon Hole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93D29-4733-41A1-88BC-A052AC200A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6342"/>
                <a:ext cx="11102266" cy="5040621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IN" sz="4400" dirty="0"/>
                  <a:t>If n objects are placed into k boxes , then there is at least one </a:t>
                </a:r>
              </a:p>
              <a:p>
                <a:r>
                  <a:rPr lang="en-IN" sz="4400" dirty="0"/>
                  <a:t>box containing at 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sz="4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4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sz="4400" dirty="0"/>
                  <a:t>  objects</a:t>
                </a:r>
              </a:p>
              <a:p>
                <a:endParaRPr lang="en-IN" sz="4400" dirty="0"/>
              </a:p>
              <a:p>
                <a:r>
                  <a:rPr lang="en-IN" sz="4400" b="0" dirty="0">
                    <a:solidFill>
                      <a:srgbClr val="0070C0"/>
                    </a:solidFill>
                  </a:rPr>
                  <a:t>n=k(r-1)+1 is the smallest integer satisfying the inequality</a:t>
                </a:r>
                <a:r>
                  <a:rPr lang="en-IN" sz="4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sz="4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44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44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IN" sz="4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4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IN" sz="4400" b="0" dirty="0">
                    <a:solidFill>
                      <a:srgbClr val="0070C0"/>
                    </a:solidFill>
                  </a:rPr>
                  <a:t> </a:t>
                </a:r>
              </a:p>
              <a:p>
                <a:endParaRPr lang="en-IN" sz="4400" dirty="0"/>
              </a:p>
              <a:p>
                <a:r>
                  <a:rPr lang="en-IN" sz="4400" b="1" dirty="0"/>
                  <a:t>Example</a:t>
                </a:r>
              </a:p>
              <a:p>
                <a:r>
                  <a:rPr lang="en-IN" sz="4400" dirty="0"/>
                  <a:t>Among 100 people , find the minimum number of people who born in same month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sz="4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4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num>
                          <m:den>
                            <m:r>
                              <a:rPr lang="en-IN" sz="4400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a:rPr lang="en-IN" sz="4400" b="0" i="1" smtClean="0">
                        <a:latin typeface="Cambria Math" panose="02040503050406030204" pitchFamily="18" charset="0"/>
                      </a:rPr>
                      <m:t>=9</m:t>
                    </m:r>
                  </m:oMath>
                </a14:m>
                <a:endParaRPr lang="en-IN" sz="440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093D29-4733-41A1-88BC-A052AC200A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6342"/>
                <a:ext cx="11102266" cy="5040621"/>
              </a:xfrm>
              <a:blipFill>
                <a:blip r:embed="rId2"/>
                <a:stretch>
                  <a:fillRect l="-1208" t="-38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538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8628D-5584-4872-9272-5E2336B44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916CA-F847-4C89-A45B-57E6D07E0A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Show that if any 20 people are selected then we may choose  a subset of 3 so that all 3 were born on the same day of the week.</a:t>
                </a:r>
              </a:p>
              <a:p>
                <a:endParaRPr lang="en-IN" dirty="0"/>
              </a:p>
              <a:p>
                <a:r>
                  <a:rPr lang="en-IN" dirty="0"/>
                  <a:t>  n=20</a:t>
                </a:r>
              </a:p>
              <a:p>
                <a:r>
                  <a:rPr lang="en-IN" dirty="0"/>
                  <a:t>  k=7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=3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D2916CA-F847-4C89-A45B-57E6D07E0A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8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4584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232DD-EE48-4DEC-B9DF-35B5F7DD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E09C-15AB-4355-A5AD-335CA36B6D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Show, if 9 books are to be kept at 4 shelves , there must be at least one shelf which contain at least 3 books.</a:t>
                </a:r>
              </a:p>
              <a:p>
                <a:endParaRPr lang="en-IN" dirty="0"/>
              </a:p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IN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I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I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A0E09C-15AB-4355-A5AD-335CA36B6D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859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3137E-5C6E-49D7-8973-043E9A274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i="0" u="none" strike="noStrike" baseline="0" dirty="0">
                <a:latin typeface="Times-Bold"/>
              </a:rPr>
              <a:t>Extended Pigeonhole Principle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BD19B8-7252-4DEB-BF8B-F99624D4A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0" i="0" u="none" strike="noStrike" baseline="0" dirty="0">
                <a:latin typeface="Times-Roman"/>
              </a:rPr>
              <a:t>If </a:t>
            </a:r>
            <a:r>
              <a:rPr lang="en-US" sz="3200" b="0" i="1" u="none" strike="noStrike" baseline="0" dirty="0">
                <a:latin typeface="Times-Italic"/>
              </a:rPr>
              <a:t>n </a:t>
            </a:r>
            <a:r>
              <a:rPr lang="en-US" sz="3200" b="0" i="0" u="none" strike="noStrike" baseline="0" dirty="0">
                <a:latin typeface="Times-Roman"/>
              </a:rPr>
              <a:t>pigeonholes are occupied by </a:t>
            </a:r>
            <a:r>
              <a:rPr lang="en-US" sz="3200" b="0" i="1" u="none" strike="noStrike" baseline="0" dirty="0" err="1">
                <a:latin typeface="Times-Italic"/>
              </a:rPr>
              <a:t>kn</a:t>
            </a:r>
            <a:r>
              <a:rPr lang="en-US" sz="3200" b="0" i="1" u="none" strike="noStrike" baseline="0" dirty="0">
                <a:latin typeface="Times-Italic"/>
              </a:rPr>
              <a:t> </a:t>
            </a:r>
            <a:r>
              <a:rPr lang="en-US" sz="3200" b="0" i="0" u="none" strike="noStrike" baseline="0" dirty="0">
                <a:latin typeface="MTSYN"/>
              </a:rPr>
              <a:t>+ </a:t>
            </a:r>
            <a:r>
              <a:rPr lang="en-US" sz="3200" b="0" i="0" u="none" strike="noStrike" baseline="0" dirty="0">
                <a:latin typeface="Times-Roman"/>
              </a:rPr>
              <a:t>1 or more pigeons, where </a:t>
            </a:r>
            <a:r>
              <a:rPr lang="en-US" sz="3200" b="0" i="1" u="none" strike="noStrike" baseline="0" dirty="0">
                <a:latin typeface="Times-Italic"/>
              </a:rPr>
              <a:t>k </a:t>
            </a:r>
            <a:r>
              <a:rPr lang="en-US" sz="3200" b="0" i="0" u="none" strike="noStrike" baseline="0" dirty="0">
                <a:latin typeface="Times-Roman"/>
              </a:rPr>
              <a:t>is a positive integer, then at least one pigeonhole is occupied by </a:t>
            </a:r>
            <a:r>
              <a:rPr lang="en-US" sz="3200" b="0" i="1" u="none" strike="noStrike" baseline="0" dirty="0">
                <a:latin typeface="MTMI"/>
              </a:rPr>
              <a:t>k </a:t>
            </a:r>
            <a:r>
              <a:rPr lang="en-US" sz="3200" b="0" i="0" u="none" strike="noStrike" baseline="0" dirty="0">
                <a:latin typeface="MTSYN"/>
              </a:rPr>
              <a:t>+ </a:t>
            </a:r>
            <a:r>
              <a:rPr lang="en-US" sz="3200" b="0" i="0" u="none" strike="noStrike" baseline="0" dirty="0">
                <a:latin typeface="Times-Roman"/>
              </a:rPr>
              <a:t>1 or more pigeons.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755203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0375C-3FE8-4F63-BD23-CCEC09E3C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F3551-1AAE-4511-8EBA-59EA28542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b="0" i="0" u="none" strike="noStrike" baseline="0" dirty="0">
                <a:latin typeface="Times-Roman"/>
              </a:rPr>
              <a:t>Find the minimum number of students in a class to be sure that 3 of them are born in the </a:t>
            </a:r>
            <a:r>
              <a:rPr lang="en-IN" b="0" i="0" u="none" strike="noStrike" baseline="0" dirty="0">
                <a:latin typeface="Times-Roman"/>
              </a:rPr>
              <a:t>same month.</a:t>
            </a:r>
          </a:p>
          <a:p>
            <a:pPr algn="just"/>
            <a:endParaRPr lang="en-IN" dirty="0">
              <a:latin typeface="Times-Roman"/>
            </a:endParaRPr>
          </a:p>
          <a:p>
            <a:pPr marL="0" indent="0" algn="just">
              <a:buNone/>
            </a:pPr>
            <a:endParaRPr lang="en-IN" b="0" i="0" u="none" strike="noStrike" baseline="0" dirty="0">
              <a:latin typeface="Times-Roman"/>
            </a:endParaRPr>
          </a:p>
          <a:p>
            <a:pPr algn="just"/>
            <a:r>
              <a:rPr lang="en-US" b="0" i="0" u="none" strike="noStrike" baseline="0" dirty="0">
                <a:latin typeface="Times-Roman"/>
              </a:rPr>
              <a:t>Here the </a:t>
            </a:r>
            <a:r>
              <a:rPr lang="en-US" b="0" i="1" u="none" strike="noStrike" baseline="0" dirty="0">
                <a:latin typeface="MTMI"/>
              </a:rPr>
              <a:t>n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12 months (pigeonholes) </a:t>
            </a:r>
          </a:p>
          <a:p>
            <a:pPr algn="just"/>
            <a:r>
              <a:rPr lang="en-US" b="0" i="1" u="none" strike="noStrike" baseline="0" dirty="0">
                <a:latin typeface="MTMI"/>
              </a:rPr>
              <a:t>k </a:t>
            </a:r>
            <a:r>
              <a:rPr lang="en-US" b="0" i="0" u="none" strike="noStrike" baseline="0" dirty="0">
                <a:latin typeface="MTSYN"/>
              </a:rPr>
              <a:t>+ </a:t>
            </a:r>
            <a:r>
              <a:rPr lang="en-US" b="0" i="0" u="none" strike="noStrike" baseline="0" dirty="0">
                <a:latin typeface="Times-Roman"/>
              </a:rPr>
              <a:t>1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3 so </a:t>
            </a:r>
            <a:r>
              <a:rPr lang="en-US" b="0" i="1" u="none" strike="noStrike" baseline="0" dirty="0">
                <a:latin typeface="MTMI"/>
              </a:rPr>
              <a:t>k </a:t>
            </a:r>
            <a:r>
              <a:rPr lang="en-US" b="0" i="0" u="none" strike="noStrike" baseline="0" dirty="0">
                <a:latin typeface="MTSYN"/>
              </a:rPr>
              <a:t>= </a:t>
            </a:r>
            <a:r>
              <a:rPr lang="en-US" b="0" i="0" u="none" strike="noStrike" baseline="0" dirty="0">
                <a:latin typeface="Times-Roman"/>
              </a:rPr>
              <a:t>2</a:t>
            </a:r>
            <a:r>
              <a:rPr lang="en-US" dirty="0">
                <a:latin typeface="Times-Roman"/>
              </a:rPr>
              <a:t>   </a:t>
            </a:r>
            <a:endParaRPr lang="en-US" b="0" i="0" u="none" strike="noStrike" baseline="0" dirty="0">
              <a:latin typeface="Times-Roman"/>
            </a:endParaRPr>
          </a:p>
          <a:p>
            <a:pPr algn="just"/>
            <a:r>
              <a:rPr lang="en-US" b="0" i="0" u="none" strike="noStrike" baseline="0" dirty="0">
                <a:latin typeface="Times-Roman"/>
              </a:rPr>
              <a:t>Hence,  </a:t>
            </a:r>
            <a:r>
              <a:rPr lang="en-US" b="0" i="1" u="none" strike="noStrike" baseline="0" dirty="0" err="1">
                <a:latin typeface="Times-Italic"/>
              </a:rPr>
              <a:t>kn</a:t>
            </a:r>
            <a:r>
              <a:rPr lang="en-US" b="0" i="1" u="none" strike="noStrike" baseline="0" dirty="0">
                <a:latin typeface="Times-Italic"/>
              </a:rPr>
              <a:t> </a:t>
            </a:r>
            <a:r>
              <a:rPr lang="en-US" b="0" i="0" u="none" strike="noStrike" baseline="0" dirty="0">
                <a:latin typeface="MTSYN"/>
              </a:rPr>
              <a:t>+ </a:t>
            </a:r>
            <a:r>
              <a:rPr lang="en-US" b="0" i="0" u="none" strike="noStrike" baseline="0" dirty="0">
                <a:latin typeface="Times-Roman"/>
              </a:rPr>
              <a:t>1 </a:t>
            </a:r>
            <a:r>
              <a:rPr lang="en-US" b="0" i="0" u="none" strike="noStrike" baseline="0" dirty="0">
                <a:latin typeface="MTSYN"/>
              </a:rPr>
              <a:t>= 2.12+1</a:t>
            </a:r>
          </a:p>
          <a:p>
            <a:pPr algn="just"/>
            <a:r>
              <a:rPr lang="en-US" b="0" i="0" u="none" strike="noStrike" baseline="0" dirty="0">
                <a:latin typeface="MTSYN"/>
              </a:rPr>
              <a:t>                          =</a:t>
            </a:r>
            <a:r>
              <a:rPr lang="en-US" b="0" i="0" u="none" strike="noStrike" baseline="0" dirty="0">
                <a:latin typeface="Times-Roman"/>
              </a:rPr>
              <a:t>25 students (pigeons) </a:t>
            </a:r>
          </a:p>
          <a:p>
            <a:pPr algn="just"/>
            <a:r>
              <a:rPr lang="en-US" dirty="0">
                <a:latin typeface="Times-Roman"/>
              </a:rPr>
              <a:t>Minimum students in class is 25 for t</a:t>
            </a:r>
            <a:r>
              <a:rPr lang="en-US" b="0" i="0" u="none" strike="noStrike" baseline="0" dirty="0">
                <a:latin typeface="Times-Roman"/>
              </a:rPr>
              <a:t>hree of them born in the same month.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470557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818F2-2B4E-4839-9A02-C45DA6FE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2B414-9CEC-41D4-B926-37DC8212C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What is the minimum number of students required in a class to be sure that at least 6 of them will receive the same grade , if there are 5 possible grades A,B,C,D and F</a:t>
            </a:r>
          </a:p>
          <a:p>
            <a:endParaRPr lang="en-IN" dirty="0"/>
          </a:p>
          <a:p>
            <a:r>
              <a:rPr lang="en-IN" dirty="0"/>
              <a:t>  n=5 (pigeonholes)</a:t>
            </a:r>
          </a:p>
          <a:p>
            <a:r>
              <a:rPr lang="en-IN" dirty="0"/>
              <a:t>  K+1=6 (at least)</a:t>
            </a:r>
          </a:p>
          <a:p>
            <a:r>
              <a:rPr lang="en-IN" dirty="0"/>
              <a:t> =&gt; k=5</a:t>
            </a:r>
          </a:p>
          <a:p>
            <a:r>
              <a:rPr lang="en-IN" dirty="0"/>
              <a:t>  Minimum requirement,  K.n+1=5.5+1</a:t>
            </a:r>
          </a:p>
          <a:p>
            <a:r>
              <a:rPr lang="en-IN" dirty="0"/>
              <a:t>                                                        =26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007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70AE0-0661-47D3-9F56-2F4A59C0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53"/>
          </a:xfrm>
        </p:spPr>
        <p:txBody>
          <a:bodyPr>
            <a:normAutofit fontScale="90000"/>
          </a:bodyPr>
          <a:lstStyle/>
          <a:p>
            <a:r>
              <a:rPr lang="en-IN" dirty="0"/>
              <a:t>  </a:t>
            </a:r>
            <a:r>
              <a:rPr lang="en-IN" b="1" dirty="0"/>
              <a:t>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35C-028B-42BD-AE86-6E9BB59AD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9507"/>
            <a:ext cx="10515600" cy="4907456"/>
          </a:xfrm>
        </p:spPr>
        <p:txBody>
          <a:bodyPr>
            <a:normAutofit/>
          </a:bodyPr>
          <a:lstStyle/>
          <a:p>
            <a:r>
              <a:rPr lang="en-IN" dirty="0"/>
              <a:t>Find the minimum number of students in a class to be sure that 4 out of them are born in the same month.</a:t>
            </a:r>
          </a:p>
          <a:p>
            <a:endParaRPr lang="en-IN" dirty="0"/>
          </a:p>
          <a:p>
            <a:r>
              <a:rPr lang="en-IN" dirty="0"/>
              <a:t>  n=12 (pigeonholes)</a:t>
            </a:r>
          </a:p>
          <a:p>
            <a:r>
              <a:rPr lang="en-IN" dirty="0"/>
              <a:t>  K+1=4 </a:t>
            </a:r>
          </a:p>
          <a:p>
            <a:r>
              <a:rPr lang="en-IN" dirty="0"/>
              <a:t> =&gt; k=3</a:t>
            </a:r>
          </a:p>
          <a:p>
            <a:r>
              <a:rPr lang="en-IN" dirty="0"/>
              <a:t>  Minimum requirement,  K.n+1=3.12+1</a:t>
            </a:r>
          </a:p>
          <a:p>
            <a:r>
              <a:rPr lang="en-IN" dirty="0"/>
              <a:t>                                                        =37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63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1613</TotalTime>
  <Words>526</Words>
  <Application>Microsoft Office PowerPoint</Application>
  <PresentationFormat>Widescreen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MTMI</vt:lpstr>
      <vt:lpstr>MTSYN</vt:lpstr>
      <vt:lpstr>Times-Bold</vt:lpstr>
      <vt:lpstr>Times-Italic</vt:lpstr>
      <vt:lpstr>Times-Roman</vt:lpstr>
      <vt:lpstr>Office Theme</vt:lpstr>
      <vt:lpstr>Discrete Mathematics BCSC0010</vt:lpstr>
      <vt:lpstr>Pigeonhole Principle</vt:lpstr>
      <vt:lpstr>PowerPoint Presentation</vt:lpstr>
      <vt:lpstr>Example  </vt:lpstr>
      <vt:lpstr>Example</vt:lpstr>
      <vt:lpstr>Generalized Pigeon Hole Principle</vt:lpstr>
      <vt:lpstr>Example</vt:lpstr>
      <vt:lpstr>Example</vt:lpstr>
      <vt:lpstr>Extended Pigeonhole Principle</vt:lpstr>
      <vt:lpstr>Example</vt:lpstr>
      <vt:lpstr>Example</vt:lpstr>
      <vt:lpstr> 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swati saxena</dc:creator>
  <cp:lastModifiedBy> </cp:lastModifiedBy>
  <cp:revision>82</cp:revision>
  <dcterms:created xsi:type="dcterms:W3CDTF">2020-09-02T02:55:27Z</dcterms:created>
  <dcterms:modified xsi:type="dcterms:W3CDTF">2020-09-10T04:08:16Z</dcterms:modified>
</cp:coreProperties>
</file>
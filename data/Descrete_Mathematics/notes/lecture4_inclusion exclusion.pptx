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6" r:id="rId10"/>
    <p:sldId id="267" r:id="rId11"/>
    <p:sldId id="269" r:id="rId12"/>
    <p:sldId id="268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1" d="100"/>
          <a:sy n="81" d="100"/>
        </p:scale>
        <p:origin x="754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5F8042-D4C8-4F09-8A62-D4F5E3C694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F3B6766-76C3-4042-A914-E410B08C24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211FEA-A69C-4218-A568-E157666EEA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84A4E-287F-4DD9-AC23-40425A08FAE8}" type="datetimeFigureOut">
              <a:rPr lang="en-IN" smtClean="0"/>
              <a:t>01-02-2024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74B273C-3569-4F2D-990B-68385E6866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A27E52-BBC5-4346-84DC-53629AD948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DF0-9EEF-46B6-82E2-82498774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9553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FE72D4-AAB2-47DF-B949-46571C8F9F2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46FD251-E8F2-4FD2-887D-08807A37707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DAC13EA-5580-4C9C-80ED-36461E02F5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84A4E-287F-4DD9-AC23-40425A08FAE8}" type="datetimeFigureOut">
              <a:rPr lang="en-IN" smtClean="0"/>
              <a:t>01-02-2024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F9A34A8-F21A-4084-8C44-77870662D0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99E69D-A7F4-4633-8ADC-BDE776D61B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DF0-9EEF-46B6-82E2-82498774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26002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56FF4D-5790-4B97-8A74-D3CE625E76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90595B-E9D6-4E6C-94F5-E77590C462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970CA4-642D-41E2-8782-89695209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84A4E-287F-4DD9-AC23-40425A08FAE8}" type="datetimeFigureOut">
              <a:rPr lang="en-IN" smtClean="0"/>
              <a:t>01-02-2024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CF45D7-43D4-4ED7-9720-FC4EFF9779C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1EB44F-DA99-4B63-935B-986EF6A8E9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DF0-9EEF-46B6-82E2-82498774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750151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68A6A1-9AD4-4165-B818-CE3FAECB3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93C3B6-9F2A-4CE9-9441-0D51CCE83B5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587DD0D-6060-4F05-9037-B10D7C8FE1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5B302E-F321-4F44-BED9-71CB5CABF8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84A4E-287F-4DD9-AC23-40425A08FAE8}" type="datetimeFigureOut">
              <a:rPr lang="en-IN" smtClean="0"/>
              <a:t>01-02-2024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E51C09-E248-45D9-AED9-DDF38A4208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B2DACE1-8360-4089-9250-5DB0FF4E63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DF0-9EEF-46B6-82E2-82498774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136383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326939-CEA5-4DE6-940A-6B8A2A39B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6BBFE8-9E6D-4745-AFB4-544C37A5EC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1F83430-2B28-41F6-9B55-3C6A2931FD8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7A99683-E16A-4767-8008-07084939D20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07C46BD-E257-4960-8141-A587E3B0E4E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7EFB9AA-A878-4D21-A517-67F595983E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84A4E-287F-4DD9-AC23-40425A08FAE8}" type="datetimeFigureOut">
              <a:rPr lang="en-IN" smtClean="0"/>
              <a:t>01-02-2024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5BC0D9D-67A3-4D67-991B-59A8959D04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54931FF7-C899-48C4-8E18-49F0D64A8C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DF0-9EEF-46B6-82E2-82498774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1835492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B295F-F1D2-44A9-8D47-B50A99DC8A8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AB4119-DBC4-47F1-A1A5-A79F978845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84A4E-287F-4DD9-AC23-40425A08FAE8}" type="datetimeFigureOut">
              <a:rPr lang="en-IN" smtClean="0"/>
              <a:t>01-02-2024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D32C45-CCDF-4E90-B7BB-2A767802FC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0BEAFDA-CC78-46A1-A3BE-6BB4975C02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DF0-9EEF-46B6-82E2-82498774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32451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9F10F13-24A7-4490-9EBE-9561AA5CB5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84A4E-287F-4DD9-AC23-40425A08FAE8}" type="datetimeFigureOut">
              <a:rPr lang="en-IN" smtClean="0"/>
              <a:t>01-02-2024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0583D07-3240-485F-9402-0E394D795C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E5D2011-1CE5-4C12-BFA1-C4B1BCF6DD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DF0-9EEF-46B6-82E2-82498774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71392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AE47E3-803B-4AC8-A84A-2DFC7BA599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4765DE-CC5A-4E92-9C9B-E9F3DB2A75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4590379-3F3D-4752-BE2A-62D1FEDACBD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E9AED4-0782-4C78-B089-64E422C43C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84A4E-287F-4DD9-AC23-40425A08FAE8}" type="datetimeFigureOut">
              <a:rPr lang="en-IN" smtClean="0"/>
              <a:t>01-02-2024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D915E8-C3B0-467B-98D0-8C786439B0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73AE03C-7DE6-4415-A021-11DD2BC8D6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DF0-9EEF-46B6-82E2-82498774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9696560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C6ADB2-ADE3-446B-B781-F40F9BDB0E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7394CEC-E9E2-4C7D-9160-1969B0F9190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74E37C0-BBB3-4BAF-8DEA-69F9CC164A0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86E05F5-9DAD-4C7F-B57D-8A3E3EA244C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84A4E-287F-4DD9-AC23-40425A08FAE8}" type="datetimeFigureOut">
              <a:rPr lang="en-IN" smtClean="0"/>
              <a:t>01-02-2024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CE439E2-56EE-4C6A-95FA-6511DFA430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8040F3E-0059-4CE0-B154-114E7D59FC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DF0-9EEF-46B6-82E2-82498774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712105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B4F06F-E5D5-4212-9C14-9E0F43298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6796DCA-0728-4A49-864C-69C5C9B736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3B7F813-B2E7-4991-AECD-1BBEC65AF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84A4E-287F-4DD9-AC23-40425A08FAE8}" type="datetimeFigureOut">
              <a:rPr lang="en-IN" smtClean="0"/>
              <a:t>01-02-2024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F67F7-A889-471A-B10C-653BECF1DF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6CE1574-283F-4C58-96F6-81D06F03DB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DF0-9EEF-46B6-82E2-82498774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716337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4C51309-24B5-49EC-95AB-ADB077E9BB1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1C0D63F-2E31-4D2E-A16B-A0242150CD4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D41CF3D-53FA-467C-BA73-B8B0B6C03AF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1E84A4E-287F-4DD9-AC23-40425A08FAE8}" type="datetimeFigureOut">
              <a:rPr lang="en-IN" smtClean="0"/>
              <a:t>01-02-2024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C90F3A-CB8B-439F-A2DA-66EAD0DB0A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113631D-B883-4FCD-8DF4-F2662621E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3A0DF0-9EEF-46B6-82E2-824987744984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423846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69A2123-0C00-4B48-89C5-B199DE355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911AB45-0083-4453-8FC6-604DD5E9F5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89A143C-8314-4C72-B496-00903474E44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E84A4E-287F-4DD9-AC23-40425A08FAE8}" type="datetimeFigureOut">
              <a:rPr lang="en-IN" smtClean="0"/>
              <a:t>01-02-2024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FFED393-B5FD-4DCC-8EEE-DE6BEA880E7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916336-8B0C-436F-90D6-5F518C59DA2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3A0DF0-9EEF-46B6-82E2-824987744984}" type="slidenum">
              <a:rPr lang="en-IN" smtClean="0"/>
              <a:t>‹#›</a:t>
            </a:fld>
            <a:endParaRPr lang="en-IN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0C6F8B8-2941-42CC-BAE1-11DA492C1618}"/>
              </a:ext>
            </a:extLst>
          </p:cNvPr>
          <p:cNvSpPr/>
          <p:nvPr userDrawn="1"/>
        </p:nvSpPr>
        <p:spPr>
          <a:xfrm>
            <a:off x="9842256" y="119063"/>
            <a:ext cx="2283069" cy="1204546"/>
          </a:xfrm>
          <a:prstGeom prst="rect">
            <a:avLst/>
          </a:prstGeom>
          <a:blipFill>
            <a:blip r:embed="rId13"/>
            <a:stretch>
              <a:fillRect/>
            </a:stretch>
          </a:blip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04395814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B8A9EE-0ED6-41CE-87DE-5A515BA1B6BC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>
                <a:latin typeface="+mn-lt"/>
              </a:rPr>
              <a:t>Discrete Mathematics</a:t>
            </a:r>
            <a:br>
              <a:rPr lang="en-IN" b="1" dirty="0">
                <a:latin typeface="+mn-lt"/>
              </a:rPr>
            </a:br>
            <a:r>
              <a:rPr lang="en-IN" b="1" dirty="0">
                <a:latin typeface="+mn-lt"/>
              </a:rPr>
              <a:t>BCSC0010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E3E577F-17BE-4E04-BF05-23ABDD4A7D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2683352"/>
          </a:xfrm>
        </p:spPr>
        <p:txBody>
          <a:bodyPr>
            <a:normAutofit/>
          </a:bodyPr>
          <a:lstStyle/>
          <a:p>
            <a:r>
              <a:rPr lang="en-IN" sz="5200" dirty="0"/>
              <a:t>Module 1</a:t>
            </a:r>
          </a:p>
          <a:p>
            <a:endParaRPr lang="en-IN" sz="5400" dirty="0"/>
          </a:p>
          <a:p>
            <a:r>
              <a:rPr lang="en-IN" sz="5400" dirty="0"/>
              <a:t>Sets(Lecture 4)</a:t>
            </a:r>
          </a:p>
          <a:p>
            <a:endParaRPr lang="en-IN" sz="5200" dirty="0"/>
          </a:p>
        </p:txBody>
      </p:sp>
    </p:spTree>
    <p:extLst>
      <p:ext uri="{BB962C8B-B14F-4D97-AF65-F5344CB8AC3E}">
        <p14:creationId xmlns:p14="http://schemas.microsoft.com/office/powerpoint/2010/main" val="378002193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5C5BED-B766-4AD5-BCA6-1877E23D36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r>
              <a:rPr lang="en-US" b="1" dirty="0">
                <a:solidFill>
                  <a:srgbClr val="FF0000"/>
                </a:solidFill>
                <a:latin typeface="+mn-lt"/>
              </a:rPr>
              <a:t>Cardinality of a Union of two finite </a:t>
            </a:r>
            <a:br>
              <a:rPr lang="en-US" b="1" dirty="0">
                <a:solidFill>
                  <a:srgbClr val="FF0000"/>
                </a:solidFill>
                <a:latin typeface="+mn-lt"/>
              </a:rPr>
            </a:br>
            <a:r>
              <a:rPr lang="en-US" b="1" dirty="0">
                <a:solidFill>
                  <a:srgbClr val="FF0000"/>
                </a:solidFill>
                <a:latin typeface="+mn-lt"/>
              </a:rPr>
              <a:t>sets A and B</a:t>
            </a:r>
            <a:br>
              <a:rPr lang="en-IN" b="1" dirty="0">
                <a:solidFill>
                  <a:srgbClr val="FF0000"/>
                </a:solidFill>
                <a:latin typeface="+mn-lt"/>
              </a:rPr>
            </a:br>
            <a:endParaRPr lang="en-IN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5B6E54C-3D0D-4500-A7F5-B02F3E8342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2148395"/>
            <a:ext cx="10515600" cy="4028567"/>
          </a:xfrm>
        </p:spPr>
        <p:txBody>
          <a:bodyPr>
            <a:normAutofit/>
          </a:bodyPr>
          <a:lstStyle/>
          <a:p>
            <a:r>
              <a:rPr lang="pt-BR" sz="3600" dirty="0"/>
              <a:t>|A U B| = |A| + |B| - |A </a:t>
            </a:r>
            <a:r>
              <a:rPr lang="en-IN" sz="3600" dirty="0"/>
              <a:t>⋂</a:t>
            </a:r>
            <a:r>
              <a:rPr lang="pt-BR" sz="3600" dirty="0"/>
              <a:t> B|</a:t>
            </a:r>
          </a:p>
          <a:p>
            <a:endParaRPr lang="pt-BR" sz="3600" dirty="0"/>
          </a:p>
          <a:p>
            <a:endParaRPr lang="pt-BR" sz="3600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7BB86F4D-0864-49AD-838E-330F2ACCDBF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254" t="25247" r="51376" b="56947"/>
          <a:stretch/>
        </p:blipFill>
        <p:spPr>
          <a:xfrm>
            <a:off x="2681056" y="3533313"/>
            <a:ext cx="7057748" cy="3067892"/>
          </a:xfrm>
          <a:prstGeom prst="rect">
            <a:avLst/>
          </a:prstGeom>
        </p:spPr>
      </p:pic>
      <p:pic>
        <p:nvPicPr>
          <p:cNvPr id="6" name="Content Placeholder 3">
            <a:extLst>
              <a:ext uri="{FF2B5EF4-FFF2-40B4-BE49-F238E27FC236}">
                <a16:creationId xmlns:a16="http://schemas.microsoft.com/office/drawing/2014/main" id="{6CF0F7ED-1DE3-4FF2-A580-589D066AB06D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2254" t="21398" r="51376" b="74753"/>
          <a:stretch/>
        </p:blipFill>
        <p:spPr>
          <a:xfrm>
            <a:off x="2681056" y="2870199"/>
            <a:ext cx="7057748" cy="66311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268526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DAEEC1-242A-4953-9845-1FE0186AFE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Cardinality of a Union of three finite </a:t>
            </a:r>
            <a:br>
              <a:rPr lang="en-US" b="1" dirty="0">
                <a:solidFill>
                  <a:srgbClr val="FF0000"/>
                </a:solidFill>
                <a:latin typeface="+mn-lt"/>
              </a:rPr>
            </a:br>
            <a:r>
              <a:rPr lang="en-US" b="1" dirty="0">
                <a:solidFill>
                  <a:srgbClr val="FF0000"/>
                </a:solidFill>
                <a:latin typeface="+mn-lt"/>
              </a:rPr>
              <a:t>sets A,B and C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F831E5B0-F08B-4413-9F28-7625780D520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27560" t="38576" r="59435" b="33784"/>
          <a:stretch/>
        </p:blipFill>
        <p:spPr>
          <a:xfrm>
            <a:off x="2618912" y="1690688"/>
            <a:ext cx="6098960" cy="50144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4606025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8FAF5-73E0-4567-88AF-D67AB8BE47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Cardinality of a Union of three finite </a:t>
            </a:r>
            <a:br>
              <a:rPr lang="en-US" b="1" dirty="0">
                <a:solidFill>
                  <a:srgbClr val="FF0000"/>
                </a:solidFill>
                <a:latin typeface="+mn-lt"/>
              </a:rPr>
            </a:br>
            <a:r>
              <a:rPr lang="en-US" b="1" dirty="0">
                <a:solidFill>
                  <a:srgbClr val="FF0000"/>
                </a:solidFill>
                <a:latin typeface="+mn-lt"/>
              </a:rPr>
              <a:t>sets A,B and C</a:t>
            </a:r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D5D85E0-9F72-4059-9AC9-4AA1DB98FE9F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40276" t="38575" r="47738" b="32700"/>
          <a:stretch/>
        </p:blipFill>
        <p:spPr>
          <a:xfrm>
            <a:off x="1420428" y="1555105"/>
            <a:ext cx="7093257" cy="4685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81507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8E5AD5-B76B-4A87-924F-D1E60874EF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dirty="0">
                <a:solidFill>
                  <a:srgbClr val="FF0000"/>
                </a:solidFill>
                <a:latin typeface="+mn-lt"/>
              </a:rPr>
              <a:t>Cardinality of a Union of three finite </a:t>
            </a:r>
            <a:br>
              <a:rPr lang="en-US" b="1" dirty="0">
                <a:solidFill>
                  <a:srgbClr val="FF0000"/>
                </a:solidFill>
                <a:latin typeface="+mn-lt"/>
              </a:rPr>
            </a:br>
            <a:r>
              <a:rPr lang="en-US" b="1" dirty="0">
                <a:solidFill>
                  <a:srgbClr val="FF0000"/>
                </a:solidFill>
                <a:latin typeface="+mn-lt"/>
              </a:rPr>
              <a:t>sets A,B and C</a:t>
            </a:r>
            <a:endParaRPr lang="en-IN" dirty="0"/>
          </a:p>
        </p:txBody>
      </p:sp>
      <p:pic>
        <p:nvPicPr>
          <p:cNvPr id="4" name="Content Placeholder 3">
            <a:extLst>
              <a:ext uri="{FF2B5EF4-FFF2-40B4-BE49-F238E27FC236}">
                <a16:creationId xmlns:a16="http://schemas.microsoft.com/office/drawing/2014/main" id="{0EEFDBDD-811E-4175-AF8D-91807D327BFB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 rotWithShape="1">
          <a:blip r:embed="rId2"/>
          <a:srcRect l="52262" t="38575" r="34734" b="32700"/>
          <a:stretch/>
        </p:blipFill>
        <p:spPr>
          <a:xfrm>
            <a:off x="3329127" y="2361685"/>
            <a:ext cx="5752730" cy="4161617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CB255795-D59B-4064-B8D5-2CF364581146}"/>
              </a:ext>
            </a:extLst>
          </p:cNvPr>
          <p:cNvSpPr txBox="1"/>
          <p:nvPr/>
        </p:nvSpPr>
        <p:spPr>
          <a:xfrm>
            <a:off x="319596" y="1850968"/>
            <a:ext cx="11558726" cy="8002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dirty="0">
                <a:latin typeface="+mn-lt"/>
              </a:rPr>
              <a:t>∣ A ∪ B ∪ C ∣ = ∣ A ∣ + ∣ B ∣ + ∣ C ∣ − ∣ A ∩ B ∣ − ∣ A ∩ C ∣ − ∣ B ∩ C ∣ + ∣ A ∩ B ∩ C ∣ </a:t>
            </a:r>
            <a:br>
              <a:rPr lang="en-IN" dirty="0"/>
            </a:b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078007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B8AA0E-DF6E-4879-A845-765FA9F5DFF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solidFill>
                  <a:srgbClr val="FF0000"/>
                </a:solidFill>
                <a:latin typeface="+mn-lt"/>
              </a:rPr>
              <a:t>Principle of Inclusion Exclusion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9CD038-D0D5-4297-9406-0FC92227E45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For 2 sets, </a:t>
            </a:r>
            <a:r>
              <a:rPr lang="pt-BR" sz="2800" dirty="0">
                <a:solidFill>
                  <a:srgbClr val="FF0000"/>
                </a:solidFill>
              </a:rPr>
              <a:t>|A U B| = |A| + |B| - |A </a:t>
            </a:r>
            <a:r>
              <a:rPr lang="en-IN" sz="2800" dirty="0">
                <a:solidFill>
                  <a:srgbClr val="FF0000"/>
                </a:solidFill>
              </a:rPr>
              <a:t>⋂</a:t>
            </a:r>
            <a:r>
              <a:rPr lang="pt-BR" sz="2800" dirty="0">
                <a:solidFill>
                  <a:srgbClr val="FF0000"/>
                </a:solidFill>
              </a:rPr>
              <a:t> B|</a:t>
            </a:r>
          </a:p>
          <a:p>
            <a:r>
              <a:rPr lang="en-IN" dirty="0"/>
              <a:t>For 3 sets, </a:t>
            </a:r>
            <a:r>
              <a:rPr lang="en-IN" sz="2800" dirty="0">
                <a:solidFill>
                  <a:srgbClr val="0070C0"/>
                </a:solidFill>
                <a:latin typeface="+mn-lt"/>
              </a:rPr>
              <a:t>∣ A ∪ B ∪ C ∣ = ∣ A ∣ + ∣ B ∣ + ∣ C ∣ − ∣ A ∩ B ∣ − ∣ A ∩ C ∣ − ∣ B ∩ C ∣ + ∣ A ∩ B ∩ C ∣ </a:t>
            </a:r>
            <a:br>
              <a:rPr lang="en-IN" dirty="0"/>
            </a:br>
            <a:endParaRPr lang="en-IN" dirty="0"/>
          </a:p>
          <a:p>
            <a:r>
              <a:rPr lang="en-IN" dirty="0"/>
              <a:t>For n sets,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C3D0E94-E568-4F48-AFB8-E24719B89AAA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38228" t="51392" r="29150" b="37475"/>
          <a:stretch/>
        </p:blipFill>
        <p:spPr>
          <a:xfrm>
            <a:off x="2796466" y="3524434"/>
            <a:ext cx="8442664" cy="21661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95989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C636B6-F1E3-4C53-B085-CA646BA8130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099691"/>
          </a:xfrm>
        </p:spPr>
        <p:txBody>
          <a:bodyPr>
            <a:normAutofit fontScale="90000"/>
          </a:bodyPr>
          <a:lstStyle/>
          <a:p>
            <a:br>
              <a:rPr lang="en-IN" dirty="0"/>
            </a:br>
            <a:r>
              <a:rPr lang="en-IN" sz="3600" b="1" dirty="0">
                <a:solidFill>
                  <a:srgbClr val="FF0000"/>
                </a:solidFill>
                <a:latin typeface="+mn-lt"/>
              </a:rPr>
              <a:t>Problem based on Principle of Inclusion Exclusion</a:t>
            </a:r>
            <a:br>
              <a:rPr lang="en-IN" sz="3600" b="1" dirty="0">
                <a:solidFill>
                  <a:srgbClr val="FF0000"/>
                </a:solidFill>
                <a:latin typeface="+mn-lt"/>
              </a:rPr>
            </a:br>
            <a:r>
              <a:rPr lang="pt-BR" sz="3600" b="1" dirty="0">
                <a:solidFill>
                  <a:srgbClr val="FF0000"/>
                </a:solidFill>
                <a:latin typeface="+mn-lt"/>
              </a:rPr>
              <a:t>|A U B| = |A| + |B| - |A </a:t>
            </a:r>
            <a:r>
              <a:rPr lang="en-IN" sz="3600" b="1" dirty="0">
                <a:solidFill>
                  <a:srgbClr val="FF0000"/>
                </a:solidFill>
                <a:latin typeface="+mn-lt"/>
              </a:rPr>
              <a:t>⋂</a:t>
            </a:r>
            <a:r>
              <a:rPr lang="pt-BR" sz="3600" b="1" dirty="0">
                <a:solidFill>
                  <a:srgbClr val="FF0000"/>
                </a:solidFill>
                <a:latin typeface="+mn-lt"/>
              </a:rPr>
              <a:t> B|</a:t>
            </a:r>
            <a:br>
              <a:rPr lang="pt-BR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3101BEB-F7BC-4496-88E8-183D61DB194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464816"/>
            <a:ext cx="10942468" cy="5282213"/>
          </a:xfrm>
        </p:spPr>
        <p:txBody>
          <a:bodyPr>
            <a:normAutofit fontScale="92500"/>
          </a:bodyPr>
          <a:lstStyle/>
          <a:p>
            <a:pPr marL="0" indent="0" algn="just">
              <a:buNone/>
            </a:pPr>
            <a:r>
              <a:rPr lang="en-US" sz="2400" b="1" dirty="0">
                <a:solidFill>
                  <a:srgbClr val="0070C0"/>
                </a:solidFill>
                <a:latin typeface="Open Sans"/>
              </a:rPr>
              <a:t>Among 50 patients admitted to a hospital, 25 are diagnosed with pneumonia, 30 with bronchitis, and 10 with both pneumonia and bronchitis. Determine: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rgbClr val="0070C0"/>
                </a:solidFill>
                <a:latin typeface="Open Sans"/>
              </a:rPr>
              <a:t>(a) The number of patients diagnosed with pneumonia or bronchitis (or both).</a:t>
            </a:r>
          </a:p>
          <a:p>
            <a:pPr marL="0" indent="0" algn="just">
              <a:buNone/>
            </a:pPr>
            <a:r>
              <a:rPr lang="en-US" sz="2400" b="1" dirty="0">
                <a:solidFill>
                  <a:srgbClr val="0070C0"/>
                </a:solidFill>
                <a:latin typeface="Open Sans"/>
              </a:rPr>
              <a:t>(b) The number of patients not diagnosed with pneumonia or bronchitis.</a:t>
            </a:r>
          </a:p>
          <a:p>
            <a:pPr marL="0" indent="0">
              <a:buNone/>
            </a:pPr>
            <a:endParaRPr lang="en-US" sz="1800" b="1" dirty="0">
              <a:solidFill>
                <a:srgbClr val="0070C0"/>
              </a:solidFill>
              <a:latin typeface="Open Sans"/>
            </a:endParaRPr>
          </a:p>
          <a:p>
            <a:pPr marL="0" indent="0">
              <a:buNone/>
            </a:pPr>
            <a:r>
              <a:rPr lang="en-IN" b="1" dirty="0">
                <a:solidFill>
                  <a:srgbClr val="00B050"/>
                </a:solidFill>
              </a:rPr>
              <a:t>Solution</a:t>
            </a:r>
          </a:p>
          <a:p>
            <a:r>
              <a:rPr lang="en-US" dirty="0"/>
              <a:t>Let U denote the entire set of patients. Let P and B denote the set of patients diagnosed with pneumonia and bronchitis respectively. Thus:</a:t>
            </a:r>
          </a:p>
          <a:p>
            <a:r>
              <a:rPr lang="en-US" dirty="0"/>
              <a:t>|U| = 50, |P| = 25, |B| = 30, |P ∩ B| = 10</a:t>
            </a:r>
          </a:p>
          <a:p>
            <a:pPr marL="0" indent="0">
              <a:buNone/>
            </a:pPr>
            <a:r>
              <a:rPr lang="en-US" dirty="0"/>
              <a:t>                                                                                                                                              										Contd..</a:t>
            </a:r>
            <a:endParaRPr lang="en-IN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A2F29D0A-4607-4900-BBE5-9DD9121022C0}"/>
              </a:ext>
            </a:extLst>
          </p:cNvPr>
          <p:cNvSpPr/>
          <p:nvPr/>
        </p:nvSpPr>
        <p:spPr>
          <a:xfrm>
            <a:off x="3048000" y="2413338"/>
            <a:ext cx="6096000" cy="369332"/>
          </a:xfrm>
          <a:prstGeom prst="rect">
            <a:avLst/>
          </a:prstGeom>
        </p:spPr>
        <p:txBody>
          <a:bodyPr>
            <a:spAutoFit/>
          </a:bodyPr>
          <a:lstStyle/>
          <a:p>
            <a:endParaRPr lang="en-US" b="0" i="0" dirty="0">
              <a:solidFill>
                <a:srgbClr val="666666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2770427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72C2C83A-BDD9-469C-B263-2810241F638E}"/>
              </a:ext>
            </a:extLst>
          </p:cNvPr>
          <p:cNvSpPr/>
          <p:nvPr/>
        </p:nvSpPr>
        <p:spPr>
          <a:xfrm>
            <a:off x="503068" y="181957"/>
            <a:ext cx="11185864" cy="64940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3200" b="1" dirty="0">
                <a:solidFill>
                  <a:srgbClr val="3366FF"/>
                </a:solidFill>
                <a:latin typeface="Open Sans"/>
              </a:rPr>
              <a:t>(a) By Venn Dig., </a:t>
            </a:r>
          </a:p>
          <a:p>
            <a:r>
              <a:rPr lang="en-US" sz="3200" b="1" dirty="0">
                <a:solidFill>
                  <a:srgbClr val="3366FF"/>
                </a:solidFill>
                <a:latin typeface="Open Sans"/>
              </a:rPr>
              <a:t>|P ∪ B| = 15 + 10 + 20= 45</a:t>
            </a:r>
            <a:endParaRPr lang="en-US" sz="3200" dirty="0">
              <a:solidFill>
                <a:srgbClr val="666666"/>
              </a:solidFill>
              <a:latin typeface="Open Sans"/>
            </a:endParaRPr>
          </a:p>
          <a:p>
            <a:r>
              <a:rPr lang="en-US" sz="3200" b="1" dirty="0">
                <a:solidFill>
                  <a:srgbClr val="3366FF"/>
                </a:solidFill>
                <a:latin typeface="Open Sans"/>
              </a:rPr>
              <a:t>Thus 45 patients are diagnosed with pneumonia or bronchitis.</a:t>
            </a:r>
          </a:p>
          <a:p>
            <a:endParaRPr lang="en-US" sz="3200" b="1" i="0" dirty="0">
              <a:solidFill>
                <a:srgbClr val="3366FF"/>
              </a:solidFill>
              <a:effectLst/>
              <a:latin typeface="Open Sans"/>
            </a:endParaRPr>
          </a:p>
          <a:p>
            <a:r>
              <a:rPr lang="en-IN" sz="3200" b="1" dirty="0"/>
              <a:t>By using formula,</a:t>
            </a:r>
          </a:p>
          <a:p>
            <a:r>
              <a:rPr lang="en-IN" sz="3200" b="1" dirty="0"/>
              <a:t>|P ∪ B| = |P| + |B| – |P</a:t>
            </a:r>
            <a:r>
              <a:rPr lang="en-IN" sz="3200" dirty="0">
                <a:solidFill>
                  <a:srgbClr val="FF0000"/>
                </a:solidFill>
              </a:rPr>
              <a:t> ⋂</a:t>
            </a:r>
            <a:r>
              <a:rPr lang="en-IN" sz="3200" b="1" dirty="0"/>
              <a:t> B|</a:t>
            </a:r>
            <a:endParaRPr lang="en-IN" sz="3200" dirty="0"/>
          </a:p>
          <a:p>
            <a:r>
              <a:rPr lang="en-IN" sz="3200" b="1" dirty="0"/>
              <a:t>               = (25 + 30) – (10) = 45</a:t>
            </a:r>
            <a:endParaRPr lang="en-IN" sz="3200" dirty="0"/>
          </a:p>
          <a:p>
            <a:r>
              <a:rPr lang="en-IN" sz="3200" b="1" dirty="0"/>
              <a:t>Thus 45 patients are diagnosed with pneumonia or bronchitis.</a:t>
            </a:r>
          </a:p>
          <a:p>
            <a:endParaRPr lang="en-IN" sz="3200" b="1" dirty="0"/>
          </a:p>
          <a:p>
            <a:r>
              <a:rPr lang="en-US" sz="3200" b="1" dirty="0">
                <a:solidFill>
                  <a:srgbClr val="0070C0"/>
                </a:solidFill>
              </a:rPr>
              <a:t>(b) |(P ∪ B)’|</a:t>
            </a:r>
            <a:endParaRPr lang="en-US" sz="3200" dirty="0">
              <a:solidFill>
                <a:srgbClr val="0070C0"/>
              </a:solidFill>
            </a:endParaRPr>
          </a:p>
          <a:p>
            <a:r>
              <a:rPr lang="en-US" sz="3200" b="1" dirty="0">
                <a:solidFill>
                  <a:srgbClr val="0070C0"/>
                </a:solidFill>
              </a:rPr>
              <a:t>= 50 – 45 = 5</a:t>
            </a:r>
            <a:endParaRPr lang="en-US" sz="3200" dirty="0">
              <a:solidFill>
                <a:srgbClr val="0070C0"/>
              </a:solidFill>
            </a:endParaRPr>
          </a:p>
          <a:p>
            <a:r>
              <a:rPr lang="en-US" sz="3200" b="1" dirty="0">
                <a:solidFill>
                  <a:srgbClr val="0070C0"/>
                </a:solidFill>
              </a:rPr>
              <a:t>5 patients are not diagnosed with pneumonia or bronchitis.</a:t>
            </a:r>
            <a:endParaRPr lang="en-US" sz="2000" b="0" i="0" dirty="0">
              <a:solidFill>
                <a:srgbClr val="666666"/>
              </a:solidFill>
              <a:effectLst/>
              <a:latin typeface="Open Sans"/>
            </a:endParaRPr>
          </a:p>
        </p:txBody>
      </p:sp>
      <p:pic>
        <p:nvPicPr>
          <p:cNvPr id="5" name="Content Placeholder 5">
            <a:extLst>
              <a:ext uri="{FF2B5EF4-FFF2-40B4-BE49-F238E27FC236}">
                <a16:creationId xmlns:a16="http://schemas.microsoft.com/office/drawing/2014/main" id="{1DA0A322-04E6-4F29-BC75-E9918CB81E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13018" y="1914403"/>
            <a:ext cx="3300490" cy="210398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89185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7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7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8" dur="500" fill="hold"/>
                                        <p:tgtEl>
                                          <p:spTgt spid="7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500" fill="hold"/>
                                        <p:tgtEl>
                                          <p:spTgt spid="7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0" dur="500" fill="hold"/>
                                        <p:tgtEl>
                                          <p:spTgt spid="7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500" fill="hold"/>
                                        <p:tgtEl>
                                          <p:spTgt spid="7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1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2" dur="500" fill="hold"/>
                                        <p:tgtEl>
                                          <p:spTgt spid="7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7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1EFA44-E7C1-49A4-A3D5-1B7D264962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1450" y="124287"/>
            <a:ext cx="9229725" cy="1171853"/>
          </a:xfrm>
        </p:spPr>
        <p:txBody>
          <a:bodyPr>
            <a:normAutofit/>
          </a:bodyPr>
          <a:lstStyle/>
          <a:p>
            <a:r>
              <a:rPr lang="en-IN" sz="2800" b="1" dirty="0">
                <a:solidFill>
                  <a:srgbClr val="FF0000"/>
                </a:solidFill>
                <a:latin typeface="+mn-lt"/>
              </a:rPr>
              <a:t>Problem based on Principle of Inclusion Exclusion(for 3 sets)</a:t>
            </a:r>
            <a:br>
              <a:rPr lang="en-IN" sz="2400" b="1" dirty="0">
                <a:solidFill>
                  <a:srgbClr val="FF0000"/>
                </a:solidFill>
                <a:latin typeface="+mn-lt"/>
              </a:rPr>
            </a:br>
            <a:r>
              <a:rPr lang="en-IN" sz="2000" b="1" dirty="0">
                <a:solidFill>
                  <a:srgbClr val="FF0000"/>
                </a:solidFill>
                <a:latin typeface="+mn-lt"/>
              </a:rPr>
              <a:t>∣ A ∪ B ∪ C ∣ = ∣ A ∣ + ∣ B ∣ + ∣ C ∣ − ∣ A ∩ B ∣ − ∣ A ∩ C ∣ − ∣ B ∩ C ∣ + ∣ A ∩ B ∩ C ∣ </a:t>
            </a:r>
            <a:endParaRPr lang="en-IN" sz="2400" b="1" dirty="0">
              <a:solidFill>
                <a:srgbClr val="FF0000"/>
              </a:solidFill>
              <a:latin typeface="+mn-lt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005E84-74AB-4888-AAFA-EDB9AAD95D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500326"/>
            <a:ext cx="10515600" cy="4676637"/>
          </a:xfrm>
        </p:spPr>
        <p:txBody>
          <a:bodyPr>
            <a:normAutofit fontScale="85000" lnSpcReduction="20000"/>
          </a:bodyPr>
          <a:lstStyle/>
          <a:p>
            <a:pPr marL="0" indent="0" algn="just">
              <a:buNone/>
            </a:pPr>
            <a:r>
              <a:rPr lang="en-US" sz="3000" b="1" dirty="0">
                <a:solidFill>
                  <a:srgbClr val="0070C0"/>
                </a:solidFill>
              </a:rPr>
              <a:t>A large software development company employs 100 computer programmers. Of them, 45 are proficient in Java, 30 in C#, 20 in Python, 6 in C# and Java, 1 in Java and Python, 5 in C# and Python, and just 1 programmer is proficient in all three languages above. Determine the number of computer programmers that are not proficient in any of these three languages.</a:t>
            </a:r>
          </a:p>
          <a:p>
            <a:pPr marL="0" indent="0" algn="just">
              <a:buNone/>
            </a:pPr>
            <a:endParaRPr lang="en-IN" b="1" dirty="0"/>
          </a:p>
          <a:p>
            <a:pPr marL="0" indent="0" algn="just">
              <a:buNone/>
            </a:pPr>
            <a:r>
              <a:rPr lang="en-IN" sz="3800" b="1" dirty="0">
                <a:solidFill>
                  <a:srgbClr val="00B050"/>
                </a:solidFill>
              </a:rPr>
              <a:t>Solution</a:t>
            </a:r>
          </a:p>
          <a:p>
            <a:r>
              <a:rPr lang="en-IN" sz="3000" dirty="0"/>
              <a:t>Let U denote the set of all employed computer programmers and let J, C and P denote the set of programmers proficient in Java, C# and Python, respectively. Thus:</a:t>
            </a:r>
          </a:p>
          <a:p>
            <a:r>
              <a:rPr lang="en-IN" sz="3000" dirty="0"/>
              <a:t>|U| = 100, |J| = 45, |C| = 30, |P| = 20, |J ∩ C| = 6, |J ∩ P| = 1, |C ∩ P| = 5, |J ∩ C ∩ P| = 1</a:t>
            </a:r>
          </a:p>
          <a:p>
            <a:pPr marL="0" indent="0">
              <a:buNone/>
            </a:pPr>
            <a:r>
              <a:rPr lang="en-IN" dirty="0"/>
              <a:t>										Contd..</a:t>
            </a:r>
          </a:p>
          <a:p>
            <a:pPr marL="0" indent="0" algn="just">
              <a:buNone/>
            </a:pPr>
            <a:endParaRPr lang="en-IN" b="1" dirty="0"/>
          </a:p>
          <a:p>
            <a:pPr marL="0" indent="0" algn="just"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204429228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F46E6144-3329-4752-883F-6E4AFBB1CB2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52400" y="28852"/>
            <a:ext cx="3595965" cy="2756349"/>
          </a:xfrm>
        </p:spPr>
      </p:pic>
      <p:sp>
        <p:nvSpPr>
          <p:cNvPr id="6" name="Rectangle 5">
            <a:extLst>
              <a:ext uri="{FF2B5EF4-FFF2-40B4-BE49-F238E27FC236}">
                <a16:creationId xmlns:a16="http://schemas.microsoft.com/office/drawing/2014/main" id="{38A6198E-E14B-48B7-A063-4FC93E1950C9}"/>
              </a:ext>
            </a:extLst>
          </p:cNvPr>
          <p:cNvSpPr/>
          <p:nvPr/>
        </p:nvSpPr>
        <p:spPr>
          <a:xfrm>
            <a:off x="1210323" y="3175026"/>
            <a:ext cx="10215238" cy="3046988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2400" b="1" dirty="0">
                <a:solidFill>
                  <a:srgbClr val="3366FF"/>
                </a:solidFill>
                <a:latin typeface="Open Sans"/>
              </a:rPr>
              <a:t>|J ∪ C ∪ P|</a:t>
            </a:r>
            <a:endParaRPr lang="en-US" sz="2400" dirty="0">
              <a:solidFill>
                <a:srgbClr val="666666"/>
              </a:solidFill>
              <a:latin typeface="Open Sans"/>
            </a:endParaRPr>
          </a:p>
          <a:p>
            <a:r>
              <a:rPr lang="en-US" sz="2400" b="1" dirty="0">
                <a:solidFill>
                  <a:srgbClr val="3366FF"/>
                </a:solidFill>
                <a:latin typeface="Open Sans"/>
              </a:rPr>
              <a:t>= 39 + 5 +20 +4 +15 + 1</a:t>
            </a:r>
            <a:endParaRPr lang="en-US" sz="2400" dirty="0">
              <a:solidFill>
                <a:srgbClr val="666666"/>
              </a:solidFill>
              <a:latin typeface="Open Sans"/>
            </a:endParaRPr>
          </a:p>
          <a:p>
            <a:r>
              <a:rPr lang="en-US" sz="2400" b="1" dirty="0">
                <a:solidFill>
                  <a:srgbClr val="3366FF"/>
                </a:solidFill>
                <a:latin typeface="Open Sans"/>
              </a:rPr>
              <a:t>= 84</a:t>
            </a:r>
            <a:endParaRPr lang="en-US" sz="2400" dirty="0">
              <a:solidFill>
                <a:srgbClr val="666666"/>
              </a:solidFill>
              <a:latin typeface="Open Sans"/>
            </a:endParaRPr>
          </a:p>
          <a:p>
            <a:r>
              <a:rPr lang="en-US" sz="2400" dirty="0">
                <a:solidFill>
                  <a:srgbClr val="666666"/>
                </a:solidFill>
                <a:latin typeface="Open Sans"/>
              </a:rPr>
              <a:t>Now calculate the complement:</a:t>
            </a:r>
          </a:p>
          <a:p>
            <a:r>
              <a:rPr lang="en-US" sz="2400" b="1" dirty="0">
                <a:solidFill>
                  <a:srgbClr val="3366FF"/>
                </a:solidFill>
                <a:latin typeface="Open Sans"/>
              </a:rPr>
              <a:t>|(J ∪ C ∪ P)’ | = |U| – |J ∪ C ∪ P|</a:t>
            </a:r>
            <a:endParaRPr lang="en-US" sz="2400" dirty="0">
              <a:solidFill>
                <a:srgbClr val="666666"/>
              </a:solidFill>
              <a:latin typeface="Open Sans"/>
            </a:endParaRPr>
          </a:p>
          <a:p>
            <a:r>
              <a:rPr lang="en-US" sz="2400" b="1" dirty="0">
                <a:solidFill>
                  <a:srgbClr val="3366FF"/>
                </a:solidFill>
                <a:latin typeface="Open Sans"/>
              </a:rPr>
              <a:t>= 100 – 84</a:t>
            </a:r>
            <a:endParaRPr lang="en-US" sz="2400" dirty="0">
              <a:solidFill>
                <a:srgbClr val="666666"/>
              </a:solidFill>
              <a:latin typeface="Open Sans"/>
            </a:endParaRPr>
          </a:p>
          <a:p>
            <a:r>
              <a:rPr lang="en-US" sz="2400" b="1" dirty="0">
                <a:solidFill>
                  <a:srgbClr val="3366FF"/>
                </a:solidFill>
                <a:latin typeface="Open Sans"/>
              </a:rPr>
              <a:t>= 16           </a:t>
            </a:r>
            <a:endParaRPr lang="en-US" sz="2400" dirty="0">
              <a:solidFill>
                <a:srgbClr val="666666"/>
              </a:solidFill>
              <a:latin typeface="Open Sans"/>
            </a:endParaRPr>
          </a:p>
          <a:p>
            <a:r>
              <a:rPr lang="en-US" sz="2400" b="1" dirty="0">
                <a:solidFill>
                  <a:srgbClr val="3366FF"/>
                </a:solidFill>
                <a:latin typeface="Open Sans"/>
              </a:rPr>
              <a:t>16 programmers are not proficient in any of the three languages.</a:t>
            </a:r>
            <a:endParaRPr lang="en-US" sz="2400" b="0" i="0" dirty="0">
              <a:solidFill>
                <a:srgbClr val="666666"/>
              </a:solidFill>
              <a:effectLst/>
              <a:latin typeface="Open Sans"/>
            </a:endParaRPr>
          </a:p>
        </p:txBody>
      </p:sp>
    </p:spTree>
    <p:extLst>
      <p:ext uri="{BB962C8B-B14F-4D97-AF65-F5344CB8AC3E}">
        <p14:creationId xmlns:p14="http://schemas.microsoft.com/office/powerpoint/2010/main" val="20355761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500" fill="hold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500" fill="hold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9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0" dur="500" fill="hold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500" fill="hold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1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2" dur="500" fill="hold"/>
                                        <p:tgtEl>
                                          <p:spTgt spid="6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3" presetID="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5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6" dur="5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500" fill="hold"/>
                                        <p:tgtEl>
                                          <p:spTgt spid="6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19D00E-3257-43B7-A485-5414BE100C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Give a formula for the number of </a:t>
            </a:r>
            <a:br>
              <a:rPr lang="en-US" b="1" dirty="0"/>
            </a:br>
            <a:r>
              <a:rPr lang="en-US" b="1" dirty="0"/>
              <a:t>elements in the union of four sets.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161A910-4AB9-4A28-9D22-B06AA416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05974631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76D506-6DAE-4F7B-94CE-12EFC2A455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Next Topic..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FEA555-C729-4853-9AFD-9CC0D35965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IN" sz="4800" dirty="0">
                <a:solidFill>
                  <a:srgbClr val="FF0000"/>
                </a:solidFill>
              </a:rPr>
              <a:t>Function</a:t>
            </a:r>
          </a:p>
        </p:txBody>
      </p:sp>
    </p:spTree>
    <p:extLst>
      <p:ext uri="{BB962C8B-B14F-4D97-AF65-F5344CB8AC3E}">
        <p14:creationId xmlns:p14="http://schemas.microsoft.com/office/powerpoint/2010/main" val="31254612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789</Words>
  <Application>Microsoft Office PowerPoint</Application>
  <PresentationFormat>Widescreen</PresentationFormat>
  <Paragraphs>53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Calibri</vt:lpstr>
      <vt:lpstr>Calibri Light</vt:lpstr>
      <vt:lpstr>Open Sans</vt:lpstr>
      <vt:lpstr>Office Theme</vt:lpstr>
      <vt:lpstr>Discrete Mathematics BCSC0010</vt:lpstr>
      <vt:lpstr> Cardinality of a Union of two finite  sets A and B </vt:lpstr>
      <vt:lpstr>Cardinality of a Union of three finite  sets A,B and C</vt:lpstr>
      <vt:lpstr>Cardinality of a Union of three finite  sets A,B and C</vt:lpstr>
      <vt:lpstr>Cardinality of a Union of three finite  sets A,B and C</vt:lpstr>
      <vt:lpstr>Principle of Inclusion Exclusion</vt:lpstr>
      <vt:lpstr> Problem based on Principle of Inclusion Exclusion |A U B| = |A| + |B| - |A ⋂ B| </vt:lpstr>
      <vt:lpstr>PowerPoint Presentation</vt:lpstr>
      <vt:lpstr>Problem based on Principle of Inclusion Exclusion(for 3 sets) ∣ A ∪ B ∪ C ∣ = ∣ A ∣ + ∣ B ∣ + ∣ C ∣ − ∣ A ∩ B ∣ − ∣ A ∩ C ∣ − ∣ B ∩ C ∣ + ∣ A ∩ B ∩ C ∣ </vt:lpstr>
      <vt:lpstr>PowerPoint Presentation</vt:lpstr>
      <vt:lpstr>Give a formula for the number of  elements in the union of four sets.</vt:lpstr>
      <vt:lpstr>Next Topic..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Discrete Mathematics BCSC0010</dc:title>
  <dc:creator>swati saxena</dc:creator>
  <cp:lastModifiedBy>swati saxena</cp:lastModifiedBy>
  <cp:revision>3</cp:revision>
  <dcterms:created xsi:type="dcterms:W3CDTF">2020-07-08T06:00:20Z</dcterms:created>
  <dcterms:modified xsi:type="dcterms:W3CDTF">2024-02-01T07:14:16Z</dcterms:modified>
</cp:coreProperties>
</file>